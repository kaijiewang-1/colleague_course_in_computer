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20"/>
  </p:handoutMasterIdLst>
  <p:sldIdLst>
    <p:sldId id="390" r:id="rId3"/>
    <p:sldId id="393" r:id="rId4"/>
    <p:sldId id="397" r:id="rId5"/>
    <p:sldId id="399" r:id="rId6"/>
    <p:sldId id="398" r:id="rId7"/>
    <p:sldId id="402" r:id="rId8"/>
    <p:sldId id="403" r:id="rId9"/>
    <p:sldId id="408" r:id="rId10"/>
    <p:sldId id="409" r:id="rId11"/>
    <p:sldId id="411" r:id="rId13"/>
    <p:sldId id="410" r:id="rId14"/>
    <p:sldId id="412" r:id="rId15"/>
    <p:sldId id="413" r:id="rId16"/>
    <p:sldId id="414" r:id="rId17"/>
    <p:sldId id="417" r:id="rId18"/>
    <p:sldId id="396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0066"/>
    <a:srgbClr val="292929"/>
    <a:srgbClr val="4D4D4D"/>
    <a:srgbClr val="EAEAEA"/>
    <a:srgbClr val="006666"/>
    <a:srgbClr val="153A3F"/>
    <a:srgbClr val="0E3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38"/>
    <p:restoredTop sz="98194"/>
  </p:normalViewPr>
  <p:slideViewPr>
    <p:cSldViewPr snapToObjects="1" showGuides="1">
      <p:cViewPr varScale="1">
        <p:scale>
          <a:sx n="84" d="100"/>
          <a:sy n="84" d="100"/>
        </p:scale>
        <p:origin x="-149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2063A-5600-4543-9F1D-9E16AECE2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0" descr="bj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>
              <a:spLocks noChangeShapeType="1"/>
            </p:cNvSpPr>
            <p:nvPr/>
          </p:nvSpPr>
          <p:spPr bwMode="auto">
            <a:xfrm>
              <a:off x="3647" y="3923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8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>
              <a:spLocks noChangeShapeType="1"/>
            </p:cNvSpPr>
            <p:nvPr/>
          </p:nvSpPr>
          <p:spPr bwMode="auto">
            <a:xfrm>
              <a:off x="4558" y="3896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9" name="Picture 37" descr="bj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1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png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microsoft.com/office/2007/relationships/media" Target="file:///C:\Documents%20and%20Settings\new\&#26700;&#38754;\&#26032;&#24314;&#25991;&#20214;&#22841;%20(2)\006.06.%20&#26790;&#20013;&#30340;&#23130;&#31036;%20MARIAGE%20D'%20AMOUR.mp3" TargetMode="External"/><Relationship Id="rId2" Type="http://schemas.openxmlformats.org/officeDocument/2006/relationships/audio" Target="file:///C:\Documents%20and%20Settings\new\&#26700;&#38754;\&#26032;&#24314;&#25991;&#20214;&#22841;%20(2)\006.06.%20&#26790;&#20013;&#30340;&#23130;&#31036;%20MARIAGE%20D'%20AMOUR.mp3" TargetMode="External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0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        </a:t>
            </a:r>
            <a:endParaRPr lang="en-US" altLang="zh-CN" sz="2800" b="1" i="1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</a:t>
            </a:r>
            <a:r>
              <a:rPr kumimoji="0" lang="zh-CN" altLang="en-US" sz="3600" b="1" i="0" u="none" strike="noStrike" kern="10" cap="none" spc="0" normalizeH="0" baseline="0" noProof="0" dirty="0" smtClean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实验</a:t>
            </a:r>
            <a:r>
              <a:rPr kumimoji="0" lang="en-US" altLang="zh-CN" sz="3600" b="1" i="0" u="none" strike="noStrike" kern="10" cap="none" spc="0" normalizeH="0" baseline="0" noProof="0" dirty="0" smtClean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1476375" y="2386013"/>
            <a:ext cx="7023100" cy="12588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 kern="10" dirty="0" smtClean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78998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金属比热容的测量</a:t>
            </a:r>
            <a:endParaRPr lang="zh-CN" altLang="en-US" sz="3600" b="1" kern="1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78998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40970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endParaRPr lang="zh-CN" altLang="en-US" sz="2400" b="1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4000" y="14285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实验背景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8596" y="1500174"/>
            <a:ext cx="535785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在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18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世纪，苏格兰的物理学家兼化学家约瑟夫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布莱克发现质量相同的不同物质，上升到相同温度所需的热量不同，而提出了比热容的概念。几乎任何物质皆可测量比热容，如化学元素、化合物、合金、溶液，以及复合材料。</a:t>
            </a:r>
            <a:endParaRPr lang="zh-CN" altLang="en-US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历史上，曾以水的比热容来定义热量，将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克水升高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度所需的热量定义为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卡路里。</a:t>
            </a:r>
            <a:endParaRPr lang="zh-CN" altLang="en-US" sz="2400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43636" y="1500174"/>
            <a:ext cx="25241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337237" y="88325"/>
            <a:ext cx="274256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 、实验目的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82588" y="1071546"/>
            <a:ext cx="8675687" cy="180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45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</a:pPr>
            <a:r>
              <a:rPr lang="zh-CN" sz="2800" b="1" dirty="0">
                <a:solidFill>
                  <a:srgbClr val="000066"/>
                </a:solidFill>
              </a:rPr>
              <a:t>利用牛顿冷却规律用比较法测量</a:t>
            </a:r>
            <a:r>
              <a:rPr lang="zh-CN" altLang="zh-CN" sz="2800" b="1" dirty="0">
                <a:solidFill>
                  <a:srgbClr val="000066"/>
                </a:solidFill>
              </a:rPr>
              <a:t>100℃</a:t>
            </a:r>
            <a:r>
              <a:rPr lang="zh-CN" sz="2800" b="1" dirty="0">
                <a:solidFill>
                  <a:srgbClr val="000066"/>
                </a:solidFill>
              </a:rPr>
              <a:t>时金属比热容</a:t>
            </a:r>
            <a:endParaRPr lang="zh-CN" sz="2800" b="1" dirty="0">
              <a:solidFill>
                <a:srgbClr val="000066"/>
              </a:solidFill>
            </a:endParaRPr>
          </a:p>
          <a:p>
            <a:pPr marL="342900" indent="-342900">
              <a:lnSpc>
                <a:spcPct val="145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</a:pPr>
            <a:r>
              <a:rPr lang="zh-CN" sz="2800" b="1" dirty="0">
                <a:solidFill>
                  <a:srgbClr val="000066"/>
                </a:solidFill>
              </a:rPr>
              <a:t>测量金属</a:t>
            </a:r>
            <a:r>
              <a:rPr lang="zh-CN" altLang="zh-CN" sz="2800" b="1" dirty="0">
                <a:solidFill>
                  <a:srgbClr val="000066"/>
                </a:solidFill>
              </a:rPr>
              <a:t>Cu</a:t>
            </a:r>
            <a:r>
              <a:rPr lang="zh-CN" sz="2800" b="1" dirty="0">
                <a:solidFill>
                  <a:srgbClr val="000066"/>
                </a:solidFill>
              </a:rPr>
              <a:t>的冷却曲线。</a:t>
            </a:r>
            <a:endParaRPr lang="zh-CN" sz="2800" b="1" dirty="0">
              <a:solidFill>
                <a:srgbClr val="000066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763713" y="2690796"/>
            <a:ext cx="4146550" cy="180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45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sz="2800" b="1">
                <a:solidFill>
                  <a:srgbClr val="000066"/>
                </a:solidFill>
              </a:rPr>
              <a:t>标准参照金属：铜</a:t>
            </a:r>
            <a:endParaRPr lang="zh-CN" sz="2800" b="1">
              <a:solidFill>
                <a:srgbClr val="000066"/>
              </a:solidFill>
            </a:endParaRPr>
          </a:p>
          <a:p>
            <a:pPr marL="342900" indent="-342900">
              <a:lnSpc>
                <a:spcPct val="145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sz="2800" b="1">
                <a:solidFill>
                  <a:srgbClr val="000066"/>
                </a:solidFill>
              </a:rPr>
              <a:t>待求金属：铁、铝</a:t>
            </a:r>
            <a:endParaRPr lang="zh-CN" sz="2800" b="1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6035627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2.1</a:t>
            </a:r>
            <a:r>
              <a:rPr lang="zh-CN" altLang="zh-CN" sz="24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牛顿冷却规律</a:t>
            </a:r>
            <a:endParaRPr lang="zh-CN" altLang="en-US" sz="24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863600"/>
            <a:ext cx="8991600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、牛顿冷却规律：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当物体表面与周围存在温度差时，单位时间从单位面积散失的热量与温度差成正比。（</a:t>
            </a:r>
            <a:r>
              <a:rPr lang="zh-CN" sz="2400" b="1" dirty="0">
                <a:solidFill>
                  <a:srgbClr val="04A7D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比例系数称为热交换系数。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</a:t>
            </a:r>
            <a:endParaRPr lang="zh-CN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牛顿冷却定律是牛顿在</a:t>
            </a:r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1700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年用实验确定的，在强迫对流时与实际符合较好，在自然对流时只在温度差不太大时才成立。</a:t>
            </a:r>
            <a:endParaRPr lang="zh-CN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779588" y="3090863"/>
          <a:ext cx="474186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46024800" imgH="9448800" progId="Equation.DSMT4">
                  <p:embed/>
                </p:oleObj>
              </mc:Choice>
              <mc:Fallback>
                <p:oleObj name="" r:id="rId1" imgW="46024800" imgH="94488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9588" y="3090863"/>
                        <a:ext cx="4741862" cy="974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706938" y="4265613"/>
          <a:ext cx="18145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3" imgW="21031200" imgH="4267200" progId="Equation.DSMT4">
                  <p:embed/>
                </p:oleObj>
              </mc:Choice>
              <mc:Fallback>
                <p:oleObj name="" r:id="rId3" imgW="21031200" imgH="42672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06938" y="4265613"/>
                        <a:ext cx="1814512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135063" y="4149725"/>
          <a:ext cx="31369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5" imgW="36576000" imgH="9448800" progId="Equation.DSMT4">
                  <p:embed/>
                </p:oleObj>
              </mc:Choice>
              <mc:Fallback>
                <p:oleObj name="" r:id="rId5" imgW="36576000" imgH="94488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5063" y="4149725"/>
                        <a:ext cx="3136900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804025" y="4213225"/>
          <a:ext cx="1728788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7" imgW="18592800" imgH="5486400" progId="Equation.DSMT4">
                  <p:embed/>
                </p:oleObj>
              </mc:Choice>
              <mc:Fallback>
                <p:oleObj name="" r:id="rId7" imgW="18592800" imgH="54864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04025" y="4213225"/>
                        <a:ext cx="1728788" cy="509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1152525" y="5526088"/>
          <a:ext cx="53689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9" imgW="56388000" imgH="7620000" progId="Equation.DSMT4">
                  <p:embed/>
                </p:oleObj>
              </mc:Choice>
              <mc:Fallback>
                <p:oleObj name="" r:id="rId9" imgW="56388000" imgH="76200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52525" y="5526088"/>
                        <a:ext cx="5368925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1135063" y="5010150"/>
          <a:ext cx="35226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r:id="rId11" imgW="37490400" imgH="5486400" progId="Equation.DSMT4">
                  <p:embed/>
                </p:oleObj>
              </mc:Choice>
              <mc:Fallback>
                <p:oleObj name="" r:id="rId11" imgW="37490400" imgH="54864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35063" y="5010150"/>
                        <a:ext cx="3522662" cy="515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337237" y="88325"/>
            <a:ext cx="7731604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zh-CN" sz="24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比热容的测量原理与方法</a:t>
            </a:r>
            <a:endParaRPr lang="zh-CN" altLang="en-US" sz="24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617663" y="2041525"/>
          <a:ext cx="36623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38404800" imgH="9448800" progId="Equation.DSMT4">
                  <p:embed/>
                </p:oleObj>
              </mc:Choice>
              <mc:Fallback>
                <p:oleObj name="" r:id="rId1" imgW="38404800" imgH="94488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7663" y="2041525"/>
                        <a:ext cx="3662362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/>
          <p:nvPr/>
        </p:nvGrpSpPr>
        <p:grpSpPr bwMode="auto">
          <a:xfrm>
            <a:off x="273050" y="590550"/>
            <a:ext cx="8420100" cy="1492250"/>
            <a:chOff x="40" y="44"/>
            <a:chExt cx="5304" cy="94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40" y="44"/>
              <a:ext cx="5304" cy="8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80000"/>
                </a:lnSpc>
              </a:pPr>
              <a:r>
                <a:rPr lang="zh-CN" sz="2400" b="1" dirty="0">
                  <a:solidFill>
                    <a:srgbClr val="04A7DA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质量为</a:t>
              </a:r>
              <a:r>
                <a:rPr lang="zh-CN" altLang="zh-CN" sz="2400" b="1" dirty="0">
                  <a:solidFill>
                    <a:srgbClr val="04A7DA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M1</a:t>
              </a:r>
              <a:r>
                <a:rPr lang="zh-CN" sz="2400" b="1" dirty="0">
                  <a:solidFill>
                    <a:srgbClr val="04A7DA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的样品加热后在低温环境冷却：</a:t>
              </a:r>
              <a:r>
                <a:rPr 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单位时间热量损失          </a:t>
              </a:r>
              <a:endPara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>
                <a:lnSpc>
                  <a:spcPct val="180000"/>
                </a:lnSpc>
              </a:pPr>
              <a:r>
                <a:rPr 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与温度下降速率   </a:t>
              </a:r>
              <a:r>
                <a:rPr lang="en-US" altLang="zh-CN" sz="2400" b="1" dirty="0" smtClean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</a:t>
              </a:r>
              <a:r>
                <a:rPr lang="zh-CN" sz="2400" b="1" dirty="0" smtClean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2400" b="1" dirty="0" smtClean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</a:t>
              </a:r>
              <a:r>
                <a:rPr lang="zh-CN" sz="2400" b="1" dirty="0" smtClean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成正比</a:t>
              </a:r>
              <a:endPara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40" y="482"/>
            <a:ext cx="356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" r:id="rId3" imgW="6705600" imgH="9448800" progId="Equation.DSMT4">
                    <p:embed/>
                  </p:oleObj>
                </mc:Choice>
                <mc:Fallback>
                  <p:oleObj name="" r:id="rId3" imgW="6705600" imgH="9448800" progId="Equation.DSMT4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" y="482"/>
                          <a:ext cx="356" cy="5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1844" y="437"/>
            <a:ext cx="359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" r:id="rId5" imgW="7010400" imgH="9448800" progId="Equation.DSMT4">
                    <p:embed/>
                  </p:oleObj>
                </mc:Choice>
                <mc:Fallback>
                  <p:oleObj name="" r:id="rId5" imgW="7010400" imgH="9448800" progId="Equation.DSMT4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44" y="437"/>
                          <a:ext cx="359" cy="4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73050" y="3362325"/>
            <a:ext cx="2927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根据牛顿冷却定律有</a:t>
            </a:r>
            <a:endParaRPr lang="zh-CN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14282" y="5072074"/>
            <a:ext cx="2801937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sz="2400" dirty="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尺寸相同：</a:t>
            </a:r>
            <a:r>
              <a:rPr lang="zh-CN" altLang="zh-CN" sz="2400" dirty="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S1=S2</a:t>
            </a:r>
            <a:endParaRPr lang="zh-CN" altLang="zh-CN" sz="2400" dirty="0">
              <a:solidFill>
                <a:schemeClr val="tx2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sz="2400" dirty="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环境相同：</a:t>
            </a:r>
            <a:r>
              <a:rPr lang="zh-CN" altLang="zh-CN" sz="2400" dirty="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a1=a2</a:t>
            </a:r>
            <a:endParaRPr lang="zh-CN" altLang="zh-CN" sz="2400" dirty="0">
              <a:solidFill>
                <a:schemeClr val="tx2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3016219" y="5335588"/>
            <a:ext cx="827119" cy="288925"/>
          </a:xfrm>
          <a:prstGeom prst="rightArrow">
            <a:avLst>
              <a:gd name="adj1" fmla="val 50000"/>
              <a:gd name="adj2" fmla="val 83929"/>
            </a:avLst>
          </a:prstGeom>
          <a:gradFill rotWithShape="1">
            <a:gsLst>
              <a:gs pos="0">
                <a:srgbClr val="00B8B4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zh-CN">
              <a:solidFill>
                <a:srgbClr val="006666"/>
              </a:solidFill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843338" y="4691063"/>
          <a:ext cx="33242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7" imgW="39319200" imgH="18288000" progId="Equation.DSMT4">
                  <p:embed/>
                </p:oleObj>
              </mc:Choice>
              <mc:Fallback>
                <p:oleObj name="" r:id="rId7" imgW="39319200" imgH="18288000" progId="Equation.DSMT4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43338" y="4691063"/>
                        <a:ext cx="3324225" cy="1546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5867400" y="4827588"/>
            <a:ext cx="1081088" cy="325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7019925" y="4451350"/>
            <a:ext cx="1617663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样品</a:t>
            </a:r>
            <a:r>
              <a:rPr lang="zh-CN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sz="2000" b="1" dirty="0" smtClean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2000" b="1" dirty="0" smtClean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冷却</a:t>
            </a:r>
            <a:r>
              <a:rPr lang="zh-CN" sz="2000" b="1" dirty="0" smtClean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速率</a:t>
            </a:r>
            <a:endParaRPr lang="zh-CN" sz="20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7275513" y="5373688"/>
            <a:ext cx="1617662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样品</a:t>
            </a:r>
            <a:r>
              <a:rPr lang="zh-CN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sz="2000" b="1" dirty="0" smtClean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2000" b="1" dirty="0" smtClean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冷却</a:t>
            </a:r>
            <a:r>
              <a:rPr lang="zh-CN" sz="2000" b="1" dirty="0" smtClean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速率</a:t>
            </a:r>
            <a:endParaRPr lang="zh-CN" sz="20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未知"/>
          <p:cNvSpPr/>
          <p:nvPr/>
        </p:nvSpPr>
        <p:spPr bwMode="auto">
          <a:xfrm>
            <a:off x="5867400" y="5624513"/>
            <a:ext cx="1408113" cy="142875"/>
          </a:xfrm>
          <a:custGeom>
            <a:avLst/>
            <a:gdLst>
              <a:gd name="T0" fmla="*/ 0 w 251"/>
              <a:gd name="T1" fmla="*/ 142875 h 92"/>
              <a:gd name="T2" fmla="*/ 1408113 w 251"/>
              <a:gd name="T3" fmla="*/ 0 h 9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51" h="92">
                <a:moveTo>
                  <a:pt x="0" y="92"/>
                </a:moveTo>
                <a:lnTo>
                  <a:pt x="251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Group 16"/>
          <p:cNvGrpSpPr/>
          <p:nvPr/>
        </p:nvGrpSpPr>
        <p:grpSpPr bwMode="auto">
          <a:xfrm>
            <a:off x="3273425" y="2717800"/>
            <a:ext cx="4002088" cy="1785938"/>
            <a:chOff x="0" y="0"/>
            <a:chExt cx="2521" cy="1125"/>
          </a:xfrm>
        </p:grpSpPr>
        <p:grpSp>
          <p:nvGrpSpPr>
            <p:cNvPr id="17" name="Group 17"/>
            <p:cNvGrpSpPr/>
            <p:nvPr/>
          </p:nvGrpSpPr>
          <p:grpSpPr bwMode="auto">
            <a:xfrm>
              <a:off x="90" y="0"/>
              <a:ext cx="2431" cy="1125"/>
              <a:chOff x="0" y="0"/>
              <a:chExt cx="2431" cy="1125"/>
            </a:xfrm>
          </p:grpSpPr>
          <p:graphicFrame>
            <p:nvGraphicFramePr>
              <p:cNvPr id="19" name="Object 18"/>
              <p:cNvGraphicFramePr>
                <a:graphicFrameLocks noChangeAspect="1"/>
              </p:cNvGraphicFramePr>
              <p:nvPr/>
            </p:nvGraphicFramePr>
            <p:xfrm>
              <a:off x="662" y="0"/>
              <a:ext cx="1769" cy="5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4" name="" r:id="rId9" imgW="32004000" imgH="10363200" progId="Equation.DSMT4">
                      <p:embed/>
                    </p:oleObj>
                  </mc:Choice>
                  <mc:Fallback>
                    <p:oleObj name="" r:id="rId9" imgW="32004000" imgH="103632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62" y="0"/>
                            <a:ext cx="1769" cy="57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19"/>
              <p:cNvGraphicFramePr>
                <a:graphicFrameLocks noChangeAspect="1"/>
              </p:cNvGraphicFramePr>
              <p:nvPr/>
            </p:nvGraphicFramePr>
            <p:xfrm>
              <a:off x="662" y="573"/>
              <a:ext cx="1769" cy="5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5" name="" r:id="rId11" imgW="33223200" imgH="10363200" progId="Equation.DSMT4">
                      <p:embed/>
                    </p:oleObj>
                  </mc:Choice>
                  <mc:Fallback>
                    <p:oleObj name="" r:id="rId11" imgW="33223200" imgH="10363200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62" y="573"/>
                            <a:ext cx="1769" cy="5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0" y="142"/>
                <a:ext cx="818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sz="2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样品</a:t>
                </a:r>
                <a:r>
                  <a:rPr lang="zh-CN" altLang="zh-CN" sz="2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sz="2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：</a:t>
                </a:r>
                <a:endParaRPr lang="zh-CN" sz="24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0" y="595"/>
                <a:ext cx="818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sz="2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样品</a:t>
                </a:r>
                <a:r>
                  <a:rPr lang="zh-CN" altLang="zh-CN" sz="2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sz="2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：</a:t>
                </a:r>
                <a:endParaRPr lang="zh-CN" sz="24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8" name="AutoShape 22"/>
            <p:cNvSpPr/>
            <p:nvPr/>
          </p:nvSpPr>
          <p:spPr bwMode="auto">
            <a:xfrm>
              <a:off x="0" y="307"/>
              <a:ext cx="90" cy="553"/>
            </a:xfrm>
            <a:prstGeom prst="leftBrace">
              <a:avLst>
                <a:gd name="adj1" fmla="val 51204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/>
          <p:nvPr/>
        </p:nvSpPr>
        <p:spPr>
          <a:xfrm>
            <a:off x="340858" y="71414"/>
            <a:ext cx="7731604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zh-CN" sz="24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比热容的测量原理与方法</a:t>
            </a:r>
            <a:endParaRPr lang="zh-CN" altLang="en-US" sz="24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1357290" y="1142984"/>
          <a:ext cx="3760787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44500800" imgH="18288000" progId="Equation.DSMT4">
                  <p:embed/>
                </p:oleObj>
              </mc:Choice>
              <mc:Fallback>
                <p:oleObj name="" r:id="rId1" imgW="44500800" imgH="182880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57290" y="1142984"/>
                        <a:ext cx="3760787" cy="1546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23850" y="3662363"/>
            <a:ext cx="882015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zh-CN" b="1" dirty="0">
                <a:solidFill>
                  <a:srgbClr val="000066"/>
                </a:solidFill>
                <a:latin typeface="华文中宋" panose="02010600040101010101" pitchFamily="2" charset="-122"/>
              </a:rPr>
              <a:t>   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分别测量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100℃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Cu 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Fe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的降温速率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即可求用（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）式算出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Fe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</a:t>
            </a:r>
            <a:r>
              <a: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的比热容</a:t>
            </a:r>
            <a:endParaRPr lang="zh-CN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827088" y="2997200"/>
            <a:ext cx="357020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sz="2400" b="1" dirty="0">
                <a:solidFill>
                  <a:srgbClr val="0066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本实验温度用热电偶测量</a:t>
            </a:r>
            <a:endParaRPr lang="zh-CN" sz="2400" b="1" dirty="0">
              <a:solidFill>
                <a:srgbClr val="0066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5" name="Group 6"/>
          <p:cNvGrpSpPr/>
          <p:nvPr/>
        </p:nvGrpSpPr>
        <p:grpSpPr bwMode="auto">
          <a:xfrm>
            <a:off x="250825" y="4783138"/>
            <a:ext cx="8820150" cy="1309687"/>
            <a:chOff x="0" y="0"/>
            <a:chExt cx="5556" cy="825"/>
          </a:xfrm>
        </p:grpSpPr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5556" cy="7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buFont typeface="Arial" panose="020B0604020202020204" pitchFamily="34" charset="0"/>
              </a:pPr>
              <a:r>
                <a:rPr lang="zh-CN" altLang="zh-CN" b="1" dirty="0">
                  <a:solidFill>
                    <a:srgbClr val="000066"/>
                  </a:solidFill>
                  <a:latin typeface="华文中宋" panose="02010600040101010101" pitchFamily="2" charset="-122"/>
                </a:rPr>
                <a:t>    </a:t>
              </a:r>
              <a:r>
                <a:rPr 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降温速率测量方法：记录样品从</a:t>
              </a:r>
              <a:r>
                <a:rPr lang="zh-CN" alt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102 ℃</a:t>
              </a:r>
              <a:r>
                <a:rPr 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</a:t>
              </a:r>
              <a:r>
                <a:rPr lang="zh-CN" alt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4.37mV)</a:t>
              </a:r>
              <a:r>
                <a:rPr 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降温到</a:t>
              </a:r>
              <a:endPara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</a:pPr>
              <a:r>
                <a:rPr lang="zh-CN" alt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98 ℃(4.18mV)</a:t>
              </a:r>
              <a:r>
                <a:rPr lang="zh-CN" sz="2400" b="1" dirty="0">
                  <a:solidFill>
                    <a:srgbClr val="0000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所需要的时间求出</a:t>
              </a:r>
              <a:endParaRPr 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7" name="Object 8"/>
            <p:cNvGraphicFramePr>
              <a:graphicFrameLocks noChangeAspect="1"/>
            </p:cNvGraphicFramePr>
            <p:nvPr/>
          </p:nvGraphicFramePr>
          <p:xfrm>
            <a:off x="2948" y="322"/>
            <a:ext cx="341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6400800" imgH="9448800" progId="Equation.DSMT4">
                    <p:embed/>
                  </p:oleObj>
                </mc:Choice>
                <mc:Fallback>
                  <p:oleObj name="" r:id="rId3" imgW="6400800" imgH="9448800" progId="Equation.DSMT4">
                    <p:embed/>
                    <p:pic>
                      <p:nvPicPr>
                        <p:cNvPr id="0" name="Object 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48" y="322"/>
                          <a:ext cx="341" cy="50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414717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 实验内容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73050" y="896938"/>
            <a:ext cx="5848076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、用比较法测量</a:t>
            </a:r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100℃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时</a:t>
            </a:r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Fe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和</a:t>
            </a:r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Al</a:t>
            </a:r>
            <a:r>
              <a:rPr 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的比热容</a:t>
            </a:r>
            <a:endParaRPr lang="zh-CN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90550" y="1531938"/>
          <a:ext cx="2287588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27127200" imgH="21945600" progId="Equation.DSMT4">
                  <p:embed/>
                </p:oleObj>
              </mc:Choice>
              <mc:Fallback>
                <p:oleObj name="Equation" r:id="rId1" imgW="27127200" imgH="219456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0550" y="1531938"/>
                        <a:ext cx="2287588" cy="185261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66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168232" y="1557338"/>
          <a:ext cx="285591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" r:id="rId3" imgW="33832800" imgH="10972800" progId="Equation.DSMT4">
                  <p:embed/>
                </p:oleObj>
              </mc:Choice>
              <mc:Fallback>
                <p:oleObj name="" r:id="rId3" imgW="33832800" imgH="109728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232" y="1557338"/>
                        <a:ext cx="2855912" cy="92551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66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3075" y="3860800"/>
            <a:ext cx="7123113" cy="245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100" name="Object 6"/>
          <p:cNvGraphicFramePr>
            <a:graphicFrameLocks noChangeAspect="1"/>
          </p:cNvGraphicFramePr>
          <p:nvPr/>
        </p:nvGraphicFramePr>
        <p:xfrm>
          <a:off x="3473450" y="1557338"/>
          <a:ext cx="2292350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6" imgW="27127200" imgH="21336000" progId="Equation.DSMT4">
                  <p:embed/>
                </p:oleObj>
              </mc:Choice>
              <mc:Fallback>
                <p:oleObj name="Equation" r:id="rId6" imgW="27127200" imgH="213360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73450" y="1557338"/>
                        <a:ext cx="2292350" cy="180181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66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三、实验内容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3050" y="1127770"/>
            <a:ext cx="815319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2、测量Cu的温度对时间的冷却规律（</a:t>
            </a:r>
            <a:r>
              <a:rPr 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按下表的时间间隔</a:t>
            </a:r>
            <a:r>
              <a:rPr lang="zh-CN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</a:t>
            </a:r>
            <a:endParaRPr lang="zh-CN" altLang="zh-CN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5" name="Group 3"/>
          <p:cNvGraphicFramePr>
            <a:graphicFrameLocks noGrp="1"/>
          </p:cNvGraphicFramePr>
          <p:nvPr/>
        </p:nvGraphicFramePr>
        <p:xfrm>
          <a:off x="1042988" y="1951038"/>
          <a:ext cx="6697662" cy="2170749"/>
        </p:xfrm>
        <a:graphic>
          <a:graphicData uri="http://schemas.openxmlformats.org/drawingml/2006/table">
            <a:tbl>
              <a:tblPr/>
              <a:tblGrid>
                <a:gridCol w="744537"/>
                <a:gridCol w="742950"/>
                <a:gridCol w="744538"/>
                <a:gridCol w="746125"/>
                <a:gridCol w="741362"/>
                <a:gridCol w="746125"/>
                <a:gridCol w="744538"/>
                <a:gridCol w="742950"/>
                <a:gridCol w="744537"/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  间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电压（</a:t>
                      </a: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mV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.00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  间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125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电压（</a:t>
                      </a: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mV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5769528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四、实验仪器</a:t>
            </a:r>
            <a:r>
              <a:rPr lang="en-US" altLang="zh-CN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4.1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沧海校区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Group 4"/>
          <p:cNvGrpSpPr/>
          <p:nvPr/>
        </p:nvGrpSpPr>
        <p:grpSpPr bwMode="auto">
          <a:xfrm>
            <a:off x="196850" y="1268413"/>
            <a:ext cx="8640763" cy="5256212"/>
            <a:chOff x="0" y="0"/>
            <a:chExt cx="8640960" cy="5256584"/>
          </a:xfrm>
        </p:grpSpPr>
        <p:pic>
          <p:nvPicPr>
            <p:cNvPr id="4" name="Picture 13" descr="C:\Documents and Settings\Administrator\桌面\IMG_20140307_162940.jp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0" y="0"/>
              <a:ext cx="8640960" cy="5256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AutoShape 6"/>
            <p:cNvSpPr>
              <a:spLocks noChangeArrowheads="1"/>
            </p:cNvSpPr>
            <p:nvPr/>
          </p:nvSpPr>
          <p:spPr bwMode="auto">
            <a:xfrm>
              <a:off x="6951505" y="1621284"/>
              <a:ext cx="1456024" cy="647700"/>
            </a:xfrm>
            <a:prstGeom prst="wedgeEllipseCallout">
              <a:avLst>
                <a:gd name="adj1" fmla="val -78222"/>
                <a:gd name="adj2" fmla="val 63269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sz="1800" b="1">
                  <a:ea typeface="宋体" panose="02010600030101010101" pitchFamily="2" charset="-122"/>
                </a:rPr>
                <a:t>防护罩</a:t>
              </a:r>
              <a:endParaRPr 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6" name="AutoShape 7"/>
            <p:cNvSpPr>
              <a:spLocks noChangeArrowheads="1"/>
            </p:cNvSpPr>
            <p:nvPr/>
          </p:nvSpPr>
          <p:spPr bwMode="auto">
            <a:xfrm>
              <a:off x="4021655" y="0"/>
              <a:ext cx="1223962" cy="863600"/>
            </a:xfrm>
            <a:prstGeom prst="wedgeEllipseCallout">
              <a:avLst>
                <a:gd name="adj1" fmla="val -20333"/>
                <a:gd name="adj2" fmla="val 186773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sz="1800" b="1">
                  <a:ea typeface="宋体" panose="02010600030101010101" pitchFamily="2" charset="-122"/>
                </a:rPr>
                <a:t>杜瓦瓶</a:t>
              </a:r>
              <a:endParaRPr 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7180624" y="70817"/>
              <a:ext cx="1424593" cy="792783"/>
            </a:xfrm>
            <a:prstGeom prst="wedgeEllipseCallout">
              <a:avLst>
                <a:gd name="adj1" fmla="val -112296"/>
                <a:gd name="adj2" fmla="val 149963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sz="1800" b="1">
                  <a:ea typeface="宋体" panose="02010600030101010101" pitchFamily="2" charset="-122"/>
                </a:rPr>
                <a:t>电烙铁</a:t>
              </a:r>
              <a:endParaRPr 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7180624" y="2999655"/>
              <a:ext cx="1292264" cy="647700"/>
            </a:xfrm>
            <a:prstGeom prst="wedgeEllipseCallout">
              <a:avLst>
                <a:gd name="adj1" fmla="val -76296"/>
                <a:gd name="adj2" fmla="val -39644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sz="1800" b="1">
                  <a:ea typeface="宋体" panose="02010600030101010101" pitchFamily="2" charset="-122"/>
                </a:rPr>
                <a:t>样品室</a:t>
              </a:r>
              <a:endParaRPr 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>
              <a:off x="342633" y="1451336"/>
              <a:ext cx="1295400" cy="576263"/>
            </a:xfrm>
            <a:prstGeom prst="wedgeEllipseCallout">
              <a:avLst>
                <a:gd name="adj1" fmla="val 6130"/>
                <a:gd name="adj2" fmla="val 241736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sz="1800" b="1">
                  <a:ea typeface="宋体" panose="02010600030101010101" pitchFamily="2" charset="-122"/>
                </a:rPr>
                <a:t>热电势</a:t>
              </a:r>
              <a:endParaRPr 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>
              <a:off x="1998073" y="1347990"/>
              <a:ext cx="1225550" cy="503238"/>
            </a:xfrm>
            <a:prstGeom prst="wedgeEllipseCallout">
              <a:avLst>
                <a:gd name="adj1" fmla="val -130"/>
                <a:gd name="adj2" fmla="val 283755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sz="1800" b="1">
                  <a:ea typeface="宋体" panose="02010600030101010101" pitchFamily="2" charset="-122"/>
                </a:rPr>
                <a:t>时间</a:t>
              </a:r>
              <a:endParaRPr lang="zh-CN" sz="1800" b="1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5769528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四、实验仪器</a:t>
            </a:r>
            <a:r>
              <a:rPr lang="en-US" altLang="zh-CN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4.2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丽湖校区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内容占位符 1" descr="QQ图片2018041010074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92200" y="1038225"/>
            <a:ext cx="7070725" cy="53038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2" name="矩形标注 11"/>
          <p:cNvSpPr/>
          <p:nvPr/>
        </p:nvSpPr>
        <p:spPr>
          <a:xfrm>
            <a:off x="95250" y="3341688"/>
            <a:ext cx="1228725" cy="477837"/>
          </a:xfrm>
          <a:prstGeom prst="wedgeRectCallout">
            <a:avLst>
              <a:gd name="adj1" fmla="val 60433"/>
              <a:gd name="adj2" fmla="val 227984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杜瓦瓶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69863" y="939800"/>
            <a:ext cx="1722437" cy="477838"/>
          </a:xfrm>
          <a:prstGeom prst="wedgeRectCallout">
            <a:avLst>
              <a:gd name="adj1" fmla="val 99170"/>
              <a:gd name="adj2" fmla="val 323474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加热烙铁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3114675" y="1214438"/>
            <a:ext cx="1228725" cy="477837"/>
          </a:xfrm>
          <a:prstGeom prst="wedgeRectCallout">
            <a:avLst>
              <a:gd name="adj1" fmla="val -9865"/>
              <a:gd name="adj2" fmla="val 217241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升降架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3892550" y="2613025"/>
            <a:ext cx="1228725" cy="479425"/>
          </a:xfrm>
          <a:prstGeom prst="wedgeRectCallout">
            <a:avLst>
              <a:gd name="adj1" fmla="val -130630"/>
              <a:gd name="adj2" fmla="val 298408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样品架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3114675" y="5083175"/>
            <a:ext cx="1228725" cy="479425"/>
          </a:xfrm>
          <a:prstGeom prst="wedgeRectCallout">
            <a:avLst>
              <a:gd name="adj1" fmla="val -146849"/>
              <a:gd name="adj2" fmla="val -38992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热电偶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7" name="矩形标注 16"/>
          <p:cNvSpPr/>
          <p:nvPr/>
        </p:nvSpPr>
        <p:spPr>
          <a:xfrm>
            <a:off x="5783263" y="1982788"/>
            <a:ext cx="1230312" cy="479425"/>
          </a:xfrm>
          <a:prstGeom prst="wedgeRectCallout">
            <a:avLst>
              <a:gd name="adj1" fmla="val 52737"/>
              <a:gd name="adj2" fmla="val 455305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计时器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8" name="矩形标注 17"/>
          <p:cNvSpPr/>
          <p:nvPr/>
        </p:nvSpPr>
        <p:spPr>
          <a:xfrm>
            <a:off x="6216650" y="5267325"/>
            <a:ext cx="1781175" cy="479425"/>
          </a:xfrm>
          <a:prstGeom prst="wedgeRectCallout">
            <a:avLst>
              <a:gd name="adj1" fmla="val -45609"/>
              <a:gd name="adj2" fmla="val -224801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温度示数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矩形标注 18"/>
          <p:cNvSpPr/>
          <p:nvPr/>
        </p:nvSpPr>
        <p:spPr>
          <a:xfrm>
            <a:off x="4554538" y="5386388"/>
            <a:ext cx="1228725" cy="477837"/>
          </a:xfrm>
          <a:prstGeom prst="wedgeRectCallout">
            <a:avLst>
              <a:gd name="adj1" fmla="val 23192"/>
              <a:gd name="adj2" fmla="val -188859"/>
            </a:avLst>
          </a:prstGeom>
          <a:solidFill>
            <a:srgbClr val="DDDDDD"/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noProof="1">
                <a:solidFill>
                  <a:srgbClr val="002060"/>
                </a:solidFill>
                <a:sym typeface="+mn-ea"/>
              </a:rPr>
              <a:t>加热档</a:t>
            </a:r>
            <a:endParaRPr lang="zh-CN" altLang="en-US" noProof="1">
              <a:solidFill>
                <a:srgbClr val="002060"/>
              </a:solidFill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5769528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四、实验仪器</a:t>
            </a:r>
            <a:r>
              <a:rPr lang="en-US" altLang="zh-CN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4.3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实验样品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128586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样品 </a:t>
            </a:r>
            <a:r>
              <a:rPr kumimoji="0" lang="zh-CN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</a:t>
            </a:r>
            <a:r>
              <a:rPr kumimoji="0" 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</a:t>
            </a:r>
            <a:r>
              <a:rPr kumimoji="0" 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</a:t>
            </a:r>
            <a:r>
              <a:rPr kumimoji="0" 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sz="3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1" cstate="print"/>
          <a:srcRect l="38750" t="26102" b="30568"/>
          <a:stretch>
            <a:fillRect/>
          </a:stretch>
        </p:blipFill>
        <p:spPr bwMode="auto">
          <a:xfrm>
            <a:off x="785786" y="2143116"/>
            <a:ext cx="6883400" cy="295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五、实验步骤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000108"/>
            <a:ext cx="8229600" cy="452596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短接调零数字电压表（每换一次材料都调）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defRPr/>
            </a:pPr>
            <a:r>
              <a:rPr lang="en-US" altLang="zh-CN" sz="2800" b="1" dirty="0" smtClean="0">
                <a:latin typeface="+mn-lt"/>
                <a:ea typeface="+mn-ea"/>
              </a:rPr>
              <a:t>2</a:t>
            </a:r>
            <a:r>
              <a:rPr lang="zh-CN" altLang="en-US" sz="2800" b="1" dirty="0" smtClean="0">
                <a:latin typeface="+mn-lt"/>
                <a:ea typeface="+mn-ea"/>
              </a:rPr>
              <a:t>、</a:t>
            </a:r>
            <a:r>
              <a:rPr kumimoji="0" 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按实验要求连接好加热仪和热电偶测试仪。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defRPr/>
            </a:pPr>
            <a:r>
              <a:rPr lang="en-US" altLang="zh-CN" sz="2800" b="1" dirty="0" smtClean="0">
                <a:latin typeface="+mn-lt"/>
                <a:ea typeface="+mn-ea"/>
              </a:rPr>
              <a:t>3</a:t>
            </a:r>
            <a:r>
              <a:rPr lang="zh-CN" altLang="en-US" sz="2800" b="1" dirty="0" smtClean="0">
                <a:latin typeface="+mn-lt"/>
                <a:ea typeface="+mn-ea"/>
              </a:rPr>
              <a:t>、</a:t>
            </a:r>
            <a:r>
              <a:rPr kumimoji="0" 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将实验样品套在容器内的热电偶上，不盖有机玻璃盖，下降实验架，使电烙铁全套在样品上给样品加热。把样品加热到约</a:t>
            </a:r>
            <a:r>
              <a:rPr kumimoji="0" lang="zh-CN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131℃</a:t>
            </a:r>
            <a:r>
              <a:rPr kumimoji="0" 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（数字电压表读数</a:t>
            </a:r>
            <a:r>
              <a:rPr kumimoji="0" lang="zh-CN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6.00mV</a:t>
            </a:r>
            <a:r>
              <a:rPr kumimoji="0" 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）时，断开加热开关。上升加热源（有机玻璃罩和盖都盖好），使样品在样品室自然冷却。</a:t>
            </a:r>
            <a:endParaRPr kumimoji="0" 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五、实验步骤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21442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609600" indent="-609600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800" b="1" dirty="0" smtClean="0">
                <a:latin typeface="+mn-lt"/>
                <a:ea typeface="+mn-ea"/>
              </a:rPr>
              <a:t>4、记录试验样品温度从102℃（数字电压表读数4.37mV）下降到98℃（数字电压表读数4.18mV）所需要时间Δt。</a:t>
            </a:r>
            <a:endParaRPr lang="zh-CN" altLang="en-US" sz="2800" b="1" dirty="0" smtClean="0">
              <a:latin typeface="+mn-lt"/>
              <a:ea typeface="+mn-ea"/>
            </a:endParaRPr>
          </a:p>
          <a:p>
            <a:pPr marL="609600" indent="-609600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800" b="1" dirty="0" smtClean="0">
                <a:latin typeface="+mn-lt"/>
                <a:ea typeface="+mn-ea"/>
              </a:rPr>
              <a:t>5、分别测量铜、铁、铝的温度下降速度，每一样品重复测量5次。</a:t>
            </a:r>
            <a:endParaRPr lang="zh-CN" altLang="en-US" sz="2800" b="1" dirty="0" smtClean="0">
              <a:latin typeface="+mn-lt"/>
              <a:ea typeface="+mn-ea"/>
            </a:endParaRPr>
          </a:p>
          <a:p>
            <a:pPr marL="609600" indent="-609600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800" b="1" dirty="0" smtClean="0">
                <a:latin typeface="+mn-lt"/>
                <a:ea typeface="+mn-ea"/>
              </a:rPr>
              <a:t>6、加温到</a:t>
            </a:r>
            <a:r>
              <a:rPr lang="en-US" altLang="zh-CN" sz="2800" b="1" dirty="0" smtClean="0">
                <a:latin typeface="+mn-lt"/>
                <a:ea typeface="+mn-ea"/>
              </a:rPr>
              <a:t>6</a:t>
            </a:r>
            <a:r>
              <a:rPr lang="zh-CN" altLang="en-US" sz="2800" b="1" dirty="0" smtClean="0">
                <a:latin typeface="+mn-lt"/>
                <a:ea typeface="+mn-ea"/>
              </a:rPr>
              <a:t>.5mV。从</a:t>
            </a:r>
            <a:r>
              <a:rPr lang="en-US" altLang="zh-CN" sz="2800" b="1" dirty="0" smtClean="0">
                <a:latin typeface="+mn-lt"/>
                <a:ea typeface="+mn-ea"/>
              </a:rPr>
              <a:t>6</a:t>
            </a:r>
            <a:r>
              <a:rPr lang="zh-CN" altLang="en-US" sz="2800" b="1" dirty="0" smtClean="0">
                <a:latin typeface="+mn-lt"/>
                <a:ea typeface="+mn-ea"/>
              </a:rPr>
              <a:t>.0mV开始，按表格时间记录电压，做出铜的温度</a:t>
            </a:r>
            <a:r>
              <a:rPr lang="en-US" altLang="zh-CN" sz="2800" b="1" dirty="0" smtClean="0">
                <a:latin typeface="+mn-lt"/>
                <a:ea typeface="+mn-ea"/>
              </a:rPr>
              <a:t>℃</a:t>
            </a:r>
            <a:r>
              <a:rPr lang="zh-CN" altLang="en-US" sz="2800" b="1" dirty="0" smtClean="0">
                <a:latin typeface="+mn-lt"/>
                <a:ea typeface="+mn-ea"/>
              </a:rPr>
              <a:t>~时间t的冷却速率关系。</a:t>
            </a:r>
            <a:endParaRPr lang="zh-CN" altLang="en-US" sz="2800" b="1" dirty="0" smtClean="0">
              <a:latin typeface="+mn-lt"/>
              <a:ea typeface="+mn-ea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五、实验步骤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2000240"/>
            <a:ext cx="8229600" cy="3286148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取换样品时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,</a:t>
            </a:r>
            <a:r>
              <a:rPr kumimoji="0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用镊子拿取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,</a:t>
            </a:r>
            <a:r>
              <a:rPr kumimoji="0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注意不要烫到手或碰到电线</a:t>
            </a:r>
            <a:endParaRPr kumimoji="0" 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加热器下降时注意样品的位置</a:t>
            </a:r>
            <a:endParaRPr kumimoji="0" 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测量降温时间时，按键动作要迅速，减小人为计时误差</a:t>
            </a:r>
            <a:endParaRPr kumimoji="0" 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105827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注意事项</a:t>
            </a:r>
            <a:endParaRPr lang="zh-CN" altLang="en-US" sz="3200" b="1" dirty="0" smtClean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4297971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六、</a:t>
            </a:r>
            <a:r>
              <a:rPr lang="zh-CN" altLang="zh-CN" sz="4000" b="1" dirty="0" smtClean="0">
                <a:solidFill>
                  <a:srgbClr val="FF0000"/>
                </a:solidFill>
              </a:rPr>
              <a:t>数据处理要求</a:t>
            </a:r>
            <a:endParaRPr lang="zh-CN" altLang="zh-CN" sz="4000" b="1" dirty="0" smtClean="0">
              <a:solidFill>
                <a:srgbClr val="FF000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73050" y="1125539"/>
            <a:ext cx="96996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1、计算出Fe、Al的比热容,并与标准值比较，算出百分比误差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Fe:0.12,  Al:0.23cal/(g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·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℃)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                                     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  <a:sym typeface="Arial" panose="020B0604020202020204" pitchFamily="34" charset="0"/>
            </a:endParaRPr>
          </a:p>
          <a:p>
            <a:endParaRPr lang="zh-CN" altLang="en-US" b="1" dirty="0">
              <a:solidFill>
                <a:srgbClr val="000066"/>
              </a:solidFill>
              <a:sym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73050" y="2602867"/>
            <a:ext cx="651171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endParaRPr lang="zh-CN" altLang="en-US" sz="1800" b="1" dirty="0">
              <a:solidFill>
                <a:srgbClr val="000066"/>
              </a:solidFill>
              <a:sym typeface="Arial" panose="020B0604020202020204" pitchFamily="34" charset="0"/>
            </a:endParaRPr>
          </a:p>
          <a:p>
            <a:endParaRPr lang="zh-CN" altLang="en-US" b="1" dirty="0">
              <a:solidFill>
                <a:srgbClr val="000066"/>
              </a:solidFill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2、在坐标纸上或</a:t>
            </a:r>
            <a:r>
              <a:rPr lang="zh-CN" altLang="en-US" sz="24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计算机作图画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出铜的冷却曲线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363788" y="1989138"/>
          <a:ext cx="412908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38709600" imgH="11887200" progId="Equation.DSMT4">
                  <p:embed/>
                </p:oleObj>
              </mc:Choice>
              <mc:Fallback>
                <p:oleObj name="Equation" r:id="rId1" imgW="38709600" imgH="118872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3788" y="1989138"/>
                        <a:ext cx="4129087" cy="1000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3618530"/>
            <a:ext cx="3811591" cy="2583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8" r="12035"/>
          <a:stretch>
            <a:fillRect/>
          </a:stretch>
        </p:blipFill>
        <p:spPr>
          <a:xfrm>
            <a:off x="-1" y="13235"/>
            <a:ext cx="9575669" cy="7160181"/>
          </a:xfrm>
          <a:prstGeom prst="rect">
            <a:avLst/>
          </a:prstGeom>
        </p:spPr>
      </p:pic>
      <p:grpSp>
        <p:nvGrpSpPr>
          <p:cNvPr id="2" name="Group 11"/>
          <p:cNvGrpSpPr/>
          <p:nvPr/>
        </p:nvGrpSpPr>
        <p:grpSpPr>
          <a:xfrm>
            <a:off x="1908175" y="1687513"/>
            <a:ext cx="5873750" cy="2897187"/>
            <a:chOff x="1202" y="1063"/>
            <a:chExt cx="3700" cy="1825"/>
          </a:xfrm>
        </p:grpSpPr>
        <p:sp>
          <p:nvSpPr>
            <p:cNvPr id="12297" name="Text Box 5"/>
            <p:cNvSpPr txBox="1"/>
            <p:nvPr/>
          </p:nvSpPr>
          <p:spPr>
            <a:xfrm>
              <a:off x="1561" y="1063"/>
              <a:ext cx="1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endParaRPr lang="zh-CN" altLang="en-US" sz="2800" b="1" dirty="0">
                <a:solidFill>
                  <a:srgbClr val="33CC33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295" name="Text Box 7"/>
            <p:cNvSpPr txBox="1"/>
            <p:nvPr/>
          </p:nvSpPr>
          <p:spPr>
            <a:xfrm>
              <a:off x="1202" y="2523"/>
              <a:ext cx="37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00CC66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深圳大学大学物理教学实验中心</a:t>
              </a:r>
              <a:endParaRPr lang="zh-CN" altLang="en-US" sz="3200" b="1" dirty="0">
                <a:solidFill>
                  <a:srgbClr val="00CC66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2292" name="WordArt 9"/>
          <p:cNvSpPr>
            <a:spLocks noTextEdit="1"/>
          </p:cNvSpPr>
          <p:nvPr/>
        </p:nvSpPr>
        <p:spPr>
          <a:xfrm>
            <a:off x="3348038" y="4724400"/>
            <a:ext cx="28956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BottomLeft">
                <a:rot lat="0" lon="0" rev="0"/>
              </a:camera>
              <a:lightRig rig="legacyFlat3" dir="t"/>
            </a:scene3d>
            <a:sp3d extrusionH="430200" prstMaterial="legacyMatte">
              <a:extrusionClr>
                <a:srgbClr val="FF66FF"/>
              </a:extrusionClr>
            </a:sp3d>
          </a:bodyPr>
          <a:lstStyle/>
          <a:p>
            <a:pPr algn="ctr"/>
            <a:r>
              <a:rPr lang="zh-CN" altLang="en-US" sz="5400" dirty="0">
                <a:gradFill rotWithShape="1">
                  <a:gsLst>
                    <a:gs pos="0">
                      <a:srgbClr val="FF66FF"/>
                    </a:gs>
                    <a:gs pos="100000">
                      <a:schemeClr val="hlink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再见！</a:t>
            </a:r>
            <a:endParaRPr lang="zh-CN" altLang="en-US" sz="5400" dirty="0">
              <a:gradFill rotWithShape="1">
                <a:gsLst>
                  <a:gs pos="0">
                    <a:srgbClr val="FF66FF"/>
                  </a:gs>
                  <a:gs pos="100000">
                    <a:schemeClr val="hlink"/>
                  </a:gs>
                </a:gsLst>
                <a:lin ang="5400000" scaled="1"/>
                <a:tileRect/>
              </a:gra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91882" name="006.06. 梦中的婚礼 MARIAGE D' AMOUR.mp3">
            <a:hlinkClick r:id="" action="ppaction://media"/>
          </p:cNvPr>
          <p:cNvPicPr>
            <a:picLocks noRot="1"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7596188" y="65532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70" decel="100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70" decel="100000"/>
                                        <p:tgtEl>
                                          <p:spTgt spid="1229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" dur="77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188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古瓶荷花 1">
    <a:dk1>
      <a:srgbClr val="0033CC"/>
    </a:dk1>
    <a:lt1>
      <a:srgbClr val="FFFFFF"/>
    </a:lt1>
    <a:dk2>
      <a:srgbClr val="007572"/>
    </a:dk2>
    <a:lt2>
      <a:srgbClr val="C0C0C0"/>
    </a:lt2>
    <a:accent1>
      <a:srgbClr val="CCECFF"/>
    </a:accent1>
    <a:accent2>
      <a:srgbClr val="3399FF"/>
    </a:accent2>
    <a:accent3>
      <a:srgbClr val="FFFFFF"/>
    </a:accent3>
    <a:accent4>
      <a:srgbClr val="002AAE"/>
    </a:accent4>
    <a:accent5>
      <a:srgbClr val="E2F4FF"/>
    </a:accent5>
    <a:accent6>
      <a:srgbClr val="2D8AE7"/>
    </a:accent6>
    <a:hlink>
      <a:srgbClr val="CC0066"/>
    </a:hlink>
    <a:folHlink>
      <a:srgbClr val="7D7D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1486</Words>
  <Application>WPS 演示</Application>
  <PresentationFormat>全屏显示(4:3)</PresentationFormat>
  <Paragraphs>179</Paragraphs>
  <Slides>16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16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华文中宋</vt:lpstr>
      <vt:lpstr>华文隶书</vt:lpstr>
      <vt:lpstr>微软雅黑</vt:lpstr>
      <vt:lpstr>华文细黑</vt:lpstr>
      <vt:lpstr>华文新魏</vt:lpstr>
      <vt:lpstr>华文行楷</vt:lpstr>
      <vt:lpstr>Arial Unicode MS</vt:lpstr>
      <vt:lpstr>Calibri</vt:lpstr>
      <vt:lpstr>古瓶荷花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l</cp:lastModifiedBy>
  <cp:revision>170</cp:revision>
  <dcterms:created xsi:type="dcterms:W3CDTF">2007-03-01T02:00:00Z</dcterms:created>
  <dcterms:modified xsi:type="dcterms:W3CDTF">2023-03-29T06:57:06Z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  <property fmtid="{D5CDD505-2E9C-101B-9397-08002B2CF9AE}" pid="3" name="ICV">
    <vt:lpwstr>A40A4673E4884D78A62722737EE8F31E</vt:lpwstr>
  </property>
</Properties>
</file>