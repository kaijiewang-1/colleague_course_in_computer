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63" r:id="rId3"/>
    <p:sldMasterId id="2147483666" r:id="rId4"/>
  </p:sldMasterIdLst>
  <p:notesMasterIdLst>
    <p:notesMasterId r:id="rId24"/>
  </p:notesMasterIdLst>
  <p:sldIdLst>
    <p:sldId id="347" r:id="rId5"/>
    <p:sldId id="340" r:id="rId6"/>
    <p:sldId id="341" r:id="rId7"/>
    <p:sldId id="264" r:id="rId8"/>
    <p:sldId id="268" r:id="rId9"/>
    <p:sldId id="269" r:id="rId10"/>
    <p:sldId id="305" r:id="rId11"/>
    <p:sldId id="303" r:id="rId12"/>
    <p:sldId id="337" r:id="rId13"/>
    <p:sldId id="329" r:id="rId14"/>
    <p:sldId id="327" r:id="rId15"/>
    <p:sldId id="343" r:id="rId16"/>
    <p:sldId id="344" r:id="rId17"/>
    <p:sldId id="345" r:id="rId18"/>
    <p:sldId id="346" r:id="rId19"/>
    <p:sldId id="336" r:id="rId20"/>
    <p:sldId id="338" r:id="rId21"/>
    <p:sldId id="339" r:id="rId22"/>
    <p:sldId id="26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00FF00"/>
    <a:srgbClr val="0000FF"/>
    <a:srgbClr val="FF3300"/>
    <a:srgbClr val="FBE5D6"/>
    <a:srgbClr val="08FF08"/>
    <a:srgbClr val="6565FF"/>
    <a:srgbClr val="7A7AFF"/>
    <a:srgbClr val="5050FF"/>
    <a:srgbClr val="1DFF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1" autoAdjust="0"/>
    <p:restoredTop sz="96366" autoAdjust="0"/>
  </p:normalViewPr>
  <p:slideViewPr>
    <p:cSldViewPr snapToGrid="0">
      <p:cViewPr varScale="1">
        <p:scale>
          <a:sx n="111" d="100"/>
          <a:sy n="111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4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10" Type="http://schemas.openxmlformats.org/officeDocument/2006/relationships/image" Target="../media/image32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wmf"/><Relationship Id="rId7" Type="http://schemas.openxmlformats.org/officeDocument/2006/relationships/image" Target="../media/image39.e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9" Type="http://schemas.openxmlformats.org/officeDocument/2006/relationships/image" Target="../media/image41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wmf"/><Relationship Id="rId2" Type="http://schemas.openxmlformats.org/officeDocument/2006/relationships/image" Target="../media/image50.emf"/><Relationship Id="rId1" Type="http://schemas.openxmlformats.org/officeDocument/2006/relationships/image" Target="../media/image49.emf"/><Relationship Id="rId6" Type="http://schemas.openxmlformats.org/officeDocument/2006/relationships/image" Target="../media/image54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Relationship Id="rId9" Type="http://schemas.openxmlformats.org/officeDocument/2006/relationships/image" Target="../media/image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14760-F49E-4171-B4AD-9A1F8D499213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84F3B-EB5B-41D0-90E0-77500609D1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48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篇章页，动画慢一点，字号变大，看目录最长的字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030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篇章页，动画慢一点，字号变大，看目录最长的字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490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目录，目录字号变大，渐变缺角，加点装饰，有点偏</a:t>
            </a:r>
            <a:endParaRPr lang="en-US" altLang="zh-CN" dirty="0"/>
          </a:p>
          <a:p>
            <a:r>
              <a:rPr lang="en-US" altLang="zh-CN" dirty="0"/>
              <a:t>https://www.vcg.com/creative/1278690055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437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定理，去背景图，换渐变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981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F84F3B-EB5B-41D0-90E0-77500609D10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856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封底，换成本章小结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F84F3B-EB5B-41D0-90E0-77500609D10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395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42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28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527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98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B600E-85D4-44EF-9BD4-33408006A0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731044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141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72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3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B600E-85D4-44EF-9BD4-33408006A0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6424986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64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microsoft.com/office/2007/relationships/hdphoto" Target="../media/hdphoto1.wdp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Relationship Id="rId9" Type="http://schemas.microsoft.com/office/2007/relationships/hdphoto" Target="../media/hdphoto3.wdp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8">
            <a:extLst>
              <a:ext uri="{FF2B5EF4-FFF2-40B4-BE49-F238E27FC236}">
                <a16:creationId xmlns:a16="http://schemas.microsoft.com/office/drawing/2014/main" id="{9BB01645-C20E-47EE-8504-AE7EFE41AC0A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B5E2D2-06CD-4B8B-B4DA-FCFCA85A0775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BE7AE6B-4F5D-4F19-B3EC-1E5747397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35DB05C-E3B7-4208-B214-3E1E8D46FF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ABD1DF3-4F12-4D6E-A0BA-553B8A08D24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2A48BE-C2ED-4B46-8C29-206AF0D29E32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1EE508E-4024-4082-B74D-F1BB1898622A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28F2FCE-B4B6-4C00-B0F0-A976AA04ABA7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C6FF794-9C96-413D-95D1-5C97A85897F9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8" name="矩形: 圆角 1">
            <a:extLst>
              <a:ext uri="{FF2B5EF4-FFF2-40B4-BE49-F238E27FC236}">
                <a16:creationId xmlns:a16="http://schemas.microsoft.com/office/drawing/2014/main" id="{66AB1149-4F35-4D40-BA9E-604FDDDA0FA6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D9E8826-743C-47DA-B2BA-8700B1EBD35B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32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8">
            <a:extLst>
              <a:ext uri="{FF2B5EF4-FFF2-40B4-BE49-F238E27FC236}">
                <a16:creationId xmlns:a16="http://schemas.microsoft.com/office/drawing/2014/main" id="{AF8DC253-A5A1-4C01-A4DD-3654DB22F758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D701A6F-B62A-40C0-86E4-FC943E72EC49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9E9182B-9299-4D94-BEF8-F51879381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42D3D04-C43C-40B7-9EBA-6B44525314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1A5F2-0070-4718-A047-23CFB482BF3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0F25233-B859-45E3-9CBF-7943197C62AF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BF6C11-45F0-4163-87B4-2127DCD49A09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CA2BCDB-33E8-4EB7-8AB2-A55D04386796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A772E94-D958-47D5-9A1C-550FAEF51521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6" name="矩形: 圆角 1">
            <a:extLst>
              <a:ext uri="{FF2B5EF4-FFF2-40B4-BE49-F238E27FC236}">
                <a16:creationId xmlns:a16="http://schemas.microsoft.com/office/drawing/2014/main" id="{6951C8F5-5DF3-4831-BE1F-23EEC2A97F51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247133D-E94F-4DED-91EF-3E1015712CAA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Oval 102">
            <a:extLst>
              <a:ext uri="{FF2B5EF4-FFF2-40B4-BE49-F238E27FC236}">
                <a16:creationId xmlns:a16="http://schemas.microsoft.com/office/drawing/2014/main" id="{305F13E5-FB54-4FA4-948C-63BFB6088CC5}"/>
              </a:ext>
            </a:extLst>
          </p:cNvPr>
          <p:cNvSpPr/>
          <p:nvPr userDrawn="1"/>
        </p:nvSpPr>
        <p:spPr>
          <a:xfrm>
            <a:off x="11695913" y="1905000"/>
            <a:ext cx="2064089" cy="2064085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Oval 103">
            <a:extLst>
              <a:ext uri="{FF2B5EF4-FFF2-40B4-BE49-F238E27FC236}">
                <a16:creationId xmlns:a16="http://schemas.microsoft.com/office/drawing/2014/main" id="{E18AF24F-E5FA-4838-AA3C-57AE78884AC6}"/>
              </a:ext>
            </a:extLst>
          </p:cNvPr>
          <p:cNvSpPr/>
          <p:nvPr userDrawn="1"/>
        </p:nvSpPr>
        <p:spPr>
          <a:xfrm>
            <a:off x="4492273" y="7492334"/>
            <a:ext cx="498828" cy="498828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Oval 108">
            <a:extLst>
              <a:ext uri="{FF2B5EF4-FFF2-40B4-BE49-F238E27FC236}">
                <a16:creationId xmlns:a16="http://schemas.microsoft.com/office/drawing/2014/main" id="{EA9C697D-FDB9-46E5-8ED9-D506DABFEF11}"/>
              </a:ext>
            </a:extLst>
          </p:cNvPr>
          <p:cNvSpPr/>
          <p:nvPr userDrawn="1"/>
        </p:nvSpPr>
        <p:spPr>
          <a:xfrm>
            <a:off x="7334651" y="7218278"/>
            <a:ext cx="754074" cy="7540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CE506455-1FC6-4D4B-B1F2-77865B9033D8}"/>
              </a:ext>
            </a:extLst>
          </p:cNvPr>
          <p:cNvSpPr/>
          <p:nvPr userDrawn="1"/>
        </p:nvSpPr>
        <p:spPr>
          <a:xfrm>
            <a:off x="-1222454" y="5475794"/>
            <a:ext cx="1084474" cy="10844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499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286EAD-80BD-46A3-9A2F-51A44CD13D42}"/>
              </a:ext>
            </a:extLst>
          </p:cNvPr>
          <p:cNvSpPr txBox="1"/>
          <p:nvPr userDrawn="1"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可降阶的二阶微分方程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118908-8C05-4905-AFE7-DDCEBEBCD3BA}"/>
              </a:ext>
            </a:extLst>
          </p:cNvPr>
          <p:cNvCxnSpPr>
            <a:cxnSpLocks/>
          </p:cNvCxnSpPr>
          <p:nvPr userDrawn="1"/>
        </p:nvCxnSpPr>
        <p:spPr>
          <a:xfrm>
            <a:off x="10344000" y="401494"/>
            <a:ext cx="1584000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70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8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26 4.81481E-6 C -0.01549 -0.21991 0.01563 -0.18889 0.04245 -0.25718 C 0.04987 -0.34561 0.00117 -0.4419 -0.01172 -0.5301 C -0.01549 -0.6132 0.00808 -0.67663 0.05313 -0.75903 C 0.08711 -0.85695 0.02461 -1.17061 -0.07448 -1.24561 " pathEditMode="relative" rAng="0" ptsTypes="AAAAA">
                                      <p:cBhvr>
                                        <p:cTn id="6" dur="7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-6229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47 0.71806 C -0.02721 0.62685 -0.11302 0.41829 -0.1293 0.29051 C -0.13607 0.18102 -0.1444 0.11597 -0.11003 -0.05417 C -0.0901 -0.26111 -0.04596 -0.51412 -0.21862 -0.61435 " pathEditMode="relative" rAng="0" ptsTypes="AAAA">
                                      <p:cBhvr>
                                        <p:cTn id="11" dur="7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-6662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01 0.2169 C 0.1543 -0.01805 0.06875 -0.0956 0.0125 -0.16875 C -0.00351 -0.26342 0.05638 -0.23518 0.08359 -0.33032 C 0.0918 -0.41875 0.10456 -0.50833 0.00964 -0.59652 C -0.0625 -0.70092 -0.08555 -0.90625 0.12461 -0.98703 " pathEditMode="relative" rAng="0" ptsTypes="AAAAA">
                                      <p:cBhvr>
                                        <p:cTn id="16" dur="10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26" y="-6020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2.59259E-6 C 0.02669 -0.21945 -0.01302 -0.27454 -0.06002 -0.3426 C -0.07318 -0.43125 -0.05469 -0.42199 -0.03203 -0.51065 C -0.02526 -0.59352 0.07969 -0.7757 0.00065 -0.8581 C -0.05911 -0.95556 -0.03958 -1.21135 0.13516 -1.28681 " pathEditMode="relative" rAng="0" ptsTypes="AAAAA">
                                      <p:cBhvr>
                                        <p:cTn id="21" dur="9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643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8">
            <a:extLst>
              <a:ext uri="{FF2B5EF4-FFF2-40B4-BE49-F238E27FC236}">
                <a16:creationId xmlns:a16="http://schemas.microsoft.com/office/drawing/2014/main" id="{9BB01645-C20E-47EE-8504-AE7EFE41AC0A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DB5E2D2-06CD-4B8B-B4DA-FCFCA85A0775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4BE7AE6B-4F5D-4F19-B3EC-1E5747397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35DB05C-E3B7-4208-B214-3E1E8D46FF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ABD1DF3-4F12-4D6E-A0BA-553B8A08D24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2A48BE-C2ED-4B46-8C29-206AF0D29E32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1EE508E-4024-4082-B74D-F1BB1898622A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28F2FCE-B4B6-4C00-B0F0-A976AA04ABA7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2C6FF794-9C96-413D-95D1-5C97A85897F9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8" name="矩形: 圆角 1">
            <a:extLst>
              <a:ext uri="{FF2B5EF4-FFF2-40B4-BE49-F238E27FC236}">
                <a16:creationId xmlns:a16="http://schemas.microsoft.com/office/drawing/2014/main" id="{66AB1149-4F35-4D40-BA9E-604FDDDA0FA6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D9E8826-743C-47DA-B2BA-8700B1EBD35B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43D3F8-B97D-4443-A441-94685B9E5670}"/>
              </a:ext>
            </a:extLst>
          </p:cNvPr>
          <p:cNvSpPr txBox="1"/>
          <p:nvPr userDrawn="1"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可降阶的二阶微分方程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167C8B3-E8FB-43C9-AB71-965DDA6A9031}"/>
              </a:ext>
            </a:extLst>
          </p:cNvPr>
          <p:cNvCxnSpPr>
            <a:cxnSpLocks/>
          </p:cNvCxnSpPr>
          <p:nvPr userDrawn="1"/>
        </p:nvCxnSpPr>
        <p:spPr>
          <a:xfrm>
            <a:off x="10344000" y="401494"/>
            <a:ext cx="1584000" cy="0"/>
          </a:xfrm>
          <a:prstGeom prst="line">
            <a:avLst/>
          </a:prstGeom>
          <a:noFill/>
          <a:ln w="12700" cap="rnd" cmpd="sng" algn="ctr"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18642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0" r:id="rId3"/>
    <p:sldLayoutId id="214748367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8">
            <a:extLst>
              <a:ext uri="{FF2B5EF4-FFF2-40B4-BE49-F238E27FC236}">
                <a16:creationId xmlns:a16="http://schemas.microsoft.com/office/drawing/2014/main" id="{AF8DC253-A5A1-4C01-A4DD-3654DB22F758}"/>
              </a:ext>
            </a:extLst>
          </p:cNvPr>
          <p:cNvSpPr/>
          <p:nvPr userDrawn="1"/>
        </p:nvSpPr>
        <p:spPr>
          <a:xfrm flipV="1">
            <a:off x="-188781" y="-10401"/>
            <a:ext cx="12380781" cy="6868401"/>
          </a:xfrm>
          <a:prstGeom prst="rect">
            <a:avLst/>
          </a:prstGeom>
          <a:gradFill flip="none" rotWithShape="1">
            <a:gsLst>
              <a:gs pos="50000">
                <a:srgbClr val="1068B8"/>
              </a:gs>
              <a:gs pos="0">
                <a:srgbClr val="0A2B7C"/>
              </a:gs>
              <a:gs pos="100000">
                <a:srgbClr val="46A9E6"/>
              </a:gs>
            </a:gsLst>
            <a:path path="circle">
              <a:fillToRect r="100000" b="100000"/>
            </a:path>
            <a:tileRect l="-100000" t="-100000"/>
          </a:gradFill>
          <a:ln w="3175"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 lang="id-ID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D701A6F-B62A-40C0-86E4-FC943E72EC49}"/>
              </a:ext>
            </a:extLst>
          </p:cNvPr>
          <p:cNvGrpSpPr/>
          <p:nvPr userDrawn="1"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9E9182B-9299-4D94-BEF8-F51879381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42D3D04-C43C-40B7-9EBA-6B44525314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1A5F2-0070-4718-A047-23CFB482BF33}"/>
              </a:ext>
            </a:extLst>
          </p:cNvPr>
          <p:cNvSpPr txBox="1"/>
          <p:nvPr userDrawn="1"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0F25233-B859-45E3-9CBF-7943197C62AF}"/>
              </a:ext>
            </a:extLst>
          </p:cNvPr>
          <p:cNvGrpSpPr/>
          <p:nvPr userDrawn="1"/>
        </p:nvGrpSpPr>
        <p:grpSpPr>
          <a:xfrm>
            <a:off x="10033436" y="6558091"/>
            <a:ext cx="90048" cy="72000"/>
            <a:chOff x="9779012" y="6237133"/>
            <a:chExt cx="90048" cy="72000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BF6C11-45F0-4163-87B4-2127DCD49A09}"/>
                </a:ext>
              </a:extLst>
            </p:cNvPr>
            <p:cNvCxnSpPr/>
            <p:nvPr/>
          </p:nvCxnSpPr>
          <p:spPr>
            <a:xfrm flipH="1">
              <a:off x="9833060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CA2BCDB-33E8-4EB7-8AB2-A55D04386796}"/>
                </a:ext>
              </a:extLst>
            </p:cNvPr>
            <p:cNvCxnSpPr/>
            <p:nvPr/>
          </p:nvCxnSpPr>
          <p:spPr>
            <a:xfrm flipH="1">
              <a:off x="9779012" y="6237133"/>
              <a:ext cx="36000" cy="72000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A772E94-D958-47D5-9A1C-550FAEF51521}"/>
              </a:ext>
            </a:extLst>
          </p:cNvPr>
          <p:cNvSpPr txBox="1"/>
          <p:nvPr userDrawn="1"/>
        </p:nvSpPr>
        <p:spPr>
          <a:xfrm>
            <a:off x="408000" y="136996"/>
            <a:ext cx="1764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2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16" name="矩形: 圆角 1">
            <a:extLst>
              <a:ext uri="{FF2B5EF4-FFF2-40B4-BE49-F238E27FC236}">
                <a16:creationId xmlns:a16="http://schemas.microsoft.com/office/drawing/2014/main" id="{6951C8F5-5DF3-4831-BE1F-23EEC2A97F51}"/>
              </a:ext>
            </a:extLst>
          </p:cNvPr>
          <p:cNvSpPr/>
          <p:nvPr userDrawn="1"/>
        </p:nvSpPr>
        <p:spPr>
          <a:xfrm>
            <a:off x="191998" y="149495"/>
            <a:ext cx="1944002" cy="252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33000"/>
                </a:schemeClr>
              </a:gs>
            </a:gsLst>
            <a:lin ang="108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247133D-E94F-4DED-91EF-3E1015712CAA}"/>
              </a:ext>
            </a:extLst>
          </p:cNvPr>
          <p:cNvSpPr/>
          <p:nvPr userDrawn="1"/>
        </p:nvSpPr>
        <p:spPr>
          <a:xfrm>
            <a:off x="192000" y="149495"/>
            <a:ext cx="252000" cy="252000"/>
          </a:xfrm>
          <a:prstGeom prst="ellipse">
            <a:avLst/>
          </a:prstGeom>
          <a:gradFill>
            <a:gsLst>
              <a:gs pos="84000">
                <a:srgbClr val="D1DCEB"/>
              </a:gs>
              <a:gs pos="39000">
                <a:srgbClr val="3796D9"/>
              </a:gs>
              <a:gs pos="62000">
                <a:srgbClr val="0082D2"/>
              </a:gs>
              <a:gs pos="3000">
                <a:srgbClr val="0082D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50800" dist="25400" dir="2700000" algn="tl" rotWithShape="0">
              <a:srgbClr val="69AFE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Oval 102">
            <a:extLst>
              <a:ext uri="{FF2B5EF4-FFF2-40B4-BE49-F238E27FC236}">
                <a16:creationId xmlns:a16="http://schemas.microsoft.com/office/drawing/2014/main" id="{305F13E5-FB54-4FA4-948C-63BFB6088CC5}"/>
              </a:ext>
            </a:extLst>
          </p:cNvPr>
          <p:cNvSpPr/>
          <p:nvPr userDrawn="1"/>
        </p:nvSpPr>
        <p:spPr>
          <a:xfrm>
            <a:off x="11695913" y="1905000"/>
            <a:ext cx="2064089" cy="2064085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Oval 103">
            <a:extLst>
              <a:ext uri="{FF2B5EF4-FFF2-40B4-BE49-F238E27FC236}">
                <a16:creationId xmlns:a16="http://schemas.microsoft.com/office/drawing/2014/main" id="{E18AF24F-E5FA-4838-AA3C-57AE78884AC6}"/>
              </a:ext>
            </a:extLst>
          </p:cNvPr>
          <p:cNvSpPr/>
          <p:nvPr userDrawn="1"/>
        </p:nvSpPr>
        <p:spPr>
          <a:xfrm>
            <a:off x="4492273" y="7492334"/>
            <a:ext cx="498828" cy="498828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0" name="Oval 108">
            <a:extLst>
              <a:ext uri="{FF2B5EF4-FFF2-40B4-BE49-F238E27FC236}">
                <a16:creationId xmlns:a16="http://schemas.microsoft.com/office/drawing/2014/main" id="{EA9C697D-FDB9-46E5-8ED9-D506DABFEF11}"/>
              </a:ext>
            </a:extLst>
          </p:cNvPr>
          <p:cNvSpPr/>
          <p:nvPr userDrawn="1"/>
        </p:nvSpPr>
        <p:spPr>
          <a:xfrm>
            <a:off x="7334651" y="7218278"/>
            <a:ext cx="754074" cy="7540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59A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1" name="Oval 109">
            <a:extLst>
              <a:ext uri="{FF2B5EF4-FFF2-40B4-BE49-F238E27FC236}">
                <a16:creationId xmlns:a16="http://schemas.microsoft.com/office/drawing/2014/main" id="{CE506455-1FC6-4D4B-B1F2-77865B9033D8}"/>
              </a:ext>
            </a:extLst>
          </p:cNvPr>
          <p:cNvSpPr/>
          <p:nvPr userDrawn="1"/>
        </p:nvSpPr>
        <p:spPr>
          <a:xfrm>
            <a:off x="-1222454" y="5475794"/>
            <a:ext cx="1084474" cy="1084474"/>
          </a:xfrm>
          <a:prstGeom prst="ellipse">
            <a:avLst/>
          </a:prstGeom>
          <a:gradFill>
            <a:gsLst>
              <a:gs pos="2000">
                <a:schemeClr val="accent1">
                  <a:alpha val="20000"/>
                </a:schemeClr>
              </a:gs>
              <a:gs pos="100000">
                <a:srgbClr val="074499"/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E286EAD-80BD-46A3-9A2F-51A44CD13D42}"/>
              </a:ext>
            </a:extLst>
          </p:cNvPr>
          <p:cNvSpPr txBox="1"/>
          <p:nvPr userDrawn="1"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可降阶的二阶微分方程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3118908-8C05-4905-AFE7-DDCEBEBCD3BA}"/>
              </a:ext>
            </a:extLst>
          </p:cNvPr>
          <p:cNvCxnSpPr>
            <a:cxnSpLocks/>
          </p:cNvCxnSpPr>
          <p:nvPr userDrawn="1"/>
        </p:nvCxnSpPr>
        <p:spPr>
          <a:xfrm>
            <a:off x="10344000" y="401494"/>
            <a:ext cx="1584000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53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path" presetSubtype="0" repeatCount="indefinite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0026 4.81481E-6 C -0.01549 -0.21991 0.01563 -0.18889 0.04245 -0.25718 C 0.04987 -0.34561 0.00117 -0.4419 -0.01172 -0.5301 C -0.01549 -0.6132 0.00808 -0.67663 0.05313 -0.75903 C 0.08711 -0.85695 0.02461 -1.17061 -0.07448 -1.24561 " pathEditMode="relative" rAng="0" ptsTypes="AAAAA">
                                      <p:cBhvr>
                                        <p:cTn id="6" dur="7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-6229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47 0.71806 C -0.02721 0.62685 -0.11302 0.41829 -0.1293 0.29051 C -0.13607 0.18102 -0.1444 0.11597 -0.11003 -0.05417 C -0.0901 -0.26111 -0.04596 -0.51412 -0.21862 -0.61435 " pathEditMode="relative" rAng="0" ptsTypes="AAAA">
                                      <p:cBhvr>
                                        <p:cTn id="11" dur="7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-6662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01 0.2169 C 0.1543 -0.01805 0.06875 -0.0956 0.0125 -0.16875 C -0.00351 -0.26342 0.05638 -0.23518 0.08359 -0.33032 C 0.0918 -0.41875 0.10456 -0.50833 0.00964 -0.59652 C -0.0625 -0.70092 -0.08555 -0.90625 0.12461 -0.98703 " pathEditMode="relative" rAng="0" ptsTypes="AAAAA">
                                      <p:cBhvr>
                                        <p:cTn id="16" dur="10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26" y="-6020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9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2.59259E-6 C 0.02669 -0.21945 -0.01302 -0.27454 -0.06002 -0.3426 C -0.07318 -0.43125 -0.05469 -0.42199 -0.03203 -0.51065 C -0.02526 -0.59352 0.07969 -0.7757 0.00065 -0.8581 C -0.05911 -0.95556 -0.03958 -1.21135 0.13516 -1.28681 " pathEditMode="relative" rAng="0" ptsTypes="AAAAA">
                                      <p:cBhvr>
                                        <p:cTn id="21" dur="9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6435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9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30.emf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6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7.e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29.emf"/><Relationship Id="rId20" Type="http://schemas.openxmlformats.org/officeDocument/2006/relationships/image" Target="../media/image31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22.png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image" Target="../media/image21.png"/><Relationship Id="rId10" Type="http://schemas.openxmlformats.org/officeDocument/2006/relationships/image" Target="../media/image26.emf"/><Relationship Id="rId19" Type="http://schemas.openxmlformats.org/officeDocument/2006/relationships/oleObject" Target="../embeddings/oleObject25.bin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8.emf"/><Relationship Id="rId22" Type="http://schemas.openxmlformats.org/officeDocument/2006/relationships/image" Target="../media/image3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40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39.emf"/><Relationship Id="rId20" Type="http://schemas.openxmlformats.org/officeDocument/2006/relationships/image" Target="../media/image41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53.emf"/><Relationship Id="rId18" Type="http://schemas.openxmlformats.org/officeDocument/2006/relationships/oleObject" Target="../embeddings/oleObject50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57.wmf"/><Relationship Id="rId7" Type="http://schemas.openxmlformats.org/officeDocument/2006/relationships/image" Target="../media/image50.e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9.xml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2.emf"/><Relationship Id="rId5" Type="http://schemas.openxmlformats.org/officeDocument/2006/relationships/image" Target="../media/image49.emf"/><Relationship Id="rId15" Type="http://schemas.openxmlformats.org/officeDocument/2006/relationships/image" Target="../media/image54.emf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56.e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1.emf"/><Relationship Id="rId14" Type="http://schemas.openxmlformats.org/officeDocument/2006/relationships/oleObject" Target="../embeddings/oleObject48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16">
            <a:extLst>
              <a:ext uri="{FF2B5EF4-FFF2-40B4-BE49-F238E27FC236}">
                <a16:creationId xmlns:a16="http://schemas.microsoft.com/office/drawing/2014/main" id="{51361C5B-6E6E-42D2-A84D-60AA9BFD82B2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">
                <a:srgbClr val="00003A"/>
              </a:gs>
              <a:gs pos="100000">
                <a:srgbClr val="0063AC">
                  <a:alpha val="60000"/>
                </a:srgbClr>
              </a:gs>
              <a:gs pos="62000">
                <a:srgbClr val="084098">
                  <a:alpha val="95000"/>
                </a:srgbClr>
              </a:gs>
            </a:gsLst>
            <a:lin ang="4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Rounded Book"/>
              <a:ea typeface="思源黑体 CN Regular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2683" y="3587709"/>
            <a:ext cx="10596282" cy="1028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第五节  可降阶的二阶微分方程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323623" y="1143351"/>
            <a:ext cx="7610522" cy="949299"/>
            <a:chOff x="2323623" y="1143351"/>
            <a:chExt cx="7610522" cy="949299"/>
          </a:xfrm>
        </p:grpSpPr>
        <p:sp>
          <p:nvSpPr>
            <p:cNvPr id="4" name="矩形 3"/>
            <p:cNvSpPr/>
            <p:nvPr/>
          </p:nvSpPr>
          <p:spPr>
            <a:xfrm>
              <a:off x="3876876" y="1143351"/>
              <a:ext cx="4429418" cy="949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4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第四章 微分方程</a:t>
              </a:r>
              <a:endPara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323623" y="1742140"/>
              <a:ext cx="7610522" cy="0"/>
              <a:chOff x="2323623" y="1742140"/>
              <a:chExt cx="7610522" cy="0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9096D11-FC74-4821-ABF9-81EF93874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3623" y="1742140"/>
                <a:ext cx="119140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99096D11-FC74-4821-ABF9-81EF93874C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42738" y="1742140"/>
                <a:ext cx="119140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5391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16667E-6 4.07407E-6 L 4.16667E-6 -0.1581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0">
            <a:extLst>
              <a:ext uri="{FF2B5EF4-FFF2-40B4-BE49-F238E27FC236}">
                <a16:creationId xmlns:a16="http://schemas.microsoft.com/office/drawing/2014/main" id="{5B2ADFDE-A681-4CE5-9EBE-9F6852F0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63" y="1216383"/>
            <a:ext cx="50263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可分离变量方程：</a:t>
            </a:r>
          </a:p>
        </p:txBody>
      </p:sp>
      <p:graphicFrame>
        <p:nvGraphicFramePr>
          <p:cNvPr id="3" name="Object 51">
            <a:extLst>
              <a:ext uri="{FF2B5EF4-FFF2-40B4-BE49-F238E27FC236}">
                <a16:creationId xmlns:a16="http://schemas.microsoft.com/office/drawing/2014/main" id="{9F3C1B2E-F5AB-4711-969B-9A11498A9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904384"/>
              </p:ext>
            </p:extLst>
          </p:nvPr>
        </p:nvGraphicFramePr>
        <p:xfrm>
          <a:off x="3826853" y="1037113"/>
          <a:ext cx="23463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4" name="公式" r:id="rId3" imgW="1028254" imgH="393529" progId="Equation.3">
                  <p:embed/>
                </p:oleObj>
              </mc:Choice>
              <mc:Fallback>
                <p:oleObj name="公式" r:id="rId3" imgW="1028254" imgH="393529" progId="Equation.3">
                  <p:embed/>
                  <p:pic>
                    <p:nvPicPr>
                      <p:cNvPr id="35" name="Object 51">
                        <a:extLst>
                          <a:ext uri="{FF2B5EF4-FFF2-40B4-BE49-F238E27FC236}">
                            <a16:creationId xmlns:a16="http://schemas.microsoft.com/office/drawing/2014/main" id="{9F3C1B2E-F5AB-4711-969B-9A11498A94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853" y="1037113"/>
                        <a:ext cx="23463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2">
            <a:extLst>
              <a:ext uri="{FF2B5EF4-FFF2-40B4-BE49-F238E27FC236}">
                <a16:creationId xmlns:a16="http://schemas.microsoft.com/office/drawing/2014/main" id="{CC4551A5-C85C-482C-82A0-FCEFDB8BF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46" y="1226818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分离变量，得</a:t>
            </a:r>
          </a:p>
        </p:txBody>
      </p:sp>
      <p:graphicFrame>
        <p:nvGraphicFramePr>
          <p:cNvPr id="5" name="Object 53">
            <a:extLst>
              <a:ext uri="{FF2B5EF4-FFF2-40B4-BE49-F238E27FC236}">
                <a16:creationId xmlns:a16="http://schemas.microsoft.com/office/drawing/2014/main" id="{072119BA-EB44-48C2-A547-F37AE084C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459295"/>
              </p:ext>
            </p:extLst>
          </p:nvPr>
        </p:nvGraphicFramePr>
        <p:xfrm>
          <a:off x="8872368" y="1037113"/>
          <a:ext cx="272256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5" name="公式" r:id="rId5" imgW="1193800" imgH="419100" progId="Equation.3">
                  <p:embed/>
                </p:oleObj>
              </mc:Choice>
              <mc:Fallback>
                <p:oleObj name="公式" r:id="rId5" imgW="1193800" imgH="419100" progId="Equation.3">
                  <p:embed/>
                  <p:pic>
                    <p:nvPicPr>
                      <p:cNvPr id="50" name="Object 53">
                        <a:extLst>
                          <a:ext uri="{FF2B5EF4-FFF2-40B4-BE49-F238E27FC236}">
                            <a16:creationId xmlns:a16="http://schemas.microsoft.com/office/drawing/2014/main" id="{072119BA-EB44-48C2-A547-F37AE084C9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2368" y="1037113"/>
                        <a:ext cx="272256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>
            <a:extLst>
              <a:ext uri="{FF2B5EF4-FFF2-40B4-BE49-F238E27FC236}">
                <a16:creationId xmlns:a16="http://schemas.microsoft.com/office/drawing/2014/main" id="{C6776B5A-65BD-4894-9540-B88ABFE4C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497077"/>
              </p:ext>
            </p:extLst>
          </p:nvPr>
        </p:nvGraphicFramePr>
        <p:xfrm>
          <a:off x="1882355" y="5455842"/>
          <a:ext cx="7649834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6" name="Equation" r:id="rId7" imgW="8115120" imgH="1054080" progId="Equation.DSMT4">
                  <p:embed/>
                </p:oleObj>
              </mc:Choice>
              <mc:Fallback>
                <p:oleObj name="Equation" r:id="rId7" imgW="8115120" imgH="1054080" progId="Equation.DSMT4">
                  <p:embed/>
                  <p:pic>
                    <p:nvPicPr>
                      <p:cNvPr id="5" name="Object 12">
                        <a:extLst>
                          <a:ext uri="{FF2B5EF4-FFF2-40B4-BE49-F238E27FC236}">
                            <a16:creationId xmlns:a16="http://schemas.microsoft.com/office/drawing/2014/main" id="{C6776B5A-65BD-4894-9540-B88ABFE4C9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355" y="5455842"/>
                        <a:ext cx="7649834" cy="1017587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9525">
                        <a:solidFill>
                          <a:srgbClr val="ED7D3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9">
            <a:extLst>
              <a:ext uri="{FF2B5EF4-FFF2-40B4-BE49-F238E27FC236}">
                <a16:creationId xmlns:a16="http://schemas.microsoft.com/office/drawing/2014/main" id="{408E3A7E-5566-42F4-900B-B6656CED72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115382"/>
              </p:ext>
            </p:extLst>
          </p:nvPr>
        </p:nvGraphicFramePr>
        <p:xfrm>
          <a:off x="4645216" y="4356473"/>
          <a:ext cx="2887846" cy="946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7" name="Equation" r:id="rId9" imgW="3251160" imgH="1002960" progId="Equation.DSMT4">
                  <p:embed/>
                </p:oleObj>
              </mc:Choice>
              <mc:Fallback>
                <p:oleObj name="Equation" r:id="rId9" imgW="3251160" imgH="1002960" progId="Equation.DSMT4">
                  <p:embed/>
                  <p:pic>
                    <p:nvPicPr>
                      <p:cNvPr id="12" name="Object 99">
                        <a:extLst>
                          <a:ext uri="{FF2B5EF4-FFF2-40B4-BE49-F238E27FC236}">
                            <a16:creationId xmlns:a16="http://schemas.microsoft.com/office/drawing/2014/main" id="{408E3A7E-5566-42F4-900B-B6656CED72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216" y="4356473"/>
                        <a:ext cx="2887846" cy="946528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9525">
                        <a:solidFill>
                          <a:srgbClr val="ED7D3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45">
            <a:extLst>
              <a:ext uri="{FF2B5EF4-FFF2-40B4-BE49-F238E27FC236}">
                <a16:creationId xmlns:a16="http://schemas.microsoft.com/office/drawing/2014/main" id="{3E7B9290-01CA-4755-BAEB-FCA531519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07" y="2415775"/>
            <a:ext cx="258013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 </a:t>
            </a:r>
            <a:r>
              <a:rPr lang="zh-CN" alt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齐次方程：</a:t>
            </a:r>
            <a:endParaRPr lang="zh-CN" alt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62">
            <a:extLst>
              <a:ext uri="{FF2B5EF4-FFF2-40B4-BE49-F238E27FC236}">
                <a16:creationId xmlns:a16="http://schemas.microsoft.com/office/drawing/2014/main" id="{1C3C573F-D587-48F4-A002-C2C0E42536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530920"/>
              </p:ext>
            </p:extLst>
          </p:nvPr>
        </p:nvGraphicFramePr>
        <p:xfrm>
          <a:off x="2913129" y="2177253"/>
          <a:ext cx="18684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8" name="Equation" r:id="rId11" imgW="787320" imgH="431640" progId="Equation.DSMT4">
                  <p:embed/>
                </p:oleObj>
              </mc:Choice>
              <mc:Fallback>
                <p:oleObj name="Equation" r:id="rId11" imgW="787320" imgH="431640" progId="Equation.DSMT4">
                  <p:embed/>
                  <p:pic>
                    <p:nvPicPr>
                      <p:cNvPr id="17" name="Object 62">
                        <a:extLst>
                          <a:ext uri="{FF2B5EF4-FFF2-40B4-BE49-F238E27FC236}">
                            <a16:creationId xmlns:a16="http://schemas.microsoft.com/office/drawing/2014/main" id="{1C3C573F-D587-48F4-A002-C2C0E42536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129" y="2177253"/>
                        <a:ext cx="1868487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4">
            <a:extLst>
              <a:ext uri="{FF2B5EF4-FFF2-40B4-BE49-F238E27FC236}">
                <a16:creationId xmlns:a16="http://schemas.microsoft.com/office/drawing/2014/main" id="{0AAD5840-EE27-4224-BAF0-63758F1F7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3249" y="24755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令</a:t>
            </a:r>
          </a:p>
        </p:txBody>
      </p:sp>
      <p:graphicFrame>
        <p:nvGraphicFramePr>
          <p:cNvPr id="12" name="Object 65">
            <a:extLst>
              <a:ext uri="{FF2B5EF4-FFF2-40B4-BE49-F238E27FC236}">
                <a16:creationId xmlns:a16="http://schemas.microsoft.com/office/drawing/2014/main" id="{766E1B71-806A-417C-B475-073EDCCF4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738969"/>
              </p:ext>
            </p:extLst>
          </p:nvPr>
        </p:nvGraphicFramePr>
        <p:xfrm>
          <a:off x="5750299" y="2323138"/>
          <a:ext cx="1042988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9" name="公式" r:id="rId13" imgW="457002" imgH="393529" progId="Equation.3">
                  <p:embed/>
                </p:oleObj>
              </mc:Choice>
              <mc:Fallback>
                <p:oleObj name="公式" r:id="rId13" imgW="457002" imgH="393529" progId="Equation.3">
                  <p:embed/>
                  <p:pic>
                    <p:nvPicPr>
                      <p:cNvPr id="20" name="Object 65">
                        <a:extLst>
                          <a:ext uri="{FF2B5EF4-FFF2-40B4-BE49-F238E27FC236}">
                            <a16:creationId xmlns:a16="http://schemas.microsoft.com/office/drawing/2014/main" id="{766E1B71-806A-417C-B475-073EDCCF4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0299" y="2323138"/>
                        <a:ext cx="1042988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7">
            <a:extLst>
              <a:ext uri="{FF2B5EF4-FFF2-40B4-BE49-F238E27FC236}">
                <a16:creationId xmlns:a16="http://schemas.microsoft.com/office/drawing/2014/main" id="{CDF62004-0D82-45A7-8555-5322B2EAC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1062" y="247553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</a:p>
        </p:txBody>
      </p:sp>
      <p:graphicFrame>
        <p:nvGraphicFramePr>
          <p:cNvPr id="14" name="Object 68">
            <a:extLst>
              <a:ext uri="{FF2B5EF4-FFF2-40B4-BE49-F238E27FC236}">
                <a16:creationId xmlns:a16="http://schemas.microsoft.com/office/drawing/2014/main" id="{A7D9214A-4039-48DF-A173-0E3665832D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784363"/>
              </p:ext>
            </p:extLst>
          </p:nvPr>
        </p:nvGraphicFramePr>
        <p:xfrm>
          <a:off x="7229475" y="2335213"/>
          <a:ext cx="35099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0" name="Equation" r:id="rId15" imgW="4394160" imgH="1002960" progId="Equation.DSMT4">
                  <p:embed/>
                </p:oleObj>
              </mc:Choice>
              <mc:Fallback>
                <p:oleObj name="Equation" r:id="rId15" imgW="4394160" imgH="1002960" progId="Equation.DSMT4">
                  <p:embed/>
                  <p:pic>
                    <p:nvPicPr>
                      <p:cNvPr id="26" name="Object 68">
                        <a:extLst>
                          <a:ext uri="{FF2B5EF4-FFF2-40B4-BE49-F238E27FC236}">
                            <a16:creationId xmlns:a16="http://schemas.microsoft.com/office/drawing/2014/main" id="{A7D9214A-4039-48DF-A173-0E3665832D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2335213"/>
                        <a:ext cx="350996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69">
            <a:extLst>
              <a:ext uri="{FF2B5EF4-FFF2-40B4-BE49-F238E27FC236}">
                <a16:creationId xmlns:a16="http://schemas.microsoft.com/office/drawing/2014/main" id="{220540AE-061A-4B85-8809-EB17D7449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129" y="3463785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方程化为</a:t>
            </a:r>
          </a:p>
        </p:txBody>
      </p:sp>
      <p:graphicFrame>
        <p:nvGraphicFramePr>
          <p:cNvPr id="16" name="Object 70">
            <a:extLst>
              <a:ext uri="{FF2B5EF4-FFF2-40B4-BE49-F238E27FC236}">
                <a16:creationId xmlns:a16="http://schemas.microsoft.com/office/drawing/2014/main" id="{3B012E58-A761-4538-91D6-7D13BD077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461159"/>
              </p:ext>
            </p:extLst>
          </p:nvPr>
        </p:nvGraphicFramePr>
        <p:xfrm>
          <a:off x="3493436" y="3295047"/>
          <a:ext cx="234473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31" name="公式" r:id="rId17" imgW="1028254" imgH="393529" progId="Equation.3">
                  <p:embed/>
                </p:oleObj>
              </mc:Choice>
              <mc:Fallback>
                <p:oleObj name="公式" r:id="rId17" imgW="1028254" imgH="393529" progId="Equation.3">
                  <p:embed/>
                  <p:pic>
                    <p:nvPicPr>
                      <p:cNvPr id="28" name="Object 70">
                        <a:extLst>
                          <a:ext uri="{FF2B5EF4-FFF2-40B4-BE49-F238E27FC236}">
                            <a16:creationId xmlns:a16="http://schemas.microsoft.com/office/drawing/2014/main" id="{3B012E58-A761-4538-91D6-7D13BD077F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3436" y="3295047"/>
                        <a:ext cx="2344737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1">
            <a:extLst>
              <a:ext uri="{FF2B5EF4-FFF2-40B4-BE49-F238E27FC236}">
                <a16:creationId xmlns:a16="http://schemas.microsoft.com/office/drawing/2014/main" id="{4707B0D5-F37E-44B3-B1A4-1370A849A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178" y="3463785"/>
            <a:ext cx="50349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这是可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分离变量的微分方程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8" name="Text Box 50">
            <a:extLst>
              <a:ext uri="{FF2B5EF4-FFF2-40B4-BE49-F238E27FC236}">
                <a16:creationId xmlns:a16="http://schemas.microsoft.com/office/drawing/2014/main" id="{5B2ADFDE-A681-4CE5-9EBE-9F6852F0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01" y="334570"/>
            <a:ext cx="23262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前文回顾：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45">
            <a:extLst>
              <a:ext uri="{FF2B5EF4-FFF2-40B4-BE49-F238E27FC236}">
                <a16:creationId xmlns:a16="http://schemas.microsoft.com/office/drawing/2014/main" id="{3E7B9290-01CA-4755-BAEB-FCA531519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97" y="4489475"/>
            <a:ext cx="476365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 </a:t>
            </a:r>
            <a:r>
              <a:rPr lang="zh-CN" alt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一阶线性微分方程：</a:t>
            </a:r>
            <a:endParaRPr lang="zh-CN" alt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31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5">
            <a:extLst>
              <a:ext uri="{FF2B5EF4-FFF2-40B4-BE49-F238E27FC236}">
                <a16:creationId xmlns:a16="http://schemas.microsoft.com/office/drawing/2014/main" id="{3E7B9290-01CA-4755-BAEB-FCA531519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5508" y="1186764"/>
            <a:ext cx="698823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教材</a:t>
            </a:r>
            <a:r>
              <a:rPr lang="en-US" altLang="zh-CN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P73.  </a:t>
            </a:r>
            <a:r>
              <a:rPr lang="zh-CN" alt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基本初等函数求导公式</a:t>
            </a:r>
            <a:endParaRPr lang="zh-CN" alt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45">
            <a:extLst>
              <a:ext uri="{FF2B5EF4-FFF2-40B4-BE49-F238E27FC236}">
                <a16:creationId xmlns:a16="http://schemas.microsoft.com/office/drawing/2014/main" id="{3E7B9290-01CA-4755-BAEB-FCA531519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5508" y="2374334"/>
            <a:ext cx="685308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P133</a:t>
            </a:r>
            <a:r>
              <a:rPr lang="zh-CN" alt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P145.   </a:t>
            </a:r>
            <a:r>
              <a:rPr lang="zh-CN" alt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常用函数积分表</a:t>
            </a:r>
            <a:endParaRPr lang="zh-CN" altLang="en-US" sz="3200" b="1" dirty="0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50">
            <a:extLst>
              <a:ext uri="{FF2B5EF4-FFF2-40B4-BE49-F238E27FC236}">
                <a16:creationId xmlns:a16="http://schemas.microsoft.com/office/drawing/2014/main" id="{5B2ADFDE-A681-4CE5-9EBE-9F6852F0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54" y="601989"/>
            <a:ext cx="163611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熟记：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28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16">
            <a:extLst>
              <a:ext uri="{FF2B5EF4-FFF2-40B4-BE49-F238E27FC236}">
                <a16:creationId xmlns:a16="http://schemas.microsoft.com/office/drawing/2014/main" id="{51361C5B-6E6E-42D2-A84D-60AA9BFD82B2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">
                <a:srgbClr val="00003A"/>
              </a:gs>
              <a:gs pos="100000">
                <a:srgbClr val="0063AC">
                  <a:alpha val="60000"/>
                </a:srgbClr>
              </a:gs>
              <a:gs pos="62000">
                <a:srgbClr val="084098">
                  <a:alpha val="95000"/>
                </a:srgbClr>
              </a:gs>
            </a:gsLst>
            <a:lin ang="4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Rounded Book"/>
              <a:ea typeface="思源黑体 CN Regular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2683" y="3587709"/>
            <a:ext cx="10596282" cy="1028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第五节  可降阶的二阶微分方程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323623" y="1143351"/>
            <a:ext cx="7610522" cy="949299"/>
            <a:chOff x="2323623" y="1143351"/>
            <a:chExt cx="7610522" cy="949299"/>
          </a:xfrm>
        </p:grpSpPr>
        <p:sp>
          <p:nvSpPr>
            <p:cNvPr id="4" name="矩形 3"/>
            <p:cNvSpPr/>
            <p:nvPr/>
          </p:nvSpPr>
          <p:spPr>
            <a:xfrm>
              <a:off x="3876876" y="1143351"/>
              <a:ext cx="4429418" cy="9492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4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pitchFamily="49" charset="-122"/>
                  <a:ea typeface="楷体" panose="02010609060101010101" pitchFamily="49" charset="-122"/>
                </a:rPr>
                <a:t>第四章 微分方程</a:t>
              </a:r>
              <a:endPara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2323623" y="1742140"/>
              <a:ext cx="7610522" cy="0"/>
              <a:chOff x="2323623" y="1742140"/>
              <a:chExt cx="7610522" cy="0"/>
            </a:xfrm>
          </p:grpSpPr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99096D11-FC74-4821-ABF9-81EF93874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23623" y="1742140"/>
                <a:ext cx="119140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99096D11-FC74-4821-ABF9-81EF93874C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42738" y="1742140"/>
                <a:ext cx="1191407" cy="0"/>
              </a:xfrm>
              <a:prstGeom prst="line">
                <a:avLst/>
              </a:prstGeom>
              <a:ln w="15875" cap="rnd">
                <a:gradFill flip="none" rotWithShape="1">
                  <a:gsLst>
                    <a:gs pos="0">
                      <a:schemeClr val="accent4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round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0528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16667E-6 4.07407E-6 L 4.16667E-6 -0.1581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21297" y="-2307135"/>
            <a:ext cx="4233227" cy="9290661"/>
            <a:chOff x="-121297" y="-2307135"/>
            <a:chExt cx="4233227" cy="9290661"/>
          </a:xfrm>
        </p:grpSpPr>
        <p:sp>
          <p:nvSpPr>
            <p:cNvPr id="13" name="矩形: 圆角 32">
              <a:extLst>
                <a:ext uri="{FF2B5EF4-FFF2-40B4-BE49-F238E27FC236}">
                  <a16:creationId xmlns:a16="http://schemas.microsoft.com/office/drawing/2014/main" id="{D263321C-E539-482C-9489-92A0EAE87F48}"/>
                </a:ext>
              </a:extLst>
            </p:cNvPr>
            <p:cNvSpPr/>
            <p:nvPr/>
          </p:nvSpPr>
          <p:spPr>
            <a:xfrm>
              <a:off x="-1" y="0"/>
              <a:ext cx="4111931" cy="6858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7000">
                  <a:srgbClr val="0067B3"/>
                </a:gs>
                <a:gs pos="43860">
                  <a:srgbClr val="004070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Rounded Book"/>
                <a:ea typeface="思源黑体 CN Regular"/>
                <a:cs typeface="+mn-cs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-121297" y="-2307135"/>
              <a:ext cx="4233045" cy="9290661"/>
              <a:chOff x="-121297" y="-2307135"/>
              <a:chExt cx="4233045" cy="9290661"/>
            </a:xfrm>
          </p:grpSpPr>
          <p:pic>
            <p:nvPicPr>
              <p:cNvPr id="88" name="图片 87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1297" y="-2307135"/>
                <a:ext cx="4233045" cy="9193389"/>
              </a:xfrm>
              <a:prstGeom prst="rect">
                <a:avLst/>
              </a:prstGeom>
            </p:spPr>
          </p:pic>
          <p:sp>
            <p:nvSpPr>
              <p:cNvPr id="87" name="矩形: 圆角 32">
                <a:extLst>
                  <a:ext uri="{FF2B5EF4-FFF2-40B4-BE49-F238E27FC236}">
                    <a16:creationId xmlns:a16="http://schemas.microsoft.com/office/drawing/2014/main" id="{D263321C-E539-482C-9489-92A0EAE87F48}"/>
                  </a:ext>
                </a:extLst>
              </p:cNvPr>
              <p:cNvSpPr/>
              <p:nvPr/>
            </p:nvSpPr>
            <p:spPr>
              <a:xfrm>
                <a:off x="1" y="0"/>
                <a:ext cx="4111747" cy="6983526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5000">
                    <a:srgbClr val="00003A"/>
                  </a:gs>
                  <a:gs pos="71000">
                    <a:srgbClr val="0063AC">
                      <a:alpha val="60000"/>
                    </a:srgbClr>
                  </a:gs>
                  <a:gs pos="40000">
                    <a:srgbClr val="084098">
                      <a:alpha val="92000"/>
                    </a:srgbClr>
                  </a:gs>
                  <a:gs pos="91000">
                    <a:srgbClr val="0072BC">
                      <a:alpha val="0"/>
                    </a:srgbClr>
                  </a:gs>
                </a:gsLst>
                <a:lin ang="480000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Gotham Rounded Book"/>
                  <a:ea typeface="思源黑体 CN Regular"/>
                </a:endParaRPr>
              </a:p>
            </p:txBody>
          </p:sp>
        </p:grpSp>
      </p:grpSp>
      <p:sp>
        <p:nvSpPr>
          <p:cNvPr id="107" name="Freeform: Shape 9">
            <a:extLst>
              <a:ext uri="{FF2B5EF4-FFF2-40B4-BE49-F238E27FC236}">
                <a16:creationId xmlns:a16="http://schemas.microsoft.com/office/drawing/2014/main" id="{49D72D40-7C15-45A8-8752-71C2B8FB5590}"/>
              </a:ext>
            </a:extLst>
          </p:cNvPr>
          <p:cNvSpPr/>
          <p:nvPr/>
        </p:nvSpPr>
        <p:spPr>
          <a:xfrm rot="16200000" flipH="1">
            <a:off x="-269365" y="-1122430"/>
            <a:ext cx="1119032" cy="3112840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44000">
                <a:srgbClr val="0063AC">
                  <a:alpha val="0"/>
                </a:srgbClr>
              </a:gs>
              <a:gs pos="100000">
                <a:srgbClr val="3381C7">
                  <a:alpha val="50000"/>
                </a:srgb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97E0BF-AEF5-4448-B4B0-C6991BB476B9}"/>
              </a:ext>
            </a:extLst>
          </p:cNvPr>
          <p:cNvSpPr txBox="1"/>
          <p:nvPr/>
        </p:nvSpPr>
        <p:spPr>
          <a:xfrm>
            <a:off x="2433406" y="1030735"/>
            <a:ext cx="1200329" cy="1193596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1" dirty="0">
                <a:gradFill>
                  <a:gsLst>
                    <a:gs pos="100000">
                      <a:schemeClr val="bg1"/>
                    </a:gs>
                    <a:gs pos="24000">
                      <a:srgbClr val="073584"/>
                    </a:gs>
                    <a:gs pos="51000">
                      <a:schemeClr val="bg1"/>
                    </a:gs>
                  </a:gsLst>
                  <a:lin ang="7200000" scaled="0"/>
                </a:gradFill>
                <a:latin typeface="华文中宋" panose="02010600040101010101" pitchFamily="2" charset="-122"/>
                <a:ea typeface="华文中宋" panose="02010600040101010101" pitchFamily="2" charset="-122"/>
              </a:rPr>
              <a:t>目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gradFill>
                <a:gsLst>
                  <a:gs pos="100000">
                    <a:schemeClr val="bg1"/>
                  </a:gs>
                  <a:gs pos="24000">
                    <a:srgbClr val="073584"/>
                  </a:gs>
                  <a:gs pos="51000">
                    <a:schemeClr val="bg1"/>
                  </a:gs>
                </a:gsLst>
                <a:lin ang="7200000" scaled="0"/>
              </a:gra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10429CF-B28B-4B73-8499-FFFD119E94EB}"/>
              </a:ext>
            </a:extLst>
          </p:cNvPr>
          <p:cNvSpPr txBox="1"/>
          <p:nvPr/>
        </p:nvSpPr>
        <p:spPr>
          <a:xfrm>
            <a:off x="6325101" y="1566381"/>
            <a:ext cx="2046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>
              <a:lnSpc>
                <a:spcPct val="100000"/>
              </a:lnSpc>
              <a:defRPr/>
            </a:pP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 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AD58CDB-AF1A-4B8A-B576-9304BDC1A0D0}"/>
              </a:ext>
            </a:extLst>
          </p:cNvPr>
          <p:cNvCxnSpPr>
            <a:cxnSpLocks/>
          </p:cNvCxnSpPr>
          <p:nvPr/>
        </p:nvCxnSpPr>
        <p:spPr>
          <a:xfrm>
            <a:off x="5524642" y="2273309"/>
            <a:ext cx="2971289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组合 116"/>
          <p:cNvGrpSpPr/>
          <p:nvPr/>
        </p:nvGrpSpPr>
        <p:grpSpPr>
          <a:xfrm>
            <a:off x="5590499" y="1573924"/>
            <a:ext cx="472581" cy="472581"/>
            <a:chOff x="5386873" y="1174160"/>
            <a:chExt cx="472581" cy="472581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6435C66D-A75D-47F0-BA01-05791E0FA044}"/>
                </a:ext>
              </a:extLst>
            </p:cNvPr>
            <p:cNvSpPr/>
            <p:nvPr/>
          </p:nvSpPr>
          <p:spPr>
            <a:xfrm>
              <a:off x="5386873" y="1174160"/>
              <a:ext cx="472581" cy="472581"/>
            </a:xfrm>
            <a:prstGeom prst="ellipse">
              <a:avLst/>
            </a:prstGeom>
            <a:gradFill flip="none" rotWithShape="1">
              <a:gsLst>
                <a:gs pos="18000">
                  <a:srgbClr val="0067B3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27000" dir="5400000" sx="90000" sy="90000" algn="t" rotWithShape="0">
                <a:srgbClr val="00233E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5402590" y="1210395"/>
              <a:ext cx="441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一</a:t>
              </a:r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C10429CF-B28B-4B73-8499-FFFD119E94EB}"/>
              </a:ext>
            </a:extLst>
          </p:cNvPr>
          <p:cNvSpPr txBox="1"/>
          <p:nvPr/>
        </p:nvSpPr>
        <p:spPr>
          <a:xfrm>
            <a:off x="6325103" y="2632006"/>
            <a:ext cx="2170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>
              <a:lnSpc>
                <a:spcPct val="100000"/>
              </a:lnSpc>
              <a:defRPr/>
            </a:pP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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f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(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x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kumimoji="1" lang="en-US" altLang="zh-CN" sz="24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 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</a:t>
            </a:r>
            <a:r>
              <a:rPr kumimoji="1"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6AD58CDB-AF1A-4B8A-B576-9304BDC1A0D0}"/>
              </a:ext>
            </a:extLst>
          </p:cNvPr>
          <p:cNvCxnSpPr>
            <a:cxnSpLocks/>
          </p:cNvCxnSpPr>
          <p:nvPr/>
        </p:nvCxnSpPr>
        <p:spPr>
          <a:xfrm>
            <a:off x="5524642" y="3336248"/>
            <a:ext cx="2971289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组合 117"/>
          <p:cNvGrpSpPr/>
          <p:nvPr/>
        </p:nvGrpSpPr>
        <p:grpSpPr>
          <a:xfrm>
            <a:off x="5590499" y="2639549"/>
            <a:ext cx="472581" cy="472581"/>
            <a:chOff x="5415689" y="2106113"/>
            <a:chExt cx="472581" cy="472581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6435C66D-A75D-47F0-BA01-05791E0FA044}"/>
                </a:ext>
              </a:extLst>
            </p:cNvPr>
            <p:cNvSpPr/>
            <p:nvPr/>
          </p:nvSpPr>
          <p:spPr>
            <a:xfrm>
              <a:off x="5415689" y="2106113"/>
              <a:ext cx="472581" cy="472581"/>
            </a:xfrm>
            <a:prstGeom prst="ellipse">
              <a:avLst/>
            </a:prstGeom>
            <a:gradFill flip="none" rotWithShape="1">
              <a:gsLst>
                <a:gs pos="18000">
                  <a:srgbClr val="0067B3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27000" dir="5400000" sx="90000" sy="90000" algn="t" rotWithShape="0">
                <a:srgbClr val="00233E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5431406" y="2142348"/>
              <a:ext cx="4411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二</a:t>
              </a: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4EFCED7-C355-491A-825D-E11B4296B37D}"/>
              </a:ext>
            </a:extLst>
          </p:cNvPr>
          <p:cNvSpPr txBox="1"/>
          <p:nvPr/>
        </p:nvSpPr>
        <p:spPr>
          <a:xfrm>
            <a:off x="7707630" y="163910"/>
            <a:ext cx="4263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0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可降阶的二阶微分方程</a:t>
            </a:r>
          </a:p>
        </p:txBody>
      </p:sp>
      <p:sp>
        <p:nvSpPr>
          <p:cNvPr id="85" name="Freeform: Shape 9">
            <a:extLst>
              <a:ext uri="{FF2B5EF4-FFF2-40B4-BE49-F238E27FC236}">
                <a16:creationId xmlns:a16="http://schemas.microsoft.com/office/drawing/2014/main" id="{49D72D40-7C15-45A8-8752-71C2B8FB5590}"/>
              </a:ext>
            </a:extLst>
          </p:cNvPr>
          <p:cNvSpPr/>
          <p:nvPr/>
        </p:nvSpPr>
        <p:spPr>
          <a:xfrm rot="16200000" flipH="1">
            <a:off x="375378" y="-814926"/>
            <a:ext cx="629091" cy="2064399"/>
          </a:xfrm>
          <a:custGeom>
            <a:avLst/>
            <a:gdLst>
              <a:gd name="connsiteX0" fmla="*/ 0 w 1189942"/>
              <a:gd name="connsiteY0" fmla="*/ 0 h 2524513"/>
              <a:gd name="connsiteX1" fmla="*/ 175601 w 1189942"/>
              <a:gd name="connsiteY1" fmla="*/ 17702 h 2524513"/>
              <a:gd name="connsiteX2" fmla="*/ 1189942 w 1189942"/>
              <a:gd name="connsiteY2" fmla="*/ 1262256 h 2524513"/>
              <a:gd name="connsiteX3" fmla="*/ 175601 w 1189942"/>
              <a:gd name="connsiteY3" fmla="*/ 2506811 h 2524513"/>
              <a:gd name="connsiteX4" fmla="*/ 0 w 1189942"/>
              <a:gd name="connsiteY4" fmla="*/ 2524513 h 252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9942" h="2524513">
                <a:moveTo>
                  <a:pt x="0" y="0"/>
                </a:moveTo>
                <a:lnTo>
                  <a:pt x="175601" y="17702"/>
                </a:lnTo>
                <a:cubicBezTo>
                  <a:pt x="754484" y="136158"/>
                  <a:pt x="1189942" y="648354"/>
                  <a:pt x="1189942" y="1262256"/>
                </a:cubicBezTo>
                <a:cubicBezTo>
                  <a:pt x="1189942" y="1876159"/>
                  <a:pt x="754484" y="2388354"/>
                  <a:pt x="175601" y="2506811"/>
                </a:cubicBezTo>
                <a:lnTo>
                  <a:pt x="0" y="2524513"/>
                </a:lnTo>
                <a:close/>
              </a:path>
            </a:pathLst>
          </a:custGeom>
          <a:gradFill>
            <a:gsLst>
              <a:gs pos="44000">
                <a:srgbClr val="0063AC">
                  <a:alpha val="0"/>
                </a:srgbClr>
              </a:gs>
              <a:gs pos="100000">
                <a:srgbClr val="3381C7">
                  <a:alpha val="50000"/>
                </a:srgbClr>
              </a:gs>
            </a:gsLst>
            <a:path path="circle">
              <a:fillToRect l="50000" t="-80000" r="50000" b="180000"/>
            </a:path>
          </a:gradFill>
          <a:ln>
            <a:noFill/>
          </a:ln>
          <a:effectLst>
            <a:outerShdw blurRad="1270000" dist="6223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86" name="PA-Freeform: Shape 8">
            <a:extLst>
              <a:ext uri="{FF2B5EF4-FFF2-40B4-BE49-F238E27FC236}">
                <a16:creationId xmlns:a16="http://schemas.microsoft.com/office/drawing/2014/main" id="{E5608B0E-D541-4FED-8564-150741C5C11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9193347" y="5116523"/>
            <a:ext cx="3238349" cy="2077637"/>
          </a:xfrm>
          <a:custGeom>
            <a:avLst/>
            <a:gdLst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16138"/>
              <a:gd name="connsiteY0" fmla="*/ 0 h 3981450"/>
              <a:gd name="connsiteX1" fmla="*/ 3238500 w 3816138"/>
              <a:gd name="connsiteY1" fmla="*/ 1809750 h 3981450"/>
              <a:gd name="connsiteX2" fmla="*/ 3657600 w 3816138"/>
              <a:gd name="connsiteY2" fmla="*/ 3981450 h 3981450"/>
              <a:gd name="connsiteX3" fmla="*/ 38100 w 3816138"/>
              <a:gd name="connsiteY3" fmla="*/ 3962400 h 3981450"/>
              <a:gd name="connsiteX4" fmla="*/ 0 w 3816138"/>
              <a:gd name="connsiteY4" fmla="*/ 0 h 3981450"/>
              <a:gd name="connsiteX0" fmla="*/ 0 w 3876554"/>
              <a:gd name="connsiteY0" fmla="*/ 0 h 3981450"/>
              <a:gd name="connsiteX1" fmla="*/ 3409950 w 3876554"/>
              <a:gd name="connsiteY1" fmla="*/ 2076450 h 3981450"/>
              <a:gd name="connsiteX2" fmla="*/ 3657600 w 3876554"/>
              <a:gd name="connsiteY2" fmla="*/ 3981450 h 3981450"/>
              <a:gd name="connsiteX3" fmla="*/ 38100 w 3876554"/>
              <a:gd name="connsiteY3" fmla="*/ 3962400 h 3981450"/>
              <a:gd name="connsiteX4" fmla="*/ 0 w 3876554"/>
              <a:gd name="connsiteY4" fmla="*/ 0 h 3981450"/>
              <a:gd name="connsiteX0" fmla="*/ 0 w 3916378"/>
              <a:gd name="connsiteY0" fmla="*/ 0 h 3981450"/>
              <a:gd name="connsiteX1" fmla="*/ 3409950 w 3916378"/>
              <a:gd name="connsiteY1" fmla="*/ 2076450 h 3981450"/>
              <a:gd name="connsiteX2" fmla="*/ 3657600 w 3916378"/>
              <a:gd name="connsiteY2" fmla="*/ 3981450 h 3981450"/>
              <a:gd name="connsiteX3" fmla="*/ 38100 w 3916378"/>
              <a:gd name="connsiteY3" fmla="*/ 3962400 h 3981450"/>
              <a:gd name="connsiteX4" fmla="*/ 0 w 3916378"/>
              <a:gd name="connsiteY4" fmla="*/ 0 h 3981450"/>
              <a:gd name="connsiteX0" fmla="*/ 0 w 3873335"/>
              <a:gd name="connsiteY0" fmla="*/ 0 h 3981450"/>
              <a:gd name="connsiteX1" fmla="*/ 3409950 w 3873335"/>
              <a:gd name="connsiteY1" fmla="*/ 2076450 h 3981450"/>
              <a:gd name="connsiteX2" fmla="*/ 3657600 w 3873335"/>
              <a:gd name="connsiteY2" fmla="*/ 3981450 h 3981450"/>
              <a:gd name="connsiteX3" fmla="*/ 38100 w 3873335"/>
              <a:gd name="connsiteY3" fmla="*/ 3962400 h 3981450"/>
              <a:gd name="connsiteX4" fmla="*/ 0 w 3873335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38100 w 3786126"/>
              <a:gd name="connsiteY3" fmla="*/ 396240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3786126"/>
              <a:gd name="connsiteY0" fmla="*/ 0 h 3981450"/>
              <a:gd name="connsiteX1" fmla="*/ 3409950 w 3786126"/>
              <a:gd name="connsiteY1" fmla="*/ 2076450 h 3981450"/>
              <a:gd name="connsiteX2" fmla="*/ 3657600 w 3786126"/>
              <a:gd name="connsiteY2" fmla="*/ 3981450 h 3981450"/>
              <a:gd name="connsiteX3" fmla="*/ 0 w 3786126"/>
              <a:gd name="connsiteY3" fmla="*/ 3981450 h 3981450"/>
              <a:gd name="connsiteX4" fmla="*/ 0 w 3786126"/>
              <a:gd name="connsiteY4" fmla="*/ 0 h 3981450"/>
              <a:gd name="connsiteX0" fmla="*/ 0 w 4032226"/>
              <a:gd name="connsiteY0" fmla="*/ 0 h 4003693"/>
              <a:gd name="connsiteX1" fmla="*/ 3409950 w 4032226"/>
              <a:gd name="connsiteY1" fmla="*/ 2076450 h 4003693"/>
              <a:gd name="connsiteX2" fmla="*/ 3943350 w 4032226"/>
              <a:gd name="connsiteY2" fmla="*/ 4003693 h 4003693"/>
              <a:gd name="connsiteX3" fmla="*/ 0 w 4032226"/>
              <a:gd name="connsiteY3" fmla="*/ 3981450 h 4003693"/>
              <a:gd name="connsiteX4" fmla="*/ 0 w 4032226"/>
              <a:gd name="connsiteY4" fmla="*/ 0 h 4003693"/>
              <a:gd name="connsiteX0" fmla="*/ 0 w 3948509"/>
              <a:gd name="connsiteY0" fmla="*/ 0 h 4003693"/>
              <a:gd name="connsiteX1" fmla="*/ 3409950 w 3948509"/>
              <a:gd name="connsiteY1" fmla="*/ 2076450 h 4003693"/>
              <a:gd name="connsiteX2" fmla="*/ 3943350 w 3948509"/>
              <a:gd name="connsiteY2" fmla="*/ 4003693 h 4003693"/>
              <a:gd name="connsiteX3" fmla="*/ 0 w 3948509"/>
              <a:gd name="connsiteY3" fmla="*/ 3981450 h 4003693"/>
              <a:gd name="connsiteX4" fmla="*/ 0 w 3948509"/>
              <a:gd name="connsiteY4" fmla="*/ 0 h 4003693"/>
              <a:gd name="connsiteX0" fmla="*/ 0 w 3943350"/>
              <a:gd name="connsiteY0" fmla="*/ 0 h 4003693"/>
              <a:gd name="connsiteX1" fmla="*/ 3333750 w 3943350"/>
              <a:gd name="connsiteY1" fmla="*/ 1942994 h 4003693"/>
              <a:gd name="connsiteX2" fmla="*/ 3943350 w 3943350"/>
              <a:gd name="connsiteY2" fmla="*/ 4003693 h 4003693"/>
              <a:gd name="connsiteX3" fmla="*/ 0 w 3943350"/>
              <a:gd name="connsiteY3" fmla="*/ 3981450 h 4003693"/>
              <a:gd name="connsiteX4" fmla="*/ 0 w 3943350"/>
              <a:gd name="connsiteY4" fmla="*/ 0 h 4003693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333750 w 4152900"/>
              <a:gd name="connsiteY1" fmla="*/ 1942994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  <a:gd name="connsiteX0" fmla="*/ 0 w 4152900"/>
              <a:gd name="connsiteY0" fmla="*/ 0 h 3981450"/>
              <a:gd name="connsiteX1" fmla="*/ 3200400 w 4152900"/>
              <a:gd name="connsiteY1" fmla="*/ 1720566 h 3981450"/>
              <a:gd name="connsiteX2" fmla="*/ 4152900 w 4152900"/>
              <a:gd name="connsiteY2" fmla="*/ 3981450 h 3981450"/>
              <a:gd name="connsiteX3" fmla="*/ 0 w 4152900"/>
              <a:gd name="connsiteY3" fmla="*/ 3981450 h 3981450"/>
              <a:gd name="connsiteX4" fmla="*/ 0 w 4152900"/>
              <a:gd name="connsiteY4" fmla="*/ 0 h 398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900" h="3981450">
                <a:moveTo>
                  <a:pt x="0" y="0"/>
                </a:moveTo>
                <a:cubicBezTo>
                  <a:pt x="762000" y="1189072"/>
                  <a:pt x="2584450" y="1190447"/>
                  <a:pt x="3200400" y="1720566"/>
                </a:cubicBezTo>
                <a:cubicBezTo>
                  <a:pt x="3816350" y="2250685"/>
                  <a:pt x="3971925" y="2641175"/>
                  <a:pt x="4152900" y="3981450"/>
                </a:cubicBezTo>
                <a:lnTo>
                  <a:pt x="0" y="398145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3D1E66">
                  <a:alpha val="0"/>
                </a:srgbClr>
              </a:gs>
              <a:gs pos="60000">
                <a:srgbClr val="0063AC">
                  <a:alpha val="15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797E0BF-AEF5-4448-B4B0-C6991BB476B9}"/>
              </a:ext>
            </a:extLst>
          </p:cNvPr>
          <p:cNvSpPr txBox="1"/>
          <p:nvPr/>
        </p:nvSpPr>
        <p:spPr>
          <a:xfrm>
            <a:off x="2433406" y="2048704"/>
            <a:ext cx="1200329" cy="1193596"/>
          </a:xfrm>
          <a:prstGeom prst="rect">
            <a:avLst/>
          </a:prstGeom>
          <a:noFill/>
        </p:spPr>
        <p:txBody>
          <a:bodyPr vert="eaVert" wrap="non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>
                <a:gradFill>
                  <a:gsLst>
                    <a:gs pos="100000">
                      <a:schemeClr val="bg1"/>
                    </a:gs>
                    <a:gs pos="24000">
                      <a:srgbClr val="073584"/>
                    </a:gs>
                    <a:gs pos="45000">
                      <a:schemeClr val="bg1"/>
                    </a:gs>
                  </a:gsLst>
                  <a:lin ang="7200000" scaled="0"/>
                </a:gra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sz="6600" dirty="0">
                <a:gradFill>
                  <a:gsLst>
                    <a:gs pos="100000">
                      <a:schemeClr val="bg1"/>
                    </a:gs>
                    <a:gs pos="20000">
                      <a:srgbClr val="0D4998"/>
                    </a:gs>
                    <a:gs pos="51000">
                      <a:schemeClr val="bg1"/>
                    </a:gs>
                  </a:gsLst>
                  <a:lin ang="8400000" scaled="0"/>
                </a:gradFill>
              </a:rPr>
              <a:t>录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9CA18D70-A44C-4F96-9DD2-3B5AF276EBE7}"/>
              </a:ext>
            </a:extLst>
          </p:cNvPr>
          <p:cNvCxnSpPr>
            <a:cxnSpLocks/>
          </p:cNvCxnSpPr>
          <p:nvPr/>
        </p:nvCxnSpPr>
        <p:spPr>
          <a:xfrm>
            <a:off x="10344000" y="401494"/>
            <a:ext cx="1584000" cy="0"/>
          </a:xfrm>
          <a:prstGeom prst="line">
            <a:avLst/>
          </a:prstGeom>
          <a:ln w="12700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rgbClr val="669AD2"/>
                </a:gs>
                <a:gs pos="100000">
                  <a:srgbClr val="3A7FC7"/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1036AEE6-36FD-4B29-A8B7-30CBA696372F}"/>
              </a:ext>
            </a:extLst>
          </p:cNvPr>
          <p:cNvSpPr txBox="1"/>
          <p:nvPr/>
        </p:nvSpPr>
        <p:spPr>
          <a:xfrm>
            <a:off x="240434" y="132189"/>
            <a:ext cx="17640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05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642521" y="6444394"/>
            <a:ext cx="23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新时代大学数学系列教材</a:t>
            </a:r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A4826635-1B39-4DB5-8178-8FC9C472A8E8}"/>
              </a:ext>
            </a:extLst>
          </p:cNvPr>
          <p:cNvGrpSpPr/>
          <p:nvPr/>
        </p:nvGrpSpPr>
        <p:grpSpPr>
          <a:xfrm>
            <a:off x="366555" y="6461279"/>
            <a:ext cx="1310257" cy="193623"/>
            <a:chOff x="5431674" y="6222031"/>
            <a:chExt cx="1328652" cy="196341"/>
          </a:xfrm>
        </p:grpSpPr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F4AE60CE-AB8B-4EA7-BBE5-1D1113EA4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1674" y="6233182"/>
              <a:ext cx="179982" cy="185190"/>
            </a:xfrm>
            <a:prstGeom prst="rect">
              <a:avLst/>
            </a:prstGeom>
          </p:spPr>
        </p:pic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3D8E0049-581F-4613-A544-72FC4AE026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Photocopy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896"/>
            <a:stretch/>
          </p:blipFill>
          <p:spPr>
            <a:xfrm>
              <a:off x="5687177" y="6222031"/>
              <a:ext cx="1073149" cy="193145"/>
            </a:xfrm>
            <a:prstGeom prst="rect">
              <a:avLst/>
            </a:prstGeom>
          </p:spPr>
        </p:pic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3F95E184-B91E-45A8-8A43-55B4AF119C13}"/>
              </a:ext>
            </a:extLst>
          </p:cNvPr>
          <p:cNvSpPr txBox="1"/>
          <p:nvPr/>
        </p:nvSpPr>
        <p:spPr>
          <a:xfrm>
            <a:off x="6326580" y="3618907"/>
            <a:ext cx="2170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>
              <a:lnSpc>
                <a:spcPct val="100000"/>
              </a:lnSpc>
              <a:defRPr/>
            </a:pP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24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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= 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f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(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 , </a:t>
            </a:r>
            <a:r>
              <a:rPr kumimoji="1" lang="en-US" altLang="zh-CN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y</a:t>
            </a:r>
            <a:r>
              <a:rPr kumimoji="1" lang="en-US" altLang="zh-CN" sz="24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 </a:t>
            </a: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</a:t>
            </a:r>
            <a:r>
              <a:rPr kumimoji="1"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4ED6527-067B-4F18-9272-AF3CC17889C2}"/>
              </a:ext>
            </a:extLst>
          </p:cNvPr>
          <p:cNvCxnSpPr>
            <a:cxnSpLocks/>
          </p:cNvCxnSpPr>
          <p:nvPr/>
        </p:nvCxnSpPr>
        <p:spPr>
          <a:xfrm>
            <a:off x="5526119" y="4323149"/>
            <a:ext cx="2971289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6743965-FA39-42A4-A34E-101E139FCCF9}"/>
              </a:ext>
            </a:extLst>
          </p:cNvPr>
          <p:cNvGrpSpPr/>
          <p:nvPr/>
        </p:nvGrpSpPr>
        <p:grpSpPr>
          <a:xfrm>
            <a:off x="5591976" y="3626450"/>
            <a:ext cx="472581" cy="472581"/>
            <a:chOff x="5415689" y="2106113"/>
            <a:chExt cx="472581" cy="472581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59B15A3-172B-426B-B32E-72B7C3CC47AF}"/>
                </a:ext>
              </a:extLst>
            </p:cNvPr>
            <p:cNvSpPr/>
            <p:nvPr/>
          </p:nvSpPr>
          <p:spPr>
            <a:xfrm>
              <a:off x="5415689" y="2106113"/>
              <a:ext cx="472581" cy="472581"/>
            </a:xfrm>
            <a:prstGeom prst="ellipse">
              <a:avLst/>
            </a:prstGeom>
            <a:gradFill flip="none" rotWithShape="1">
              <a:gsLst>
                <a:gs pos="18000">
                  <a:srgbClr val="0067B3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27000" dir="5400000" sx="90000" sy="90000" algn="t" rotWithShape="0">
                <a:srgbClr val="00233E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4BD57FCE-2552-4366-B5B5-8E75B83DCC98}"/>
                </a:ext>
              </a:extLst>
            </p:cNvPr>
            <p:cNvSpPr txBox="1"/>
            <p:nvPr/>
          </p:nvSpPr>
          <p:spPr>
            <a:xfrm>
              <a:off x="5431407" y="21423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三</a:t>
              </a: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91C6EE87-5FBE-45FA-94E2-12CF42C013D4}"/>
              </a:ext>
            </a:extLst>
          </p:cNvPr>
          <p:cNvSpPr txBox="1"/>
          <p:nvPr/>
        </p:nvSpPr>
        <p:spPr>
          <a:xfrm>
            <a:off x="6326580" y="4604328"/>
            <a:ext cx="2170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</a:lvl1pPr>
          </a:lstStyle>
          <a:p>
            <a:pPr lvl="0">
              <a:lnSpc>
                <a:spcPct val="100000"/>
              </a:lnSpc>
              <a:defRPr/>
            </a:pPr>
            <a:r>
              <a:rPr kumimoji="1"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应用举例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6D939FA-59EA-473C-9EEA-BFC5CDEAE891}"/>
              </a:ext>
            </a:extLst>
          </p:cNvPr>
          <p:cNvCxnSpPr>
            <a:cxnSpLocks/>
          </p:cNvCxnSpPr>
          <p:nvPr/>
        </p:nvCxnSpPr>
        <p:spPr>
          <a:xfrm>
            <a:off x="5526119" y="5308570"/>
            <a:ext cx="2971289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4B180FB-D589-4FC5-B4C5-56583899D4F5}"/>
              </a:ext>
            </a:extLst>
          </p:cNvPr>
          <p:cNvGrpSpPr/>
          <p:nvPr/>
        </p:nvGrpSpPr>
        <p:grpSpPr>
          <a:xfrm>
            <a:off x="5591976" y="4611871"/>
            <a:ext cx="472581" cy="472581"/>
            <a:chOff x="5415689" y="2106113"/>
            <a:chExt cx="472581" cy="472581"/>
          </a:xfrm>
        </p:grpSpPr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76A49E4-71A3-465E-840E-6D4661832C97}"/>
                </a:ext>
              </a:extLst>
            </p:cNvPr>
            <p:cNvSpPr/>
            <p:nvPr/>
          </p:nvSpPr>
          <p:spPr>
            <a:xfrm>
              <a:off x="5415689" y="2106113"/>
              <a:ext cx="472581" cy="472581"/>
            </a:xfrm>
            <a:prstGeom prst="ellipse">
              <a:avLst/>
            </a:prstGeom>
            <a:gradFill flip="none" rotWithShape="1">
              <a:gsLst>
                <a:gs pos="18000">
                  <a:srgbClr val="0067B3"/>
                </a:gs>
                <a:gs pos="93000">
                  <a:srgbClr val="00233E"/>
                </a:gs>
              </a:gsLst>
              <a:lin ang="27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254000" dist="127000" dir="5400000" sx="90000" sy="90000" algn="t" rotWithShape="0">
                <a:srgbClr val="00233E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A99354B1-6284-4EBA-A6E6-F7D50D7C9516}"/>
                </a:ext>
              </a:extLst>
            </p:cNvPr>
            <p:cNvSpPr txBox="1"/>
            <p:nvPr/>
          </p:nvSpPr>
          <p:spPr>
            <a:xfrm>
              <a:off x="5431406" y="214234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627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0" presetClass="entr" presetSubtype="0" decel="7000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35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36" grpId="0"/>
      <p:bldP spid="39" grpId="0"/>
      <p:bldP spid="91" grpId="0"/>
      <p:bldP spid="85" grpId="0" animBg="1"/>
      <p:bldP spid="86" grpId="0" animBg="1"/>
      <p:bldP spid="45" grpId="0"/>
      <p:bldP spid="31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0"/>
          <p:cNvSpPr txBox="1">
            <a:spLocks noChangeArrowheads="1"/>
          </p:cNvSpPr>
          <p:nvPr/>
        </p:nvSpPr>
        <p:spPr>
          <a:xfrm>
            <a:off x="3266984" y="246735"/>
            <a:ext cx="6215354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一、</a:t>
            </a:r>
            <a:r>
              <a:rPr kumimoji="1"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320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 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型</a:t>
            </a:r>
            <a:endParaRPr kumimoji="0" lang="zh-CN" altLang="en-US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Text Box 45">
            <a:extLst>
              <a:ext uri="{FF2B5EF4-FFF2-40B4-BE49-F238E27FC236}">
                <a16:creationId xmlns:a16="http://schemas.microsoft.com/office/drawing/2014/main" id="{376613D8-B134-4D08-B473-7CCD3611A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1251983"/>
            <a:ext cx="2057400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求解方法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4DA281-4135-4ABE-A122-D6267792D776}"/>
              </a:ext>
            </a:extLst>
          </p:cNvPr>
          <p:cNvSpPr txBox="1">
            <a:spLocks noChangeArrowheads="1"/>
          </p:cNvSpPr>
          <p:nvPr/>
        </p:nvSpPr>
        <p:spPr>
          <a:xfrm>
            <a:off x="2355572" y="2337646"/>
            <a:ext cx="16867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32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 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34EE7EEC-A919-414A-957A-250E6203FCAE}"/>
              </a:ext>
            </a:extLst>
          </p:cNvPr>
          <p:cNvSpPr/>
          <p:nvPr/>
        </p:nvSpPr>
        <p:spPr>
          <a:xfrm>
            <a:off x="2874121" y="3091204"/>
            <a:ext cx="630315" cy="1164096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F19E97-7FC1-46D8-A24A-F25D27E2F75D}"/>
              </a:ext>
            </a:extLst>
          </p:cNvPr>
          <p:cNvSpPr txBox="1"/>
          <p:nvPr/>
        </p:nvSpPr>
        <p:spPr>
          <a:xfrm>
            <a:off x="1626669" y="3311090"/>
            <a:ext cx="3099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接连积   分两次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B613209-04F2-4618-A4D0-AA80498D79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743586"/>
              </p:ext>
            </p:extLst>
          </p:nvPr>
        </p:nvGraphicFramePr>
        <p:xfrm>
          <a:off x="556167" y="4502720"/>
          <a:ext cx="524033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4" imgW="5232240" imgH="698400" progId="Equation.DSMT4">
                  <p:embed/>
                </p:oleObj>
              </mc:Choice>
              <mc:Fallback>
                <p:oleObj name="Equation" r:id="rId4" imgW="5232240" imgH="698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67" y="4502720"/>
                        <a:ext cx="5240337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0">
            <a:extLst>
              <a:ext uri="{FF2B5EF4-FFF2-40B4-BE49-F238E27FC236}">
                <a16:creationId xmlns:a16="http://schemas.microsoft.com/office/drawing/2014/main" id="{A63E0138-80B0-4039-B66F-20964B70511E}"/>
              </a:ext>
            </a:extLst>
          </p:cNvPr>
          <p:cNvSpPr txBox="1">
            <a:spLocks noChangeArrowheads="1"/>
          </p:cNvSpPr>
          <p:nvPr/>
        </p:nvSpPr>
        <p:spPr>
          <a:xfrm>
            <a:off x="7503496" y="2336043"/>
            <a:ext cx="1978842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  <a:r>
              <a:rPr kumimoji="1" lang="en-US" altLang="zh-CN" sz="32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kumimoji="1" lang="en-US" altLang="zh-CN" sz="3200" b="1" i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kumimoji="1" lang="en-US" altLang="zh-CN" sz="32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) 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kumimoji="1" lang="en-US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 (</a:t>
            </a:r>
            <a:r>
              <a:rPr kumimoji="1" lang="en-US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6571171D-CE04-4294-9837-EDD8AE21CD3D}"/>
              </a:ext>
            </a:extLst>
          </p:cNvPr>
          <p:cNvSpPr/>
          <p:nvPr/>
        </p:nvSpPr>
        <p:spPr>
          <a:xfrm>
            <a:off x="8022045" y="3089601"/>
            <a:ext cx="630315" cy="1164096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5B1EF4-3095-4730-9756-5328F2DEA0CE}"/>
              </a:ext>
            </a:extLst>
          </p:cNvPr>
          <p:cNvSpPr txBox="1"/>
          <p:nvPr/>
        </p:nvSpPr>
        <p:spPr>
          <a:xfrm>
            <a:off x="6697593" y="3309487"/>
            <a:ext cx="3312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接连积    分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次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9EB692B7-FDC3-4115-B45D-E1CAF8CBC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502" y="4550055"/>
            <a:ext cx="205740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defTabSz="457200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通解</a:t>
            </a:r>
          </a:p>
        </p:txBody>
      </p:sp>
    </p:spTree>
    <p:extLst>
      <p:ext uri="{BB962C8B-B14F-4D97-AF65-F5344CB8AC3E}">
        <p14:creationId xmlns:p14="http://schemas.microsoft.com/office/powerpoint/2010/main" val="230745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" grpId="0" animBg="1"/>
      <p:bldP spid="3" grpId="0"/>
      <p:bldP spid="22" grpId="0"/>
      <p:bldP spid="23" grpId="0" animBg="1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对象 10">
            <a:hlinkClick r:id="" action="ppaction://ole?verb=0"/>
            <a:extLst>
              <a:ext uri="{FF2B5EF4-FFF2-40B4-BE49-F238E27FC236}">
                <a16:creationId xmlns:a16="http://schemas.microsoft.com/office/drawing/2014/main" id="{2F1AAB77-0AA6-447B-9572-2AAE84A010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97702"/>
              </p:ext>
            </p:extLst>
          </p:nvPr>
        </p:nvGraphicFramePr>
        <p:xfrm>
          <a:off x="781050" y="527050"/>
          <a:ext cx="10466388" cy="580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演示文稿" r:id="rId3" imgW="5472768" imgH="3078471" progId="PowerPoint.Show.8">
                  <p:embed/>
                </p:oleObj>
              </mc:Choice>
              <mc:Fallback>
                <p:oleObj name="演示文稿" r:id="rId3" imgW="5472768" imgH="3078471" progId="PowerPoint.Show.8">
                  <p:embed/>
                  <p:pic>
                    <p:nvPicPr>
                      <p:cNvPr id="3" name="对象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175B6BE-A006-469A-979A-D7D8D2DBC0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050" y="527050"/>
                        <a:ext cx="10466388" cy="580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258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6">
            <a:extLst>
              <a:ext uri="{FF2B5EF4-FFF2-40B4-BE49-F238E27FC236}">
                <a16:creationId xmlns:a16="http://schemas.microsoft.com/office/drawing/2014/main" id="{9DF18299-3EC1-4B95-AD68-AD61BACC9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153" y="1420379"/>
            <a:ext cx="8299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形如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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, y</a:t>
            </a:r>
            <a:r>
              <a:rPr lang="en-US" altLang="zh-CN" sz="2800" b="1" i="1" baseline="3000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的高阶微分方程的求解方法：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E31E650C-013B-4DBA-B34A-5487927E2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153" y="2182379"/>
            <a:ext cx="19748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BD9A007C-915E-47ED-9FC5-68EFE8580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203" y="2182379"/>
            <a:ext cx="2362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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C9E207A2-08A3-4788-9DCC-1BE58ACE8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9003" y="2182379"/>
            <a:ext cx="3124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原方程变形为</a:t>
            </a: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0073FBFB-C43D-4B4E-AF2C-00453D7ED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532" y="2915504"/>
            <a:ext cx="24384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defRPr/>
            </a:pP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, p</a:t>
            </a:r>
            <a:r>
              <a:rPr lang="en-US" altLang="zh-CN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6A0F1817-4C16-471F-A7A2-9C3E581CE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630179"/>
            <a:ext cx="891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这是一个以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为自变量，以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为函数的一阶微分方程，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18A98727-995A-4781-A5EA-7B2C194A2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315979"/>
            <a:ext cx="8839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解出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后，在方程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两边再积一次分即可得原方程</a:t>
            </a: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03370425-44DE-45DF-B507-8E958E1DF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5001779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的通解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D6CF2A0B-7DDF-426D-8237-4BB0752FB852}"/>
              </a:ext>
            </a:extLst>
          </p:cNvPr>
          <p:cNvSpPr txBox="1">
            <a:spLocks noChangeArrowheads="1"/>
          </p:cNvSpPr>
          <p:nvPr/>
        </p:nvSpPr>
        <p:spPr>
          <a:xfrm>
            <a:off x="3266984" y="246735"/>
            <a:ext cx="6215354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二、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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)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型</a:t>
            </a:r>
            <a:endParaRPr kumimoji="0" lang="zh-CN" altLang="en-US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901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hlinkClick r:id="" action="ppaction://ole?verb=0"/>
            <a:extLst>
              <a:ext uri="{FF2B5EF4-FFF2-40B4-BE49-F238E27FC236}">
                <a16:creationId xmlns:a16="http://schemas.microsoft.com/office/drawing/2014/main" id="{51A133FE-41DD-4271-8C33-105875F29D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412687"/>
              </p:ext>
            </p:extLst>
          </p:nvPr>
        </p:nvGraphicFramePr>
        <p:xfrm>
          <a:off x="781050" y="527050"/>
          <a:ext cx="10466388" cy="580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演示文稿" r:id="rId3" imgW="5472768" imgH="3078471" progId="PowerPoint.Show.8">
                  <p:embed/>
                </p:oleObj>
              </mc:Choice>
              <mc:Fallback>
                <p:oleObj name="演示文稿" r:id="rId3" imgW="5472768" imgH="3078471" progId="PowerPoint.Show.8">
                  <p:embed/>
                  <p:pic>
                    <p:nvPicPr>
                      <p:cNvPr id="11" name="对象 10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2F1AAB77-0AA6-447B-9572-2AAE84A01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050" y="527050"/>
                        <a:ext cx="10466388" cy="580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78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0">
            <a:extLst>
              <a:ext uri="{FF2B5EF4-FFF2-40B4-BE49-F238E27FC236}">
                <a16:creationId xmlns:a16="http://schemas.microsoft.com/office/drawing/2014/main" id="{C390AFCC-19AD-4F73-AC2D-CF48B4F775CE}"/>
              </a:ext>
            </a:extLst>
          </p:cNvPr>
          <p:cNvSpPr txBox="1">
            <a:spLocks noChangeArrowheads="1"/>
          </p:cNvSpPr>
          <p:nvPr/>
        </p:nvSpPr>
        <p:spPr>
          <a:xfrm>
            <a:off x="3266984" y="246735"/>
            <a:ext cx="6215354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三、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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)</a:t>
            </a:r>
            <a:r>
              <a:rPr kumimoji="1"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型</a:t>
            </a:r>
            <a:endParaRPr kumimoji="0" lang="zh-CN" altLang="en-US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2" name="Text Box 43">
            <a:extLst>
              <a:ext uri="{FF2B5EF4-FFF2-40B4-BE49-F238E27FC236}">
                <a16:creationId xmlns:a16="http://schemas.microsoft.com/office/drawing/2014/main" id="{B0C10477-E971-43C7-8C3D-FE5203055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1233638"/>
            <a:ext cx="8299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形如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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 , y</a:t>
            </a:r>
            <a:r>
              <a:rPr lang="en-US" altLang="zh-CN" sz="2800" b="1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的高阶微分方程的求解方法：</a:t>
            </a:r>
          </a:p>
        </p:txBody>
      </p:sp>
      <p:sp>
        <p:nvSpPr>
          <p:cNvPr id="43" name="Text Box 44">
            <a:extLst>
              <a:ext uri="{FF2B5EF4-FFF2-40B4-BE49-F238E27FC236}">
                <a16:creationId xmlns:a16="http://schemas.microsoft.com/office/drawing/2014/main" id="{2C0E49A4-998E-4D28-8E81-BCBC11418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1995638"/>
            <a:ext cx="197485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E9332E58-2B71-464F-A71E-F4CA9D956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995638"/>
            <a:ext cx="6096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45" name="Object 51">
            <a:extLst>
              <a:ext uri="{FF2B5EF4-FFF2-40B4-BE49-F238E27FC236}">
                <a16:creationId xmlns:a16="http://schemas.microsoft.com/office/drawing/2014/main" id="{A408C55A-61F6-49B8-BE9D-B705F7025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873181"/>
              </p:ext>
            </p:extLst>
          </p:nvPr>
        </p:nvGraphicFramePr>
        <p:xfrm>
          <a:off x="4419600" y="1922613"/>
          <a:ext cx="106997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公式" r:id="rId3" imgW="514560" imgH="399943" progId="Equation.3">
                  <p:embed/>
                </p:oleObj>
              </mc:Choice>
              <mc:Fallback>
                <p:oleObj name="公式" r:id="rId3" imgW="514560" imgH="399943" progId="Equation.3">
                  <p:embed/>
                  <p:pic>
                    <p:nvPicPr>
                      <p:cNvPr id="14387" name="Object 51">
                        <a:extLst>
                          <a:ext uri="{FF2B5EF4-FFF2-40B4-BE49-F238E27FC236}">
                            <a16:creationId xmlns:a16="http://schemas.microsoft.com/office/drawing/2014/main" id="{B20B73E0-ED34-406E-B67F-D9E2387ECD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922613"/>
                        <a:ext cx="1069975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52">
            <a:extLst>
              <a:ext uri="{FF2B5EF4-FFF2-40B4-BE49-F238E27FC236}">
                <a16:creationId xmlns:a16="http://schemas.microsoft.com/office/drawing/2014/main" id="{F0E5B13E-DEBA-42C7-B9DD-0C9EDAEC79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824868"/>
              </p:ext>
            </p:extLst>
          </p:nvPr>
        </p:nvGraphicFramePr>
        <p:xfrm>
          <a:off x="5467350" y="1919438"/>
          <a:ext cx="12700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公式" r:id="rId5" imgW="619200" imgH="399943" progId="Equation.3">
                  <p:embed/>
                </p:oleObj>
              </mc:Choice>
              <mc:Fallback>
                <p:oleObj name="公式" r:id="rId5" imgW="619200" imgH="399943" progId="Equation.3">
                  <p:embed/>
                  <p:pic>
                    <p:nvPicPr>
                      <p:cNvPr id="14388" name="Object 52">
                        <a:extLst>
                          <a:ext uri="{FF2B5EF4-FFF2-40B4-BE49-F238E27FC236}">
                            <a16:creationId xmlns:a16="http://schemas.microsoft.com/office/drawing/2014/main" id="{BFB7E5C5-496C-48DD-ADD5-3EB2077805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1919438"/>
                        <a:ext cx="127000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54">
            <a:extLst>
              <a:ext uri="{FF2B5EF4-FFF2-40B4-BE49-F238E27FC236}">
                <a16:creationId xmlns:a16="http://schemas.microsoft.com/office/drawing/2014/main" id="{68E8CF0F-5260-4846-8A73-08F3AB930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146" y="2948138"/>
            <a:ext cx="2590800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故方程化为</a:t>
            </a:r>
          </a:p>
        </p:txBody>
      </p:sp>
      <p:sp>
        <p:nvSpPr>
          <p:cNvPr id="48" name="Text Box 62">
            <a:extLst>
              <a:ext uri="{FF2B5EF4-FFF2-40B4-BE49-F238E27FC236}">
                <a16:creationId xmlns:a16="http://schemas.microsoft.com/office/drawing/2014/main" id="{E2146AE0-7ACD-401E-99EA-97EDCF3F3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146" y="3762526"/>
            <a:ext cx="891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这是一个以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为自变量，以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为函数的一阶微分方程，</a:t>
            </a:r>
          </a:p>
        </p:txBody>
      </p:sp>
      <p:sp>
        <p:nvSpPr>
          <p:cNvPr id="49" name="Text Box 63">
            <a:extLst>
              <a:ext uri="{FF2B5EF4-FFF2-40B4-BE49-F238E27FC236}">
                <a16:creationId xmlns:a16="http://schemas.microsoft.com/office/drawing/2014/main" id="{66E4CEC8-C0C4-4877-8288-953AA763B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146" y="4448326"/>
            <a:ext cx="915202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解出 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后，在方程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两边再积一次分即可得原方程</a:t>
            </a:r>
          </a:p>
        </p:txBody>
      </p:sp>
      <p:sp>
        <p:nvSpPr>
          <p:cNvPr id="50" name="Text Box 64">
            <a:extLst>
              <a:ext uri="{FF2B5EF4-FFF2-40B4-BE49-F238E27FC236}">
                <a16:creationId xmlns:a16="http://schemas.microsoft.com/office/drawing/2014/main" id="{B17FD435-2CF4-4173-9F3A-F11C86695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146" y="5134126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457200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的通解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51" name="Object 65">
            <a:extLst>
              <a:ext uri="{FF2B5EF4-FFF2-40B4-BE49-F238E27FC236}">
                <a16:creationId xmlns:a16="http://schemas.microsoft.com/office/drawing/2014/main" id="{B1BCF50F-7494-4A56-A10C-AAD6ECD39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873801"/>
              </p:ext>
            </p:extLst>
          </p:nvPr>
        </p:nvGraphicFramePr>
        <p:xfrm>
          <a:off x="6781800" y="1919438"/>
          <a:ext cx="107156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公式" r:id="rId7" imgW="514560" imgH="399943" progId="Equation.3">
                  <p:embed/>
                </p:oleObj>
              </mc:Choice>
              <mc:Fallback>
                <p:oleObj name="公式" r:id="rId7" imgW="514560" imgH="399943" progId="Equation.3">
                  <p:embed/>
                  <p:pic>
                    <p:nvPicPr>
                      <p:cNvPr id="14401" name="Object 65">
                        <a:extLst>
                          <a:ext uri="{FF2B5EF4-FFF2-40B4-BE49-F238E27FC236}">
                            <a16:creationId xmlns:a16="http://schemas.microsoft.com/office/drawing/2014/main" id="{551986B9-CFA8-42BC-9BA9-92D30EEBAD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919438"/>
                        <a:ext cx="1071563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66">
            <a:extLst>
              <a:ext uri="{FF2B5EF4-FFF2-40B4-BE49-F238E27FC236}">
                <a16:creationId xmlns:a16="http://schemas.microsoft.com/office/drawing/2014/main" id="{9653E9D3-D875-4046-945B-09D6A6BA7A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239029"/>
              </p:ext>
            </p:extLst>
          </p:nvPr>
        </p:nvGraphicFramePr>
        <p:xfrm>
          <a:off x="4967288" y="2871938"/>
          <a:ext cx="2043112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公式" r:id="rId9" imgW="1009440" imgH="399943" progId="Equation.3">
                  <p:embed/>
                </p:oleObj>
              </mc:Choice>
              <mc:Fallback>
                <p:oleObj name="公式" r:id="rId9" imgW="1009440" imgH="399943" progId="Equation.3">
                  <p:embed/>
                  <p:pic>
                    <p:nvPicPr>
                      <p:cNvPr id="14402" name="Object 66">
                        <a:extLst>
                          <a:ext uri="{FF2B5EF4-FFF2-40B4-BE49-F238E27FC236}">
                            <a16:creationId xmlns:a16="http://schemas.microsoft.com/office/drawing/2014/main" id="{8BDEB9B9-8EFA-48E1-ADF9-9AAD7C611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8" y="2871938"/>
                        <a:ext cx="2043112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045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7" grpId="0"/>
      <p:bldP spid="48" grpId="0"/>
      <p:bldP spid="49" grpId="0"/>
      <p:bldP spid="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对象 19">
            <a:hlinkClick r:id="" action="ppaction://ole?verb=0"/>
            <a:extLst>
              <a:ext uri="{FF2B5EF4-FFF2-40B4-BE49-F238E27FC236}">
                <a16:creationId xmlns:a16="http://schemas.microsoft.com/office/drawing/2014/main" id="{B8CD64F3-F066-4AC8-A34D-9D9445FD7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303020"/>
              </p:ext>
            </p:extLst>
          </p:nvPr>
        </p:nvGraphicFramePr>
        <p:xfrm>
          <a:off x="781050" y="527050"/>
          <a:ext cx="10466388" cy="580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Presentation" r:id="rId3" imgW="5472768" imgH="3078471" progId="PowerPoint.Show.8">
                  <p:embed/>
                </p:oleObj>
              </mc:Choice>
              <mc:Fallback>
                <p:oleObj name="Presentation" r:id="rId3" imgW="5472768" imgH="3078471" progId="PowerPoint.Show.8">
                  <p:embed/>
                  <p:pic>
                    <p:nvPicPr>
                      <p:cNvPr id="2" name="对象 1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51A133FE-41DD-4271-8C33-105875F29D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050" y="527050"/>
                        <a:ext cx="10466388" cy="580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17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8"/>
          <p:cNvSpPr>
            <a:spLocks noChangeArrowheads="1"/>
          </p:cNvSpPr>
          <p:nvPr/>
        </p:nvSpPr>
        <p:spPr bwMode="auto">
          <a:xfrm>
            <a:off x="1601788" y="2344738"/>
            <a:ext cx="728662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3" name="Rectangle 270"/>
          <p:cNvSpPr>
            <a:spLocks noChangeArrowheads="1"/>
          </p:cNvSpPr>
          <p:nvPr/>
        </p:nvSpPr>
        <p:spPr bwMode="auto">
          <a:xfrm>
            <a:off x="1571625" y="814388"/>
            <a:ext cx="9396413" cy="661987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设有一均匀、柔软的绳索，两端固定，绳索仅受重 </a:t>
            </a:r>
          </a:p>
        </p:txBody>
      </p:sp>
      <p:sp>
        <p:nvSpPr>
          <p:cNvPr id="4" name="Text Box 281"/>
          <p:cNvSpPr txBox="1">
            <a:spLocks noChangeArrowheads="1"/>
          </p:cNvSpPr>
          <p:nvPr/>
        </p:nvSpPr>
        <p:spPr bwMode="auto">
          <a:xfrm>
            <a:off x="879475" y="1552575"/>
            <a:ext cx="103298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kern="0" dirty="0">
                <a:solidFill>
                  <a:schemeClr val="bg1"/>
                </a:solidFill>
              </a:rPr>
              <a:t>力的作用而下垂，试问该绳索在平衡状态时是怎样的曲线？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346950" y="2685256"/>
            <a:ext cx="3084513" cy="3259137"/>
            <a:chOff x="7378731" y="2212287"/>
            <a:chExt cx="3083930" cy="3259339"/>
          </a:xfrm>
        </p:grpSpPr>
        <p:sp>
          <p:nvSpPr>
            <p:cNvPr id="6" name="矩形 5"/>
            <p:cNvSpPr/>
            <p:nvPr/>
          </p:nvSpPr>
          <p:spPr bwMode="auto">
            <a:xfrm>
              <a:off x="7378731" y="2212287"/>
              <a:ext cx="3083930" cy="3240089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A5A5A5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grpSp>
          <p:nvGrpSpPr>
            <p:cNvPr id="7" name="Group 304"/>
            <p:cNvGrpSpPr>
              <a:grpSpLocks/>
            </p:cNvGrpSpPr>
            <p:nvPr/>
          </p:nvGrpSpPr>
          <p:grpSpPr bwMode="auto">
            <a:xfrm>
              <a:off x="7504899" y="2231538"/>
              <a:ext cx="2881313" cy="3240088"/>
              <a:chOff x="930" y="1797"/>
              <a:chExt cx="1815" cy="2041"/>
            </a:xfrm>
          </p:grpSpPr>
          <p:grpSp>
            <p:nvGrpSpPr>
              <p:cNvPr id="8" name="Group 286"/>
              <p:cNvGrpSpPr>
                <a:grpSpLocks/>
              </p:cNvGrpSpPr>
              <p:nvPr/>
            </p:nvGrpSpPr>
            <p:grpSpPr bwMode="auto">
              <a:xfrm>
                <a:off x="930" y="1842"/>
                <a:ext cx="1786" cy="1907"/>
                <a:chOff x="930" y="1842"/>
                <a:chExt cx="1786" cy="1907"/>
              </a:xfrm>
            </p:grpSpPr>
            <p:pic>
              <p:nvPicPr>
                <p:cNvPr id="26" name="Picture 284"/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460" r="26994" b="43243"/>
                <a:stretch>
                  <a:fillRect/>
                </a:stretch>
              </p:blipFill>
              <p:spPr bwMode="auto">
                <a:xfrm>
                  <a:off x="930" y="1842"/>
                  <a:ext cx="1542" cy="19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7" name="Picture 285"/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9742" r="3989" b="43243"/>
                <a:stretch>
                  <a:fillRect/>
                </a:stretch>
              </p:blipFill>
              <p:spPr bwMode="auto">
                <a:xfrm>
                  <a:off x="2444" y="1842"/>
                  <a:ext cx="272" cy="19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9" name="Rectangle 287"/>
              <p:cNvSpPr>
                <a:spLocks noChangeArrowheads="1"/>
              </p:cNvSpPr>
              <p:nvPr/>
            </p:nvSpPr>
            <p:spPr bwMode="auto">
              <a:xfrm>
                <a:off x="2517" y="351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i="1" kern="0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10" name="Rectangle 288"/>
              <p:cNvSpPr>
                <a:spLocks noChangeArrowheads="1"/>
              </p:cNvSpPr>
              <p:nvPr/>
            </p:nvSpPr>
            <p:spPr bwMode="auto">
              <a:xfrm>
                <a:off x="1498" y="1797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i="1" kern="0">
                    <a:solidFill>
                      <a:srgbClr val="99CC00"/>
                    </a:solidFill>
                  </a:rPr>
                  <a:t>y</a:t>
                </a:r>
              </a:p>
            </p:txBody>
          </p:sp>
          <p:sp>
            <p:nvSpPr>
              <p:cNvPr id="11" name="Text Box 289"/>
              <p:cNvSpPr txBox="1">
                <a:spLocks noChangeArrowheads="1"/>
              </p:cNvSpPr>
              <p:nvPr/>
            </p:nvSpPr>
            <p:spPr bwMode="auto">
              <a:xfrm>
                <a:off x="1237" y="3496"/>
                <a:ext cx="317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0" i="1" kern="0">
                    <a:solidFill>
                      <a:srgbClr val="000000"/>
                    </a:solidFill>
                  </a:rPr>
                  <a:t>O</a:t>
                </a:r>
              </a:p>
            </p:txBody>
          </p:sp>
          <p:sp>
            <p:nvSpPr>
              <p:cNvPr id="12" name="Text Box 290"/>
              <p:cNvSpPr txBox="1">
                <a:spLocks noChangeArrowheads="1"/>
              </p:cNvSpPr>
              <p:nvPr/>
            </p:nvSpPr>
            <p:spPr bwMode="auto">
              <a:xfrm>
                <a:off x="1449" y="293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13" name="Text Box 291"/>
              <p:cNvSpPr txBox="1">
                <a:spLocks noChangeArrowheads="1"/>
              </p:cNvSpPr>
              <p:nvPr/>
            </p:nvSpPr>
            <p:spPr bwMode="auto">
              <a:xfrm>
                <a:off x="1787" y="2604"/>
                <a:ext cx="321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000000"/>
                    </a:solidFill>
                  </a:rPr>
                  <a:t>M</a:t>
                </a:r>
              </a:p>
            </p:txBody>
          </p:sp>
          <p:sp>
            <p:nvSpPr>
              <p:cNvPr id="14" name="Line 292"/>
              <p:cNvSpPr>
                <a:spLocks noChangeShapeType="1"/>
              </p:cNvSpPr>
              <p:nvPr/>
            </p:nvSpPr>
            <p:spPr bwMode="auto">
              <a:xfrm flipH="1">
                <a:off x="1159" y="3217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Line 293"/>
              <p:cNvSpPr>
                <a:spLocks noChangeShapeType="1"/>
              </p:cNvSpPr>
              <p:nvPr/>
            </p:nvSpPr>
            <p:spPr bwMode="auto">
              <a:xfrm flipV="1">
                <a:off x="2089" y="2348"/>
                <a:ext cx="330" cy="461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Line 294"/>
              <p:cNvSpPr>
                <a:spLocks noChangeShapeType="1"/>
              </p:cNvSpPr>
              <p:nvPr/>
            </p:nvSpPr>
            <p:spPr bwMode="auto">
              <a:xfrm>
                <a:off x="2109" y="2795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Line 295"/>
              <p:cNvSpPr>
                <a:spLocks noChangeShapeType="1"/>
              </p:cNvSpPr>
              <p:nvPr/>
            </p:nvSpPr>
            <p:spPr bwMode="auto">
              <a:xfrm>
                <a:off x="1851" y="3081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99CC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Text Box 296"/>
              <p:cNvSpPr txBox="1">
                <a:spLocks noChangeArrowheads="1"/>
              </p:cNvSpPr>
              <p:nvPr/>
            </p:nvSpPr>
            <p:spPr bwMode="auto">
              <a:xfrm>
                <a:off x="930" y="3022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FF0000"/>
                    </a:solidFill>
                  </a:rPr>
                  <a:t>H</a:t>
                </a:r>
              </a:p>
            </p:txBody>
          </p:sp>
          <p:sp>
            <p:nvSpPr>
              <p:cNvPr id="19" name="Text Box 297"/>
              <p:cNvSpPr txBox="1">
                <a:spLocks noChangeArrowheads="1"/>
              </p:cNvSpPr>
              <p:nvPr/>
            </p:nvSpPr>
            <p:spPr bwMode="auto">
              <a:xfrm>
                <a:off x="1634" y="3235"/>
                <a:ext cx="458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99CC00"/>
                    </a:solidFill>
                    <a:sym typeface="Symbol" panose="05050102010706020507" pitchFamily="18" charset="2"/>
                  </a:rPr>
                  <a:t>gs</a:t>
                </a:r>
              </a:p>
            </p:txBody>
          </p:sp>
          <p:sp>
            <p:nvSpPr>
              <p:cNvPr id="20" name="Text Box 298"/>
              <p:cNvSpPr txBox="1">
                <a:spLocks noChangeArrowheads="1"/>
              </p:cNvSpPr>
              <p:nvPr/>
            </p:nvSpPr>
            <p:spPr bwMode="auto">
              <a:xfrm>
                <a:off x="2381" y="2168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006600"/>
                    </a:solidFill>
                  </a:rPr>
                  <a:t>T</a:t>
                </a:r>
              </a:p>
            </p:txBody>
          </p:sp>
          <p:sp>
            <p:nvSpPr>
              <p:cNvPr id="21" name="Arc 299"/>
              <p:cNvSpPr>
                <a:spLocks/>
              </p:cNvSpPr>
              <p:nvPr/>
            </p:nvSpPr>
            <p:spPr bwMode="auto">
              <a:xfrm>
                <a:off x="2154" y="2704"/>
                <a:ext cx="45" cy="91"/>
              </a:xfrm>
              <a:custGeom>
                <a:avLst/>
                <a:gdLst>
                  <a:gd name="T0" fmla="*/ 0 w 21600"/>
                  <a:gd name="T1" fmla="*/ 0 h 21600"/>
                  <a:gd name="T2" fmla="*/ 45 w 21600"/>
                  <a:gd name="T3" fmla="*/ 91 h 21600"/>
                  <a:gd name="T4" fmla="*/ 0 w 21600"/>
                  <a:gd name="T5" fmla="*/ 9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Text Box 300"/>
              <p:cNvSpPr txBox="1">
                <a:spLocks noChangeArrowheads="1"/>
              </p:cNvSpPr>
              <p:nvPr/>
            </p:nvSpPr>
            <p:spPr bwMode="auto">
              <a:xfrm>
                <a:off x="2126" y="2551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i="1" kern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</a:t>
                </a:r>
              </a:p>
            </p:txBody>
          </p:sp>
          <p:sp>
            <p:nvSpPr>
              <p:cNvPr id="23" name="Oval 301"/>
              <p:cNvSpPr>
                <a:spLocks noChangeArrowheads="1"/>
              </p:cNvSpPr>
              <p:nvPr/>
            </p:nvSpPr>
            <p:spPr bwMode="auto">
              <a:xfrm>
                <a:off x="1023" y="3008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Oval 302"/>
              <p:cNvSpPr>
                <a:spLocks noChangeArrowheads="1"/>
              </p:cNvSpPr>
              <p:nvPr/>
            </p:nvSpPr>
            <p:spPr bwMode="auto">
              <a:xfrm>
                <a:off x="2336" y="2216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Oval 303"/>
              <p:cNvSpPr>
                <a:spLocks noChangeArrowheads="1"/>
              </p:cNvSpPr>
              <p:nvPr/>
            </p:nvSpPr>
            <p:spPr bwMode="auto">
              <a:xfrm>
                <a:off x="1826" y="3053"/>
                <a:ext cx="49" cy="45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kern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8" name="Text Box 305"/>
          <p:cNvSpPr txBox="1">
            <a:spLocks noChangeArrowheads="1"/>
          </p:cNvSpPr>
          <p:nvPr/>
        </p:nvSpPr>
        <p:spPr bwMode="auto">
          <a:xfrm>
            <a:off x="2141538" y="2400300"/>
            <a:ext cx="2662237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取坐标系如图</a:t>
            </a:r>
            <a:r>
              <a:rPr kumimoji="1" lang="en-US" altLang="zh-CN" kern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9" name="Text Box 306"/>
          <p:cNvSpPr txBox="1">
            <a:spLocks noChangeArrowheads="1"/>
          </p:cNvSpPr>
          <p:nvPr/>
        </p:nvSpPr>
        <p:spPr bwMode="auto">
          <a:xfrm>
            <a:off x="4535488" y="2397125"/>
            <a:ext cx="2503487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考察最低点 </a:t>
            </a:r>
            <a:r>
              <a:rPr kumimoji="1" lang="en-US" altLang="zh-CN" i="1" kern="0">
                <a:solidFill>
                  <a:schemeClr val="bg1"/>
                </a:solidFill>
              </a:rPr>
              <a:t>A</a:t>
            </a:r>
            <a:endParaRPr kumimoji="1" lang="en-US" altLang="zh-CN" kern="0">
              <a:solidFill>
                <a:schemeClr val="bg1"/>
              </a:solidFill>
            </a:endParaRPr>
          </a:p>
        </p:txBody>
      </p:sp>
      <p:sp>
        <p:nvSpPr>
          <p:cNvPr id="30" name="Text Box 307"/>
          <p:cNvSpPr txBox="1">
            <a:spLocks noChangeArrowheads="1"/>
          </p:cNvSpPr>
          <p:nvPr/>
        </p:nvSpPr>
        <p:spPr bwMode="auto">
          <a:xfrm>
            <a:off x="906463" y="3051175"/>
            <a:ext cx="597693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到任意点</a:t>
            </a:r>
            <a:r>
              <a:rPr kumimoji="1" lang="en-US" altLang="zh-CN" i="1" kern="0">
                <a:solidFill>
                  <a:schemeClr val="bg1"/>
                </a:solidFill>
              </a:rPr>
              <a:t>M </a:t>
            </a:r>
            <a:r>
              <a:rPr kumimoji="1" lang="en-US" altLang="zh-CN" kern="0">
                <a:solidFill>
                  <a:schemeClr val="bg1"/>
                </a:solidFill>
              </a:rPr>
              <a:t>( </a:t>
            </a:r>
            <a:r>
              <a:rPr kumimoji="1" lang="en-US" altLang="zh-CN" i="1" kern="0">
                <a:solidFill>
                  <a:schemeClr val="bg1"/>
                </a:solidFill>
              </a:rPr>
              <a:t>x</a:t>
            </a:r>
            <a:r>
              <a:rPr kumimoji="1" lang="en-US" altLang="zh-CN" kern="0">
                <a:solidFill>
                  <a:schemeClr val="bg1"/>
                </a:solidFill>
              </a:rPr>
              <a:t>,</a:t>
            </a:r>
            <a:r>
              <a:rPr kumimoji="1" lang="en-US" altLang="zh-CN" i="1" kern="0">
                <a:solidFill>
                  <a:schemeClr val="bg1"/>
                </a:solidFill>
              </a:rPr>
              <a:t> y </a:t>
            </a:r>
            <a:r>
              <a:rPr kumimoji="1" lang="en-US" altLang="zh-CN" kern="0">
                <a:solidFill>
                  <a:schemeClr val="bg1"/>
                </a:solidFill>
              </a:rPr>
              <a:t>) </a:t>
            </a:r>
            <a:r>
              <a:rPr kumimoji="1" lang="zh-CN" altLang="zh-CN" kern="0">
                <a:solidFill>
                  <a:schemeClr val="bg1"/>
                </a:solidFill>
              </a:rPr>
              <a:t>弧段的受力情况:</a:t>
            </a:r>
            <a:r>
              <a:rPr kumimoji="1" lang="en-US" altLang="zh-CN" kern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1" name="Text Box 310"/>
          <p:cNvSpPr txBox="1">
            <a:spLocks noChangeArrowheads="1"/>
          </p:cNvSpPr>
          <p:nvPr/>
        </p:nvSpPr>
        <p:spPr bwMode="auto">
          <a:xfrm>
            <a:off x="1900238" y="4978400"/>
            <a:ext cx="3702050" cy="11684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 dirty="0">
                <a:solidFill>
                  <a:schemeClr val="bg1"/>
                </a:solidFill>
              </a:rPr>
              <a:t>弧段重力大小 </a:t>
            </a:r>
            <a:r>
              <a:rPr kumimoji="1" lang="zh-CN" altLang="en-US" i="1" kern="0" dirty="0">
                <a:solidFill>
                  <a:schemeClr val="bg1"/>
                </a:solidFill>
                <a:sym typeface="Symbol" panose="05050102010706020507" pitchFamily="18" charset="2"/>
              </a:rPr>
              <a:t></a:t>
            </a:r>
            <a:r>
              <a:rPr kumimoji="1" lang="en-US" altLang="zh-CN" i="1" kern="0" dirty="0" err="1">
                <a:solidFill>
                  <a:schemeClr val="bg1"/>
                </a:solidFill>
              </a:rPr>
              <a:t>gs</a:t>
            </a:r>
            <a:endParaRPr kumimoji="1" lang="en-US" altLang="zh-CN" i="1" kern="0" dirty="0">
              <a:solidFill>
                <a:schemeClr val="bg1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i="1" kern="0" dirty="0">
                <a:solidFill>
                  <a:schemeClr val="bg1"/>
                </a:solidFill>
              </a:rPr>
              <a:t> </a:t>
            </a:r>
            <a:r>
              <a:rPr kumimoji="1" lang="en-US" altLang="zh-CN" kern="0" dirty="0">
                <a:solidFill>
                  <a:schemeClr val="bg1"/>
                </a:solidFill>
              </a:rPr>
              <a:t>(</a:t>
            </a:r>
            <a:r>
              <a:rPr kumimoji="1" lang="en-US" altLang="zh-CN" i="1" kern="0" dirty="0">
                <a:solidFill>
                  <a:schemeClr val="bg1"/>
                </a:solidFill>
              </a:rPr>
              <a:t> </a:t>
            </a:r>
            <a:r>
              <a:rPr kumimoji="1" lang="en-US" altLang="zh-CN" i="1" kern="0" dirty="0">
                <a:solidFill>
                  <a:schemeClr val="bg1"/>
                </a:solidFill>
                <a:sym typeface="Symbol" panose="05050102010706020507" pitchFamily="18" charset="2"/>
              </a:rPr>
              <a:t> </a:t>
            </a:r>
            <a:r>
              <a:rPr kumimoji="1" lang="en-US" altLang="zh-CN" kern="0" dirty="0">
                <a:solidFill>
                  <a:schemeClr val="bg1"/>
                </a:solidFill>
                <a:sym typeface="Symbol" panose="05050102010706020507" pitchFamily="18" charset="2"/>
              </a:rPr>
              <a:t>: </a:t>
            </a:r>
            <a:r>
              <a:rPr kumimoji="1" lang="zh-CN" altLang="en-US" kern="0" dirty="0">
                <a:solidFill>
                  <a:schemeClr val="bg1"/>
                </a:solidFill>
                <a:sym typeface="Symbol" panose="05050102010706020507" pitchFamily="18" charset="2"/>
              </a:rPr>
              <a:t>密度</a:t>
            </a:r>
            <a:r>
              <a:rPr kumimoji="1" lang="en-US" altLang="zh-CN" kern="0" dirty="0">
                <a:solidFill>
                  <a:schemeClr val="bg1"/>
                </a:solidFill>
                <a:sym typeface="Symbol" panose="05050102010706020507" pitchFamily="18" charset="2"/>
              </a:rPr>
              <a:t>, </a:t>
            </a:r>
            <a:r>
              <a:rPr kumimoji="1" lang="en-US" altLang="zh-CN" i="1" kern="0" dirty="0">
                <a:solidFill>
                  <a:schemeClr val="bg1"/>
                </a:solidFill>
                <a:sym typeface="Symbol" panose="05050102010706020507" pitchFamily="18" charset="2"/>
              </a:rPr>
              <a:t>s</a:t>
            </a:r>
            <a:r>
              <a:rPr kumimoji="1" lang="en-US" altLang="zh-CN" kern="0" dirty="0">
                <a:solidFill>
                  <a:schemeClr val="bg1"/>
                </a:solidFill>
                <a:sym typeface="Symbol" panose="05050102010706020507" pitchFamily="18" charset="2"/>
              </a:rPr>
              <a:t> :</a:t>
            </a:r>
            <a:r>
              <a:rPr kumimoji="1" lang="zh-CN" altLang="en-US" kern="0" dirty="0">
                <a:solidFill>
                  <a:schemeClr val="bg1"/>
                </a:solidFill>
              </a:rPr>
              <a:t>弧长</a:t>
            </a:r>
            <a:r>
              <a:rPr kumimoji="1" lang="en-US" altLang="zh-CN" kern="0" dirty="0">
                <a:solidFill>
                  <a:schemeClr val="bg1"/>
                </a:solidFill>
              </a:rPr>
              <a:t>)</a:t>
            </a:r>
            <a:r>
              <a:rPr kumimoji="1" lang="zh-CN" altLang="en-US" kern="0" dirty="0">
                <a:solidFill>
                  <a:schemeClr val="bg1"/>
                </a:solidFill>
              </a:rPr>
              <a:t>．</a:t>
            </a:r>
            <a:endParaRPr kumimoji="1" lang="zh-CN" altLang="en-US" i="1" kern="0" dirty="0">
              <a:solidFill>
                <a:schemeClr val="bg1"/>
              </a:solidFill>
            </a:endParaRPr>
          </a:p>
        </p:txBody>
      </p:sp>
      <p:sp>
        <p:nvSpPr>
          <p:cNvPr id="32" name="Text Box 312"/>
          <p:cNvSpPr txBox="1">
            <a:spLocks noChangeArrowheads="1"/>
          </p:cNvSpPr>
          <p:nvPr/>
        </p:nvSpPr>
        <p:spPr bwMode="auto">
          <a:xfrm>
            <a:off x="1900238" y="3673475"/>
            <a:ext cx="42291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i="1" kern="0">
                <a:solidFill>
                  <a:schemeClr val="bg1"/>
                </a:solidFill>
              </a:rPr>
              <a:t>A </a:t>
            </a:r>
            <a:r>
              <a:rPr kumimoji="1" lang="zh-CN" altLang="en-US" kern="0">
                <a:solidFill>
                  <a:schemeClr val="bg1"/>
                </a:solidFill>
              </a:rPr>
              <a:t>点受水平张力 </a:t>
            </a:r>
            <a:r>
              <a:rPr kumimoji="1" lang="en-US" altLang="zh-CN" i="1" kern="0">
                <a:solidFill>
                  <a:schemeClr val="bg1"/>
                </a:solidFill>
              </a:rPr>
              <a:t>H</a:t>
            </a:r>
            <a:r>
              <a:rPr kumimoji="1" lang="zh-CN" altLang="en-US" kern="0">
                <a:solidFill>
                  <a:schemeClr val="bg1"/>
                </a:solidFill>
              </a:rPr>
              <a:t>，</a:t>
            </a:r>
          </a:p>
        </p:txBody>
      </p:sp>
      <p:sp>
        <p:nvSpPr>
          <p:cNvPr id="33" name="Text Box 315"/>
          <p:cNvSpPr txBox="1">
            <a:spLocks noChangeArrowheads="1"/>
          </p:cNvSpPr>
          <p:nvPr/>
        </p:nvSpPr>
        <p:spPr bwMode="auto">
          <a:xfrm>
            <a:off x="1900238" y="4314825"/>
            <a:ext cx="4157662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i="1" kern="0">
                <a:solidFill>
                  <a:schemeClr val="bg1"/>
                </a:solidFill>
              </a:rPr>
              <a:t>M </a:t>
            </a:r>
            <a:r>
              <a:rPr kumimoji="1" lang="zh-CN" altLang="en-US" kern="0">
                <a:solidFill>
                  <a:schemeClr val="bg1"/>
                </a:solidFill>
              </a:rPr>
              <a:t>点受切向张力</a:t>
            </a:r>
            <a:r>
              <a:rPr kumimoji="1" lang="en-US" altLang="zh-CN" i="1" kern="0">
                <a:solidFill>
                  <a:schemeClr val="bg1"/>
                </a:solidFill>
              </a:rPr>
              <a:t>T</a:t>
            </a:r>
            <a:r>
              <a:rPr kumimoji="1" lang="zh-CN" altLang="en-US" kern="0">
                <a:solidFill>
                  <a:schemeClr val="bg1"/>
                </a:solidFill>
              </a:rPr>
              <a:t>，</a:t>
            </a:r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504CCD2C-2F92-495E-94EF-C1BAA31842B5}"/>
              </a:ext>
            </a:extLst>
          </p:cNvPr>
          <p:cNvSpPr txBox="1">
            <a:spLocks noChangeArrowheads="1"/>
          </p:cNvSpPr>
          <p:nvPr/>
        </p:nvSpPr>
        <p:spPr>
          <a:xfrm>
            <a:off x="3053632" y="157163"/>
            <a:ext cx="4419551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四、</a:t>
            </a:r>
            <a:r>
              <a:rPr kumimoji="1"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应用举例</a:t>
            </a:r>
            <a:endParaRPr kumimoji="0" lang="zh-CN" altLang="en-US" sz="3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003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555750" y="776288"/>
            <a:ext cx="3276600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按静力平衡条件</a:t>
            </a:r>
            <a:r>
              <a:rPr kumimoji="1" lang="en-US" altLang="zh-CN" kern="0">
                <a:solidFill>
                  <a:schemeClr val="bg1"/>
                </a:solidFill>
              </a:rPr>
              <a:t>, </a:t>
            </a:r>
            <a:r>
              <a:rPr kumimoji="1" lang="zh-CN" altLang="en-US" kern="0">
                <a:solidFill>
                  <a:schemeClr val="bg1"/>
                </a:solidFill>
              </a:rPr>
              <a:t>有</a:t>
            </a: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2563813" y="1497013"/>
          <a:ext cx="1828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2" name="Equation" r:id="rId3" imgW="1771542" imgH="314171" progId="Equation.3">
                  <p:embed/>
                </p:oleObj>
              </mc:Choice>
              <mc:Fallback>
                <p:oleObj name="Equation" r:id="rId3" imgW="1771542" imgH="314171" progId="Equation.3">
                  <p:embed/>
                  <p:pic>
                    <p:nvPicPr>
                      <p:cNvPr id="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1497013"/>
                        <a:ext cx="1828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3140075" y="2581275"/>
          <a:ext cx="1562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Equation" r:id="rId5" imgW="1505030" imgH="790639" progId="Equation.3">
                  <p:embed/>
                </p:oleObj>
              </mc:Choice>
              <mc:Fallback>
                <p:oleObj name="Equation" r:id="rId5" imgW="1505030" imgH="790639" progId="Equation.3">
                  <p:embed/>
                  <p:pic>
                    <p:nvPicPr>
                      <p:cNvPr id="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075" y="2581275"/>
                        <a:ext cx="1562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4816475" y="2576513"/>
          <a:ext cx="14192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4" name="公式" r:id="rId7" imgW="666627" imgH="428509" progId="Equation.3">
                  <p:embed/>
                </p:oleObj>
              </mc:Choice>
              <mc:Fallback>
                <p:oleObj name="公式" r:id="rId7" imgW="666627" imgH="428509" progId="Equation.3">
                  <p:embed/>
                  <p:pic>
                    <p:nvPicPr>
                      <p:cNvPr id="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2576513"/>
                        <a:ext cx="141922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4579938" y="1427163"/>
          <a:ext cx="2151062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5" name="公式" r:id="rId9" imgW="885944" imgH="142836" progId="Equation.3">
                  <p:embed/>
                </p:oleObj>
              </mc:Choice>
              <mc:Fallback>
                <p:oleObj name="公式" r:id="rId9" imgW="885944" imgH="142836" progId="Equation.3">
                  <p:embed/>
                  <p:pic>
                    <p:nvPicPr>
                      <p:cNvPr id="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10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38" y="1427163"/>
                        <a:ext cx="2151062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4"/>
          <p:cNvGraphicFramePr>
            <a:graphicFrameLocks noChangeAspect="1"/>
          </p:cNvGraphicFramePr>
          <p:nvPr/>
        </p:nvGraphicFramePr>
        <p:xfrm>
          <a:off x="3511550" y="3983038"/>
          <a:ext cx="2044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Equation" r:id="rId11" imgW="1990859" imgH="714529" progId="Equation.3">
                  <p:embed/>
                </p:oleObj>
              </mc:Choice>
              <mc:Fallback>
                <p:oleObj name="Equation" r:id="rId11" imgW="1990859" imgH="714529" progId="Equation.3">
                  <p:embed/>
                  <p:pic>
                    <p:nvPicPr>
                      <p:cNvPr id="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3983038"/>
                        <a:ext cx="20447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2668588" y="3951288"/>
          <a:ext cx="85883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公式" r:id="rId13" imgW="371312" imgH="333285" progId="Equation.3">
                  <p:embed/>
                </p:oleObj>
              </mc:Choice>
              <mc:Fallback>
                <p:oleObj name="公式" r:id="rId13" imgW="371312" imgH="333285" progId="Equation.3">
                  <p:embed/>
                  <p:pic>
                    <p:nvPicPr>
                      <p:cNvPr id="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3951288"/>
                        <a:ext cx="858837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555750" y="3406775"/>
            <a:ext cx="12954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故有</a:t>
            </a:r>
          </a:p>
        </p:txBody>
      </p:sp>
      <p:graphicFrame>
        <p:nvGraphicFramePr>
          <p:cNvPr id="10" name="Object 17"/>
          <p:cNvGraphicFramePr>
            <a:graphicFrameLocks noChangeAspect="1"/>
          </p:cNvGraphicFramePr>
          <p:nvPr/>
        </p:nvGraphicFramePr>
        <p:xfrm>
          <a:off x="6453188" y="3935413"/>
          <a:ext cx="216058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公式" r:id="rId15" imgW="981028" imgH="333285" progId="Equation.3">
                  <p:embed/>
                </p:oleObj>
              </mc:Choice>
              <mc:Fallback>
                <p:oleObj name="公式" r:id="rId15" imgW="981028" imgH="333285" progId="Equation.3">
                  <p:embed/>
                  <p:pic>
                    <p:nvPicPr>
                      <p:cNvPr id="1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188" y="3935413"/>
                        <a:ext cx="216058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8"/>
          <p:cNvSpPr>
            <a:spLocks noChangeArrowheads="1"/>
          </p:cNvSpPr>
          <p:nvPr/>
        </p:nvSpPr>
        <p:spPr bwMode="auto">
          <a:xfrm>
            <a:off x="5764213" y="4167188"/>
            <a:ext cx="671512" cy="369887"/>
          </a:xfrm>
          <a:prstGeom prst="rightArrow">
            <a:avLst>
              <a:gd name="adj1" fmla="val 50000"/>
              <a:gd name="adj2" fmla="val 45386"/>
            </a:avLst>
          </a:prstGeom>
          <a:solidFill>
            <a:schemeClr val="accent4"/>
          </a:solidFill>
          <a:ln w="9525">
            <a:solidFill>
              <a:schemeClr val="accent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endParaRPr lang="zh-CN" altLang="en-US" kern="0">
              <a:solidFill>
                <a:schemeClr val="bg1"/>
              </a:solidFill>
            </a:endParaRPr>
          </a:p>
        </p:txBody>
      </p:sp>
      <p:sp>
        <p:nvSpPr>
          <p:cNvPr id="12" name="Text Box 26"/>
          <p:cNvSpPr txBox="1">
            <a:spLocks noChangeArrowheads="1"/>
          </p:cNvSpPr>
          <p:nvPr/>
        </p:nvSpPr>
        <p:spPr bwMode="auto">
          <a:xfrm>
            <a:off x="1555750" y="2073275"/>
            <a:ext cx="23622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两式相除得</a:t>
            </a:r>
          </a:p>
        </p:txBody>
      </p:sp>
      <p:sp>
        <p:nvSpPr>
          <p:cNvPr id="13" name="Text Box 51"/>
          <p:cNvSpPr txBox="1">
            <a:spLocks noChangeArrowheads="1"/>
          </p:cNvSpPr>
          <p:nvPr/>
        </p:nvSpPr>
        <p:spPr bwMode="auto">
          <a:xfrm>
            <a:off x="2068513" y="4775200"/>
            <a:ext cx="467995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kern="0">
                <a:solidFill>
                  <a:schemeClr val="bg1"/>
                </a:solidFill>
              </a:rPr>
              <a:t>设 </a:t>
            </a:r>
            <a:r>
              <a:rPr kumimoji="1" lang="en-US" altLang="zh-CN" kern="0">
                <a:solidFill>
                  <a:schemeClr val="bg1"/>
                </a:solidFill>
              </a:rPr>
              <a:t>|</a:t>
            </a:r>
            <a:r>
              <a:rPr kumimoji="1" lang="en-US" altLang="zh-CN" i="1" kern="0">
                <a:solidFill>
                  <a:schemeClr val="bg1"/>
                </a:solidFill>
              </a:rPr>
              <a:t>OA</a:t>
            </a:r>
            <a:r>
              <a:rPr kumimoji="1" lang="en-US" altLang="zh-CN" kern="0">
                <a:solidFill>
                  <a:schemeClr val="bg1"/>
                </a:solidFill>
              </a:rPr>
              <a:t>| = </a:t>
            </a:r>
            <a:r>
              <a:rPr kumimoji="1" lang="en-US" altLang="zh-CN" i="1" kern="0">
                <a:solidFill>
                  <a:schemeClr val="bg1"/>
                </a:solidFill>
              </a:rPr>
              <a:t>a</a:t>
            </a:r>
            <a:r>
              <a:rPr kumimoji="1" lang="zh-CN" altLang="en-US" kern="0">
                <a:solidFill>
                  <a:schemeClr val="bg1"/>
                </a:solidFill>
              </a:rPr>
              <a:t>，则得定解问题</a:t>
            </a:r>
            <a:r>
              <a:rPr kumimoji="1" lang="en-US" altLang="zh-CN" kern="0">
                <a:solidFill>
                  <a:schemeClr val="bg1"/>
                </a:solidFill>
              </a:rPr>
              <a:t>: </a:t>
            </a:r>
          </a:p>
        </p:txBody>
      </p:sp>
      <p:grpSp>
        <p:nvGrpSpPr>
          <p:cNvPr id="14" name="Group 57"/>
          <p:cNvGrpSpPr>
            <a:grpSpLocks/>
          </p:cNvGrpSpPr>
          <p:nvPr/>
        </p:nvGrpSpPr>
        <p:grpSpPr bwMode="auto">
          <a:xfrm>
            <a:off x="4025900" y="5210175"/>
            <a:ext cx="2816225" cy="1293813"/>
            <a:chOff x="1669" y="3203"/>
            <a:chExt cx="1774" cy="815"/>
          </a:xfrm>
        </p:grpSpPr>
        <p:graphicFrame>
          <p:nvGraphicFramePr>
            <p:cNvPr id="15" name="Object 49"/>
            <p:cNvGraphicFramePr>
              <a:graphicFrameLocks noChangeAspect="1"/>
            </p:cNvGraphicFramePr>
            <p:nvPr/>
          </p:nvGraphicFramePr>
          <p:xfrm>
            <a:off x="1791" y="3203"/>
            <a:ext cx="1333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9" name="公式" r:id="rId17" imgW="1000114" imgH="333285" progId="Equation.3">
                    <p:embed/>
                  </p:oleObj>
                </mc:Choice>
                <mc:Fallback>
                  <p:oleObj name="公式" r:id="rId17" imgW="1000114" imgH="333285" progId="Equation.3">
                    <p:embed/>
                    <p:pic>
                      <p:nvPicPr>
                        <p:cNvPr id="3112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203"/>
                          <a:ext cx="1333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52"/>
            <p:cNvGraphicFramePr>
              <a:graphicFrameLocks noChangeAspect="1"/>
            </p:cNvGraphicFramePr>
            <p:nvPr/>
          </p:nvGraphicFramePr>
          <p:xfrm>
            <a:off x="1791" y="3696"/>
            <a:ext cx="78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0" name="公式" r:id="rId19" imgW="561827" imgH="200179" progId="Equation.3">
                    <p:embed/>
                  </p:oleObj>
                </mc:Choice>
                <mc:Fallback>
                  <p:oleObj name="公式" r:id="rId19" imgW="561827" imgH="200179" progId="Equation.3">
                    <p:embed/>
                    <p:pic>
                      <p:nvPicPr>
                        <p:cNvPr id="3113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lum bright="100000"/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696"/>
                          <a:ext cx="787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53"/>
            <p:cNvGraphicFramePr>
              <a:graphicFrameLocks noChangeAspect="1"/>
            </p:cNvGraphicFramePr>
            <p:nvPr/>
          </p:nvGraphicFramePr>
          <p:xfrm>
            <a:off x="2608" y="3697"/>
            <a:ext cx="83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1" name="公式" r:id="rId21" imgW="599999" imgH="200179" progId="Equation.3">
                    <p:embed/>
                  </p:oleObj>
                </mc:Choice>
                <mc:Fallback>
                  <p:oleObj name="公式" r:id="rId21" imgW="599999" imgH="200179" progId="Equation.3">
                    <p:embed/>
                    <p:pic>
                      <p:nvPicPr>
                        <p:cNvPr id="3114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lum bright="100000"/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697"/>
                          <a:ext cx="835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AutoShape 54"/>
            <p:cNvSpPr>
              <a:spLocks/>
            </p:cNvSpPr>
            <p:nvPr/>
          </p:nvSpPr>
          <p:spPr bwMode="auto">
            <a:xfrm>
              <a:off x="1669" y="340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kern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7168434" y="484187"/>
            <a:ext cx="3084513" cy="3259138"/>
            <a:chOff x="7378731" y="2212287"/>
            <a:chExt cx="3083930" cy="3259339"/>
          </a:xfrm>
        </p:grpSpPr>
        <p:sp>
          <p:nvSpPr>
            <p:cNvPr id="20" name="矩形 19"/>
            <p:cNvSpPr/>
            <p:nvPr/>
          </p:nvSpPr>
          <p:spPr bwMode="auto">
            <a:xfrm>
              <a:off x="7378731" y="2212287"/>
              <a:ext cx="3083930" cy="3240089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A5A5A5"/>
              </a:solidFill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prstClr val="black"/>
                </a:solidFill>
              </a:endParaRPr>
            </a:p>
          </p:txBody>
        </p:sp>
        <p:grpSp>
          <p:nvGrpSpPr>
            <p:cNvPr id="21" name="Group 304"/>
            <p:cNvGrpSpPr>
              <a:grpSpLocks/>
            </p:cNvGrpSpPr>
            <p:nvPr/>
          </p:nvGrpSpPr>
          <p:grpSpPr bwMode="auto">
            <a:xfrm>
              <a:off x="7504899" y="2231538"/>
              <a:ext cx="2881313" cy="3240088"/>
              <a:chOff x="930" y="1797"/>
              <a:chExt cx="1815" cy="2041"/>
            </a:xfrm>
          </p:grpSpPr>
          <p:grpSp>
            <p:nvGrpSpPr>
              <p:cNvPr id="22" name="Group 286"/>
              <p:cNvGrpSpPr>
                <a:grpSpLocks/>
              </p:cNvGrpSpPr>
              <p:nvPr/>
            </p:nvGrpSpPr>
            <p:grpSpPr bwMode="auto">
              <a:xfrm>
                <a:off x="930" y="1842"/>
                <a:ext cx="1786" cy="1907"/>
                <a:chOff x="930" y="1842"/>
                <a:chExt cx="1786" cy="1907"/>
              </a:xfrm>
            </p:grpSpPr>
            <p:pic>
              <p:nvPicPr>
                <p:cNvPr id="40" name="Picture 284"/>
                <p:cNvPicPr>
                  <a:picLocks noChangeAspect="1" noChangeArrowheads="1"/>
                </p:cNvPicPr>
                <p:nvPr/>
              </p:nvPicPr>
              <p:blipFill>
                <a:blip r:embed="rId2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460" r="26994" b="43243"/>
                <a:stretch>
                  <a:fillRect/>
                </a:stretch>
              </p:blipFill>
              <p:spPr bwMode="auto">
                <a:xfrm>
                  <a:off x="930" y="1842"/>
                  <a:ext cx="1542" cy="19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41" name="Picture 285"/>
                <p:cNvPicPr>
                  <a:picLocks noChangeAspect="1" noChangeArrowheads="1"/>
                </p:cNvPicPr>
                <p:nvPr/>
              </p:nvPicPr>
              <p:blipFill>
                <a:blip r:embed="rId2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9742" r="3989" b="43243"/>
                <a:stretch>
                  <a:fillRect/>
                </a:stretch>
              </p:blipFill>
              <p:spPr bwMode="auto">
                <a:xfrm>
                  <a:off x="2444" y="1842"/>
                  <a:ext cx="272" cy="19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23" name="Rectangle 287"/>
              <p:cNvSpPr>
                <a:spLocks noChangeArrowheads="1"/>
              </p:cNvSpPr>
              <p:nvPr/>
            </p:nvSpPr>
            <p:spPr bwMode="auto">
              <a:xfrm>
                <a:off x="2517" y="3511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i="1" kern="0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24" name="Rectangle 288"/>
              <p:cNvSpPr>
                <a:spLocks noChangeArrowheads="1"/>
              </p:cNvSpPr>
              <p:nvPr/>
            </p:nvSpPr>
            <p:spPr bwMode="auto">
              <a:xfrm>
                <a:off x="1497" y="1797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i="1" kern="0">
                    <a:solidFill>
                      <a:srgbClr val="99CC00"/>
                    </a:solidFill>
                  </a:rPr>
                  <a:t>y</a:t>
                </a:r>
              </a:p>
            </p:txBody>
          </p:sp>
          <p:sp>
            <p:nvSpPr>
              <p:cNvPr id="25" name="Text Box 289"/>
              <p:cNvSpPr txBox="1">
                <a:spLocks noChangeArrowheads="1"/>
              </p:cNvSpPr>
              <p:nvPr/>
            </p:nvSpPr>
            <p:spPr bwMode="auto">
              <a:xfrm>
                <a:off x="1236" y="3496"/>
                <a:ext cx="317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b="0" i="1" kern="0">
                    <a:solidFill>
                      <a:srgbClr val="000000"/>
                    </a:solidFill>
                  </a:rPr>
                  <a:t>O</a:t>
                </a:r>
              </a:p>
            </p:txBody>
          </p:sp>
          <p:sp>
            <p:nvSpPr>
              <p:cNvPr id="26" name="Text Box 290"/>
              <p:cNvSpPr txBox="1">
                <a:spLocks noChangeArrowheads="1"/>
              </p:cNvSpPr>
              <p:nvPr/>
            </p:nvSpPr>
            <p:spPr bwMode="auto">
              <a:xfrm>
                <a:off x="1448" y="293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27" name="Text Box 291"/>
              <p:cNvSpPr txBox="1">
                <a:spLocks noChangeArrowheads="1"/>
              </p:cNvSpPr>
              <p:nvPr/>
            </p:nvSpPr>
            <p:spPr bwMode="auto">
              <a:xfrm>
                <a:off x="1786" y="2604"/>
                <a:ext cx="322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000000"/>
                    </a:solidFill>
                  </a:rPr>
                  <a:t>M</a:t>
                </a:r>
              </a:p>
            </p:txBody>
          </p:sp>
          <p:sp>
            <p:nvSpPr>
              <p:cNvPr id="28" name="Line 292"/>
              <p:cNvSpPr>
                <a:spLocks noChangeShapeType="1"/>
              </p:cNvSpPr>
              <p:nvPr/>
            </p:nvSpPr>
            <p:spPr bwMode="auto">
              <a:xfrm flipH="1">
                <a:off x="1158" y="3217"/>
                <a:ext cx="31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Line 293"/>
              <p:cNvSpPr>
                <a:spLocks noChangeShapeType="1"/>
              </p:cNvSpPr>
              <p:nvPr/>
            </p:nvSpPr>
            <p:spPr bwMode="auto">
              <a:xfrm flipV="1">
                <a:off x="2089" y="2348"/>
                <a:ext cx="330" cy="461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Line 294"/>
              <p:cNvSpPr>
                <a:spLocks noChangeShapeType="1"/>
              </p:cNvSpPr>
              <p:nvPr/>
            </p:nvSpPr>
            <p:spPr bwMode="auto">
              <a:xfrm>
                <a:off x="2109" y="2795"/>
                <a:ext cx="31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Line 295"/>
              <p:cNvSpPr>
                <a:spLocks noChangeShapeType="1"/>
              </p:cNvSpPr>
              <p:nvPr/>
            </p:nvSpPr>
            <p:spPr bwMode="auto">
              <a:xfrm>
                <a:off x="1851" y="3081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99CC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Text Box 296"/>
              <p:cNvSpPr txBox="1">
                <a:spLocks noChangeArrowheads="1"/>
              </p:cNvSpPr>
              <p:nvPr/>
            </p:nvSpPr>
            <p:spPr bwMode="auto">
              <a:xfrm>
                <a:off x="930" y="3022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FF0000"/>
                    </a:solidFill>
                  </a:rPr>
                  <a:t>H</a:t>
                </a:r>
              </a:p>
            </p:txBody>
          </p:sp>
          <p:sp>
            <p:nvSpPr>
              <p:cNvPr id="33" name="Text Box 297"/>
              <p:cNvSpPr txBox="1">
                <a:spLocks noChangeArrowheads="1"/>
              </p:cNvSpPr>
              <p:nvPr/>
            </p:nvSpPr>
            <p:spPr bwMode="auto">
              <a:xfrm>
                <a:off x="1633" y="3235"/>
                <a:ext cx="459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99CC00"/>
                    </a:solidFill>
                    <a:sym typeface="Symbol" panose="05050102010706020507" pitchFamily="18" charset="2"/>
                  </a:rPr>
                  <a:t>gs</a:t>
                </a:r>
              </a:p>
            </p:txBody>
          </p:sp>
          <p:sp>
            <p:nvSpPr>
              <p:cNvPr id="34" name="Text Box 298"/>
              <p:cNvSpPr txBox="1">
                <a:spLocks noChangeArrowheads="1"/>
              </p:cNvSpPr>
              <p:nvPr/>
            </p:nvSpPr>
            <p:spPr bwMode="auto">
              <a:xfrm>
                <a:off x="2381" y="2168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i="1" kern="0">
                    <a:solidFill>
                      <a:srgbClr val="006600"/>
                    </a:solidFill>
                  </a:rPr>
                  <a:t>T</a:t>
                </a:r>
              </a:p>
            </p:txBody>
          </p:sp>
          <p:sp>
            <p:nvSpPr>
              <p:cNvPr id="35" name="Arc 299"/>
              <p:cNvSpPr>
                <a:spLocks/>
              </p:cNvSpPr>
              <p:nvPr/>
            </p:nvSpPr>
            <p:spPr bwMode="auto">
              <a:xfrm>
                <a:off x="2154" y="2704"/>
                <a:ext cx="45" cy="91"/>
              </a:xfrm>
              <a:custGeom>
                <a:avLst/>
                <a:gdLst>
                  <a:gd name="T0" fmla="*/ 0 w 21600"/>
                  <a:gd name="T1" fmla="*/ 0 h 21600"/>
                  <a:gd name="T2" fmla="*/ 45 w 21600"/>
                  <a:gd name="T3" fmla="*/ 91 h 21600"/>
                  <a:gd name="T4" fmla="*/ 0 w 21600"/>
                  <a:gd name="T5" fmla="*/ 9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800" b="1" ker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Text Box 300"/>
              <p:cNvSpPr txBox="1">
                <a:spLocks noChangeArrowheads="1"/>
              </p:cNvSpPr>
              <p:nvPr/>
            </p:nvSpPr>
            <p:spPr bwMode="auto">
              <a:xfrm>
                <a:off x="2126" y="2551"/>
                <a:ext cx="27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i="1" kern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</a:t>
                </a:r>
              </a:p>
            </p:txBody>
          </p:sp>
          <p:sp>
            <p:nvSpPr>
              <p:cNvPr id="37" name="Oval 301"/>
              <p:cNvSpPr>
                <a:spLocks noChangeArrowheads="1"/>
              </p:cNvSpPr>
              <p:nvPr/>
            </p:nvSpPr>
            <p:spPr bwMode="auto">
              <a:xfrm>
                <a:off x="1022" y="3008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Oval 302"/>
              <p:cNvSpPr>
                <a:spLocks noChangeArrowheads="1"/>
              </p:cNvSpPr>
              <p:nvPr/>
            </p:nvSpPr>
            <p:spPr bwMode="auto">
              <a:xfrm>
                <a:off x="2336" y="2216"/>
                <a:ext cx="45" cy="45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ker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9" name="Oval 303"/>
              <p:cNvSpPr>
                <a:spLocks noChangeArrowheads="1"/>
              </p:cNvSpPr>
              <p:nvPr/>
            </p:nvSpPr>
            <p:spPr bwMode="auto">
              <a:xfrm>
                <a:off x="1825" y="3053"/>
                <a:ext cx="50" cy="45"/>
              </a:xfrm>
              <a:prstGeom prst="ellipse">
                <a:avLst/>
              </a:prstGeom>
              <a:solidFill>
                <a:srgbClr val="3333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kern="0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73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 autoUpdateAnimBg="0"/>
      <p:bldP spid="11" grpId="0" animBg="1"/>
      <p:bldP spid="12" grpId="0" autoUpdateAnimBg="0"/>
      <p:bldP spid="1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9"/>
          <p:cNvSpPr>
            <a:spLocks noChangeShapeType="1"/>
          </p:cNvSpPr>
          <p:nvPr/>
        </p:nvSpPr>
        <p:spPr bwMode="auto">
          <a:xfrm>
            <a:off x="1397000" y="1595438"/>
            <a:ext cx="8964613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sz="2800" b="1" kern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2055813" y="1811338"/>
            <a:ext cx="647700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设</a:t>
            </a:r>
          </a:p>
        </p:txBody>
      </p:sp>
      <p:graphicFrame>
        <p:nvGraphicFramePr>
          <p:cNvPr id="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344528"/>
              </p:ext>
            </p:extLst>
          </p:nvPr>
        </p:nvGraphicFramePr>
        <p:xfrm>
          <a:off x="2559050" y="1916113"/>
          <a:ext cx="10334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name="公式" r:id="rId3" imgW="482391" imgH="203112" progId="Equation.3">
                  <p:embed/>
                </p:oleObj>
              </mc:Choice>
              <mc:Fallback>
                <p:oleObj name="公式" r:id="rId3" imgW="482391" imgH="203112" progId="Equation.3">
                  <p:embed/>
                  <p:pic>
                    <p:nvPicPr>
                      <p:cNvPr id="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9050" y="1916113"/>
                        <a:ext cx="103346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3687763" y="1811338"/>
            <a:ext cx="647700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则</a:t>
            </a:r>
          </a:p>
        </p:txBody>
      </p:sp>
      <p:graphicFrame>
        <p:nvGraphicFramePr>
          <p:cNvPr id="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409218"/>
              </p:ext>
            </p:extLst>
          </p:nvPr>
        </p:nvGraphicFramePr>
        <p:xfrm>
          <a:off x="4189413" y="1712913"/>
          <a:ext cx="12509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公式" r:id="rId5" imgW="583947" imgH="393529" progId="Equation.3">
                  <p:embed/>
                </p:oleObj>
              </mc:Choice>
              <mc:Fallback>
                <p:oleObj name="公式" r:id="rId5" imgW="583947" imgH="393529" progId="Equation.3">
                  <p:embed/>
                  <p:pic>
                    <p:nvPicPr>
                      <p:cNvPr id="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1712913"/>
                        <a:ext cx="12509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5511800" y="1811338"/>
            <a:ext cx="4392613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代入方程并分离变量，得</a:t>
            </a: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201566"/>
              </p:ext>
            </p:extLst>
          </p:nvPr>
        </p:nvGraphicFramePr>
        <p:xfrm>
          <a:off x="4516438" y="2630488"/>
          <a:ext cx="1928812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3" name="Equation" r:id="rId7" imgW="901309" imgH="469696" progId="Equation.DSMT4">
                  <p:embed/>
                </p:oleObj>
              </mc:Choice>
              <mc:Fallback>
                <p:oleObj name="Equation" r:id="rId7" imgW="901309" imgH="469696" progId="Equation.DSMT4">
                  <p:embed/>
                  <p:pic>
                    <p:nvPicPr>
                      <p:cNvPr id="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438" y="2630488"/>
                        <a:ext cx="1928812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468438" y="3683000"/>
            <a:ext cx="26638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两边积分，得</a:t>
            </a:r>
          </a:p>
        </p:txBody>
      </p:sp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420968"/>
              </p:ext>
            </p:extLst>
          </p:nvPr>
        </p:nvGraphicFramePr>
        <p:xfrm>
          <a:off x="3968750" y="3611563"/>
          <a:ext cx="3343275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公式" r:id="rId9" imgW="1562100" imgH="393700" progId="Equation.3">
                  <p:embed/>
                </p:oleObj>
              </mc:Choice>
              <mc:Fallback>
                <p:oleObj name="公式" r:id="rId9" imgW="1562100" imgH="393700" progId="Equation.3">
                  <p:embed/>
                  <p:pic>
                    <p:nvPicPr>
                      <p:cNvPr id="1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611563"/>
                        <a:ext cx="3343275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1479550" y="4475163"/>
            <a:ext cx="21605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由初始条件</a:t>
            </a:r>
          </a:p>
        </p:txBody>
      </p:sp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863481"/>
              </p:ext>
            </p:extLst>
          </p:nvPr>
        </p:nvGraphicFramePr>
        <p:xfrm>
          <a:off x="3424238" y="4510088"/>
          <a:ext cx="12509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公式" r:id="rId11" imgW="583947" imgH="228501" progId="Equation.3">
                  <p:embed/>
                </p:oleObj>
              </mc:Choice>
              <mc:Fallback>
                <p:oleObj name="公式" r:id="rId11" imgW="583947" imgH="228501" progId="Equation.3">
                  <p:embed/>
                  <p:pic>
                    <p:nvPicPr>
                      <p:cNvPr id="1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238" y="4510088"/>
                        <a:ext cx="125095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4719638" y="4475163"/>
            <a:ext cx="25923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可得 </a:t>
            </a:r>
            <a:r>
              <a:rPr lang="en-US" altLang="zh-CN" i="1" kern="0">
                <a:solidFill>
                  <a:schemeClr val="bg1"/>
                </a:solidFill>
              </a:rPr>
              <a:t>C</a:t>
            </a:r>
            <a:r>
              <a:rPr lang="en-US" altLang="zh-CN" kern="0" baseline="-25000">
                <a:solidFill>
                  <a:schemeClr val="bg1"/>
                </a:solidFill>
              </a:rPr>
              <a:t>1</a:t>
            </a:r>
            <a:r>
              <a:rPr lang="en-US" altLang="zh-CN" kern="0">
                <a:solidFill>
                  <a:schemeClr val="bg1"/>
                </a:solidFill>
              </a:rPr>
              <a:t> = 0</a:t>
            </a:r>
            <a:r>
              <a:rPr lang="zh-CN" altLang="en-US" kern="0">
                <a:solidFill>
                  <a:schemeClr val="bg1"/>
                </a:solidFill>
              </a:rPr>
              <a:t>，</a:t>
            </a: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6775450" y="4425950"/>
            <a:ext cx="143986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于是</a:t>
            </a:r>
          </a:p>
        </p:txBody>
      </p:sp>
      <p:graphicFrame>
        <p:nvGraphicFramePr>
          <p:cNvPr id="1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074795"/>
              </p:ext>
            </p:extLst>
          </p:nvPr>
        </p:nvGraphicFramePr>
        <p:xfrm>
          <a:off x="4225925" y="5051425"/>
          <a:ext cx="2744788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公式" r:id="rId13" imgW="1282700" imgH="393700" progId="Equation.3">
                  <p:embed/>
                </p:oleObj>
              </mc:Choice>
              <mc:Fallback>
                <p:oleObj name="公式" r:id="rId13" imgW="1282700" imgH="393700" progId="Equation.3">
                  <p:embed/>
                  <p:pic>
                    <p:nvPicPr>
                      <p:cNvPr id="1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5925" y="5051425"/>
                        <a:ext cx="2744788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57"/>
          <p:cNvGrpSpPr>
            <a:grpSpLocks/>
          </p:cNvGrpSpPr>
          <p:nvPr/>
        </p:nvGrpSpPr>
        <p:grpSpPr bwMode="auto">
          <a:xfrm>
            <a:off x="4891088" y="239713"/>
            <a:ext cx="2816225" cy="1293812"/>
            <a:chOff x="1669" y="3203"/>
            <a:chExt cx="1774" cy="815"/>
          </a:xfrm>
        </p:grpSpPr>
        <p:graphicFrame>
          <p:nvGraphicFramePr>
            <p:cNvPr id="17" name="Object 49"/>
            <p:cNvGraphicFramePr>
              <a:graphicFrameLocks noChangeAspect="1"/>
            </p:cNvGraphicFramePr>
            <p:nvPr/>
          </p:nvGraphicFramePr>
          <p:xfrm>
            <a:off x="1791" y="3203"/>
            <a:ext cx="1333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7" name="公式" r:id="rId15" imgW="1000114" imgH="333285" progId="Equation.3">
                    <p:embed/>
                  </p:oleObj>
                </mc:Choice>
                <mc:Fallback>
                  <p:oleObj name="公式" r:id="rId15" imgW="1000114" imgH="333285" progId="Equation.3">
                    <p:embed/>
                    <p:pic>
                      <p:nvPicPr>
                        <p:cNvPr id="4113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203"/>
                          <a:ext cx="1333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52"/>
            <p:cNvGraphicFramePr>
              <a:graphicFrameLocks noChangeAspect="1"/>
            </p:cNvGraphicFramePr>
            <p:nvPr/>
          </p:nvGraphicFramePr>
          <p:xfrm>
            <a:off x="1791" y="3696"/>
            <a:ext cx="787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8" name="公式" r:id="rId17" imgW="561827" imgH="200179" progId="Equation.3">
                    <p:embed/>
                  </p:oleObj>
                </mc:Choice>
                <mc:Fallback>
                  <p:oleObj name="公式" r:id="rId17" imgW="561827" imgH="200179" progId="Equation.3">
                    <p:embed/>
                    <p:pic>
                      <p:nvPicPr>
                        <p:cNvPr id="4114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lum bright="100000"/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696"/>
                          <a:ext cx="787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53"/>
            <p:cNvGraphicFramePr>
              <a:graphicFrameLocks noChangeAspect="1"/>
            </p:cNvGraphicFramePr>
            <p:nvPr/>
          </p:nvGraphicFramePr>
          <p:xfrm>
            <a:off x="2608" y="3697"/>
            <a:ext cx="83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9" name="公式" r:id="rId19" imgW="599999" imgH="200179" progId="Equation.3">
                    <p:embed/>
                  </p:oleObj>
                </mc:Choice>
                <mc:Fallback>
                  <p:oleObj name="公式" r:id="rId19" imgW="599999" imgH="200179" progId="Equation.3">
                    <p:embed/>
                    <p:pic>
                      <p:nvPicPr>
                        <p:cNvPr id="4115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lum bright="100000"/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697"/>
                          <a:ext cx="835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AutoShape 54"/>
            <p:cNvSpPr>
              <a:spLocks/>
            </p:cNvSpPr>
            <p:nvPr/>
          </p:nvSpPr>
          <p:spPr bwMode="auto">
            <a:xfrm>
              <a:off x="1669" y="340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defRPr/>
              </a:pPr>
              <a:endParaRPr lang="zh-CN" altLang="en-US" kern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760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  <p:bldP spid="11" grpId="0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4"/>
          <p:cNvSpPr>
            <a:spLocks noChangeShapeType="1"/>
          </p:cNvSpPr>
          <p:nvPr/>
        </p:nvSpPr>
        <p:spPr bwMode="auto">
          <a:xfrm>
            <a:off x="1570038" y="1163638"/>
            <a:ext cx="8964612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sz="2800" b="1" kern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147261"/>
              </p:ext>
            </p:extLst>
          </p:nvPr>
        </p:nvGraphicFramePr>
        <p:xfrm>
          <a:off x="4514850" y="300038"/>
          <a:ext cx="2636838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公式" r:id="rId3" imgW="1231366" imgH="393529" progId="Equation.3">
                  <p:embed/>
                </p:oleObj>
              </mc:Choice>
              <mc:Fallback>
                <p:oleObj name="公式" r:id="rId3" imgW="1231366" imgH="393529" progId="Equation.3">
                  <p:embed/>
                  <p:pic>
                    <p:nvPicPr>
                      <p:cNvPr id="51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00038"/>
                        <a:ext cx="2636838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652588" y="1301750"/>
            <a:ext cx="13684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解得</a:t>
            </a: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788859"/>
              </p:ext>
            </p:extLst>
          </p:nvPr>
        </p:nvGraphicFramePr>
        <p:xfrm>
          <a:off x="4406900" y="1163638"/>
          <a:ext cx="23114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公式" r:id="rId5" imgW="1079500" imgH="419100" progId="Equation.3">
                  <p:embed/>
                </p:oleObj>
              </mc:Choice>
              <mc:Fallback>
                <p:oleObj name="公式" r:id="rId5" imgW="1079500" imgH="419100" progId="Equation.3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1163638"/>
                        <a:ext cx="23114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652588" y="2243138"/>
            <a:ext cx="93662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即</a:t>
            </a:r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001500"/>
              </p:ext>
            </p:extLst>
          </p:nvPr>
        </p:nvGraphicFramePr>
        <p:xfrm>
          <a:off x="4376738" y="2100263"/>
          <a:ext cx="233838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公式" r:id="rId7" imgW="1091726" imgH="418918" progId="Equation.3">
                  <p:embed/>
                </p:oleObj>
              </mc:Choice>
              <mc:Fallback>
                <p:oleObj name="公式" r:id="rId7" imgW="1091726" imgH="418918" progId="Equation.3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738" y="2100263"/>
                        <a:ext cx="2338387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652588" y="3251200"/>
            <a:ext cx="34559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上式两边积分，得</a:t>
            </a:r>
          </a:p>
        </p:txBody>
      </p:sp>
      <p:graphicFrame>
        <p:nvGraphicFramePr>
          <p:cNvPr id="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920779"/>
              </p:ext>
            </p:extLst>
          </p:nvPr>
        </p:nvGraphicFramePr>
        <p:xfrm>
          <a:off x="4749800" y="3071813"/>
          <a:ext cx="29083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公式" r:id="rId9" imgW="1358900" imgH="419100" progId="Equation.3">
                  <p:embed/>
                </p:oleObj>
              </mc:Choice>
              <mc:Fallback>
                <p:oleObj name="公式" r:id="rId9" imgW="1358900" imgH="419100" progId="Equation.3">
                  <p:embed/>
                  <p:pic>
                    <p:nvPicPr>
                      <p:cNvPr id="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3071813"/>
                        <a:ext cx="29083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1652588" y="4021138"/>
            <a:ext cx="21605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由初始条件</a:t>
            </a:r>
          </a:p>
        </p:txBody>
      </p:sp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364183"/>
              </p:ext>
            </p:extLst>
          </p:nvPr>
        </p:nvGraphicFramePr>
        <p:xfrm>
          <a:off x="3624263" y="4056063"/>
          <a:ext cx="11969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公式" r:id="rId11" imgW="558800" imgH="228600" progId="Equation.3">
                  <p:embed/>
                </p:oleObj>
              </mc:Choice>
              <mc:Fallback>
                <p:oleObj name="公式" r:id="rId11" imgW="558800" imgH="228600" progId="Equation.3">
                  <p:embed/>
                  <p:pic>
                    <p:nvPicPr>
                      <p:cNvPr id="1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4263" y="4056063"/>
                        <a:ext cx="11969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4892675" y="4021138"/>
            <a:ext cx="25923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>
                <a:solidFill>
                  <a:schemeClr val="bg1"/>
                </a:solidFill>
              </a:rPr>
              <a:t>可得 </a:t>
            </a:r>
            <a:r>
              <a:rPr lang="en-US" altLang="zh-CN" i="1" kern="0">
                <a:solidFill>
                  <a:schemeClr val="bg1"/>
                </a:solidFill>
              </a:rPr>
              <a:t>C</a:t>
            </a:r>
            <a:r>
              <a:rPr lang="en-US" altLang="zh-CN" kern="0" baseline="-25000">
                <a:solidFill>
                  <a:schemeClr val="bg1"/>
                </a:solidFill>
              </a:rPr>
              <a:t>2</a:t>
            </a:r>
            <a:r>
              <a:rPr lang="en-US" altLang="zh-CN" kern="0">
                <a:solidFill>
                  <a:schemeClr val="bg1"/>
                </a:solidFill>
              </a:rPr>
              <a:t> = 0</a:t>
            </a:r>
            <a:r>
              <a:rPr lang="zh-CN" altLang="en-US" kern="0">
                <a:solidFill>
                  <a:schemeClr val="bg1"/>
                </a:solidFill>
              </a:rPr>
              <a:t>，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6948488" y="4049713"/>
            <a:ext cx="348932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kern="0" dirty="0">
                <a:solidFill>
                  <a:schemeClr val="bg1"/>
                </a:solidFill>
              </a:rPr>
              <a:t>于是所求方程为</a:t>
            </a:r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971576"/>
              </p:ext>
            </p:extLst>
          </p:nvPr>
        </p:nvGraphicFramePr>
        <p:xfrm>
          <a:off x="4557713" y="4548188"/>
          <a:ext cx="22828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公式" r:id="rId13" imgW="1066800" imgH="419100" progId="Equation.3">
                  <p:embed/>
                </p:oleObj>
              </mc:Choice>
              <mc:Fallback>
                <p:oleObj name="公式" r:id="rId13" imgW="1066800" imgH="419100" progId="Equation.3">
                  <p:embed/>
                  <p:pic>
                    <p:nvPicPr>
                      <p:cNvPr id="1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4548188"/>
                        <a:ext cx="22828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1641475" y="5457825"/>
            <a:ext cx="34559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该曲线叫做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悬链线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908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hlinkClick r:id="" action="ppaction://ole?verb=0"/>
            <a:extLst>
              <a:ext uri="{FF2B5EF4-FFF2-40B4-BE49-F238E27FC236}">
                <a16:creationId xmlns:a16="http://schemas.microsoft.com/office/drawing/2014/main" id="{9B970A82-580C-44CE-B6A8-42E9C0B6D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7393016"/>
              </p:ext>
            </p:extLst>
          </p:nvPr>
        </p:nvGraphicFramePr>
        <p:xfrm>
          <a:off x="781050" y="527050"/>
          <a:ext cx="10466388" cy="580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Presentation" r:id="rId3" imgW="5472768" imgH="3078471" progId="PowerPoint.Show.8">
                  <p:embed/>
                </p:oleObj>
              </mc:Choice>
              <mc:Fallback>
                <p:oleObj name="Presentation" r:id="rId3" imgW="5472768" imgH="3078471" progId="PowerPoint.Show.8">
                  <p:embed/>
                  <p:pic>
                    <p:nvPicPr>
                      <p:cNvPr id="3" name="对象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175B6BE-A006-469A-979A-D7D8D2DBC0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050" y="527050"/>
                        <a:ext cx="10466388" cy="580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370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96510" y="444500"/>
            <a:ext cx="1981200" cy="762000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sz="32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内容小结</a:t>
            </a:r>
            <a:endParaRPr lang="zh-CN" altLang="en-US" sz="3200" b="1" dirty="0">
              <a:solidFill>
                <a:srgbClr val="FF3300"/>
              </a:solidFill>
              <a:ea typeface="仿宋_GB2312" pitchFamily="49" charset="-122"/>
            </a:endParaRP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872710" y="1195001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可降阶微分方程的解法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4606510" y="11950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—— </a:t>
            </a:r>
            <a:r>
              <a:rPr kumimoji="1"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降阶法</a:t>
            </a: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540552"/>
              </p:ext>
            </p:extLst>
          </p:nvPr>
        </p:nvGraphicFramePr>
        <p:xfrm>
          <a:off x="1779173" y="1847463"/>
          <a:ext cx="2273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" name="Equation" r:id="rId4" imgW="2273040" imgH="507960" progId="Equation.DSMT4">
                  <p:embed/>
                </p:oleObj>
              </mc:Choice>
              <mc:Fallback>
                <p:oleObj name="Equation" r:id="rId4" imgW="2273040" imgH="507960" progId="Equation.DSMT4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173" y="1847463"/>
                        <a:ext cx="2273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4606510" y="1881593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逐次积分</a:t>
            </a:r>
          </a:p>
        </p:txBody>
      </p:sp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9286"/>
              </p:ext>
            </p:extLst>
          </p:nvPr>
        </p:nvGraphicFramePr>
        <p:xfrm>
          <a:off x="1726785" y="2983788"/>
          <a:ext cx="252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7" name="Equation" r:id="rId6" imgW="2527200" imgH="419040" progId="Equation.3">
                  <p:embed/>
                </p:oleObj>
              </mc:Choice>
              <mc:Fallback>
                <p:oleObj name="Equation" r:id="rId6" imgW="2527200" imgH="419040" progId="Equation.3">
                  <p:embed/>
                  <p:pic>
                    <p:nvPicPr>
                      <p:cNvPr id="245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785" y="2983788"/>
                        <a:ext cx="2527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2231610" y="3517189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98739"/>
              </p:ext>
            </p:extLst>
          </p:nvPr>
        </p:nvGraphicFramePr>
        <p:xfrm>
          <a:off x="2739610" y="3555288"/>
          <a:ext cx="1549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8" name="Equation" r:id="rId8" imgW="1549080" imgH="419040" progId="Equation.3">
                  <p:embed/>
                </p:oleObj>
              </mc:Choice>
              <mc:Fallback>
                <p:oleObj name="Equation" r:id="rId8" imgW="1549080" imgH="419040" progId="Equation.3">
                  <p:embed/>
                  <p:pic>
                    <p:nvPicPr>
                      <p:cNvPr id="245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9610" y="3555288"/>
                        <a:ext cx="1549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70537"/>
              </p:ext>
            </p:extLst>
          </p:nvPr>
        </p:nvGraphicFramePr>
        <p:xfrm>
          <a:off x="4441410" y="3377488"/>
          <a:ext cx="15621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9" name="Equation" r:id="rId10" imgW="1562040" imgH="927000" progId="Equation.3">
                  <p:embed/>
                </p:oleObj>
              </mc:Choice>
              <mc:Fallback>
                <p:oleObj name="Equation" r:id="rId10" imgW="1562040" imgH="927000" progId="Equation.3">
                  <p:embed/>
                  <p:pic>
                    <p:nvPicPr>
                      <p:cNvPr id="2458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410" y="3377488"/>
                        <a:ext cx="15621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902491"/>
              </p:ext>
            </p:extLst>
          </p:nvPr>
        </p:nvGraphicFramePr>
        <p:xfrm>
          <a:off x="1696623" y="4504898"/>
          <a:ext cx="254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0" name="Equation" r:id="rId12" imgW="2539800" imgH="419040" progId="Equation.3">
                  <p:embed/>
                </p:oleObj>
              </mc:Choice>
              <mc:Fallback>
                <p:oleObj name="Equation" r:id="rId12" imgW="2539800" imgH="419040" progId="Equation.3">
                  <p:embed/>
                  <p:pic>
                    <p:nvPicPr>
                      <p:cNvPr id="245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6623" y="4504898"/>
                        <a:ext cx="2540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2155410" y="5038299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graphicFrame>
        <p:nvGraphicFramePr>
          <p:cNvPr id="245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064145"/>
              </p:ext>
            </p:extLst>
          </p:nvPr>
        </p:nvGraphicFramePr>
        <p:xfrm>
          <a:off x="2661823" y="5112911"/>
          <a:ext cx="157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1" name="Equation" r:id="rId14" imgW="1574640" imgH="419040" progId="Equation.3">
                  <p:embed/>
                </p:oleObj>
              </mc:Choice>
              <mc:Fallback>
                <p:oleObj name="Equation" r:id="rId14" imgW="1574640" imgH="419040" progId="Equation.3">
                  <p:embed/>
                  <p:pic>
                    <p:nvPicPr>
                      <p:cNvPr id="2459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823" y="5112911"/>
                        <a:ext cx="157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324836"/>
              </p:ext>
            </p:extLst>
          </p:nvPr>
        </p:nvGraphicFramePr>
        <p:xfrm>
          <a:off x="4278224" y="4924425"/>
          <a:ext cx="35575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" name="Equation" r:id="rId16" imgW="1523880" imgH="431640" progId="Equation.DSMT4">
                  <p:embed/>
                </p:oleObj>
              </mc:Choice>
              <mc:Fallback>
                <p:oleObj name="Equation" r:id="rId16" imgW="1523880" imgH="431640" progId="Equation.DSMT4">
                  <p:embed/>
                  <p:pic>
                    <p:nvPicPr>
                      <p:cNvPr id="2459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224" y="4924425"/>
                        <a:ext cx="3557588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7863277" y="5062904"/>
            <a:ext cx="16758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latin typeface="Times New Roman" panose="02020603050405020304" pitchFamily="18" charset="0"/>
                <a:ea typeface="楷体_GB2312" pitchFamily="49" charset="-122"/>
              </a:rPr>
              <a:t>方程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化为</a:t>
            </a:r>
          </a:p>
        </p:txBody>
      </p:sp>
      <p:graphicFrame>
        <p:nvGraphicFramePr>
          <p:cNvPr id="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61648"/>
              </p:ext>
            </p:extLst>
          </p:nvPr>
        </p:nvGraphicFramePr>
        <p:xfrm>
          <a:off x="9423521" y="4834305"/>
          <a:ext cx="223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3" name="Equation" r:id="rId18" imgW="2234880" imgH="927000" progId="Equation.3">
                  <p:embed/>
                </p:oleObj>
              </mc:Choice>
              <mc:Fallback>
                <p:oleObj name="Equation" r:id="rId18" imgW="2234880" imgH="927000" progId="Equation.3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3521" y="4834305"/>
                        <a:ext cx="223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277546"/>
              </p:ext>
            </p:extLst>
          </p:nvPr>
        </p:nvGraphicFramePr>
        <p:xfrm>
          <a:off x="6476162" y="3555288"/>
          <a:ext cx="34099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4" name="Equation" r:id="rId20" imgW="1447560" imgH="215640" progId="Equation.DSMT4">
                  <p:embed/>
                </p:oleObj>
              </mc:Choice>
              <mc:Fallback>
                <p:oleObj name="Equation" r:id="rId20" imgW="1447560" imgH="215640" progId="Equation.DSMT4">
                  <p:embed/>
                  <p:pic>
                    <p:nvPicPr>
                      <p:cNvPr id="112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162" y="3555288"/>
                        <a:ext cx="34099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78539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utoUpdateAnimBg="0"/>
      <p:bldP spid="24582" grpId="0" autoUpdateAnimBg="0"/>
      <p:bldP spid="24584" grpId="0" autoUpdateAnimBg="0"/>
      <p:bldP spid="24586" grpId="0" autoUpdateAnimBg="0"/>
      <p:bldP spid="24591" grpId="0" autoUpdateAnimBg="0"/>
      <p:bldP spid="3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2438400" y="1676401"/>
            <a:ext cx="7239000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 </a:t>
            </a:r>
            <a:r>
              <a:rPr kumimoji="1"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3600" dirty="0" smtClean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P236     1 </a:t>
            </a:r>
            <a:r>
              <a:rPr kumimoji="1"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(1) , </a:t>
            </a:r>
            <a:r>
              <a:rPr kumimoji="1" lang="en-US" altLang="zh-CN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(3) </a:t>
            </a:r>
            <a:r>
              <a:rPr kumimoji="1"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, </a:t>
            </a:r>
            <a:r>
              <a:rPr kumimoji="1" lang="en-US" altLang="zh-CN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(6)</a:t>
            </a:r>
            <a:r>
              <a:rPr kumimoji="1" lang="en-US" altLang="zh-CN" sz="3600" dirty="0" smtClean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;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             </a:t>
            </a:r>
            <a:r>
              <a:rPr kumimoji="1" lang="en-US" altLang="zh-CN" sz="3600" dirty="0" smtClean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 2 </a:t>
            </a:r>
            <a:r>
              <a:rPr kumimoji="1" lang="en-US" altLang="zh-CN" sz="2800" dirty="0" smtClean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(1) </a:t>
            </a:r>
            <a:r>
              <a:rPr kumimoji="1"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;           </a:t>
            </a:r>
          </a:p>
        </p:txBody>
      </p:sp>
      <p:sp>
        <p:nvSpPr>
          <p:cNvPr id="58390" name="Rectangle 22"/>
          <p:cNvSpPr>
            <a:spLocks noGrp="1" noChangeArrowheads="1"/>
          </p:cNvSpPr>
          <p:nvPr>
            <p:ph type="title"/>
          </p:nvPr>
        </p:nvSpPr>
        <p:spPr>
          <a:xfrm>
            <a:off x="4648200" y="685800"/>
            <a:ext cx="16002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  <a:ea typeface="楷体_GB2312" pitchFamily="49" charset="-122"/>
              </a:rPr>
              <a:t>作业</a:t>
            </a:r>
            <a:r>
              <a:rPr lang="zh-CN" altLang="en-US" sz="4000" dirty="0">
                <a:solidFill>
                  <a:schemeClr val="bg1"/>
                </a:solidFill>
                <a:ea typeface="仿宋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20246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https://hbimg.huabanimg.com/b96de12fa5dba823666af6d770da122a48d93bb01549e-57PAF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" y="34590"/>
            <a:ext cx="12192000" cy="686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-166003" y="-87493"/>
            <a:ext cx="12365622" cy="6959599"/>
            <a:chOff x="-127322" y="-50800"/>
            <a:chExt cx="12365622" cy="6959599"/>
          </a:xfrm>
        </p:grpSpPr>
        <p:sp>
          <p:nvSpPr>
            <p:cNvPr id="3" name="矩形: 圆角 16">
              <a:extLst>
                <a:ext uri="{FF2B5EF4-FFF2-40B4-BE49-F238E27FC236}">
                  <a16:creationId xmlns:a16="http://schemas.microsoft.com/office/drawing/2014/main" id="{51361C5B-6E6E-42D2-A84D-60AA9BFD82B2}"/>
                </a:ext>
              </a:extLst>
            </p:cNvPr>
            <p:cNvSpPr/>
            <p:nvPr/>
          </p:nvSpPr>
          <p:spPr>
            <a:xfrm>
              <a:off x="0" y="-50799"/>
              <a:ext cx="12192000" cy="690879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">
                  <a:srgbClr val="00003A"/>
                </a:gs>
                <a:gs pos="71000">
                  <a:srgbClr val="0063AC">
                    <a:alpha val="60000"/>
                  </a:srgbClr>
                </a:gs>
                <a:gs pos="40000">
                  <a:srgbClr val="084098">
                    <a:alpha val="92000"/>
                  </a:srgbClr>
                </a:gs>
                <a:gs pos="91000">
                  <a:srgbClr val="0072BC">
                    <a:alpha val="0"/>
                  </a:srgbClr>
                </a:gs>
              </a:gsLst>
              <a:lin ang="4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Rounded Book"/>
                <a:ea typeface="思源黑体 CN Regular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-127322" y="-50800"/>
              <a:ext cx="12365622" cy="6959599"/>
            </a:xfrm>
            <a:prstGeom prst="rect">
              <a:avLst/>
            </a:prstGeom>
            <a:gradFill flip="none" rotWithShape="1">
              <a:gsLst>
                <a:gs pos="0">
                  <a:srgbClr val="0072BC">
                    <a:alpha val="0"/>
                  </a:srgbClr>
                </a:gs>
                <a:gs pos="38000">
                  <a:srgbClr val="084098">
                    <a:alpha val="0"/>
                  </a:srgbClr>
                </a:gs>
                <a:gs pos="76000">
                  <a:srgbClr val="00003A">
                    <a:alpha val="71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86141" y="2156713"/>
            <a:ext cx="3839173" cy="1619434"/>
            <a:chOff x="4770777" y="2563691"/>
            <a:chExt cx="2650446" cy="1118007"/>
          </a:xfrm>
        </p:grpSpPr>
        <p:sp>
          <p:nvSpPr>
            <p:cNvPr id="6" name="任意多边形: 形状 81">
              <a:extLst>
                <a:ext uri="{FF2B5EF4-FFF2-40B4-BE49-F238E27FC236}">
                  <a16:creationId xmlns:a16="http://schemas.microsoft.com/office/drawing/2014/main" id="{2479DF4E-9948-4FA5-A7F9-89ED8712CE7F}"/>
                </a:ext>
              </a:extLst>
            </p:cNvPr>
            <p:cNvSpPr/>
            <p:nvPr/>
          </p:nvSpPr>
          <p:spPr>
            <a:xfrm>
              <a:off x="4991452" y="2563691"/>
              <a:ext cx="814598" cy="1118007"/>
            </a:xfrm>
            <a:custGeom>
              <a:avLst/>
              <a:gdLst/>
              <a:ahLst/>
              <a:cxnLst/>
              <a:rect l="l" t="t" r="r" b="b"/>
              <a:pathLst>
                <a:path w="814598" h="1118007">
                  <a:moveTo>
                    <a:pt x="525419" y="0"/>
                  </a:moveTo>
                  <a:lnTo>
                    <a:pt x="757067" y="0"/>
                  </a:lnTo>
                  <a:lnTo>
                    <a:pt x="717061" y="89002"/>
                  </a:lnTo>
                  <a:lnTo>
                    <a:pt x="814598" y="89002"/>
                  </a:lnTo>
                  <a:lnTo>
                    <a:pt x="464897" y="1118007"/>
                  </a:lnTo>
                  <a:lnTo>
                    <a:pt x="219837" y="1118007"/>
                  </a:lnTo>
                  <a:lnTo>
                    <a:pt x="256775" y="998525"/>
                  </a:lnTo>
                  <a:lnTo>
                    <a:pt x="175565" y="1111911"/>
                  </a:lnTo>
                  <a:lnTo>
                    <a:pt x="0" y="1111911"/>
                  </a:lnTo>
                  <a:lnTo>
                    <a:pt x="58008" y="941223"/>
                  </a:lnTo>
                  <a:lnTo>
                    <a:pt x="95803" y="941223"/>
                  </a:lnTo>
                  <a:lnTo>
                    <a:pt x="208560" y="788823"/>
                  </a:lnTo>
                  <a:lnTo>
                    <a:pt x="109805" y="788823"/>
                  </a:lnTo>
                  <a:lnTo>
                    <a:pt x="164097" y="629107"/>
                  </a:lnTo>
                  <a:lnTo>
                    <a:pt x="184824" y="629107"/>
                  </a:lnTo>
                  <a:lnTo>
                    <a:pt x="369608" y="85344"/>
                  </a:lnTo>
                  <a:lnTo>
                    <a:pt x="485433" y="85344"/>
                  </a:lnTo>
                  <a:lnTo>
                    <a:pt x="525419" y="0"/>
                  </a:lnTo>
                  <a:close/>
                  <a:moveTo>
                    <a:pt x="498348" y="223114"/>
                  </a:moveTo>
                  <a:lnTo>
                    <a:pt x="483432" y="267005"/>
                  </a:lnTo>
                  <a:lnTo>
                    <a:pt x="569996" y="267005"/>
                  </a:lnTo>
                  <a:lnTo>
                    <a:pt x="584912" y="223114"/>
                  </a:lnTo>
                  <a:lnTo>
                    <a:pt x="498348" y="223114"/>
                  </a:lnTo>
                  <a:close/>
                  <a:moveTo>
                    <a:pt x="439103" y="397459"/>
                  </a:moveTo>
                  <a:lnTo>
                    <a:pt x="423768" y="442570"/>
                  </a:lnTo>
                  <a:lnTo>
                    <a:pt x="510331" y="442570"/>
                  </a:lnTo>
                  <a:lnTo>
                    <a:pt x="525666" y="397459"/>
                  </a:lnTo>
                  <a:lnTo>
                    <a:pt x="439103" y="397459"/>
                  </a:lnTo>
                  <a:close/>
                  <a:moveTo>
                    <a:pt x="379019" y="574243"/>
                  </a:moveTo>
                  <a:lnTo>
                    <a:pt x="360388" y="629107"/>
                  </a:lnTo>
                  <a:lnTo>
                    <a:pt x="446951" y="629107"/>
                  </a:lnTo>
                  <a:lnTo>
                    <a:pt x="465582" y="574243"/>
                  </a:lnTo>
                  <a:lnTo>
                    <a:pt x="379019" y="574243"/>
                  </a:lnTo>
                  <a:close/>
                  <a:moveTo>
                    <a:pt x="378581" y="830275"/>
                  </a:moveTo>
                  <a:lnTo>
                    <a:pt x="298190" y="941223"/>
                  </a:lnTo>
                  <a:lnTo>
                    <a:pt x="340862" y="941223"/>
                  </a:lnTo>
                  <a:lnTo>
                    <a:pt x="378581" y="830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任意多边形: 形状 80">
              <a:extLst>
                <a:ext uri="{FF2B5EF4-FFF2-40B4-BE49-F238E27FC236}">
                  <a16:creationId xmlns:a16="http://schemas.microsoft.com/office/drawing/2014/main" id="{CA53E22B-3456-4D36-8322-3B0838905AD0}"/>
                </a:ext>
              </a:extLst>
            </p:cNvPr>
            <p:cNvSpPr/>
            <p:nvPr/>
          </p:nvSpPr>
          <p:spPr>
            <a:xfrm>
              <a:off x="6210652" y="2563691"/>
              <a:ext cx="814597" cy="1118007"/>
            </a:xfrm>
            <a:custGeom>
              <a:avLst/>
              <a:gdLst/>
              <a:ahLst/>
              <a:cxnLst/>
              <a:rect l="l" t="t" r="r" b="b"/>
              <a:pathLst>
                <a:path w="814597" h="1118007">
                  <a:moveTo>
                    <a:pt x="525418" y="0"/>
                  </a:moveTo>
                  <a:lnTo>
                    <a:pt x="757066" y="0"/>
                  </a:lnTo>
                  <a:lnTo>
                    <a:pt x="717061" y="89002"/>
                  </a:lnTo>
                  <a:lnTo>
                    <a:pt x="814597" y="89002"/>
                  </a:lnTo>
                  <a:lnTo>
                    <a:pt x="464897" y="1118007"/>
                  </a:lnTo>
                  <a:lnTo>
                    <a:pt x="219837" y="1118007"/>
                  </a:lnTo>
                  <a:lnTo>
                    <a:pt x="256775" y="998525"/>
                  </a:lnTo>
                  <a:lnTo>
                    <a:pt x="175565" y="1111911"/>
                  </a:lnTo>
                  <a:lnTo>
                    <a:pt x="0" y="1111911"/>
                  </a:lnTo>
                  <a:lnTo>
                    <a:pt x="58008" y="941223"/>
                  </a:lnTo>
                  <a:lnTo>
                    <a:pt x="95803" y="941223"/>
                  </a:lnTo>
                  <a:lnTo>
                    <a:pt x="208560" y="788823"/>
                  </a:lnTo>
                  <a:lnTo>
                    <a:pt x="109805" y="788823"/>
                  </a:lnTo>
                  <a:lnTo>
                    <a:pt x="164097" y="629107"/>
                  </a:lnTo>
                  <a:lnTo>
                    <a:pt x="184824" y="629107"/>
                  </a:lnTo>
                  <a:lnTo>
                    <a:pt x="369608" y="85344"/>
                  </a:lnTo>
                  <a:lnTo>
                    <a:pt x="485432" y="85344"/>
                  </a:lnTo>
                  <a:lnTo>
                    <a:pt x="525418" y="0"/>
                  </a:lnTo>
                  <a:close/>
                  <a:moveTo>
                    <a:pt x="498348" y="223114"/>
                  </a:moveTo>
                  <a:lnTo>
                    <a:pt x="483432" y="267005"/>
                  </a:lnTo>
                  <a:lnTo>
                    <a:pt x="569995" y="267005"/>
                  </a:lnTo>
                  <a:lnTo>
                    <a:pt x="584912" y="223114"/>
                  </a:lnTo>
                  <a:lnTo>
                    <a:pt x="498348" y="223114"/>
                  </a:lnTo>
                  <a:close/>
                  <a:moveTo>
                    <a:pt x="439103" y="397459"/>
                  </a:moveTo>
                  <a:lnTo>
                    <a:pt x="423768" y="442570"/>
                  </a:lnTo>
                  <a:lnTo>
                    <a:pt x="510331" y="442570"/>
                  </a:lnTo>
                  <a:lnTo>
                    <a:pt x="525666" y="397459"/>
                  </a:lnTo>
                  <a:lnTo>
                    <a:pt x="439103" y="397459"/>
                  </a:lnTo>
                  <a:close/>
                  <a:moveTo>
                    <a:pt x="379019" y="574243"/>
                  </a:moveTo>
                  <a:lnTo>
                    <a:pt x="360388" y="629107"/>
                  </a:lnTo>
                  <a:lnTo>
                    <a:pt x="446952" y="629107"/>
                  </a:lnTo>
                  <a:lnTo>
                    <a:pt x="465582" y="574243"/>
                  </a:lnTo>
                  <a:lnTo>
                    <a:pt x="379019" y="574243"/>
                  </a:lnTo>
                  <a:close/>
                  <a:moveTo>
                    <a:pt x="378581" y="830275"/>
                  </a:moveTo>
                  <a:lnTo>
                    <a:pt x="298190" y="941223"/>
                  </a:lnTo>
                  <a:lnTo>
                    <a:pt x="340862" y="941223"/>
                  </a:lnTo>
                  <a:lnTo>
                    <a:pt x="378581" y="8302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任意多边形: 形状 79">
              <a:extLst>
                <a:ext uri="{FF2B5EF4-FFF2-40B4-BE49-F238E27FC236}">
                  <a16:creationId xmlns:a16="http://schemas.microsoft.com/office/drawing/2014/main" id="{0212B1DD-797F-4E79-B4BD-888360466A47}"/>
                </a:ext>
              </a:extLst>
            </p:cNvPr>
            <p:cNvSpPr/>
            <p:nvPr/>
          </p:nvSpPr>
          <p:spPr>
            <a:xfrm>
              <a:off x="5055480" y="2564910"/>
              <a:ext cx="262242" cy="265786"/>
            </a:xfrm>
            <a:custGeom>
              <a:avLst/>
              <a:gdLst/>
              <a:ahLst/>
              <a:cxnLst/>
              <a:rect l="l" t="t" r="r" b="b"/>
              <a:pathLst>
                <a:path w="262242" h="265786">
                  <a:moveTo>
                    <a:pt x="57416" y="0"/>
                  </a:moveTo>
                  <a:lnTo>
                    <a:pt x="262242" y="0"/>
                  </a:lnTo>
                  <a:lnTo>
                    <a:pt x="207263" y="265786"/>
                  </a:lnTo>
                  <a:lnTo>
                    <a:pt x="0" y="265786"/>
                  </a:lnTo>
                  <a:lnTo>
                    <a:pt x="5741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任意多边形: 形状 78">
              <a:extLst>
                <a:ext uri="{FF2B5EF4-FFF2-40B4-BE49-F238E27FC236}">
                  <a16:creationId xmlns:a16="http://schemas.microsoft.com/office/drawing/2014/main" id="{9BB59066-A7D5-4EF2-9948-EAEEB6D96C84}"/>
                </a:ext>
              </a:extLst>
            </p:cNvPr>
            <p:cNvSpPr/>
            <p:nvPr/>
          </p:nvSpPr>
          <p:spPr>
            <a:xfrm>
              <a:off x="6274680" y="2564910"/>
              <a:ext cx="262243" cy="265786"/>
            </a:xfrm>
            <a:custGeom>
              <a:avLst/>
              <a:gdLst/>
              <a:ahLst/>
              <a:cxnLst/>
              <a:rect l="l" t="t" r="r" b="b"/>
              <a:pathLst>
                <a:path w="262243" h="265786">
                  <a:moveTo>
                    <a:pt x="57417" y="0"/>
                  </a:moveTo>
                  <a:lnTo>
                    <a:pt x="262243" y="0"/>
                  </a:lnTo>
                  <a:lnTo>
                    <a:pt x="207264" y="265786"/>
                  </a:lnTo>
                  <a:lnTo>
                    <a:pt x="0" y="265786"/>
                  </a:lnTo>
                  <a:lnTo>
                    <a:pt x="5741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任意多边形: 形状 77">
              <a:extLst>
                <a:ext uri="{FF2B5EF4-FFF2-40B4-BE49-F238E27FC236}">
                  <a16:creationId xmlns:a16="http://schemas.microsoft.com/office/drawing/2014/main" id="{5384D700-AFC6-43C1-8297-3478892FFF96}"/>
                </a:ext>
              </a:extLst>
            </p:cNvPr>
            <p:cNvSpPr/>
            <p:nvPr/>
          </p:nvSpPr>
          <p:spPr>
            <a:xfrm>
              <a:off x="5507555" y="2567349"/>
              <a:ext cx="694468" cy="1114349"/>
            </a:xfrm>
            <a:custGeom>
              <a:avLst/>
              <a:gdLst/>
              <a:ahLst/>
              <a:cxnLst/>
              <a:rect l="l" t="t" r="r" b="b"/>
              <a:pathLst>
                <a:path w="694468" h="1114349">
                  <a:moveTo>
                    <a:pt x="490861" y="0"/>
                  </a:moveTo>
                  <a:lnTo>
                    <a:pt x="694468" y="0"/>
                  </a:lnTo>
                  <a:lnTo>
                    <a:pt x="642690" y="152400"/>
                  </a:lnTo>
                  <a:lnTo>
                    <a:pt x="684143" y="152400"/>
                  </a:lnTo>
                  <a:lnTo>
                    <a:pt x="620325" y="340157"/>
                  </a:lnTo>
                  <a:lnTo>
                    <a:pt x="578872" y="340157"/>
                  </a:lnTo>
                  <a:lnTo>
                    <a:pt x="315773" y="1114349"/>
                  </a:lnTo>
                  <a:lnTo>
                    <a:pt x="0" y="1114349"/>
                  </a:lnTo>
                  <a:lnTo>
                    <a:pt x="50749" y="932688"/>
                  </a:lnTo>
                  <a:lnTo>
                    <a:pt x="173888" y="932688"/>
                  </a:lnTo>
                  <a:lnTo>
                    <a:pt x="221540" y="792480"/>
                  </a:lnTo>
                  <a:lnTo>
                    <a:pt x="87440" y="792480"/>
                  </a:lnTo>
                  <a:lnTo>
                    <a:pt x="195644" y="402336"/>
                  </a:lnTo>
                  <a:lnTo>
                    <a:pt x="327317" y="402336"/>
                  </a:lnTo>
                  <a:lnTo>
                    <a:pt x="221599" y="792305"/>
                  </a:lnTo>
                  <a:lnTo>
                    <a:pt x="375266" y="340157"/>
                  </a:lnTo>
                  <a:lnTo>
                    <a:pt x="222866" y="340157"/>
                  </a:lnTo>
                  <a:lnTo>
                    <a:pt x="286684" y="152400"/>
                  </a:lnTo>
                  <a:lnTo>
                    <a:pt x="439084" y="152400"/>
                  </a:lnTo>
                  <a:lnTo>
                    <a:pt x="49086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任意多边形: 形状 76">
              <a:extLst>
                <a:ext uri="{FF2B5EF4-FFF2-40B4-BE49-F238E27FC236}">
                  <a16:creationId xmlns:a16="http://schemas.microsoft.com/office/drawing/2014/main" id="{A6EC6683-5002-41CA-A1DE-7430A66D3C29}"/>
                </a:ext>
              </a:extLst>
            </p:cNvPr>
            <p:cNvSpPr/>
            <p:nvPr/>
          </p:nvSpPr>
          <p:spPr>
            <a:xfrm>
              <a:off x="6726755" y="2567349"/>
              <a:ext cx="694468" cy="1114349"/>
            </a:xfrm>
            <a:custGeom>
              <a:avLst/>
              <a:gdLst/>
              <a:ahLst/>
              <a:cxnLst/>
              <a:rect l="l" t="t" r="r" b="b"/>
              <a:pathLst>
                <a:path w="694468" h="1114349">
                  <a:moveTo>
                    <a:pt x="490861" y="0"/>
                  </a:moveTo>
                  <a:lnTo>
                    <a:pt x="694468" y="0"/>
                  </a:lnTo>
                  <a:lnTo>
                    <a:pt x="642690" y="152400"/>
                  </a:lnTo>
                  <a:lnTo>
                    <a:pt x="684143" y="152400"/>
                  </a:lnTo>
                  <a:lnTo>
                    <a:pt x="620325" y="340157"/>
                  </a:lnTo>
                  <a:lnTo>
                    <a:pt x="578872" y="340157"/>
                  </a:lnTo>
                  <a:lnTo>
                    <a:pt x="315773" y="1114349"/>
                  </a:lnTo>
                  <a:lnTo>
                    <a:pt x="0" y="1114349"/>
                  </a:lnTo>
                  <a:lnTo>
                    <a:pt x="50749" y="932688"/>
                  </a:lnTo>
                  <a:lnTo>
                    <a:pt x="173888" y="932688"/>
                  </a:lnTo>
                  <a:lnTo>
                    <a:pt x="221539" y="792480"/>
                  </a:lnTo>
                  <a:lnTo>
                    <a:pt x="87439" y="792480"/>
                  </a:lnTo>
                  <a:lnTo>
                    <a:pt x="195644" y="402336"/>
                  </a:lnTo>
                  <a:lnTo>
                    <a:pt x="327317" y="402336"/>
                  </a:lnTo>
                  <a:lnTo>
                    <a:pt x="221599" y="792305"/>
                  </a:lnTo>
                  <a:lnTo>
                    <a:pt x="375266" y="340157"/>
                  </a:lnTo>
                  <a:lnTo>
                    <a:pt x="222866" y="340157"/>
                  </a:lnTo>
                  <a:lnTo>
                    <a:pt x="286683" y="152400"/>
                  </a:lnTo>
                  <a:lnTo>
                    <a:pt x="439083" y="152400"/>
                  </a:lnTo>
                  <a:lnTo>
                    <a:pt x="490861" y="0"/>
                  </a:lnTo>
                  <a:close/>
                </a:path>
              </a:pathLst>
            </a:custGeom>
            <a:gradFill flip="none" rotWithShape="1">
              <a:gsLst>
                <a:gs pos="100000">
                  <a:schemeClr val="bg1">
                    <a:alpha val="0"/>
                  </a:schemeClr>
                </a:gs>
                <a:gs pos="52000">
                  <a:schemeClr val="bg1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任意多边形: 形状 75">
              <a:extLst>
                <a:ext uri="{FF2B5EF4-FFF2-40B4-BE49-F238E27FC236}">
                  <a16:creationId xmlns:a16="http://schemas.microsoft.com/office/drawing/2014/main" id="{7A66BCDD-251A-4395-A0A6-ECF12F8434AC}"/>
                </a:ext>
              </a:extLst>
            </p:cNvPr>
            <p:cNvSpPr/>
            <p:nvPr/>
          </p:nvSpPr>
          <p:spPr>
            <a:xfrm>
              <a:off x="4770777" y="2870930"/>
              <a:ext cx="468554" cy="804672"/>
            </a:xfrm>
            <a:custGeom>
              <a:avLst/>
              <a:gdLst/>
              <a:ahLst/>
              <a:cxnLst/>
              <a:rect l="l" t="t" r="r" b="b"/>
              <a:pathLst>
                <a:path w="468554" h="804672">
                  <a:moveTo>
                    <a:pt x="228372" y="0"/>
                  </a:moveTo>
                  <a:lnTo>
                    <a:pt x="468554" y="0"/>
                  </a:lnTo>
                  <a:lnTo>
                    <a:pt x="269672" y="585216"/>
                  </a:lnTo>
                  <a:lnTo>
                    <a:pt x="295275" y="585216"/>
                  </a:lnTo>
                  <a:lnTo>
                    <a:pt x="209703" y="804672"/>
                  </a:lnTo>
                  <a:lnTo>
                    <a:pt x="0" y="804672"/>
                  </a:lnTo>
                  <a:lnTo>
                    <a:pt x="201797" y="210921"/>
                  </a:lnTo>
                  <a:lnTo>
                    <a:pt x="156686" y="210921"/>
                  </a:lnTo>
                  <a:lnTo>
                    <a:pt x="228372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任意多边形: 形状 74">
              <a:extLst>
                <a:ext uri="{FF2B5EF4-FFF2-40B4-BE49-F238E27FC236}">
                  <a16:creationId xmlns:a16="http://schemas.microsoft.com/office/drawing/2014/main" id="{3D3BA081-1975-4F85-B532-DD659860F411}"/>
                </a:ext>
              </a:extLst>
            </p:cNvPr>
            <p:cNvSpPr/>
            <p:nvPr/>
          </p:nvSpPr>
          <p:spPr>
            <a:xfrm>
              <a:off x="5989977" y="2870930"/>
              <a:ext cx="468554" cy="804672"/>
            </a:xfrm>
            <a:custGeom>
              <a:avLst/>
              <a:gdLst/>
              <a:ahLst/>
              <a:cxnLst/>
              <a:rect l="l" t="t" r="r" b="b"/>
              <a:pathLst>
                <a:path w="468554" h="804672">
                  <a:moveTo>
                    <a:pt x="228372" y="0"/>
                  </a:moveTo>
                  <a:lnTo>
                    <a:pt x="468554" y="0"/>
                  </a:lnTo>
                  <a:lnTo>
                    <a:pt x="269672" y="585216"/>
                  </a:lnTo>
                  <a:lnTo>
                    <a:pt x="295275" y="585216"/>
                  </a:lnTo>
                  <a:lnTo>
                    <a:pt x="209703" y="804672"/>
                  </a:lnTo>
                  <a:lnTo>
                    <a:pt x="0" y="804672"/>
                  </a:lnTo>
                  <a:lnTo>
                    <a:pt x="201797" y="210921"/>
                  </a:lnTo>
                  <a:lnTo>
                    <a:pt x="156687" y="210921"/>
                  </a:lnTo>
                  <a:lnTo>
                    <a:pt x="22837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5FDE679-FD78-4F85-ABC6-764214388045}"/>
              </a:ext>
            </a:extLst>
          </p:cNvPr>
          <p:cNvGrpSpPr/>
          <p:nvPr/>
        </p:nvGrpSpPr>
        <p:grpSpPr>
          <a:xfrm>
            <a:off x="5167378" y="2054667"/>
            <a:ext cx="5670490" cy="190500"/>
            <a:chOff x="3358495" y="2159000"/>
            <a:chExt cx="5670490" cy="190500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40B6635-2B48-4DDE-BE26-58BD5C512A50}"/>
                </a:ext>
              </a:extLst>
            </p:cNvPr>
            <p:cNvCxnSpPr>
              <a:cxnSpLocks/>
            </p:cNvCxnSpPr>
            <p:nvPr/>
          </p:nvCxnSpPr>
          <p:spPr>
            <a:xfrm>
              <a:off x="3358495" y="2159000"/>
              <a:ext cx="3018571" cy="1586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904BB60-A8C3-400A-BD91-58BDC73EF481}"/>
                </a:ext>
              </a:extLst>
            </p:cNvPr>
            <p:cNvCxnSpPr>
              <a:cxnSpLocks/>
            </p:cNvCxnSpPr>
            <p:nvPr/>
          </p:nvCxnSpPr>
          <p:spPr>
            <a:xfrm>
              <a:off x="6565185" y="2349500"/>
              <a:ext cx="24638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72000">
                    <a:srgbClr val="0082D2">
                      <a:alpha val="49000"/>
                    </a:srgbClr>
                  </a:gs>
                </a:gsLst>
                <a:lin ang="0" scaled="1"/>
                <a:tileRect/>
              </a:gra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4F0BB6B-28A9-40CE-87ED-71E01CC7715A}"/>
                </a:ext>
              </a:extLst>
            </p:cNvPr>
            <p:cNvCxnSpPr>
              <a:cxnSpLocks/>
            </p:cNvCxnSpPr>
            <p:nvPr/>
          </p:nvCxnSpPr>
          <p:spPr>
            <a:xfrm>
              <a:off x="6374685" y="2159000"/>
              <a:ext cx="190500" cy="19050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5CF1336-DF70-4F08-BF8F-6D90A9FED702}"/>
              </a:ext>
            </a:extLst>
          </p:cNvPr>
          <p:cNvGrpSpPr/>
          <p:nvPr/>
        </p:nvGrpSpPr>
        <p:grpSpPr>
          <a:xfrm flipH="1">
            <a:off x="1509654" y="3905261"/>
            <a:ext cx="6012691" cy="190500"/>
            <a:chOff x="3016294" y="2159000"/>
            <a:chExt cx="6012691" cy="190500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899BC5C-4E74-4935-9A42-9412BBC3BF86}"/>
                </a:ext>
              </a:extLst>
            </p:cNvPr>
            <p:cNvCxnSpPr>
              <a:cxnSpLocks/>
            </p:cNvCxnSpPr>
            <p:nvPr/>
          </p:nvCxnSpPr>
          <p:spPr>
            <a:xfrm>
              <a:off x="3016294" y="2160586"/>
              <a:ext cx="3360772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42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B0543839-0C6A-4F89-91AE-0CF4870CEE2E}"/>
                </a:ext>
              </a:extLst>
            </p:cNvPr>
            <p:cNvCxnSpPr>
              <a:cxnSpLocks/>
            </p:cNvCxnSpPr>
            <p:nvPr/>
          </p:nvCxnSpPr>
          <p:spPr>
            <a:xfrm>
              <a:off x="6565185" y="2349500"/>
              <a:ext cx="2463800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bg1"/>
                  </a:gs>
                  <a:gs pos="100000">
                    <a:srgbClr val="0082D2">
                      <a:alpha val="48000"/>
                    </a:srgbClr>
                  </a:gs>
                </a:gsLst>
                <a:lin ang="0" scaled="1"/>
                <a:tileRect/>
              </a:gra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F71600B-5E3B-4E34-8F6D-1DFEEE4FB2BB}"/>
                </a:ext>
              </a:extLst>
            </p:cNvPr>
            <p:cNvCxnSpPr>
              <a:cxnSpLocks/>
            </p:cNvCxnSpPr>
            <p:nvPr/>
          </p:nvCxnSpPr>
          <p:spPr>
            <a:xfrm>
              <a:off x="6374685" y="2159000"/>
              <a:ext cx="190500" cy="1905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641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  <p:tag name="RESOURCELIBID_ANIM" val="46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12623</TotalTime>
  <Words>652</Words>
  <Application>Microsoft Office PowerPoint</Application>
  <PresentationFormat>宽屏</PresentationFormat>
  <Paragraphs>122</Paragraphs>
  <Slides>19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44" baseType="lpstr">
      <vt:lpstr>Gotham Rounded Book</vt:lpstr>
      <vt:lpstr>等线</vt:lpstr>
      <vt:lpstr>等线 Light</vt:lpstr>
      <vt:lpstr>仿宋_GB2312</vt:lpstr>
      <vt:lpstr>黑体</vt:lpstr>
      <vt:lpstr>华文新魏</vt:lpstr>
      <vt:lpstr>华文中宋</vt:lpstr>
      <vt:lpstr>楷体</vt:lpstr>
      <vt:lpstr>楷体_GB2312</vt:lpstr>
      <vt:lpstr>思源黑体 CN Regular</vt:lpstr>
      <vt:lpstr>宋体</vt:lpstr>
      <vt:lpstr>微软雅黑</vt:lpstr>
      <vt:lpstr>Arial</vt:lpstr>
      <vt:lpstr>Calibri</vt:lpstr>
      <vt:lpstr>Calibri Light</vt:lpstr>
      <vt:lpstr>Symbol</vt:lpstr>
      <vt:lpstr>Times New Roman</vt:lpstr>
      <vt:lpstr>Office 主题</vt:lpstr>
      <vt:lpstr>自定义设计方案</vt:lpstr>
      <vt:lpstr>1_Office 主题</vt:lpstr>
      <vt:lpstr>1_自定义设计方案</vt:lpstr>
      <vt:lpstr>公式</vt:lpstr>
      <vt:lpstr>Equation</vt:lpstr>
      <vt:lpstr>演示文稿</vt:lpstr>
      <vt:lpstr>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内容小结</vt:lpstr>
      <vt:lpstr> 作业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Tom</cp:lastModifiedBy>
  <cp:revision>410</cp:revision>
  <dcterms:created xsi:type="dcterms:W3CDTF">2021-01-27T16:02:23Z</dcterms:created>
  <dcterms:modified xsi:type="dcterms:W3CDTF">2024-03-06T12:50:00Z</dcterms:modified>
</cp:coreProperties>
</file>