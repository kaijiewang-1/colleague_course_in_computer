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63" r:id="rId3"/>
    <p:sldMasterId id="2147483666" r:id="rId4"/>
  </p:sldMasterIdLst>
  <p:notesMasterIdLst>
    <p:notesMasterId r:id="rId24"/>
  </p:notesMasterIdLst>
  <p:sldIdLst>
    <p:sldId id="264" r:id="rId5"/>
    <p:sldId id="268" r:id="rId6"/>
    <p:sldId id="269" r:id="rId7"/>
    <p:sldId id="305" r:id="rId8"/>
    <p:sldId id="343" r:id="rId9"/>
    <p:sldId id="303" r:id="rId10"/>
    <p:sldId id="337" r:id="rId11"/>
    <p:sldId id="344" r:id="rId12"/>
    <p:sldId id="329" r:id="rId13"/>
    <p:sldId id="327" r:id="rId14"/>
    <p:sldId id="338" r:id="rId15"/>
    <p:sldId id="326" r:id="rId16"/>
    <p:sldId id="339" r:id="rId17"/>
    <p:sldId id="345" r:id="rId18"/>
    <p:sldId id="340" r:id="rId19"/>
    <p:sldId id="341" r:id="rId20"/>
    <p:sldId id="348" r:id="rId21"/>
    <p:sldId id="346" r:id="rId22"/>
    <p:sldId id="34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00FF"/>
    <a:srgbClr val="FBE5D6"/>
    <a:srgbClr val="08FF08"/>
    <a:srgbClr val="6565FF"/>
    <a:srgbClr val="7A7AFF"/>
    <a:srgbClr val="5050FF"/>
    <a:srgbClr val="1DFF1D"/>
    <a:srgbClr val="00FF00"/>
    <a:srgbClr val="0069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1" autoAdjust="0"/>
    <p:restoredTop sz="96366" autoAdjust="0"/>
  </p:normalViewPr>
  <p:slideViewPr>
    <p:cSldViewPr snapToGrid="0">
      <p:cViewPr varScale="1">
        <p:scale>
          <a:sx n="99" d="100"/>
          <a:sy n="99" d="100"/>
        </p:scale>
        <p:origin x="10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10" Type="http://schemas.openxmlformats.org/officeDocument/2006/relationships/image" Target="../media/image26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7" Type="http://schemas.openxmlformats.org/officeDocument/2006/relationships/image" Target="../media/image59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3" Type="http://schemas.openxmlformats.org/officeDocument/2006/relationships/image" Target="../media/image63.emf"/><Relationship Id="rId7" Type="http://schemas.openxmlformats.org/officeDocument/2006/relationships/image" Target="../media/image67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Relationship Id="rId6" Type="http://schemas.openxmlformats.org/officeDocument/2006/relationships/image" Target="../media/image66.emf"/><Relationship Id="rId11" Type="http://schemas.openxmlformats.org/officeDocument/2006/relationships/image" Target="../media/image71.emf"/><Relationship Id="rId5" Type="http://schemas.openxmlformats.org/officeDocument/2006/relationships/image" Target="../media/image65.emf"/><Relationship Id="rId10" Type="http://schemas.openxmlformats.org/officeDocument/2006/relationships/image" Target="../media/image70.emf"/><Relationship Id="rId4" Type="http://schemas.openxmlformats.org/officeDocument/2006/relationships/image" Target="../media/image64.emf"/><Relationship Id="rId9" Type="http://schemas.openxmlformats.org/officeDocument/2006/relationships/image" Target="../media/image69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3" Type="http://schemas.openxmlformats.org/officeDocument/2006/relationships/image" Target="../media/image74.emf"/><Relationship Id="rId7" Type="http://schemas.openxmlformats.org/officeDocument/2006/relationships/image" Target="../media/image78.emf"/><Relationship Id="rId2" Type="http://schemas.openxmlformats.org/officeDocument/2006/relationships/image" Target="../media/image73.emf"/><Relationship Id="rId1" Type="http://schemas.openxmlformats.org/officeDocument/2006/relationships/image" Target="../media/image72.emf"/><Relationship Id="rId6" Type="http://schemas.openxmlformats.org/officeDocument/2006/relationships/image" Target="../media/image77.emf"/><Relationship Id="rId5" Type="http://schemas.openxmlformats.org/officeDocument/2006/relationships/image" Target="../media/image76.emf"/><Relationship Id="rId10" Type="http://schemas.openxmlformats.org/officeDocument/2006/relationships/image" Target="../media/image81.emf"/><Relationship Id="rId4" Type="http://schemas.openxmlformats.org/officeDocument/2006/relationships/image" Target="../media/image75.emf"/><Relationship Id="rId9" Type="http://schemas.openxmlformats.org/officeDocument/2006/relationships/image" Target="../media/image8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14760-F49E-4171-B4AD-9A1F8D499213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84F3B-EB5B-41D0-90E0-77500609D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48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篇章页，动画慢一点，字号变大，看目录最长的字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4F3B-EB5B-41D0-90E0-77500609D10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490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目录，目录字号变大，渐变缺角，加点装饰，有点偏</a:t>
            </a:r>
            <a:endParaRPr lang="en-US" altLang="zh-CN" dirty="0"/>
          </a:p>
          <a:p>
            <a:r>
              <a:rPr lang="en-US" altLang="zh-CN" dirty="0"/>
              <a:t>https://www.vcg.com/creative/1278690055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4F3B-EB5B-41D0-90E0-77500609D10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437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定理，去背景图，换渐变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4F3B-EB5B-41D0-90E0-77500609D10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981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封底，换成本章小结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F84F3B-EB5B-41D0-90E0-77500609D10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054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427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285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98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141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728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6593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406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721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621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8465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425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3843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7983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434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547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835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5B600E-85D4-44EF-9BD4-33408006A0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4503571"/>
      </p:ext>
    </p:extLst>
  </p:cSld>
  <p:clrMapOvr>
    <a:masterClrMapping/>
  </p:clrMapOvr>
  <p:transition>
    <p:zo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649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microsoft.com/office/2007/relationships/hdphoto" Target="../media/hdphoto2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13.xml"/><Relationship Id="rId19" Type="http://schemas.microsoft.com/office/2007/relationships/hdphoto" Target="../media/hdphoto3.wdp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8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8">
            <a:extLst>
              <a:ext uri="{FF2B5EF4-FFF2-40B4-BE49-F238E27FC236}">
                <a16:creationId xmlns:a16="http://schemas.microsoft.com/office/drawing/2014/main" id="{9BB01645-C20E-47EE-8504-AE7EFE41AC0A}"/>
              </a:ext>
            </a:extLst>
          </p:cNvPr>
          <p:cNvSpPr/>
          <p:nvPr userDrawn="1"/>
        </p:nvSpPr>
        <p:spPr>
          <a:xfrm flipV="1">
            <a:off x="-188781" y="-10401"/>
            <a:ext cx="12380781" cy="6868401"/>
          </a:xfrm>
          <a:prstGeom prst="rect">
            <a:avLst/>
          </a:prstGeom>
          <a:gradFill flip="none" rotWithShape="1">
            <a:gsLst>
              <a:gs pos="50000">
                <a:srgbClr val="1068B8"/>
              </a:gs>
              <a:gs pos="0">
                <a:srgbClr val="0A2B7C"/>
              </a:gs>
              <a:gs pos="100000">
                <a:srgbClr val="46A9E6"/>
              </a:gs>
            </a:gsLst>
            <a:path path="circle">
              <a:fillToRect r="100000" b="100000"/>
            </a:path>
            <a:tileRect l="-100000" t="-100000"/>
          </a:gradFill>
          <a:ln w="3175"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 lang="id-ID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DB5E2D2-06CD-4B8B-B4DA-FCFCA85A0775}"/>
              </a:ext>
            </a:extLst>
          </p:cNvPr>
          <p:cNvGrpSpPr/>
          <p:nvPr userDrawn="1"/>
        </p:nvGrpSpPr>
        <p:grpSpPr>
          <a:xfrm>
            <a:off x="366555" y="6461279"/>
            <a:ext cx="1310257" cy="193623"/>
            <a:chOff x="5431674" y="6222031"/>
            <a:chExt cx="1328652" cy="19634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BE7AE6B-4F5D-4F19-B3EC-1E5747397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1674" y="6233182"/>
              <a:ext cx="179982" cy="18519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35DB05C-E3B7-4208-B214-3E1E8D46FF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896"/>
            <a:stretch/>
          </p:blipFill>
          <p:spPr>
            <a:xfrm>
              <a:off x="5687177" y="6222031"/>
              <a:ext cx="1073149" cy="193145"/>
            </a:xfrm>
            <a:prstGeom prst="rect">
              <a:avLst/>
            </a:pr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0ABD1DF3-4F12-4D6E-A0BA-553B8A08D243}"/>
              </a:ext>
            </a:extLst>
          </p:cNvPr>
          <p:cNvSpPr txBox="1"/>
          <p:nvPr userDrawn="1"/>
        </p:nvSpPr>
        <p:spPr>
          <a:xfrm>
            <a:off x="9642521" y="6444394"/>
            <a:ext cx="23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新时代大学数学系列教材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42A48BE-C2ED-4B46-8C29-206AF0D29E32}"/>
              </a:ext>
            </a:extLst>
          </p:cNvPr>
          <p:cNvGrpSpPr/>
          <p:nvPr userDrawn="1"/>
        </p:nvGrpSpPr>
        <p:grpSpPr>
          <a:xfrm>
            <a:off x="10033436" y="6558091"/>
            <a:ext cx="90048" cy="72000"/>
            <a:chOff x="9779012" y="6237133"/>
            <a:chExt cx="90048" cy="7200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1EE508E-4024-4082-B74D-F1BB1898622A}"/>
                </a:ext>
              </a:extLst>
            </p:cNvPr>
            <p:cNvCxnSpPr/>
            <p:nvPr/>
          </p:nvCxnSpPr>
          <p:spPr>
            <a:xfrm flipH="1">
              <a:off x="9833060" y="6237133"/>
              <a:ext cx="36000" cy="720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28F2FCE-B4B6-4C00-B0F0-A976AA04ABA7}"/>
                </a:ext>
              </a:extLst>
            </p:cNvPr>
            <p:cNvCxnSpPr/>
            <p:nvPr/>
          </p:nvCxnSpPr>
          <p:spPr>
            <a:xfrm flipH="1">
              <a:off x="9779012" y="6237133"/>
              <a:ext cx="36000" cy="720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2C6FF794-9C96-413D-95D1-5C97A85897F9}"/>
              </a:ext>
            </a:extLst>
          </p:cNvPr>
          <p:cNvSpPr txBox="1"/>
          <p:nvPr userDrawn="1"/>
        </p:nvSpPr>
        <p:spPr>
          <a:xfrm>
            <a:off x="408000" y="136996"/>
            <a:ext cx="1764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altLang="en-US" sz="12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</a:p>
        </p:txBody>
      </p:sp>
      <p:sp>
        <p:nvSpPr>
          <p:cNvPr id="18" name="矩形: 圆角 1">
            <a:extLst>
              <a:ext uri="{FF2B5EF4-FFF2-40B4-BE49-F238E27FC236}">
                <a16:creationId xmlns:a16="http://schemas.microsoft.com/office/drawing/2014/main" id="{66AB1149-4F35-4D40-BA9E-604FDDDA0FA6}"/>
              </a:ext>
            </a:extLst>
          </p:cNvPr>
          <p:cNvSpPr/>
          <p:nvPr userDrawn="1"/>
        </p:nvSpPr>
        <p:spPr>
          <a:xfrm>
            <a:off x="191998" y="149495"/>
            <a:ext cx="1944002" cy="252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33000"/>
                </a:schemeClr>
              </a:gs>
            </a:gsLst>
            <a:lin ang="108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D9E8826-743C-47DA-B2BA-8700B1EBD35B}"/>
              </a:ext>
            </a:extLst>
          </p:cNvPr>
          <p:cNvSpPr/>
          <p:nvPr userDrawn="1"/>
        </p:nvSpPr>
        <p:spPr>
          <a:xfrm>
            <a:off x="192000" y="149495"/>
            <a:ext cx="252000" cy="252000"/>
          </a:xfrm>
          <a:prstGeom prst="ellipse">
            <a:avLst/>
          </a:prstGeom>
          <a:gradFill>
            <a:gsLst>
              <a:gs pos="84000">
                <a:srgbClr val="D1DCEB"/>
              </a:gs>
              <a:gs pos="39000">
                <a:srgbClr val="3796D9"/>
              </a:gs>
              <a:gs pos="62000">
                <a:srgbClr val="0082D2"/>
              </a:gs>
              <a:gs pos="3000">
                <a:srgbClr val="0082D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50800" dist="25400" dir="2700000" algn="tl" rotWithShape="0">
              <a:srgbClr val="69AFE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32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8">
            <a:extLst>
              <a:ext uri="{FF2B5EF4-FFF2-40B4-BE49-F238E27FC236}">
                <a16:creationId xmlns:a16="http://schemas.microsoft.com/office/drawing/2014/main" id="{AF8DC253-A5A1-4C01-A4DD-3654DB22F758}"/>
              </a:ext>
            </a:extLst>
          </p:cNvPr>
          <p:cNvSpPr/>
          <p:nvPr userDrawn="1"/>
        </p:nvSpPr>
        <p:spPr>
          <a:xfrm flipV="1">
            <a:off x="-188781" y="-10401"/>
            <a:ext cx="12380781" cy="6868401"/>
          </a:xfrm>
          <a:prstGeom prst="rect">
            <a:avLst/>
          </a:prstGeom>
          <a:gradFill flip="none" rotWithShape="1">
            <a:gsLst>
              <a:gs pos="50000">
                <a:srgbClr val="1068B8"/>
              </a:gs>
              <a:gs pos="0">
                <a:srgbClr val="0A2B7C"/>
              </a:gs>
              <a:gs pos="100000">
                <a:srgbClr val="46A9E6"/>
              </a:gs>
            </a:gsLst>
            <a:path path="circle">
              <a:fillToRect r="100000" b="100000"/>
            </a:path>
            <a:tileRect l="-100000" t="-100000"/>
          </a:gradFill>
          <a:ln w="3175"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 lang="id-ID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D701A6F-B62A-40C0-86E4-FC943E72EC49}"/>
              </a:ext>
            </a:extLst>
          </p:cNvPr>
          <p:cNvGrpSpPr/>
          <p:nvPr userDrawn="1"/>
        </p:nvGrpSpPr>
        <p:grpSpPr>
          <a:xfrm>
            <a:off x="366555" y="6461279"/>
            <a:ext cx="1310257" cy="193623"/>
            <a:chOff x="5431674" y="6222031"/>
            <a:chExt cx="1328652" cy="196341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9E9182B-9299-4D94-BEF8-F51879381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1674" y="6233182"/>
              <a:ext cx="179982" cy="18519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42D3D04-C43C-40B7-9EBA-6B44525314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896"/>
            <a:stretch/>
          </p:blipFill>
          <p:spPr>
            <a:xfrm>
              <a:off x="5687177" y="6222031"/>
              <a:ext cx="1073149" cy="193145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DF1A5F2-0070-4718-A047-23CFB482BF33}"/>
              </a:ext>
            </a:extLst>
          </p:cNvPr>
          <p:cNvSpPr txBox="1"/>
          <p:nvPr userDrawn="1"/>
        </p:nvSpPr>
        <p:spPr>
          <a:xfrm>
            <a:off x="9642521" y="6444394"/>
            <a:ext cx="23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新时代大学数学系列教材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0F25233-B859-45E3-9CBF-7943197C62AF}"/>
              </a:ext>
            </a:extLst>
          </p:cNvPr>
          <p:cNvGrpSpPr/>
          <p:nvPr userDrawn="1"/>
        </p:nvGrpSpPr>
        <p:grpSpPr>
          <a:xfrm>
            <a:off x="10033436" y="6558091"/>
            <a:ext cx="90048" cy="72000"/>
            <a:chOff x="9779012" y="6237133"/>
            <a:chExt cx="90048" cy="720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EBF6C11-45F0-4163-87B4-2127DCD49A09}"/>
                </a:ext>
              </a:extLst>
            </p:cNvPr>
            <p:cNvCxnSpPr/>
            <p:nvPr/>
          </p:nvCxnSpPr>
          <p:spPr>
            <a:xfrm flipH="1">
              <a:off x="9833060" y="6237133"/>
              <a:ext cx="36000" cy="720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CA2BCDB-33E8-4EB7-8AB2-A55D04386796}"/>
                </a:ext>
              </a:extLst>
            </p:cNvPr>
            <p:cNvCxnSpPr/>
            <p:nvPr/>
          </p:nvCxnSpPr>
          <p:spPr>
            <a:xfrm flipH="1">
              <a:off x="9779012" y="6237133"/>
              <a:ext cx="36000" cy="720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BA772E94-D958-47D5-9A1C-550FAEF51521}"/>
              </a:ext>
            </a:extLst>
          </p:cNvPr>
          <p:cNvSpPr txBox="1"/>
          <p:nvPr userDrawn="1"/>
        </p:nvSpPr>
        <p:spPr>
          <a:xfrm>
            <a:off x="408000" y="136996"/>
            <a:ext cx="1764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altLang="en-US" sz="12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</a:p>
        </p:txBody>
      </p:sp>
      <p:sp>
        <p:nvSpPr>
          <p:cNvPr id="16" name="矩形: 圆角 1">
            <a:extLst>
              <a:ext uri="{FF2B5EF4-FFF2-40B4-BE49-F238E27FC236}">
                <a16:creationId xmlns:a16="http://schemas.microsoft.com/office/drawing/2014/main" id="{6951C8F5-5DF3-4831-BE1F-23EEC2A97F51}"/>
              </a:ext>
            </a:extLst>
          </p:cNvPr>
          <p:cNvSpPr/>
          <p:nvPr userDrawn="1"/>
        </p:nvSpPr>
        <p:spPr>
          <a:xfrm>
            <a:off x="191998" y="149495"/>
            <a:ext cx="1944002" cy="252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33000"/>
                </a:schemeClr>
              </a:gs>
            </a:gsLst>
            <a:lin ang="108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247133D-E94F-4DED-91EF-3E1015712CAA}"/>
              </a:ext>
            </a:extLst>
          </p:cNvPr>
          <p:cNvSpPr/>
          <p:nvPr userDrawn="1"/>
        </p:nvSpPr>
        <p:spPr>
          <a:xfrm>
            <a:off x="192000" y="149495"/>
            <a:ext cx="252000" cy="252000"/>
          </a:xfrm>
          <a:prstGeom prst="ellipse">
            <a:avLst/>
          </a:prstGeom>
          <a:gradFill>
            <a:gsLst>
              <a:gs pos="84000">
                <a:srgbClr val="D1DCEB"/>
              </a:gs>
              <a:gs pos="39000">
                <a:srgbClr val="3796D9"/>
              </a:gs>
              <a:gs pos="62000">
                <a:srgbClr val="0082D2"/>
              </a:gs>
              <a:gs pos="3000">
                <a:srgbClr val="0082D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50800" dist="25400" dir="2700000" algn="tl" rotWithShape="0">
              <a:srgbClr val="69AFE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Oval 102">
            <a:extLst>
              <a:ext uri="{FF2B5EF4-FFF2-40B4-BE49-F238E27FC236}">
                <a16:creationId xmlns:a16="http://schemas.microsoft.com/office/drawing/2014/main" id="{305F13E5-FB54-4FA4-948C-63BFB6088CC5}"/>
              </a:ext>
            </a:extLst>
          </p:cNvPr>
          <p:cNvSpPr/>
          <p:nvPr userDrawn="1"/>
        </p:nvSpPr>
        <p:spPr>
          <a:xfrm>
            <a:off x="11695913" y="1905000"/>
            <a:ext cx="2064089" cy="2064085"/>
          </a:xfrm>
          <a:prstGeom prst="ellipse">
            <a:avLst/>
          </a:prstGeom>
          <a:gradFill>
            <a:gsLst>
              <a:gs pos="2000">
                <a:schemeClr val="accent1">
                  <a:alpha val="20000"/>
                </a:schemeClr>
              </a:gs>
              <a:gs pos="100000">
                <a:srgbClr val="07459A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Oval 103">
            <a:extLst>
              <a:ext uri="{FF2B5EF4-FFF2-40B4-BE49-F238E27FC236}">
                <a16:creationId xmlns:a16="http://schemas.microsoft.com/office/drawing/2014/main" id="{E18AF24F-E5FA-4838-AA3C-57AE78884AC6}"/>
              </a:ext>
            </a:extLst>
          </p:cNvPr>
          <p:cNvSpPr/>
          <p:nvPr userDrawn="1"/>
        </p:nvSpPr>
        <p:spPr>
          <a:xfrm>
            <a:off x="4492273" y="7492334"/>
            <a:ext cx="498828" cy="498828"/>
          </a:xfrm>
          <a:prstGeom prst="ellipse">
            <a:avLst/>
          </a:prstGeom>
          <a:gradFill>
            <a:gsLst>
              <a:gs pos="2000">
                <a:schemeClr val="accent1">
                  <a:alpha val="20000"/>
                </a:schemeClr>
              </a:gs>
              <a:gs pos="100000">
                <a:srgbClr val="07459A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" name="Oval 108">
            <a:extLst>
              <a:ext uri="{FF2B5EF4-FFF2-40B4-BE49-F238E27FC236}">
                <a16:creationId xmlns:a16="http://schemas.microsoft.com/office/drawing/2014/main" id="{EA9C697D-FDB9-46E5-8ED9-D506DABFEF11}"/>
              </a:ext>
            </a:extLst>
          </p:cNvPr>
          <p:cNvSpPr/>
          <p:nvPr userDrawn="1"/>
        </p:nvSpPr>
        <p:spPr>
          <a:xfrm>
            <a:off x="7334651" y="7218278"/>
            <a:ext cx="754074" cy="754074"/>
          </a:xfrm>
          <a:prstGeom prst="ellipse">
            <a:avLst/>
          </a:prstGeom>
          <a:gradFill>
            <a:gsLst>
              <a:gs pos="2000">
                <a:schemeClr val="accent1">
                  <a:alpha val="20000"/>
                </a:schemeClr>
              </a:gs>
              <a:gs pos="100000">
                <a:srgbClr val="07459A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" name="Oval 109">
            <a:extLst>
              <a:ext uri="{FF2B5EF4-FFF2-40B4-BE49-F238E27FC236}">
                <a16:creationId xmlns:a16="http://schemas.microsoft.com/office/drawing/2014/main" id="{CE506455-1FC6-4D4B-B1F2-77865B9033D8}"/>
              </a:ext>
            </a:extLst>
          </p:cNvPr>
          <p:cNvSpPr/>
          <p:nvPr userDrawn="1"/>
        </p:nvSpPr>
        <p:spPr>
          <a:xfrm>
            <a:off x="-1222454" y="5475794"/>
            <a:ext cx="1084474" cy="1084474"/>
          </a:xfrm>
          <a:prstGeom prst="ellipse">
            <a:avLst/>
          </a:prstGeom>
          <a:gradFill>
            <a:gsLst>
              <a:gs pos="2000">
                <a:schemeClr val="accent1">
                  <a:alpha val="20000"/>
                </a:schemeClr>
              </a:gs>
              <a:gs pos="100000">
                <a:srgbClr val="074499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E286EAD-80BD-46A3-9A2F-51A44CD13D42}"/>
              </a:ext>
            </a:extLst>
          </p:cNvPr>
          <p:cNvSpPr txBox="1"/>
          <p:nvPr userDrawn="1"/>
        </p:nvSpPr>
        <p:spPr>
          <a:xfrm>
            <a:off x="7707630" y="163910"/>
            <a:ext cx="42633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第六节  线性微分方程解的结构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3118908-8C05-4905-AFE7-DDCEBEBCD3BA}"/>
              </a:ext>
            </a:extLst>
          </p:cNvPr>
          <p:cNvCxnSpPr>
            <a:cxnSpLocks/>
          </p:cNvCxnSpPr>
          <p:nvPr userDrawn="1"/>
        </p:nvCxnSpPr>
        <p:spPr>
          <a:xfrm>
            <a:off x="10344000" y="401494"/>
            <a:ext cx="1584000" cy="0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4000">
                  <a:srgbClr val="669AD2"/>
                </a:gs>
                <a:gs pos="100000">
                  <a:srgbClr val="3A7FC7"/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706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path" presetSubtype="0" repeatCount="indefinite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026 4.81481E-6 C -0.01549 -0.21991 0.01563 -0.18889 0.04245 -0.25718 C 0.04987 -0.34561 0.00117 -0.4419 -0.01172 -0.5301 C -0.01549 -0.6132 0.00808 -0.67663 0.05313 -0.75903 C 0.08711 -0.85695 0.02461 -1.17061 -0.07448 -1.24561 " pathEditMode="relative" rAng="0" ptsTypes="AAAAA">
                                      <p:cBhvr>
                                        <p:cTn id="6" dur="7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3" y="-6229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9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47 0.71806 C -0.02721 0.62685 -0.11302 0.41829 -0.1293 0.29051 C -0.13607 0.18102 -0.1444 0.11597 -0.11003 -0.05417 C -0.0901 -0.26111 -0.04596 -0.51412 -0.21862 -0.61435 " pathEditMode="relative" rAng="0" ptsTypes="AAAA">
                                      <p:cBhvr>
                                        <p:cTn id="11" dur="7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64" y="-6662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9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01 0.2169 C 0.1543 -0.01805 0.06875 -0.0956 0.0125 -0.16875 C -0.00351 -0.26342 0.05638 -0.23518 0.08359 -0.33032 C 0.0918 -0.41875 0.10456 -0.50833 0.00964 -0.59652 C -0.0625 -0.70092 -0.08555 -0.90625 0.12461 -0.98703 " pathEditMode="relative" rAng="0" ptsTypes="AAAAA">
                                      <p:cBhvr>
                                        <p:cTn id="16" dur="10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26" y="-6020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9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2.59259E-6 C 0.02669 -0.21945 -0.01302 -0.27454 -0.06002 -0.3426 C -0.07318 -0.43125 -0.05469 -0.42199 -0.03203 -0.51065 C -0.02526 -0.59352 0.07969 -0.7757 0.00065 -0.8581 C -0.05911 -0.95556 -0.03958 -1.21135 0.13516 -1.28681 " pathEditMode="relative" rAng="0" ptsTypes="AAAAA">
                                      <p:cBhvr>
                                        <p:cTn id="21" dur="9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-64352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1" grpId="0" animBg="1"/>
      <p:bldP spid="21" grpId="1" animBg="1"/>
      <p:bldP spid="21" grpId="2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8">
            <a:extLst>
              <a:ext uri="{FF2B5EF4-FFF2-40B4-BE49-F238E27FC236}">
                <a16:creationId xmlns:a16="http://schemas.microsoft.com/office/drawing/2014/main" id="{9BB01645-C20E-47EE-8504-AE7EFE41AC0A}"/>
              </a:ext>
            </a:extLst>
          </p:cNvPr>
          <p:cNvSpPr/>
          <p:nvPr userDrawn="1"/>
        </p:nvSpPr>
        <p:spPr>
          <a:xfrm flipV="1">
            <a:off x="-188781" y="-10401"/>
            <a:ext cx="12380781" cy="6868401"/>
          </a:xfrm>
          <a:prstGeom prst="rect">
            <a:avLst/>
          </a:prstGeom>
          <a:gradFill flip="none" rotWithShape="1">
            <a:gsLst>
              <a:gs pos="50000">
                <a:srgbClr val="1068B8"/>
              </a:gs>
              <a:gs pos="0">
                <a:srgbClr val="0A2B7C"/>
              </a:gs>
              <a:gs pos="100000">
                <a:srgbClr val="46A9E6"/>
              </a:gs>
            </a:gsLst>
            <a:path path="circle">
              <a:fillToRect r="100000" b="100000"/>
            </a:path>
            <a:tileRect l="-100000" t="-100000"/>
          </a:gradFill>
          <a:ln w="3175"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 lang="id-ID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DB5E2D2-06CD-4B8B-B4DA-FCFCA85A0775}"/>
              </a:ext>
            </a:extLst>
          </p:cNvPr>
          <p:cNvGrpSpPr/>
          <p:nvPr userDrawn="1"/>
        </p:nvGrpSpPr>
        <p:grpSpPr>
          <a:xfrm>
            <a:off x="366555" y="6461279"/>
            <a:ext cx="1310257" cy="193623"/>
            <a:chOff x="5431674" y="6222031"/>
            <a:chExt cx="1328652" cy="19634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BE7AE6B-4F5D-4F19-B3EC-1E5747397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1674" y="6233182"/>
              <a:ext cx="179982" cy="18519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35DB05C-E3B7-4208-B214-3E1E8D46FF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 cstate="print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896"/>
            <a:stretch/>
          </p:blipFill>
          <p:spPr>
            <a:xfrm>
              <a:off x="5687177" y="6222031"/>
              <a:ext cx="1073149" cy="193145"/>
            </a:xfrm>
            <a:prstGeom prst="rect">
              <a:avLst/>
            </a:pr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0ABD1DF3-4F12-4D6E-A0BA-553B8A08D243}"/>
              </a:ext>
            </a:extLst>
          </p:cNvPr>
          <p:cNvSpPr txBox="1"/>
          <p:nvPr userDrawn="1"/>
        </p:nvSpPr>
        <p:spPr>
          <a:xfrm>
            <a:off x="9642521" y="6444394"/>
            <a:ext cx="23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新时代大学数学系列教材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42A48BE-C2ED-4B46-8C29-206AF0D29E32}"/>
              </a:ext>
            </a:extLst>
          </p:cNvPr>
          <p:cNvGrpSpPr/>
          <p:nvPr userDrawn="1"/>
        </p:nvGrpSpPr>
        <p:grpSpPr>
          <a:xfrm>
            <a:off x="10033436" y="6558091"/>
            <a:ext cx="90048" cy="72000"/>
            <a:chOff x="9779012" y="6237133"/>
            <a:chExt cx="90048" cy="7200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1EE508E-4024-4082-B74D-F1BB1898622A}"/>
                </a:ext>
              </a:extLst>
            </p:cNvPr>
            <p:cNvCxnSpPr/>
            <p:nvPr/>
          </p:nvCxnSpPr>
          <p:spPr>
            <a:xfrm flipH="1">
              <a:off x="9833060" y="6237133"/>
              <a:ext cx="36000" cy="720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28F2FCE-B4B6-4C00-B0F0-A976AA04ABA7}"/>
                </a:ext>
              </a:extLst>
            </p:cNvPr>
            <p:cNvCxnSpPr/>
            <p:nvPr/>
          </p:nvCxnSpPr>
          <p:spPr>
            <a:xfrm flipH="1">
              <a:off x="9779012" y="6237133"/>
              <a:ext cx="36000" cy="720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2C6FF794-9C96-413D-95D1-5C97A85897F9}"/>
              </a:ext>
            </a:extLst>
          </p:cNvPr>
          <p:cNvSpPr txBox="1"/>
          <p:nvPr userDrawn="1"/>
        </p:nvSpPr>
        <p:spPr>
          <a:xfrm>
            <a:off x="408000" y="136996"/>
            <a:ext cx="1764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altLang="en-US" sz="12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</a:p>
        </p:txBody>
      </p:sp>
      <p:sp>
        <p:nvSpPr>
          <p:cNvPr id="18" name="矩形: 圆角 1">
            <a:extLst>
              <a:ext uri="{FF2B5EF4-FFF2-40B4-BE49-F238E27FC236}">
                <a16:creationId xmlns:a16="http://schemas.microsoft.com/office/drawing/2014/main" id="{66AB1149-4F35-4D40-BA9E-604FDDDA0FA6}"/>
              </a:ext>
            </a:extLst>
          </p:cNvPr>
          <p:cNvSpPr/>
          <p:nvPr userDrawn="1"/>
        </p:nvSpPr>
        <p:spPr>
          <a:xfrm>
            <a:off x="191998" y="149495"/>
            <a:ext cx="1944002" cy="252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33000"/>
                </a:schemeClr>
              </a:gs>
            </a:gsLst>
            <a:lin ang="108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D9E8826-743C-47DA-B2BA-8700B1EBD35B}"/>
              </a:ext>
            </a:extLst>
          </p:cNvPr>
          <p:cNvSpPr/>
          <p:nvPr userDrawn="1"/>
        </p:nvSpPr>
        <p:spPr>
          <a:xfrm>
            <a:off x="192000" y="149495"/>
            <a:ext cx="252000" cy="252000"/>
          </a:xfrm>
          <a:prstGeom prst="ellipse">
            <a:avLst/>
          </a:prstGeom>
          <a:gradFill>
            <a:gsLst>
              <a:gs pos="84000">
                <a:srgbClr val="D1DCEB"/>
              </a:gs>
              <a:gs pos="39000">
                <a:srgbClr val="3796D9"/>
              </a:gs>
              <a:gs pos="62000">
                <a:srgbClr val="0082D2"/>
              </a:gs>
              <a:gs pos="3000">
                <a:srgbClr val="0082D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50800" dist="25400" dir="2700000" algn="tl" rotWithShape="0">
              <a:srgbClr val="69AFE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43D3F8-B97D-4443-A441-94685B9E5670}"/>
              </a:ext>
            </a:extLst>
          </p:cNvPr>
          <p:cNvSpPr txBox="1"/>
          <p:nvPr userDrawn="1"/>
        </p:nvSpPr>
        <p:spPr>
          <a:xfrm>
            <a:off x="7707630" y="163910"/>
            <a:ext cx="42633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00" spc="12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第六节  线性微分方程解的结构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167C8B3-E8FB-43C9-AB71-965DDA6A9031}"/>
              </a:ext>
            </a:extLst>
          </p:cNvPr>
          <p:cNvCxnSpPr>
            <a:cxnSpLocks/>
          </p:cNvCxnSpPr>
          <p:nvPr userDrawn="1"/>
        </p:nvCxnSpPr>
        <p:spPr>
          <a:xfrm>
            <a:off x="10344000" y="401494"/>
            <a:ext cx="1584000" cy="0"/>
          </a:xfrm>
          <a:prstGeom prst="line">
            <a:avLst/>
          </a:prstGeom>
          <a:noFill/>
          <a:ln w="12700" cap="rnd" cmpd="sng" algn="ctr"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54000">
                  <a:srgbClr val="669AD2"/>
                </a:gs>
                <a:gs pos="100000">
                  <a:srgbClr val="3A7FC7"/>
                </a:gs>
              </a:gsLst>
              <a:lin ang="0" scaled="0"/>
            </a:gra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118642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8">
            <a:extLst>
              <a:ext uri="{FF2B5EF4-FFF2-40B4-BE49-F238E27FC236}">
                <a16:creationId xmlns:a16="http://schemas.microsoft.com/office/drawing/2014/main" id="{AF8DC253-A5A1-4C01-A4DD-3654DB22F758}"/>
              </a:ext>
            </a:extLst>
          </p:cNvPr>
          <p:cNvSpPr/>
          <p:nvPr userDrawn="1"/>
        </p:nvSpPr>
        <p:spPr>
          <a:xfrm flipV="1">
            <a:off x="-188781" y="-10401"/>
            <a:ext cx="12380781" cy="6868401"/>
          </a:xfrm>
          <a:prstGeom prst="rect">
            <a:avLst/>
          </a:prstGeom>
          <a:gradFill flip="none" rotWithShape="1">
            <a:gsLst>
              <a:gs pos="50000">
                <a:srgbClr val="1068B8"/>
              </a:gs>
              <a:gs pos="0">
                <a:srgbClr val="0A2B7C"/>
              </a:gs>
              <a:gs pos="100000">
                <a:srgbClr val="46A9E6"/>
              </a:gs>
            </a:gsLst>
            <a:path path="circle">
              <a:fillToRect r="100000" b="100000"/>
            </a:path>
            <a:tileRect l="-100000" t="-100000"/>
          </a:gradFill>
          <a:ln w="3175"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 lang="id-ID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D701A6F-B62A-40C0-86E4-FC943E72EC49}"/>
              </a:ext>
            </a:extLst>
          </p:cNvPr>
          <p:cNvGrpSpPr/>
          <p:nvPr userDrawn="1"/>
        </p:nvGrpSpPr>
        <p:grpSpPr>
          <a:xfrm>
            <a:off x="366555" y="6461279"/>
            <a:ext cx="1310257" cy="193623"/>
            <a:chOff x="5431674" y="6222031"/>
            <a:chExt cx="1328652" cy="196341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9E9182B-9299-4D94-BEF8-F51879381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1674" y="6233182"/>
              <a:ext cx="179982" cy="18519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42D3D04-C43C-40B7-9EBA-6B44525314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896"/>
            <a:stretch/>
          </p:blipFill>
          <p:spPr>
            <a:xfrm>
              <a:off x="5687177" y="6222031"/>
              <a:ext cx="1073149" cy="193145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DF1A5F2-0070-4718-A047-23CFB482BF33}"/>
              </a:ext>
            </a:extLst>
          </p:cNvPr>
          <p:cNvSpPr txBox="1"/>
          <p:nvPr userDrawn="1"/>
        </p:nvSpPr>
        <p:spPr>
          <a:xfrm>
            <a:off x="9642521" y="6444394"/>
            <a:ext cx="23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新时代大学数学系列教材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0F25233-B859-45E3-9CBF-7943197C62AF}"/>
              </a:ext>
            </a:extLst>
          </p:cNvPr>
          <p:cNvGrpSpPr/>
          <p:nvPr userDrawn="1"/>
        </p:nvGrpSpPr>
        <p:grpSpPr>
          <a:xfrm>
            <a:off x="10033436" y="6558091"/>
            <a:ext cx="90048" cy="72000"/>
            <a:chOff x="9779012" y="6237133"/>
            <a:chExt cx="90048" cy="720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EBF6C11-45F0-4163-87B4-2127DCD49A09}"/>
                </a:ext>
              </a:extLst>
            </p:cNvPr>
            <p:cNvCxnSpPr/>
            <p:nvPr/>
          </p:nvCxnSpPr>
          <p:spPr>
            <a:xfrm flipH="1">
              <a:off x="9833060" y="6237133"/>
              <a:ext cx="36000" cy="720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CA2BCDB-33E8-4EB7-8AB2-A55D04386796}"/>
                </a:ext>
              </a:extLst>
            </p:cNvPr>
            <p:cNvCxnSpPr/>
            <p:nvPr/>
          </p:nvCxnSpPr>
          <p:spPr>
            <a:xfrm flipH="1">
              <a:off x="9779012" y="6237133"/>
              <a:ext cx="36000" cy="720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BA772E94-D958-47D5-9A1C-550FAEF51521}"/>
              </a:ext>
            </a:extLst>
          </p:cNvPr>
          <p:cNvSpPr txBox="1"/>
          <p:nvPr userDrawn="1"/>
        </p:nvSpPr>
        <p:spPr>
          <a:xfrm>
            <a:off x="408000" y="136996"/>
            <a:ext cx="1764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altLang="en-US" sz="12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</a:p>
        </p:txBody>
      </p:sp>
      <p:sp>
        <p:nvSpPr>
          <p:cNvPr id="16" name="矩形: 圆角 1">
            <a:extLst>
              <a:ext uri="{FF2B5EF4-FFF2-40B4-BE49-F238E27FC236}">
                <a16:creationId xmlns:a16="http://schemas.microsoft.com/office/drawing/2014/main" id="{6951C8F5-5DF3-4831-BE1F-23EEC2A97F51}"/>
              </a:ext>
            </a:extLst>
          </p:cNvPr>
          <p:cNvSpPr/>
          <p:nvPr userDrawn="1"/>
        </p:nvSpPr>
        <p:spPr>
          <a:xfrm>
            <a:off x="191998" y="149495"/>
            <a:ext cx="1944002" cy="252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33000"/>
                </a:schemeClr>
              </a:gs>
            </a:gsLst>
            <a:lin ang="108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247133D-E94F-4DED-91EF-3E1015712CAA}"/>
              </a:ext>
            </a:extLst>
          </p:cNvPr>
          <p:cNvSpPr/>
          <p:nvPr userDrawn="1"/>
        </p:nvSpPr>
        <p:spPr>
          <a:xfrm>
            <a:off x="192000" y="149495"/>
            <a:ext cx="252000" cy="252000"/>
          </a:xfrm>
          <a:prstGeom prst="ellipse">
            <a:avLst/>
          </a:prstGeom>
          <a:gradFill>
            <a:gsLst>
              <a:gs pos="84000">
                <a:srgbClr val="D1DCEB"/>
              </a:gs>
              <a:gs pos="39000">
                <a:srgbClr val="3796D9"/>
              </a:gs>
              <a:gs pos="62000">
                <a:srgbClr val="0082D2"/>
              </a:gs>
              <a:gs pos="3000">
                <a:srgbClr val="0082D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50800" dist="25400" dir="2700000" algn="tl" rotWithShape="0">
              <a:srgbClr val="69AFE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Oval 102">
            <a:extLst>
              <a:ext uri="{FF2B5EF4-FFF2-40B4-BE49-F238E27FC236}">
                <a16:creationId xmlns:a16="http://schemas.microsoft.com/office/drawing/2014/main" id="{305F13E5-FB54-4FA4-948C-63BFB6088CC5}"/>
              </a:ext>
            </a:extLst>
          </p:cNvPr>
          <p:cNvSpPr/>
          <p:nvPr userDrawn="1"/>
        </p:nvSpPr>
        <p:spPr>
          <a:xfrm>
            <a:off x="11695913" y="1905000"/>
            <a:ext cx="2064089" cy="2064085"/>
          </a:xfrm>
          <a:prstGeom prst="ellipse">
            <a:avLst/>
          </a:prstGeom>
          <a:gradFill>
            <a:gsLst>
              <a:gs pos="2000">
                <a:schemeClr val="accent1">
                  <a:alpha val="20000"/>
                </a:schemeClr>
              </a:gs>
              <a:gs pos="100000">
                <a:srgbClr val="07459A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Oval 103">
            <a:extLst>
              <a:ext uri="{FF2B5EF4-FFF2-40B4-BE49-F238E27FC236}">
                <a16:creationId xmlns:a16="http://schemas.microsoft.com/office/drawing/2014/main" id="{E18AF24F-E5FA-4838-AA3C-57AE78884AC6}"/>
              </a:ext>
            </a:extLst>
          </p:cNvPr>
          <p:cNvSpPr/>
          <p:nvPr userDrawn="1"/>
        </p:nvSpPr>
        <p:spPr>
          <a:xfrm>
            <a:off x="4492273" y="7492334"/>
            <a:ext cx="498828" cy="498828"/>
          </a:xfrm>
          <a:prstGeom prst="ellipse">
            <a:avLst/>
          </a:prstGeom>
          <a:gradFill>
            <a:gsLst>
              <a:gs pos="2000">
                <a:schemeClr val="accent1">
                  <a:alpha val="20000"/>
                </a:schemeClr>
              </a:gs>
              <a:gs pos="100000">
                <a:srgbClr val="07459A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" name="Oval 108">
            <a:extLst>
              <a:ext uri="{FF2B5EF4-FFF2-40B4-BE49-F238E27FC236}">
                <a16:creationId xmlns:a16="http://schemas.microsoft.com/office/drawing/2014/main" id="{EA9C697D-FDB9-46E5-8ED9-D506DABFEF11}"/>
              </a:ext>
            </a:extLst>
          </p:cNvPr>
          <p:cNvSpPr/>
          <p:nvPr userDrawn="1"/>
        </p:nvSpPr>
        <p:spPr>
          <a:xfrm>
            <a:off x="7334651" y="7218278"/>
            <a:ext cx="754074" cy="754074"/>
          </a:xfrm>
          <a:prstGeom prst="ellipse">
            <a:avLst/>
          </a:prstGeom>
          <a:gradFill>
            <a:gsLst>
              <a:gs pos="2000">
                <a:schemeClr val="accent1">
                  <a:alpha val="20000"/>
                </a:schemeClr>
              </a:gs>
              <a:gs pos="100000">
                <a:srgbClr val="07459A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" name="Oval 109">
            <a:extLst>
              <a:ext uri="{FF2B5EF4-FFF2-40B4-BE49-F238E27FC236}">
                <a16:creationId xmlns:a16="http://schemas.microsoft.com/office/drawing/2014/main" id="{CE506455-1FC6-4D4B-B1F2-77865B9033D8}"/>
              </a:ext>
            </a:extLst>
          </p:cNvPr>
          <p:cNvSpPr/>
          <p:nvPr userDrawn="1"/>
        </p:nvSpPr>
        <p:spPr>
          <a:xfrm>
            <a:off x="-1222454" y="5475794"/>
            <a:ext cx="1084474" cy="1084474"/>
          </a:xfrm>
          <a:prstGeom prst="ellipse">
            <a:avLst/>
          </a:prstGeom>
          <a:gradFill>
            <a:gsLst>
              <a:gs pos="2000">
                <a:schemeClr val="accent1">
                  <a:alpha val="20000"/>
                </a:schemeClr>
              </a:gs>
              <a:gs pos="100000">
                <a:srgbClr val="074499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E286EAD-80BD-46A3-9A2F-51A44CD13D42}"/>
              </a:ext>
            </a:extLst>
          </p:cNvPr>
          <p:cNvSpPr txBox="1"/>
          <p:nvPr userDrawn="1"/>
        </p:nvSpPr>
        <p:spPr>
          <a:xfrm>
            <a:off x="7707630" y="163910"/>
            <a:ext cx="42633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第六节  线性微分方程解的结构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3118908-8C05-4905-AFE7-DDCEBEBCD3BA}"/>
              </a:ext>
            </a:extLst>
          </p:cNvPr>
          <p:cNvCxnSpPr>
            <a:cxnSpLocks/>
          </p:cNvCxnSpPr>
          <p:nvPr userDrawn="1"/>
        </p:nvCxnSpPr>
        <p:spPr>
          <a:xfrm>
            <a:off x="10344000" y="401494"/>
            <a:ext cx="1584000" cy="0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4000">
                  <a:srgbClr val="669AD2"/>
                </a:gs>
                <a:gs pos="100000">
                  <a:srgbClr val="3A7FC7"/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53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path" presetSubtype="0" repeatCount="indefinite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026 4.81481E-6 C -0.01549 -0.21991 0.01563 -0.18889 0.04245 -0.25718 C 0.04987 -0.34561 0.00117 -0.4419 -0.01172 -0.5301 C -0.01549 -0.6132 0.00808 -0.67663 0.05313 -0.75903 C 0.08711 -0.85695 0.02461 -1.17061 -0.07448 -1.24561 " pathEditMode="relative" rAng="0" ptsTypes="AAAAA">
                                      <p:cBhvr>
                                        <p:cTn id="6" dur="7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3" y="-6229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9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47 0.71806 C -0.02721 0.62685 -0.11302 0.41829 -0.1293 0.29051 C -0.13607 0.18102 -0.1444 0.11597 -0.11003 -0.05417 C -0.0901 -0.26111 -0.04596 -0.51412 -0.21862 -0.61435 " pathEditMode="relative" rAng="0" ptsTypes="AAAA">
                                      <p:cBhvr>
                                        <p:cTn id="11" dur="7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64" y="-6662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9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01 0.2169 C 0.1543 -0.01805 0.06875 -0.0956 0.0125 -0.16875 C -0.00351 -0.26342 0.05638 -0.23518 0.08359 -0.33032 C 0.0918 -0.41875 0.10456 -0.50833 0.00964 -0.59652 C -0.0625 -0.70092 -0.08555 -0.90625 0.12461 -0.98703 " pathEditMode="relative" rAng="0" ptsTypes="AAAAA">
                                      <p:cBhvr>
                                        <p:cTn id="16" dur="10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26" y="-6020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9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2.59259E-6 C 0.02669 -0.21945 -0.01302 -0.27454 -0.06002 -0.3426 C -0.07318 -0.43125 -0.05469 -0.42199 -0.03203 -0.51065 C -0.02526 -0.59352 0.07969 -0.7757 0.00065 -0.8581 C -0.05911 -0.95556 -0.03958 -1.21135 0.13516 -1.28681 " pathEditMode="relative" rAng="0" ptsTypes="AAAAA">
                                      <p:cBhvr>
                                        <p:cTn id="21" dur="9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-64352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1" grpId="0" animBg="1"/>
      <p:bldP spid="21" grpId="1" animBg="1"/>
      <p:bldP spid="21" grpId="2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6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15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4.wmf"/><Relationship Id="rId3" Type="http://schemas.openxmlformats.org/officeDocument/2006/relationships/oleObject" Target="../embeddings/oleObject14.bin"/><Relationship Id="rId21" Type="http://schemas.openxmlformats.org/officeDocument/2006/relationships/oleObject" Target="../embeddings/oleObject23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1.bin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23.wmf"/><Relationship Id="rId20" Type="http://schemas.openxmlformats.org/officeDocument/2006/relationships/image" Target="../media/image25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20.wmf"/><Relationship Id="rId19" Type="http://schemas.openxmlformats.org/officeDocument/2006/relationships/oleObject" Target="../embeddings/oleObject22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2.wmf"/><Relationship Id="rId22" Type="http://schemas.openxmlformats.org/officeDocument/2006/relationships/image" Target="../media/image2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28.emf"/><Relationship Id="rId2" Type="http://schemas.openxmlformats.org/officeDocument/2006/relationships/tags" Target="../tags/tag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7.e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4.emf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1.e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3.emf"/><Relationship Id="rId4" Type="http://schemas.openxmlformats.org/officeDocument/2006/relationships/image" Target="../media/image30.e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37.emf"/><Relationship Id="rId2" Type="http://schemas.openxmlformats.org/officeDocument/2006/relationships/tags" Target="../tags/tag5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6.emf"/><Relationship Id="rId4" Type="http://schemas.openxmlformats.org/officeDocument/2006/relationships/oleObject" Target="../embeddings/oleObject3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39.emf"/><Relationship Id="rId2" Type="http://schemas.openxmlformats.org/officeDocument/2006/relationships/tags" Target="../tags/tag6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8.emf"/><Relationship Id="rId4" Type="http://schemas.openxmlformats.org/officeDocument/2006/relationships/oleObject" Target="../embeddings/oleObject3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4.e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1.e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43.emf"/><Relationship Id="rId4" Type="http://schemas.openxmlformats.org/officeDocument/2006/relationships/image" Target="../media/image40.emf"/><Relationship Id="rId9" Type="http://schemas.openxmlformats.org/officeDocument/2006/relationships/oleObject" Target="../embeddings/oleObject4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9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51.emf"/><Relationship Id="rId2" Type="http://schemas.openxmlformats.org/officeDocument/2006/relationships/tags" Target="../tags/tag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50.emf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2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13" Type="http://schemas.openxmlformats.org/officeDocument/2006/relationships/oleObject" Target="../embeddings/oleObject55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7.emf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59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4.e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10" Type="http://schemas.openxmlformats.org/officeDocument/2006/relationships/image" Target="../media/image56.emf"/><Relationship Id="rId4" Type="http://schemas.openxmlformats.org/officeDocument/2006/relationships/image" Target="../media/image53.e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68.emf"/><Relationship Id="rId3" Type="http://schemas.openxmlformats.org/officeDocument/2006/relationships/oleObject" Target="../embeddings/oleObject57.bin"/><Relationship Id="rId21" Type="http://schemas.openxmlformats.org/officeDocument/2006/relationships/oleObject" Target="../embeddings/oleObject66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5.emf"/><Relationship Id="rId17" Type="http://schemas.openxmlformats.org/officeDocument/2006/relationships/oleObject" Target="../embeddings/oleObject64.bin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67.emf"/><Relationship Id="rId20" Type="http://schemas.openxmlformats.org/officeDocument/2006/relationships/image" Target="../media/image69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2.emf"/><Relationship Id="rId11" Type="http://schemas.openxmlformats.org/officeDocument/2006/relationships/oleObject" Target="../embeddings/oleObject61.bin"/><Relationship Id="rId24" Type="http://schemas.openxmlformats.org/officeDocument/2006/relationships/image" Target="../media/image71.emf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23" Type="http://schemas.openxmlformats.org/officeDocument/2006/relationships/oleObject" Target="../embeddings/oleObject67.bin"/><Relationship Id="rId10" Type="http://schemas.openxmlformats.org/officeDocument/2006/relationships/image" Target="../media/image64.e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61.e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6.emf"/><Relationship Id="rId22" Type="http://schemas.openxmlformats.org/officeDocument/2006/relationships/image" Target="../media/image70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oleObject" Target="../embeddings/oleObject73.bin"/><Relationship Id="rId18" Type="http://schemas.openxmlformats.org/officeDocument/2006/relationships/image" Target="../media/image79.emf"/><Relationship Id="rId3" Type="http://schemas.openxmlformats.org/officeDocument/2006/relationships/oleObject" Target="../embeddings/oleObject68.bin"/><Relationship Id="rId21" Type="http://schemas.openxmlformats.org/officeDocument/2006/relationships/oleObject" Target="../embeddings/oleObject77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76.emf"/><Relationship Id="rId17" Type="http://schemas.openxmlformats.org/officeDocument/2006/relationships/oleObject" Target="../embeddings/oleObject75.bin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78.emf"/><Relationship Id="rId20" Type="http://schemas.openxmlformats.org/officeDocument/2006/relationships/image" Target="../media/image80.e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3.e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5" Type="http://schemas.openxmlformats.org/officeDocument/2006/relationships/oleObject" Target="../embeddings/oleObject74.bin"/><Relationship Id="rId10" Type="http://schemas.openxmlformats.org/officeDocument/2006/relationships/image" Target="../media/image75.emf"/><Relationship Id="rId19" Type="http://schemas.openxmlformats.org/officeDocument/2006/relationships/oleObject" Target="../embeddings/oleObject76.bin"/><Relationship Id="rId4" Type="http://schemas.openxmlformats.org/officeDocument/2006/relationships/image" Target="../media/image72.e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77.emf"/><Relationship Id="rId22" Type="http://schemas.openxmlformats.org/officeDocument/2006/relationships/image" Target="../media/image8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16">
            <a:extLst>
              <a:ext uri="{FF2B5EF4-FFF2-40B4-BE49-F238E27FC236}">
                <a16:creationId xmlns:a16="http://schemas.microsoft.com/office/drawing/2014/main" id="{51361C5B-6E6E-42D2-A84D-60AA9BFD82B2}"/>
              </a:ext>
            </a:extLst>
          </p:cNvPr>
          <p:cNvSpPr/>
          <p:nvPr/>
        </p:nvSpPr>
        <p:spPr>
          <a:xfrm>
            <a:off x="-180975" y="0"/>
            <a:ext cx="12372975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5000">
                <a:srgbClr val="00003A"/>
              </a:gs>
              <a:gs pos="100000">
                <a:srgbClr val="0063AC">
                  <a:alpha val="60000"/>
                </a:srgbClr>
              </a:gs>
              <a:gs pos="62000">
                <a:srgbClr val="084098">
                  <a:alpha val="95000"/>
                </a:srgbClr>
              </a:gs>
            </a:gsLst>
            <a:lin ang="4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Rounded Book"/>
              <a:ea typeface="思源黑体 CN Regular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2683" y="3587709"/>
            <a:ext cx="10596282" cy="1028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第六节  线性微分方程解的结构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323623" y="1143351"/>
            <a:ext cx="7610522" cy="949299"/>
            <a:chOff x="2323623" y="1143351"/>
            <a:chExt cx="7610522" cy="949299"/>
          </a:xfrm>
        </p:grpSpPr>
        <p:sp>
          <p:nvSpPr>
            <p:cNvPr id="4" name="矩形 3"/>
            <p:cNvSpPr/>
            <p:nvPr/>
          </p:nvSpPr>
          <p:spPr>
            <a:xfrm>
              <a:off x="3876876" y="1143351"/>
              <a:ext cx="4429418" cy="9492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4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第四章 微分方程</a:t>
              </a:r>
              <a:endPara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2323623" y="1742140"/>
              <a:ext cx="7610522" cy="0"/>
              <a:chOff x="2323623" y="1742140"/>
              <a:chExt cx="7610522" cy="0"/>
            </a:xfrm>
          </p:grpSpPr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99096D11-FC74-4821-ABF9-81EF93874C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23623" y="1742140"/>
                <a:ext cx="1191407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  <a:round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99096D11-FC74-4821-ABF9-81EF93874C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42738" y="1742140"/>
                <a:ext cx="1191407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  <a:round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00528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4.16667E-6 4.07407E-6 L 4.16667E-6 -0.15811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57175" y="36058"/>
            <a:ext cx="4162425" cy="6821942"/>
            <a:chOff x="-121297" y="0"/>
            <a:chExt cx="4233227" cy="6983526"/>
          </a:xfrm>
        </p:grpSpPr>
        <p:sp>
          <p:nvSpPr>
            <p:cNvPr id="13" name="矩形: 圆角 32">
              <a:extLst>
                <a:ext uri="{FF2B5EF4-FFF2-40B4-BE49-F238E27FC236}">
                  <a16:creationId xmlns:a16="http://schemas.microsoft.com/office/drawing/2014/main" id="{D263321C-E539-482C-9489-92A0EAE87F48}"/>
                </a:ext>
              </a:extLst>
            </p:cNvPr>
            <p:cNvSpPr/>
            <p:nvPr/>
          </p:nvSpPr>
          <p:spPr>
            <a:xfrm>
              <a:off x="-1" y="0"/>
              <a:ext cx="4111931" cy="6858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7000">
                  <a:srgbClr val="0067B3"/>
                </a:gs>
                <a:gs pos="43860">
                  <a:srgbClr val="004070"/>
                </a:gs>
                <a:gs pos="93000">
                  <a:srgbClr val="00233E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Rounded Book"/>
                <a:ea typeface="思源黑体 CN Regular"/>
                <a:cs typeface="+mn-cs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-121297" y="0"/>
              <a:ext cx="4233045" cy="6983526"/>
              <a:chOff x="-121297" y="0"/>
              <a:chExt cx="4233045" cy="6983526"/>
            </a:xfrm>
          </p:grpSpPr>
          <p:pic>
            <p:nvPicPr>
              <p:cNvPr id="88" name="图片 87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21297" y="0"/>
                <a:ext cx="4233045" cy="6886254"/>
              </a:xfrm>
              <a:prstGeom prst="rect">
                <a:avLst/>
              </a:prstGeom>
            </p:spPr>
          </p:pic>
          <p:sp>
            <p:nvSpPr>
              <p:cNvPr id="87" name="矩形: 圆角 32">
                <a:extLst>
                  <a:ext uri="{FF2B5EF4-FFF2-40B4-BE49-F238E27FC236}">
                    <a16:creationId xmlns:a16="http://schemas.microsoft.com/office/drawing/2014/main" id="{D263321C-E539-482C-9489-92A0EAE87F48}"/>
                  </a:ext>
                </a:extLst>
              </p:cNvPr>
              <p:cNvSpPr/>
              <p:nvPr/>
            </p:nvSpPr>
            <p:spPr>
              <a:xfrm>
                <a:off x="1" y="0"/>
                <a:ext cx="4111747" cy="6983526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5000">
                    <a:srgbClr val="00003A"/>
                  </a:gs>
                  <a:gs pos="71000">
                    <a:srgbClr val="0063AC">
                      <a:alpha val="60000"/>
                    </a:srgbClr>
                  </a:gs>
                  <a:gs pos="40000">
                    <a:srgbClr val="084098">
                      <a:alpha val="92000"/>
                    </a:srgbClr>
                  </a:gs>
                  <a:gs pos="91000">
                    <a:srgbClr val="0072BC">
                      <a:alpha val="0"/>
                    </a:srgbClr>
                  </a:gs>
                </a:gsLst>
                <a:lin ang="48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Gotham Rounded Book"/>
                  <a:ea typeface="思源黑体 CN Regular"/>
                </a:endParaRPr>
              </a:p>
            </p:txBody>
          </p:sp>
        </p:grp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E797E0BF-AEF5-4448-B4B0-C6991BB476B9}"/>
              </a:ext>
            </a:extLst>
          </p:cNvPr>
          <p:cNvSpPr txBox="1"/>
          <p:nvPr/>
        </p:nvSpPr>
        <p:spPr>
          <a:xfrm>
            <a:off x="2433406" y="1030735"/>
            <a:ext cx="1200329" cy="1193596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600" b="1" dirty="0">
                <a:gradFill>
                  <a:gsLst>
                    <a:gs pos="100000">
                      <a:schemeClr val="bg1"/>
                    </a:gs>
                    <a:gs pos="24000">
                      <a:srgbClr val="073584"/>
                    </a:gs>
                    <a:gs pos="51000">
                      <a:schemeClr val="bg1"/>
                    </a:gs>
                  </a:gsLst>
                  <a:lin ang="7200000" scaled="0"/>
                </a:gradFill>
                <a:latin typeface="华文中宋" panose="02010600040101010101" pitchFamily="2" charset="-122"/>
                <a:ea typeface="华文中宋" panose="02010600040101010101" pitchFamily="2" charset="-122"/>
              </a:rPr>
              <a:t>目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gradFill>
                <a:gsLst>
                  <a:gs pos="100000">
                    <a:schemeClr val="bg1"/>
                  </a:gs>
                  <a:gs pos="24000">
                    <a:srgbClr val="073584"/>
                  </a:gs>
                  <a:gs pos="51000">
                    <a:schemeClr val="bg1"/>
                  </a:gs>
                </a:gsLst>
                <a:lin ang="7200000" scaled="0"/>
              </a:gradFill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10429CF-B28B-4B73-8499-FFFD119E94EB}"/>
              </a:ext>
            </a:extLst>
          </p:cNvPr>
          <p:cNvSpPr txBox="1"/>
          <p:nvPr/>
        </p:nvSpPr>
        <p:spPr>
          <a:xfrm>
            <a:off x="6325101" y="1930366"/>
            <a:ext cx="20465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</a:lvl1pPr>
          </a:lstStyle>
          <a:p>
            <a:pPr lvl="0">
              <a:lnSpc>
                <a:spcPct val="100000"/>
              </a:lnSpc>
              <a:defRPr/>
            </a:pPr>
            <a:r>
              <a:rPr kumimoji="1"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6AD58CDB-AF1A-4B8A-B576-9304BDC1A0D0}"/>
              </a:ext>
            </a:extLst>
          </p:cNvPr>
          <p:cNvCxnSpPr>
            <a:cxnSpLocks/>
          </p:cNvCxnSpPr>
          <p:nvPr/>
        </p:nvCxnSpPr>
        <p:spPr>
          <a:xfrm>
            <a:off x="5524642" y="2637294"/>
            <a:ext cx="4924375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组合 116"/>
          <p:cNvGrpSpPr/>
          <p:nvPr/>
        </p:nvGrpSpPr>
        <p:grpSpPr>
          <a:xfrm>
            <a:off x="5590499" y="1937909"/>
            <a:ext cx="472581" cy="472581"/>
            <a:chOff x="5386873" y="1174160"/>
            <a:chExt cx="472581" cy="472581"/>
          </a:xfrm>
        </p:grpSpPr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6435C66D-A75D-47F0-BA01-05791E0FA044}"/>
                </a:ext>
              </a:extLst>
            </p:cNvPr>
            <p:cNvSpPr/>
            <p:nvPr/>
          </p:nvSpPr>
          <p:spPr>
            <a:xfrm>
              <a:off x="5386873" y="1174160"/>
              <a:ext cx="472581" cy="472581"/>
            </a:xfrm>
            <a:prstGeom prst="ellipse">
              <a:avLst/>
            </a:prstGeom>
            <a:gradFill flip="none" rotWithShape="1">
              <a:gsLst>
                <a:gs pos="18000">
                  <a:srgbClr val="0067B3"/>
                </a:gs>
                <a:gs pos="93000">
                  <a:srgbClr val="00233E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127000" dir="5400000" sx="90000" sy="90000" algn="t" rotWithShape="0">
                <a:srgbClr val="00233E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5402590" y="1210395"/>
              <a:ext cx="4411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一</a:t>
              </a:r>
            </a:p>
          </p:txBody>
        </p:sp>
      </p:grpSp>
      <p:sp>
        <p:nvSpPr>
          <p:cNvPr id="91" name="文本框 90">
            <a:extLst>
              <a:ext uri="{FF2B5EF4-FFF2-40B4-BE49-F238E27FC236}">
                <a16:creationId xmlns:a16="http://schemas.microsoft.com/office/drawing/2014/main" id="{C10429CF-B28B-4B73-8499-FFFD119E94EB}"/>
              </a:ext>
            </a:extLst>
          </p:cNvPr>
          <p:cNvSpPr txBox="1"/>
          <p:nvPr/>
        </p:nvSpPr>
        <p:spPr>
          <a:xfrm>
            <a:off x="6325102" y="2995991"/>
            <a:ext cx="4018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</a:lvl1pPr>
          </a:lstStyle>
          <a:p>
            <a:pPr lvl="0">
              <a:lnSpc>
                <a:spcPct val="100000"/>
              </a:lnSpc>
              <a:defRPr/>
            </a:pPr>
            <a:r>
              <a:rPr kumimoji="1"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齐次线性微分方程解的结构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6AD58CDB-AF1A-4B8A-B576-9304BDC1A0D0}"/>
              </a:ext>
            </a:extLst>
          </p:cNvPr>
          <p:cNvCxnSpPr>
            <a:cxnSpLocks/>
          </p:cNvCxnSpPr>
          <p:nvPr/>
        </p:nvCxnSpPr>
        <p:spPr>
          <a:xfrm>
            <a:off x="5524642" y="3700233"/>
            <a:ext cx="4924375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组合 117"/>
          <p:cNvGrpSpPr/>
          <p:nvPr/>
        </p:nvGrpSpPr>
        <p:grpSpPr>
          <a:xfrm>
            <a:off x="5590499" y="3003534"/>
            <a:ext cx="472581" cy="472581"/>
            <a:chOff x="5415689" y="2106113"/>
            <a:chExt cx="472581" cy="472581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6435C66D-A75D-47F0-BA01-05791E0FA044}"/>
                </a:ext>
              </a:extLst>
            </p:cNvPr>
            <p:cNvSpPr/>
            <p:nvPr/>
          </p:nvSpPr>
          <p:spPr>
            <a:xfrm>
              <a:off x="5415689" y="2106113"/>
              <a:ext cx="472581" cy="472581"/>
            </a:xfrm>
            <a:prstGeom prst="ellipse">
              <a:avLst/>
            </a:prstGeom>
            <a:gradFill flip="none" rotWithShape="1">
              <a:gsLst>
                <a:gs pos="18000">
                  <a:srgbClr val="0067B3"/>
                </a:gs>
                <a:gs pos="93000">
                  <a:srgbClr val="00233E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127000" dir="5400000" sx="90000" sy="90000" algn="t" rotWithShape="0">
                <a:srgbClr val="00233E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5431406" y="2142348"/>
              <a:ext cx="4411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二</a:t>
              </a: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64EFCED7-C355-491A-825D-E11B4296B37D}"/>
              </a:ext>
            </a:extLst>
          </p:cNvPr>
          <p:cNvSpPr txBox="1"/>
          <p:nvPr/>
        </p:nvSpPr>
        <p:spPr>
          <a:xfrm>
            <a:off x="7707630" y="163910"/>
            <a:ext cx="42633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第六节  线性微分方程解的结构</a:t>
            </a:r>
          </a:p>
        </p:txBody>
      </p:sp>
      <p:sp>
        <p:nvSpPr>
          <p:cNvPr id="85" name="Freeform: Shape 9">
            <a:extLst>
              <a:ext uri="{FF2B5EF4-FFF2-40B4-BE49-F238E27FC236}">
                <a16:creationId xmlns:a16="http://schemas.microsoft.com/office/drawing/2014/main" id="{49D72D40-7C15-45A8-8752-71C2B8FB5590}"/>
              </a:ext>
            </a:extLst>
          </p:cNvPr>
          <p:cNvSpPr/>
          <p:nvPr/>
        </p:nvSpPr>
        <p:spPr>
          <a:xfrm rot="16200000" flipH="1">
            <a:off x="375378" y="-814926"/>
            <a:ext cx="629091" cy="2064399"/>
          </a:xfrm>
          <a:custGeom>
            <a:avLst/>
            <a:gdLst>
              <a:gd name="connsiteX0" fmla="*/ 0 w 1189942"/>
              <a:gd name="connsiteY0" fmla="*/ 0 h 2524513"/>
              <a:gd name="connsiteX1" fmla="*/ 175601 w 1189942"/>
              <a:gd name="connsiteY1" fmla="*/ 17702 h 2524513"/>
              <a:gd name="connsiteX2" fmla="*/ 1189942 w 1189942"/>
              <a:gd name="connsiteY2" fmla="*/ 1262256 h 2524513"/>
              <a:gd name="connsiteX3" fmla="*/ 175601 w 1189942"/>
              <a:gd name="connsiteY3" fmla="*/ 2506811 h 2524513"/>
              <a:gd name="connsiteX4" fmla="*/ 0 w 1189942"/>
              <a:gd name="connsiteY4" fmla="*/ 2524513 h 2524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9942" h="2524513">
                <a:moveTo>
                  <a:pt x="0" y="0"/>
                </a:moveTo>
                <a:lnTo>
                  <a:pt x="175601" y="17702"/>
                </a:lnTo>
                <a:cubicBezTo>
                  <a:pt x="754484" y="136158"/>
                  <a:pt x="1189942" y="648354"/>
                  <a:pt x="1189942" y="1262256"/>
                </a:cubicBezTo>
                <a:cubicBezTo>
                  <a:pt x="1189942" y="1876159"/>
                  <a:pt x="754484" y="2388354"/>
                  <a:pt x="175601" y="2506811"/>
                </a:cubicBezTo>
                <a:lnTo>
                  <a:pt x="0" y="2524513"/>
                </a:lnTo>
                <a:close/>
              </a:path>
            </a:pathLst>
          </a:custGeom>
          <a:gradFill>
            <a:gsLst>
              <a:gs pos="44000">
                <a:srgbClr val="0063AC">
                  <a:alpha val="0"/>
                </a:srgbClr>
              </a:gs>
              <a:gs pos="100000">
                <a:srgbClr val="3381C7">
                  <a:alpha val="50000"/>
                </a:srgbClr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>
            <a:outerShdw blurRad="1270000" dist="6223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86" name="PA-Freeform: Shape 8">
            <a:extLst>
              <a:ext uri="{FF2B5EF4-FFF2-40B4-BE49-F238E27FC236}">
                <a16:creationId xmlns:a16="http://schemas.microsoft.com/office/drawing/2014/main" id="{E5608B0E-D541-4FED-8564-150741C5C11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9193347" y="5116523"/>
            <a:ext cx="3238349" cy="2077637"/>
          </a:xfrm>
          <a:custGeom>
            <a:avLst/>
            <a:gdLst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76554"/>
              <a:gd name="connsiteY0" fmla="*/ 0 h 3981450"/>
              <a:gd name="connsiteX1" fmla="*/ 3409950 w 3876554"/>
              <a:gd name="connsiteY1" fmla="*/ 2076450 h 3981450"/>
              <a:gd name="connsiteX2" fmla="*/ 3657600 w 3876554"/>
              <a:gd name="connsiteY2" fmla="*/ 3981450 h 3981450"/>
              <a:gd name="connsiteX3" fmla="*/ 38100 w 3876554"/>
              <a:gd name="connsiteY3" fmla="*/ 3962400 h 3981450"/>
              <a:gd name="connsiteX4" fmla="*/ 0 w 3876554"/>
              <a:gd name="connsiteY4" fmla="*/ 0 h 3981450"/>
              <a:gd name="connsiteX0" fmla="*/ 0 w 3916378"/>
              <a:gd name="connsiteY0" fmla="*/ 0 h 3981450"/>
              <a:gd name="connsiteX1" fmla="*/ 3409950 w 3916378"/>
              <a:gd name="connsiteY1" fmla="*/ 2076450 h 3981450"/>
              <a:gd name="connsiteX2" fmla="*/ 3657600 w 3916378"/>
              <a:gd name="connsiteY2" fmla="*/ 3981450 h 3981450"/>
              <a:gd name="connsiteX3" fmla="*/ 38100 w 3916378"/>
              <a:gd name="connsiteY3" fmla="*/ 3962400 h 3981450"/>
              <a:gd name="connsiteX4" fmla="*/ 0 w 3916378"/>
              <a:gd name="connsiteY4" fmla="*/ 0 h 3981450"/>
              <a:gd name="connsiteX0" fmla="*/ 0 w 3873335"/>
              <a:gd name="connsiteY0" fmla="*/ 0 h 3981450"/>
              <a:gd name="connsiteX1" fmla="*/ 3409950 w 3873335"/>
              <a:gd name="connsiteY1" fmla="*/ 2076450 h 3981450"/>
              <a:gd name="connsiteX2" fmla="*/ 3657600 w 3873335"/>
              <a:gd name="connsiteY2" fmla="*/ 3981450 h 3981450"/>
              <a:gd name="connsiteX3" fmla="*/ 38100 w 3873335"/>
              <a:gd name="connsiteY3" fmla="*/ 3962400 h 3981450"/>
              <a:gd name="connsiteX4" fmla="*/ 0 w 3873335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38100 w 3786126"/>
              <a:gd name="connsiteY3" fmla="*/ 396240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4032226"/>
              <a:gd name="connsiteY0" fmla="*/ 0 h 4003693"/>
              <a:gd name="connsiteX1" fmla="*/ 3409950 w 4032226"/>
              <a:gd name="connsiteY1" fmla="*/ 2076450 h 4003693"/>
              <a:gd name="connsiteX2" fmla="*/ 3943350 w 4032226"/>
              <a:gd name="connsiteY2" fmla="*/ 4003693 h 4003693"/>
              <a:gd name="connsiteX3" fmla="*/ 0 w 4032226"/>
              <a:gd name="connsiteY3" fmla="*/ 3981450 h 4003693"/>
              <a:gd name="connsiteX4" fmla="*/ 0 w 4032226"/>
              <a:gd name="connsiteY4" fmla="*/ 0 h 4003693"/>
              <a:gd name="connsiteX0" fmla="*/ 0 w 3948509"/>
              <a:gd name="connsiteY0" fmla="*/ 0 h 4003693"/>
              <a:gd name="connsiteX1" fmla="*/ 3409950 w 3948509"/>
              <a:gd name="connsiteY1" fmla="*/ 2076450 h 4003693"/>
              <a:gd name="connsiteX2" fmla="*/ 3943350 w 3948509"/>
              <a:gd name="connsiteY2" fmla="*/ 4003693 h 4003693"/>
              <a:gd name="connsiteX3" fmla="*/ 0 w 3948509"/>
              <a:gd name="connsiteY3" fmla="*/ 3981450 h 4003693"/>
              <a:gd name="connsiteX4" fmla="*/ 0 w 3948509"/>
              <a:gd name="connsiteY4" fmla="*/ 0 h 4003693"/>
              <a:gd name="connsiteX0" fmla="*/ 0 w 3943350"/>
              <a:gd name="connsiteY0" fmla="*/ 0 h 4003693"/>
              <a:gd name="connsiteX1" fmla="*/ 3333750 w 3943350"/>
              <a:gd name="connsiteY1" fmla="*/ 1942994 h 4003693"/>
              <a:gd name="connsiteX2" fmla="*/ 3943350 w 3943350"/>
              <a:gd name="connsiteY2" fmla="*/ 4003693 h 4003693"/>
              <a:gd name="connsiteX3" fmla="*/ 0 w 3943350"/>
              <a:gd name="connsiteY3" fmla="*/ 3981450 h 4003693"/>
              <a:gd name="connsiteX4" fmla="*/ 0 w 3943350"/>
              <a:gd name="connsiteY4" fmla="*/ 0 h 4003693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900" h="3981450">
                <a:moveTo>
                  <a:pt x="0" y="0"/>
                </a:moveTo>
                <a:cubicBezTo>
                  <a:pt x="762000" y="1189072"/>
                  <a:pt x="2584450" y="1190447"/>
                  <a:pt x="3200400" y="1720566"/>
                </a:cubicBezTo>
                <a:cubicBezTo>
                  <a:pt x="3816350" y="2250685"/>
                  <a:pt x="3971925" y="2641175"/>
                  <a:pt x="4152900" y="3981450"/>
                </a:cubicBezTo>
                <a:lnTo>
                  <a:pt x="0" y="398145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3D1E66">
                  <a:alpha val="0"/>
                </a:srgbClr>
              </a:gs>
              <a:gs pos="60000">
                <a:srgbClr val="0063AC">
                  <a:alpha val="15000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797E0BF-AEF5-4448-B4B0-C6991BB476B9}"/>
              </a:ext>
            </a:extLst>
          </p:cNvPr>
          <p:cNvSpPr txBox="1"/>
          <p:nvPr/>
        </p:nvSpPr>
        <p:spPr>
          <a:xfrm>
            <a:off x="2433406" y="2048704"/>
            <a:ext cx="1200329" cy="1193596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>
                <a:gradFill>
                  <a:gsLst>
                    <a:gs pos="100000">
                      <a:schemeClr val="bg1"/>
                    </a:gs>
                    <a:gs pos="24000">
                      <a:srgbClr val="073584"/>
                    </a:gs>
                    <a:gs pos="45000">
                      <a:schemeClr val="bg1"/>
                    </a:gs>
                  </a:gsLst>
                  <a:lin ang="7200000" scaled="0"/>
                </a:gra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sz="6600" dirty="0">
                <a:gradFill>
                  <a:gsLst>
                    <a:gs pos="100000">
                      <a:schemeClr val="bg1"/>
                    </a:gs>
                    <a:gs pos="20000">
                      <a:srgbClr val="0D4998"/>
                    </a:gs>
                    <a:gs pos="51000">
                      <a:schemeClr val="bg1"/>
                    </a:gs>
                  </a:gsLst>
                  <a:lin ang="8400000" scaled="0"/>
                </a:gradFill>
              </a:rPr>
              <a:t>录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9CA18D70-A44C-4F96-9DD2-3B5AF276EBE7}"/>
              </a:ext>
            </a:extLst>
          </p:cNvPr>
          <p:cNvCxnSpPr>
            <a:cxnSpLocks/>
          </p:cNvCxnSpPr>
          <p:nvPr/>
        </p:nvCxnSpPr>
        <p:spPr>
          <a:xfrm>
            <a:off x="10344000" y="401494"/>
            <a:ext cx="1584000" cy="0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4000">
                  <a:srgbClr val="669AD2"/>
                </a:gs>
                <a:gs pos="100000">
                  <a:srgbClr val="3A7FC7"/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1036AEE6-36FD-4B29-A8B7-30CBA696372F}"/>
              </a:ext>
            </a:extLst>
          </p:cNvPr>
          <p:cNvSpPr txBox="1"/>
          <p:nvPr/>
        </p:nvSpPr>
        <p:spPr>
          <a:xfrm>
            <a:off x="240434" y="132189"/>
            <a:ext cx="17640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altLang="en-US" sz="105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9642521" y="6444394"/>
            <a:ext cx="23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新时代大学数学系列教材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4826635-1B39-4DB5-8178-8FC9C472A8E8}"/>
              </a:ext>
            </a:extLst>
          </p:cNvPr>
          <p:cNvGrpSpPr/>
          <p:nvPr/>
        </p:nvGrpSpPr>
        <p:grpSpPr>
          <a:xfrm>
            <a:off x="366555" y="6461279"/>
            <a:ext cx="1310257" cy="193623"/>
            <a:chOff x="5431674" y="6222031"/>
            <a:chExt cx="1328652" cy="196341"/>
          </a:xfrm>
        </p:grpSpPr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F4AE60CE-AB8B-4EA7-BBE5-1D1113EA4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1674" y="6233182"/>
              <a:ext cx="179982" cy="185190"/>
            </a:xfrm>
            <a:prstGeom prst="rect">
              <a:avLst/>
            </a:prstGeom>
          </p:spPr>
        </p:pic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3D8E0049-581F-4613-A544-72FC4AE026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artisticPhotocopy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896"/>
            <a:stretch/>
          </p:blipFill>
          <p:spPr>
            <a:xfrm>
              <a:off x="5687177" y="6222031"/>
              <a:ext cx="1073149" cy="193145"/>
            </a:xfrm>
            <a:prstGeom prst="rect">
              <a:avLst/>
            </a:prstGeom>
          </p:spPr>
        </p:pic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3F95E184-B91E-45A8-8A43-55B4AF119C13}"/>
              </a:ext>
            </a:extLst>
          </p:cNvPr>
          <p:cNvSpPr txBox="1"/>
          <p:nvPr/>
        </p:nvSpPr>
        <p:spPr>
          <a:xfrm>
            <a:off x="6326580" y="3982892"/>
            <a:ext cx="4353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</a:lvl1pPr>
          </a:lstStyle>
          <a:p>
            <a:pPr>
              <a:lnSpc>
                <a:spcPct val="100000"/>
              </a:lnSpc>
              <a:defRPr/>
            </a:pPr>
            <a:r>
              <a:rPr kumimoji="1"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非齐次线性微分方程解的结构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4ED6527-067B-4F18-9272-AF3CC17889C2}"/>
              </a:ext>
            </a:extLst>
          </p:cNvPr>
          <p:cNvCxnSpPr>
            <a:cxnSpLocks/>
          </p:cNvCxnSpPr>
          <p:nvPr/>
        </p:nvCxnSpPr>
        <p:spPr>
          <a:xfrm>
            <a:off x="5526119" y="4687134"/>
            <a:ext cx="5020553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6743965-FA39-42A4-A34E-101E139FCCF9}"/>
              </a:ext>
            </a:extLst>
          </p:cNvPr>
          <p:cNvGrpSpPr/>
          <p:nvPr/>
        </p:nvGrpSpPr>
        <p:grpSpPr>
          <a:xfrm>
            <a:off x="5591976" y="3990435"/>
            <a:ext cx="472581" cy="472581"/>
            <a:chOff x="5415689" y="2106113"/>
            <a:chExt cx="472581" cy="472581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59B15A3-172B-426B-B32E-72B7C3CC47AF}"/>
                </a:ext>
              </a:extLst>
            </p:cNvPr>
            <p:cNvSpPr/>
            <p:nvPr/>
          </p:nvSpPr>
          <p:spPr>
            <a:xfrm>
              <a:off x="5415689" y="2106113"/>
              <a:ext cx="472581" cy="472581"/>
            </a:xfrm>
            <a:prstGeom prst="ellipse">
              <a:avLst/>
            </a:prstGeom>
            <a:gradFill flip="none" rotWithShape="1">
              <a:gsLst>
                <a:gs pos="18000">
                  <a:srgbClr val="0067B3"/>
                </a:gs>
                <a:gs pos="93000">
                  <a:srgbClr val="00233E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127000" dir="5400000" sx="90000" sy="90000" algn="t" rotWithShape="0">
                <a:srgbClr val="00233E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4BD57FCE-2552-4366-B5B5-8E75B83DCC98}"/>
                </a:ext>
              </a:extLst>
            </p:cNvPr>
            <p:cNvSpPr txBox="1"/>
            <p:nvPr/>
          </p:nvSpPr>
          <p:spPr>
            <a:xfrm>
              <a:off x="5431407" y="214234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627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0" presetClass="entr" presetSubtype="0" decel="7000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9" grpId="0"/>
      <p:bldP spid="91" grpId="0"/>
      <p:bldP spid="85" grpId="0" animBg="1"/>
      <p:bldP spid="86" grpId="0" animBg="1"/>
      <p:bldP spid="45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0"/>
          <p:cNvSpPr txBox="1">
            <a:spLocks noChangeArrowheads="1"/>
          </p:cNvSpPr>
          <p:nvPr/>
        </p:nvSpPr>
        <p:spPr>
          <a:xfrm>
            <a:off x="3266984" y="246735"/>
            <a:ext cx="6215354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一、</a:t>
            </a:r>
            <a:r>
              <a:rPr kumimoji="1"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  <a:endParaRPr kumimoji="0" lang="zh-CN" altLang="en-US" sz="3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B9B0788-6E18-4C1B-90E4-2C30BB90BC0A}"/>
              </a:ext>
            </a:extLst>
          </p:cNvPr>
          <p:cNvGrpSpPr/>
          <p:nvPr/>
        </p:nvGrpSpPr>
        <p:grpSpPr>
          <a:xfrm>
            <a:off x="469273" y="1285985"/>
            <a:ext cx="11253454" cy="3685514"/>
            <a:chOff x="82203" y="623872"/>
            <a:chExt cx="11253454" cy="3685514"/>
          </a:xfrm>
        </p:grpSpPr>
        <p:sp>
          <p:nvSpPr>
            <p:cNvPr id="13" name="Rectangle: Rounded Corners 1">
              <a:extLst>
                <a:ext uri="{FF2B5EF4-FFF2-40B4-BE49-F238E27FC236}">
                  <a16:creationId xmlns:a16="http://schemas.microsoft.com/office/drawing/2014/main" id="{A769F5BB-3769-4CF0-9FA6-1295AC1AF166}"/>
                </a:ext>
              </a:extLst>
            </p:cNvPr>
            <p:cNvSpPr/>
            <p:nvPr/>
          </p:nvSpPr>
          <p:spPr>
            <a:xfrm>
              <a:off x="856343" y="1242654"/>
              <a:ext cx="10479314" cy="3066732"/>
            </a:xfrm>
            <a:prstGeom prst="roundRect">
              <a:avLst>
                <a:gd name="adj" fmla="val 3407"/>
              </a:avLst>
            </a:prstGeom>
            <a:gradFill flip="none" rotWithShape="1">
              <a:gsLst>
                <a:gs pos="50000">
                  <a:srgbClr val="1068B8"/>
                </a:gs>
                <a:gs pos="0">
                  <a:srgbClr val="0A2B7C"/>
                </a:gs>
                <a:gs pos="100000">
                  <a:srgbClr val="46A9E6"/>
                </a:gs>
              </a:gsLst>
              <a:path path="circle">
                <a:fillToRect r="100000" b="100000"/>
              </a:path>
              <a:tileRect l="-100000" t="-100000"/>
            </a:gradFill>
            <a:ln w="3175">
              <a:noFill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PA-文本框 1">
              <a:extLst>
                <a:ext uri="{FF2B5EF4-FFF2-40B4-BE49-F238E27FC236}">
                  <a16:creationId xmlns:a16="http://schemas.microsoft.com/office/drawing/2014/main" id="{EA57BD94-67F2-4594-A341-B0420F8A3E6D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82203" y="623872"/>
              <a:ext cx="1862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定义</a:t>
              </a:r>
              <a:endParaRPr lang="id-ID" sz="60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18" name="Text Box 87">
            <a:extLst>
              <a:ext uri="{FF2B5EF4-FFF2-40B4-BE49-F238E27FC236}">
                <a16:creationId xmlns:a16="http://schemas.microsoft.com/office/drawing/2014/main" id="{2DFAD6A1-4A69-4F6E-B83F-B273A6C3A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2027074"/>
            <a:ext cx="227965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形如</a:t>
            </a:r>
          </a:p>
        </p:txBody>
      </p:sp>
      <p:sp>
        <p:nvSpPr>
          <p:cNvPr id="19" name="Text Box 94">
            <a:extLst>
              <a:ext uri="{FF2B5EF4-FFF2-40B4-BE49-F238E27FC236}">
                <a16:creationId xmlns:a16="http://schemas.microsoft.com/office/drawing/2014/main" id="{78EBEB97-7DBE-4E8C-B1ED-2FD1B9627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593485"/>
            <a:ext cx="60960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的方程称为 </a:t>
            </a:r>
            <a:r>
              <a:rPr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阶线性微分方程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26" name="Object 99">
            <a:extLst>
              <a:ext uri="{FF2B5EF4-FFF2-40B4-BE49-F238E27FC236}">
                <a16:creationId xmlns:a16="http://schemas.microsoft.com/office/drawing/2014/main" id="{883293EC-BFCA-4F95-930B-18685E4141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487483"/>
              </p:ext>
            </p:extLst>
          </p:nvPr>
        </p:nvGraphicFramePr>
        <p:xfrm>
          <a:off x="1894336" y="2742492"/>
          <a:ext cx="9054252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5" imgW="10375560" imgH="571320" progId="Equation.DSMT4">
                  <p:embed/>
                </p:oleObj>
              </mc:Choice>
              <mc:Fallback>
                <p:oleObj name="Equation" r:id="rId5" imgW="10375560" imgH="571320" progId="Equation.DSMT4">
                  <p:embed/>
                  <p:pic>
                    <p:nvPicPr>
                      <p:cNvPr id="15" name="Object 99">
                        <a:extLst>
                          <a:ext uri="{FF2B5EF4-FFF2-40B4-BE49-F238E27FC236}">
                            <a16:creationId xmlns:a16="http://schemas.microsoft.com/office/drawing/2014/main" id="{C355EE5B-B9E6-4135-BBD2-0B98C7CBB2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4336" y="2742492"/>
                        <a:ext cx="9054252" cy="544513"/>
                      </a:xfrm>
                      <a:prstGeom prst="rect">
                        <a:avLst/>
                      </a:prstGeom>
                      <a:solidFill>
                        <a:srgbClr val="FBE5D6"/>
                      </a:solidFill>
                      <a:ln w="9525">
                        <a:solidFill>
                          <a:srgbClr val="ED7D3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00">
            <a:extLst>
              <a:ext uri="{FF2B5EF4-FFF2-40B4-BE49-F238E27FC236}">
                <a16:creationId xmlns:a16="http://schemas.microsoft.com/office/drawing/2014/main" id="{42DA5F14-8663-4DC5-A104-068A00096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599" y="3580785"/>
            <a:ext cx="4494661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 0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，则称之为 </a:t>
            </a:r>
            <a:r>
              <a:rPr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8" name="Text Box 101">
            <a:extLst>
              <a:ext uri="{FF2B5EF4-FFF2-40B4-BE49-F238E27FC236}">
                <a16:creationId xmlns:a16="http://schemas.microsoft.com/office/drawing/2014/main" id="{0CE0BCDA-E4D1-496D-8B1C-FEB3456B1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100" y="4253885"/>
            <a:ext cx="45720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齐次线性微分方程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</a:p>
        </p:txBody>
      </p:sp>
      <p:sp>
        <p:nvSpPr>
          <p:cNvPr id="29" name="Text Box 102">
            <a:extLst>
              <a:ext uri="{FF2B5EF4-FFF2-40B4-BE49-F238E27FC236}">
                <a16:creationId xmlns:a16="http://schemas.microsoft.com/office/drawing/2014/main" id="{036D3A77-0085-464A-A698-E439F687F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9351" y="4253885"/>
            <a:ext cx="6418556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否则称之为 </a:t>
            </a:r>
            <a:r>
              <a:rPr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阶非齐次线性微分方程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745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6">
            <a:extLst>
              <a:ext uri="{FF2B5EF4-FFF2-40B4-BE49-F238E27FC236}">
                <a16:creationId xmlns:a16="http://schemas.microsoft.com/office/drawing/2014/main" id="{55FBF739-2165-41E3-931C-CE8E637EE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996" y="852208"/>
            <a:ext cx="10921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7D13C86-4D67-4691-B061-658B498F2F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053001"/>
              </p:ext>
            </p:extLst>
          </p:nvPr>
        </p:nvGraphicFramePr>
        <p:xfrm>
          <a:off x="1304322" y="1794029"/>
          <a:ext cx="3149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" name="Equation" r:id="rId3" imgW="3149280" imgH="545760" progId="Equation.DSMT4">
                  <p:embed/>
                </p:oleObj>
              </mc:Choice>
              <mc:Fallback>
                <p:oleObj name="Equation" r:id="rId3" imgW="314928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304322" y="1794029"/>
                        <a:ext cx="31496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6">
            <a:extLst>
              <a:ext uri="{FF2B5EF4-FFF2-40B4-BE49-F238E27FC236}">
                <a16:creationId xmlns:a16="http://schemas.microsoft.com/office/drawing/2014/main" id="{5E168792-6FD1-428A-BA8D-25E2C5397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9987" y="1807523"/>
            <a:ext cx="42062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二阶齐次线性微分方程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16BFFE0-EFAB-4181-A13C-3CDB3216A5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981329"/>
              </p:ext>
            </p:extLst>
          </p:nvPr>
        </p:nvGraphicFramePr>
        <p:xfrm>
          <a:off x="1304322" y="2449513"/>
          <a:ext cx="4521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" name="Equation" r:id="rId5" imgW="4520880" imgH="1002960" progId="Equation.DSMT4">
                  <p:embed/>
                </p:oleObj>
              </mc:Choice>
              <mc:Fallback>
                <p:oleObj name="Equation" r:id="rId5" imgW="4520880" imgH="10029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67D13C86-4D67-4691-B061-658B498F2F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304322" y="2449513"/>
                        <a:ext cx="4521200" cy="100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6">
            <a:extLst>
              <a:ext uri="{FF2B5EF4-FFF2-40B4-BE49-F238E27FC236}">
                <a16:creationId xmlns:a16="http://schemas.microsoft.com/office/drawing/2014/main" id="{8C353A72-7E48-408A-BB2D-2722F79CC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393" y="2691443"/>
            <a:ext cx="43891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二阶非齐次线性微分方程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3066FE9-D3EE-4A76-9F49-56355B2188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860416"/>
              </p:ext>
            </p:extLst>
          </p:nvPr>
        </p:nvGraphicFramePr>
        <p:xfrm>
          <a:off x="1304322" y="3750043"/>
          <a:ext cx="2946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" name="Equation" r:id="rId7" imgW="2946240" imgH="469800" progId="Equation.DSMT4">
                  <p:embed/>
                </p:oleObj>
              </mc:Choice>
              <mc:Fallback>
                <p:oleObj name="Equation" r:id="rId7" imgW="2946240" imgH="4698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67D13C86-4D67-4691-B061-658B498F2F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304322" y="3750043"/>
                        <a:ext cx="29464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6">
            <a:extLst>
              <a:ext uri="{FF2B5EF4-FFF2-40B4-BE49-F238E27FC236}">
                <a16:creationId xmlns:a16="http://schemas.microsoft.com/office/drawing/2014/main" id="{972CFEBB-D74C-4592-B42A-D12B7E713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399" y="3725145"/>
            <a:ext cx="43891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三阶齐次线性微分方程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388F675-CA57-48A0-9C64-3E8F72EDB0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150702"/>
              </p:ext>
            </p:extLst>
          </p:nvPr>
        </p:nvGraphicFramePr>
        <p:xfrm>
          <a:off x="1304322" y="4510088"/>
          <a:ext cx="4102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" name="Equation" r:id="rId9" imgW="4101840" imgH="545760" progId="Equation.DSMT4">
                  <p:embed/>
                </p:oleObj>
              </mc:Choice>
              <mc:Fallback>
                <p:oleObj name="Equation" r:id="rId9" imgW="4101840" imgH="5457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3066FE9-D3EE-4A76-9F49-56355B2188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304322" y="4510088"/>
                        <a:ext cx="41021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6">
            <a:extLst>
              <a:ext uri="{FF2B5EF4-FFF2-40B4-BE49-F238E27FC236}">
                <a16:creationId xmlns:a16="http://schemas.microsoft.com/office/drawing/2014/main" id="{9E2CE72F-C089-420C-AA19-4597EECA7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677" y="4523171"/>
            <a:ext cx="43891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三阶非齐次线性微分方程</a:t>
            </a:r>
          </a:p>
        </p:txBody>
      </p:sp>
    </p:spTree>
    <p:extLst>
      <p:ext uri="{BB962C8B-B14F-4D97-AF65-F5344CB8AC3E}">
        <p14:creationId xmlns:p14="http://schemas.microsoft.com/office/powerpoint/2010/main" val="345258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5"/>
          <p:cNvSpPr>
            <a:spLocks noGrp="1" noChangeArrowheads="1"/>
          </p:cNvSpPr>
          <p:nvPr>
            <p:ph type="title"/>
          </p:nvPr>
        </p:nvSpPr>
        <p:spPr>
          <a:xfrm>
            <a:off x="1098733" y="2691765"/>
            <a:ext cx="1219200" cy="685800"/>
          </a:xfrm>
        </p:spPr>
        <p:txBody>
          <a:bodyPr/>
          <a:lstStyle/>
          <a:p>
            <a:pPr algn="l"/>
            <a:r>
              <a:rPr lang="zh-CN" altLang="en-US" sz="2800" b="1" dirty="0" smtClean="0">
                <a:solidFill>
                  <a:schemeClr val="bg1"/>
                </a:solidFill>
                <a:ea typeface="楷体_GB2312" pitchFamily="49" charset="-122"/>
              </a:rPr>
              <a:t>说明：</a:t>
            </a:r>
            <a:endParaRPr lang="en-US" altLang="zh-CN" sz="2800" b="1" dirty="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38946" name="Text Box 34"/>
          <p:cNvSpPr txBox="1">
            <a:spLocks noChangeArrowheads="1"/>
          </p:cNvSpPr>
          <p:nvPr/>
        </p:nvSpPr>
        <p:spPr bwMode="auto">
          <a:xfrm>
            <a:off x="5410200" y="2617469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不一定是所给二阶方程的</a:t>
            </a:r>
            <a:r>
              <a:rPr kumimoji="1"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通解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38947" name="Text Box 35"/>
          <p:cNvSpPr txBox="1">
            <a:spLocks noChangeArrowheads="1"/>
          </p:cNvSpPr>
          <p:nvPr/>
        </p:nvSpPr>
        <p:spPr bwMode="auto">
          <a:xfrm>
            <a:off x="2159478" y="3139918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例如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3894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5137714"/>
              </p:ext>
            </p:extLst>
          </p:nvPr>
        </p:nvGraphicFramePr>
        <p:xfrm>
          <a:off x="3297715" y="3174222"/>
          <a:ext cx="812800" cy="522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0" name="Equation" r:id="rId3" imgW="355320" imgH="228600" progId="Equation.DSMT4">
                  <p:embed/>
                </p:oleObj>
              </mc:Choice>
              <mc:Fallback>
                <p:oleObj name="Equation" r:id="rId3" imgW="355320" imgH="228600" progId="Equation.DSMT4">
                  <p:embed/>
                  <p:pic>
                    <p:nvPicPr>
                      <p:cNvPr id="38948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715" y="3174222"/>
                        <a:ext cx="812800" cy="5225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9" name="Text Box 37"/>
          <p:cNvSpPr txBox="1">
            <a:spLocks noChangeArrowheads="1"/>
          </p:cNvSpPr>
          <p:nvPr/>
        </p:nvSpPr>
        <p:spPr bwMode="auto">
          <a:xfrm>
            <a:off x="4185250" y="3174001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是某二阶齐次方程的解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3895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396168"/>
              </p:ext>
            </p:extLst>
          </p:nvPr>
        </p:nvGraphicFramePr>
        <p:xfrm>
          <a:off x="3378678" y="3772267"/>
          <a:ext cx="2164609" cy="526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1" name="Equation" r:id="rId5" imgW="939600" imgH="228600" progId="Equation.DSMT4">
                  <p:embed/>
                </p:oleObj>
              </mc:Choice>
              <mc:Fallback>
                <p:oleObj name="Equation" r:id="rId5" imgW="939600" imgH="228600" progId="Equation.DSMT4">
                  <p:embed/>
                  <p:pic>
                    <p:nvPicPr>
                      <p:cNvPr id="3895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678" y="3772267"/>
                        <a:ext cx="2164609" cy="5265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1" name="Text Box 39"/>
          <p:cNvSpPr txBox="1">
            <a:spLocks noChangeArrowheads="1"/>
          </p:cNvSpPr>
          <p:nvPr/>
        </p:nvSpPr>
        <p:spPr bwMode="auto">
          <a:xfrm>
            <a:off x="5512278" y="3747931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也是齐次方程的解 </a:t>
            </a:r>
          </a:p>
        </p:txBody>
      </p:sp>
      <p:graphicFrame>
        <p:nvGraphicFramePr>
          <p:cNvPr id="38953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006902"/>
              </p:ext>
            </p:extLst>
          </p:nvPr>
        </p:nvGraphicFramePr>
        <p:xfrm>
          <a:off x="2449902" y="4453066"/>
          <a:ext cx="4339087" cy="522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2" name="Equation" r:id="rId7" imgW="2234880" imgH="228600" progId="Equation.DSMT4">
                  <p:embed/>
                </p:oleObj>
              </mc:Choice>
              <mc:Fallback>
                <p:oleObj name="Equation" r:id="rId7" imgW="2234880" imgH="228600" progId="Equation.DSMT4">
                  <p:embed/>
                  <p:pic>
                    <p:nvPicPr>
                      <p:cNvPr id="38953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902" y="4453066"/>
                        <a:ext cx="4339087" cy="5223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4" name="Text Box 42"/>
          <p:cNvSpPr txBox="1">
            <a:spLocks noChangeArrowheads="1"/>
          </p:cNvSpPr>
          <p:nvPr/>
        </p:nvSpPr>
        <p:spPr bwMode="auto">
          <a:xfrm>
            <a:off x="6711355" y="4427867"/>
            <a:ext cx="56761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并不是通解（实际只含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个常数）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955" name="Text Box 43"/>
          <p:cNvSpPr txBox="1">
            <a:spLocks noChangeArrowheads="1"/>
          </p:cNvSpPr>
          <p:nvPr/>
        </p:nvSpPr>
        <p:spPr bwMode="auto">
          <a:xfrm>
            <a:off x="1495408" y="4453065"/>
            <a:ext cx="111280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但是</a:t>
            </a:r>
          </a:p>
        </p:txBody>
      </p:sp>
      <p:graphicFrame>
        <p:nvGraphicFramePr>
          <p:cNvPr id="3895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835656"/>
              </p:ext>
            </p:extLst>
          </p:nvPr>
        </p:nvGraphicFramePr>
        <p:xfrm>
          <a:off x="2276095" y="2628658"/>
          <a:ext cx="3134417" cy="532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3" name="Equation" r:id="rId9" imgW="1346040" imgH="228600" progId="Equation.DSMT4">
                  <p:embed/>
                </p:oleObj>
              </mc:Choice>
              <mc:Fallback>
                <p:oleObj name="Equation" r:id="rId9" imgW="1346040" imgH="228600" progId="Equation.DSMT4">
                  <p:embed/>
                  <p:pic>
                    <p:nvPicPr>
                      <p:cNvPr id="38956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095" y="2628658"/>
                        <a:ext cx="3134417" cy="5322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7" name="Text Box 45"/>
          <p:cNvSpPr txBox="1">
            <a:spLocks noChangeArrowheads="1"/>
          </p:cNvSpPr>
          <p:nvPr/>
        </p:nvSpPr>
        <p:spPr bwMode="auto">
          <a:xfrm>
            <a:off x="8109668" y="3177607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sp>
        <p:nvSpPr>
          <p:cNvPr id="38958" name="Text Box 46"/>
          <p:cNvSpPr txBox="1">
            <a:spLocks noChangeArrowheads="1"/>
          </p:cNvSpPr>
          <p:nvPr/>
        </p:nvSpPr>
        <p:spPr bwMode="auto">
          <a:xfrm>
            <a:off x="523495" y="5460390"/>
            <a:ext cx="40607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为解决通解的判别问题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,  </a:t>
            </a:r>
          </a:p>
        </p:txBody>
      </p:sp>
      <p:sp>
        <p:nvSpPr>
          <p:cNvPr id="38961" name="Text Box 49"/>
          <p:cNvSpPr txBox="1">
            <a:spLocks noChangeArrowheads="1"/>
          </p:cNvSpPr>
          <p:nvPr/>
        </p:nvSpPr>
        <p:spPr bwMode="auto">
          <a:xfrm>
            <a:off x="2184020" y="6038240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kumimoji="1" lang="zh-CN" altLang="zh-CN" sz="2800" b="1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962" name="Text Box 50"/>
          <p:cNvSpPr txBox="1">
            <a:spLocks noChangeArrowheads="1"/>
          </p:cNvSpPr>
          <p:nvPr/>
        </p:nvSpPr>
        <p:spPr bwMode="auto">
          <a:xfrm>
            <a:off x="4333495" y="5460390"/>
            <a:ext cx="46025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下面引入函数的</a:t>
            </a:r>
            <a:r>
              <a:rPr kumimoji="1"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线性相关</a:t>
            </a: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与 </a:t>
            </a:r>
          </a:p>
        </p:txBody>
      </p:sp>
      <p:sp>
        <p:nvSpPr>
          <p:cNvPr id="38963" name="Text Box 51"/>
          <p:cNvSpPr txBox="1">
            <a:spLocks noChangeArrowheads="1"/>
          </p:cNvSpPr>
          <p:nvPr/>
        </p:nvSpPr>
        <p:spPr bwMode="auto">
          <a:xfrm>
            <a:off x="8743963" y="5460390"/>
            <a:ext cx="25282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线性无关</a:t>
            </a: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概念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. </a:t>
            </a:r>
          </a:p>
        </p:txBody>
      </p:sp>
      <p:graphicFrame>
        <p:nvGraphicFramePr>
          <p:cNvPr id="1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467169"/>
              </p:ext>
            </p:extLst>
          </p:nvPr>
        </p:nvGraphicFramePr>
        <p:xfrm>
          <a:off x="2520734" y="252398"/>
          <a:ext cx="2915081" cy="535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4" name="Equation" r:id="rId11" imgW="1244520" imgH="228600" progId="Equation.DSMT4">
                  <p:embed/>
                </p:oleObj>
              </mc:Choice>
              <mc:Fallback>
                <p:oleObj name="Equation" r:id="rId11" imgW="1244520" imgH="228600" progId="Equation.DSMT4">
                  <p:embed/>
                  <p:pic>
                    <p:nvPicPr>
                      <p:cNvPr id="655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734" y="252398"/>
                        <a:ext cx="2915081" cy="5354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5507037" y="197804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是二阶线性齐次方程</a:t>
            </a:r>
          </a:p>
        </p:txBody>
      </p:sp>
      <p:graphicFrame>
        <p:nvGraphicFramePr>
          <p:cNvPr id="2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017285"/>
              </p:ext>
            </p:extLst>
          </p:nvPr>
        </p:nvGraphicFramePr>
        <p:xfrm>
          <a:off x="3276599" y="843081"/>
          <a:ext cx="3659039" cy="483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5" name="Equation" r:id="rId13" imgW="1536480" imgH="203040" progId="Equation.DSMT4">
                  <p:embed/>
                </p:oleObj>
              </mc:Choice>
              <mc:Fallback>
                <p:oleObj name="Equation" r:id="rId13" imgW="1536480" imgH="203040" progId="Equation.DSMT4">
                  <p:embed/>
                  <p:pic>
                    <p:nvPicPr>
                      <p:cNvPr id="6554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599" y="843081"/>
                        <a:ext cx="3659039" cy="483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416010" y="1358266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的两个解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416010" y="1967866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也是该方程的解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2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95499"/>
              </p:ext>
            </p:extLst>
          </p:nvPr>
        </p:nvGraphicFramePr>
        <p:xfrm>
          <a:off x="2383452" y="1408444"/>
          <a:ext cx="5091642" cy="545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" name="Equation" r:id="rId15" imgW="2133360" imgH="228600" progId="Equation.DSMT4">
                  <p:embed/>
                </p:oleObj>
              </mc:Choice>
              <mc:Fallback>
                <p:oleObj name="Equation" r:id="rId15" imgW="2133360" imgH="228600" progId="Equation.DSMT4">
                  <p:embed/>
                  <p:pic>
                    <p:nvPicPr>
                      <p:cNvPr id="6556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3452" y="1408444"/>
                        <a:ext cx="5091642" cy="5455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5962735" y="1326516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kumimoji="1" lang="zh-CN" altLang="zh-CN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348344"/>
              </p:ext>
            </p:extLst>
          </p:nvPr>
        </p:nvGraphicFramePr>
        <p:xfrm>
          <a:off x="7899541" y="1361465"/>
          <a:ext cx="3293478" cy="581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7" name="Equation" r:id="rId17" imgW="1295280" imgH="228600" progId="Equation.DSMT4">
                  <p:embed/>
                </p:oleObj>
              </mc:Choice>
              <mc:Fallback>
                <p:oleObj name="Equation" r:id="rId17" imgW="1295280" imgH="228600" progId="Equation.DSMT4">
                  <p:embed/>
                  <p:pic>
                    <p:nvPicPr>
                      <p:cNvPr id="6556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9541" y="1361465"/>
                        <a:ext cx="3293478" cy="581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1355863" y="252398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注：</a:t>
            </a:r>
            <a:endParaRPr lang="en-US" altLang="zh-CN" sz="2800" b="1" dirty="0">
              <a:solidFill>
                <a:srgbClr val="FFFF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90122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1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8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8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"/>
                                        <p:tgtEl>
                                          <p:spTgt spid="38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1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50"/>
                                        <p:tgtEl>
                                          <p:spTgt spid="38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8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/>
      <p:bldP spid="38946" grpId="0" autoUpdateAnimBg="0"/>
      <p:bldP spid="38947" grpId="0" autoUpdateAnimBg="0"/>
      <p:bldP spid="38949" grpId="0" autoUpdateAnimBg="0"/>
      <p:bldP spid="38951" grpId="0" autoUpdateAnimBg="0"/>
      <p:bldP spid="38954" grpId="0" autoUpdateAnimBg="0"/>
      <p:bldP spid="38955" grpId="0" autoUpdateAnimBg="0"/>
      <p:bldP spid="38957" grpId="0" build="p" autoUpdateAnimBg="0"/>
      <p:bldP spid="38958" grpId="0" build="p" autoUpdateAnimBg="0"/>
      <p:bldP spid="38962" grpId="0" build="p" autoUpdateAnimBg="0"/>
      <p:bldP spid="38963" grpId="0" build="p" autoUpdateAnimBg="0" advAuto="0"/>
      <p:bldP spid="19" grpId="0" build="p" autoUpdateAnimBg="0" advAuto="0"/>
      <p:bldP spid="21" grpId="0" build="p" autoUpdateAnimBg="0" advAuto="0"/>
      <p:bldP spid="22" grpId="0" build="p" autoUpdateAnimBg="0" advAuto="0"/>
      <p:bldP spid="2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8CD76FF1-C701-4613-A70A-D965B95D8B5F}"/>
              </a:ext>
            </a:extLst>
          </p:cNvPr>
          <p:cNvGrpSpPr/>
          <p:nvPr/>
        </p:nvGrpSpPr>
        <p:grpSpPr>
          <a:xfrm>
            <a:off x="469273" y="573714"/>
            <a:ext cx="10840411" cy="4806806"/>
            <a:chOff x="82203" y="623872"/>
            <a:chExt cx="10840411" cy="4806806"/>
          </a:xfrm>
        </p:grpSpPr>
        <p:sp>
          <p:nvSpPr>
            <p:cNvPr id="12" name="Rectangle: Rounded Corners 1">
              <a:extLst>
                <a:ext uri="{FF2B5EF4-FFF2-40B4-BE49-F238E27FC236}">
                  <a16:creationId xmlns:a16="http://schemas.microsoft.com/office/drawing/2014/main" id="{433BFD5F-17FD-4858-BE18-BFD5A091D0FA}"/>
                </a:ext>
              </a:extLst>
            </p:cNvPr>
            <p:cNvSpPr/>
            <p:nvPr/>
          </p:nvSpPr>
          <p:spPr>
            <a:xfrm>
              <a:off x="856343" y="1242653"/>
              <a:ext cx="10066271" cy="4188025"/>
            </a:xfrm>
            <a:prstGeom prst="roundRect">
              <a:avLst>
                <a:gd name="adj" fmla="val 3407"/>
              </a:avLst>
            </a:prstGeom>
            <a:gradFill flip="none" rotWithShape="1">
              <a:gsLst>
                <a:gs pos="50000">
                  <a:srgbClr val="1068B8"/>
                </a:gs>
                <a:gs pos="0">
                  <a:srgbClr val="0A2B7C"/>
                </a:gs>
                <a:gs pos="100000">
                  <a:srgbClr val="46A9E6"/>
                </a:gs>
              </a:gsLst>
              <a:path path="circle">
                <a:fillToRect r="100000" b="100000"/>
              </a:path>
              <a:tileRect l="-100000" t="-100000"/>
            </a:gradFill>
            <a:ln w="3175">
              <a:noFill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PA-文本框 1">
              <a:extLst>
                <a:ext uri="{FF2B5EF4-FFF2-40B4-BE49-F238E27FC236}">
                  <a16:creationId xmlns:a16="http://schemas.microsoft.com/office/drawing/2014/main" id="{1C9D5722-E9D6-4F2B-A9AD-2DDCA1DAAE4E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2203" y="623872"/>
              <a:ext cx="18621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定义</a:t>
              </a:r>
              <a:endParaRPr lang="id-ID" sz="60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14" name="Text Box 4">
            <a:extLst>
              <a:ext uri="{FF2B5EF4-FFF2-40B4-BE49-F238E27FC236}">
                <a16:creationId xmlns:a16="http://schemas.microsoft.com/office/drawing/2014/main" id="{F9B06E4D-F4F7-4EDB-BFAD-0E45992E4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445" y="1403015"/>
            <a:ext cx="817258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,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, … , </a:t>
            </a:r>
            <a:r>
              <a:rPr lang="en-US" altLang="zh-CN" sz="28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i="1" baseline="-25000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为定义在区间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上的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152EDA15-9D60-4234-915E-5315D373E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681" y="2030262"/>
            <a:ext cx="1268397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函数，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23F32853-CF0B-4019-BC6D-FDCBA51A4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081" y="2030262"/>
            <a:ext cx="79248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如果存在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个不全为零的常数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… , </a:t>
            </a:r>
            <a:r>
              <a:rPr lang="en-US" altLang="zh-CN" sz="28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i="1" baseline="-25000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lang="en-US" altLang="zh-CN" sz="2800" b="1" i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B5158872-4459-4B51-98E6-5BD47B694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681" y="2716062"/>
            <a:ext cx="42672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得当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时有恒等式</a:t>
            </a:r>
          </a:p>
        </p:txBody>
      </p:sp>
      <p:sp>
        <p:nvSpPr>
          <p:cNvPr id="18" name="Text Box 8">
            <a:extLst>
              <a:ext uri="{FF2B5EF4-FFF2-40B4-BE49-F238E27FC236}">
                <a16:creationId xmlns:a16="http://schemas.microsoft.com/office/drawing/2014/main" id="{DC0B09AF-A12A-49E3-9E81-0F2600567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7081" y="3325662"/>
            <a:ext cx="60198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+ 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+ … + 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i="1" baseline="-25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i="1" baseline="-25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 0</a:t>
            </a:r>
          </a:p>
        </p:txBody>
      </p:sp>
      <p:sp>
        <p:nvSpPr>
          <p:cNvPr id="19" name="Text Box 9">
            <a:extLst>
              <a:ext uri="{FF2B5EF4-FFF2-40B4-BE49-F238E27FC236}">
                <a16:creationId xmlns:a16="http://schemas.microsoft.com/office/drawing/2014/main" id="{EC8ECA75-F863-4743-8BFE-34EC4BAA9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681" y="4011462"/>
            <a:ext cx="15240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成立，</a:t>
            </a:r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C3265753-630C-4365-9502-2E9E27205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081" y="4036862"/>
            <a:ext cx="70104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那么就称这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个函数在区间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线性相关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</a:p>
        </p:txBody>
      </p:sp>
      <p:sp>
        <p:nvSpPr>
          <p:cNvPr id="21" name="Text Box 11">
            <a:extLst>
              <a:ext uri="{FF2B5EF4-FFF2-40B4-BE49-F238E27FC236}">
                <a16:creationId xmlns:a16="http://schemas.microsoft.com/office/drawing/2014/main" id="{CA7DF672-FAE7-4944-A7FB-F379458A1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7881" y="4011462"/>
            <a:ext cx="9906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否则</a:t>
            </a:r>
          </a:p>
        </p:txBody>
      </p:sp>
      <p:sp>
        <p:nvSpPr>
          <p:cNvPr id="22" name="Text Box 12">
            <a:extLst>
              <a:ext uri="{FF2B5EF4-FFF2-40B4-BE49-F238E27FC236}">
                <a16:creationId xmlns:a16="http://schemas.microsoft.com/office/drawing/2014/main" id="{9C2203A4-F086-42AF-9754-9C08B1E69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681" y="4671862"/>
            <a:ext cx="24384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称</a:t>
            </a: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线性无关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901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>
            <a:extLst>
              <a:ext uri="{FF2B5EF4-FFF2-40B4-BE49-F238E27FC236}">
                <a16:creationId xmlns:a16="http://schemas.microsoft.com/office/drawing/2014/main" id="{BB165145-7946-4F18-A424-7B9E02F72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9300" y="455729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例如，函数 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 , cos</a:t>
            </a:r>
            <a:r>
              <a:rPr lang="en-US" altLang="zh-CN" sz="2800" b="1" baseline="30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, sin</a:t>
            </a:r>
            <a:r>
              <a:rPr lang="en-US" altLang="zh-CN" sz="2800" b="1" baseline="30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在整个数轴上是线性相</a:t>
            </a:r>
          </a:p>
        </p:txBody>
      </p:sp>
      <p:sp>
        <p:nvSpPr>
          <p:cNvPr id="4" name="Text Box 14">
            <a:extLst>
              <a:ext uri="{FF2B5EF4-FFF2-40B4-BE49-F238E27FC236}">
                <a16:creationId xmlns:a16="http://schemas.microsoft.com/office/drawing/2014/main" id="{7054EB97-2239-4201-8877-CB41B11C7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650" y="1090729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关的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B07BDA3E-5A2A-43AC-A591-0CEB6D436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350" y="1065329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因为有恒等式</a:t>
            </a:r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9F553144-9E0E-483E-A486-3E8D8EA3B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8550" y="1092317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1 - cos</a:t>
            </a:r>
            <a:r>
              <a:rPr lang="en-US" altLang="zh-CN" sz="2800" b="1" baseline="30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- sin</a:t>
            </a:r>
            <a:r>
              <a:rPr lang="en-US" altLang="zh-CN" sz="2800" b="1" baseline="30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 0 .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509443E4-F7B2-4AD4-BDC6-1BFB98078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271" y="1688699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又如，函数 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1 ,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800" b="1" baseline="30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在整个数轴上是线性无关的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2B474ED6-E948-4577-A58C-29D3FAA6A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221" y="2349099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因为如果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800" b="1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800" b="1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800" b="1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不全为零，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402B1C28-AAF9-4BE1-80A5-E9AF9DDF0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321" y="2336399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一元二次方程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D8B36745-848A-4D56-92EB-49674591E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121" y="3022199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800" b="1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+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800" b="1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800" b="1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+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800" b="1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800" b="1" baseline="30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 0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E01D8A92-3E0F-4F81-8ECB-777D4581D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921" y="3669899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最多两个实根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1EBD4438-C612-41ED-9117-8DAD51EAB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121" y="3671487"/>
            <a:ext cx="640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因此要使</a:t>
            </a:r>
            <a:r>
              <a:rPr lang="zh-CN" altLang="en-US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800" b="1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+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800" b="1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800" b="1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+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800" b="1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800" b="1" baseline="30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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0 </a:t>
            </a: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只有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800" b="1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800" b="1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6EB51103-D13B-4DFF-B59B-2A640C222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921" y="4330299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800" b="1" baseline="-25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全等于零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ADFD36B5-C675-4094-AD7E-DF004B76E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271" y="4990699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对于两个函数来说，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60058470-FA86-40FB-83C8-F514FD3E6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7321" y="5003399"/>
            <a:ext cx="510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如果它们之比为常数，则线性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AA125428-2C0E-4515-B266-3A8164B79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921" y="5651099"/>
            <a:ext cx="142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相关，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20226BA7-636B-4E9A-BE6D-89C11112C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321" y="5661912"/>
            <a:ext cx="320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否则就线性无关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787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40613" y="356555"/>
            <a:ext cx="8610600" cy="68580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chemeClr val="bg1"/>
                </a:solidFill>
                <a:ea typeface="楷体_GB2312" pitchFamily="49" charset="-122"/>
              </a:rPr>
              <a:t>两个函数在区间 </a:t>
            </a:r>
            <a:r>
              <a:rPr lang="en-US" altLang="zh-CN" sz="3200" b="1" i="1" dirty="0">
                <a:solidFill>
                  <a:schemeClr val="bg1"/>
                </a:solidFill>
                <a:ea typeface="楷体_GB2312" pitchFamily="49" charset="-122"/>
              </a:rPr>
              <a:t>I</a:t>
            </a:r>
            <a:r>
              <a:rPr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ea typeface="楷体_GB2312" pitchFamily="49" charset="-122"/>
              </a:rPr>
              <a:t>上线性相关与线性无关的</a:t>
            </a:r>
            <a:r>
              <a:rPr lang="zh-CN" altLang="en-US" sz="2800" b="1" dirty="0">
                <a:solidFill>
                  <a:srgbClr val="FFFF00"/>
                </a:solidFill>
                <a:ea typeface="楷体_GB2312" pitchFamily="49" charset="-122"/>
              </a:rPr>
              <a:t>充要条件</a:t>
            </a:r>
            <a:r>
              <a:rPr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256769"/>
              </p:ext>
            </p:extLst>
          </p:nvPr>
        </p:nvGraphicFramePr>
        <p:xfrm>
          <a:off x="1352773" y="966156"/>
          <a:ext cx="1820330" cy="546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0" name="Equation" r:id="rId3" imgW="761760" imgH="228600" progId="Equation.DSMT4">
                  <p:embed/>
                </p:oleObj>
              </mc:Choice>
              <mc:Fallback>
                <p:oleObj name="Equation" r:id="rId3" imgW="761760" imgH="228600" progId="Equation.DSMT4">
                  <p:embed/>
                  <p:pic>
                    <p:nvPicPr>
                      <p:cNvPr id="102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773" y="966156"/>
                        <a:ext cx="1820330" cy="5460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3269413" y="993143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线性相关</a:t>
            </a:r>
          </a:p>
        </p:txBody>
      </p:sp>
      <p:grpSp>
        <p:nvGrpSpPr>
          <p:cNvPr id="10253" name="Group 13"/>
          <p:cNvGrpSpPr>
            <a:grpSpLocks/>
          </p:cNvGrpSpPr>
          <p:nvPr/>
        </p:nvGrpSpPr>
        <p:grpSpPr bwMode="auto">
          <a:xfrm>
            <a:off x="4869614" y="1221743"/>
            <a:ext cx="1008063" cy="152400"/>
            <a:chOff x="2304" y="1056"/>
            <a:chExt cx="720" cy="96"/>
          </a:xfrm>
        </p:grpSpPr>
        <p:sp>
          <p:nvSpPr>
            <p:cNvPr id="10245" name="Line 5"/>
            <p:cNvSpPr>
              <a:spLocks noChangeShapeType="1"/>
            </p:cNvSpPr>
            <p:nvPr/>
          </p:nvSpPr>
          <p:spPr bwMode="auto">
            <a:xfrm>
              <a:off x="2304" y="1056"/>
              <a:ext cx="7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10246" name="Line 6"/>
            <p:cNvSpPr>
              <a:spLocks noChangeShapeType="1"/>
            </p:cNvSpPr>
            <p:nvPr/>
          </p:nvSpPr>
          <p:spPr bwMode="auto">
            <a:xfrm flipH="1">
              <a:off x="2304" y="1152"/>
              <a:ext cx="7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5936413" y="978856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存在不全为 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</a:p>
        </p:txBody>
      </p:sp>
      <p:graphicFrame>
        <p:nvGraphicFramePr>
          <p:cNvPr id="102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36911"/>
              </p:ext>
            </p:extLst>
          </p:nvPr>
        </p:nvGraphicFramePr>
        <p:xfrm>
          <a:off x="8607449" y="1000657"/>
          <a:ext cx="812266" cy="51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1" name="Equation" r:id="rId5" imgW="355320" imgH="228600" progId="Equation.DSMT4">
                  <p:embed/>
                </p:oleObj>
              </mc:Choice>
              <mc:Fallback>
                <p:oleObj name="Equation" r:id="rId5" imgW="355320" imgH="228600" progId="Equation.DSMT4">
                  <p:embed/>
                  <p:pic>
                    <p:nvPicPr>
                      <p:cNvPr id="102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7449" y="1000657"/>
                        <a:ext cx="812266" cy="51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9365413" y="966156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使</a:t>
            </a:r>
          </a:p>
        </p:txBody>
      </p:sp>
      <p:graphicFrame>
        <p:nvGraphicFramePr>
          <p:cNvPr id="102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656581"/>
              </p:ext>
            </p:extLst>
          </p:nvPr>
        </p:nvGraphicFramePr>
        <p:xfrm>
          <a:off x="6309008" y="1457857"/>
          <a:ext cx="3056405" cy="544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2" name="Equation" r:id="rId7" imgW="1282680" imgH="228600" progId="Equation.DSMT4">
                  <p:embed/>
                </p:oleObj>
              </mc:Choice>
              <mc:Fallback>
                <p:oleObj name="Equation" r:id="rId7" imgW="1282680" imgH="228600" progId="Equation.DSMT4">
                  <p:embed/>
                  <p:pic>
                    <p:nvPicPr>
                      <p:cNvPr id="1025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9008" y="1457857"/>
                        <a:ext cx="3056405" cy="5447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54" name="Group 14"/>
          <p:cNvGrpSpPr>
            <a:grpSpLocks/>
          </p:cNvGrpSpPr>
          <p:nvPr/>
        </p:nvGrpSpPr>
        <p:grpSpPr bwMode="auto">
          <a:xfrm>
            <a:off x="4945814" y="2439355"/>
            <a:ext cx="1008063" cy="152400"/>
            <a:chOff x="2352" y="1824"/>
            <a:chExt cx="720" cy="96"/>
          </a:xfrm>
        </p:grpSpPr>
        <p:sp>
          <p:nvSpPr>
            <p:cNvPr id="10251" name="Line 11"/>
            <p:cNvSpPr>
              <a:spLocks noChangeShapeType="1"/>
            </p:cNvSpPr>
            <p:nvPr/>
          </p:nvSpPr>
          <p:spPr bwMode="auto">
            <a:xfrm>
              <a:off x="2352" y="1824"/>
              <a:ext cx="7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10252" name="Line 12"/>
            <p:cNvSpPr>
              <a:spLocks noChangeShapeType="1"/>
            </p:cNvSpPr>
            <p:nvPr/>
          </p:nvSpPr>
          <p:spPr bwMode="auto">
            <a:xfrm flipH="1">
              <a:off x="2352" y="1920"/>
              <a:ext cx="7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102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929405"/>
              </p:ext>
            </p:extLst>
          </p:nvPr>
        </p:nvGraphicFramePr>
        <p:xfrm>
          <a:off x="6177714" y="2043671"/>
          <a:ext cx="1818974" cy="966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3" name="Equation" r:id="rId9" imgW="812520" imgH="431640" progId="Equation.DSMT4">
                  <p:embed/>
                </p:oleObj>
              </mc:Choice>
              <mc:Fallback>
                <p:oleObj name="Equation" r:id="rId9" imgW="812520" imgH="431640" progId="Equation.DSMT4">
                  <p:embed/>
                  <p:pic>
                    <p:nvPicPr>
                      <p:cNvPr id="1025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7714" y="2043671"/>
                        <a:ext cx="1818974" cy="9663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87" name="Group 47"/>
          <p:cNvGrpSpPr>
            <a:grpSpLocks/>
          </p:cNvGrpSpPr>
          <p:nvPr/>
        </p:nvGrpSpPr>
        <p:grpSpPr bwMode="auto">
          <a:xfrm>
            <a:off x="8451013" y="2109155"/>
            <a:ext cx="1676400" cy="930275"/>
            <a:chOff x="4464" y="1248"/>
            <a:chExt cx="1056" cy="586"/>
          </a:xfrm>
        </p:grpSpPr>
        <p:sp>
          <p:nvSpPr>
            <p:cNvPr id="10258" name="Rectangle 18"/>
            <p:cNvSpPr>
              <a:spLocks noChangeArrowheads="1"/>
            </p:cNvSpPr>
            <p:nvPr/>
          </p:nvSpPr>
          <p:spPr bwMode="auto">
            <a:xfrm>
              <a:off x="4464" y="1248"/>
              <a:ext cx="912" cy="576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6600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10256" name="Text Box 16"/>
            <p:cNvSpPr txBox="1">
              <a:spLocks noChangeArrowheads="1"/>
            </p:cNvSpPr>
            <p:nvPr/>
          </p:nvSpPr>
          <p:spPr bwMode="auto">
            <a:xfrm>
              <a:off x="4464" y="1248"/>
              <a:ext cx="10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 </a:t>
              </a:r>
              <a:r>
                <a:rPr kumimoji="1" lang="zh-CN" altLang="en-US" sz="2400" b="1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无妨设</a:t>
              </a:r>
            </a:p>
          </p:txBody>
        </p:sp>
        <p:graphicFrame>
          <p:nvGraphicFramePr>
            <p:cNvPr id="10257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6878793"/>
                </p:ext>
              </p:extLst>
            </p:nvPr>
          </p:nvGraphicFramePr>
          <p:xfrm>
            <a:off x="4579" y="1486"/>
            <a:ext cx="720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44" name="Equation" r:id="rId11" imgW="469800" imgH="228600" progId="Equation.DSMT4">
                    <p:embed/>
                  </p:oleObj>
                </mc:Choice>
                <mc:Fallback>
                  <p:oleObj name="Equation" r:id="rId11" imgW="469800" imgH="228600" progId="Equation.DSMT4">
                    <p:embed/>
                    <p:pic>
                      <p:nvPicPr>
                        <p:cNvPr id="10257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9" y="1486"/>
                          <a:ext cx="720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26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020864"/>
              </p:ext>
            </p:extLst>
          </p:nvPr>
        </p:nvGraphicFramePr>
        <p:xfrm>
          <a:off x="1643284" y="3752218"/>
          <a:ext cx="1804456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5" name="Equation" r:id="rId13" imgW="761760" imgH="228600" progId="Equation.DSMT4">
                  <p:embed/>
                </p:oleObj>
              </mc:Choice>
              <mc:Fallback>
                <p:oleObj name="Equation" r:id="rId13" imgW="761760" imgH="228600" progId="Equation.DSMT4">
                  <p:embed/>
                  <p:pic>
                    <p:nvPicPr>
                      <p:cNvPr id="1026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284" y="3752218"/>
                        <a:ext cx="1804456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3409113" y="3763331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线性无关</a:t>
            </a:r>
          </a:p>
        </p:txBody>
      </p:sp>
      <p:grpSp>
        <p:nvGrpSpPr>
          <p:cNvPr id="10262" name="Group 22"/>
          <p:cNvGrpSpPr>
            <a:grpSpLocks/>
          </p:cNvGrpSpPr>
          <p:nvPr/>
        </p:nvGrpSpPr>
        <p:grpSpPr bwMode="auto">
          <a:xfrm>
            <a:off x="5009314" y="3955418"/>
            <a:ext cx="1008063" cy="152400"/>
            <a:chOff x="2352" y="1824"/>
            <a:chExt cx="720" cy="96"/>
          </a:xfrm>
        </p:grpSpPr>
        <p:sp>
          <p:nvSpPr>
            <p:cNvPr id="10263" name="Line 23"/>
            <p:cNvSpPr>
              <a:spLocks noChangeShapeType="1"/>
            </p:cNvSpPr>
            <p:nvPr/>
          </p:nvSpPr>
          <p:spPr bwMode="auto">
            <a:xfrm>
              <a:off x="2352" y="1824"/>
              <a:ext cx="7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10264" name="Line 24"/>
            <p:cNvSpPr>
              <a:spLocks noChangeShapeType="1"/>
            </p:cNvSpPr>
            <p:nvPr/>
          </p:nvSpPr>
          <p:spPr bwMode="auto">
            <a:xfrm flipH="1">
              <a:off x="2352" y="1920"/>
              <a:ext cx="72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1026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0657777"/>
              </p:ext>
            </p:extLst>
          </p:nvPr>
        </p:nvGraphicFramePr>
        <p:xfrm>
          <a:off x="6177714" y="3540287"/>
          <a:ext cx="952499" cy="1012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6" name="Equation" r:id="rId15" imgW="406080" imgH="431640" progId="Equation.DSMT4">
                  <p:embed/>
                </p:oleObj>
              </mc:Choice>
              <mc:Fallback>
                <p:oleObj name="Equation" r:id="rId15" imgW="406080" imgH="431640" progId="Equation.DSMT4">
                  <p:embed/>
                  <p:pic>
                    <p:nvPicPr>
                      <p:cNvPr id="1026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7714" y="3540287"/>
                        <a:ext cx="952499" cy="1012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70" name="Group 30"/>
          <p:cNvGrpSpPr>
            <a:grpSpLocks/>
          </p:cNvGrpSpPr>
          <p:nvPr/>
        </p:nvGrpSpPr>
        <p:grpSpPr bwMode="auto">
          <a:xfrm>
            <a:off x="7142913" y="3779206"/>
            <a:ext cx="495300" cy="495300"/>
            <a:chOff x="3744" y="2433"/>
            <a:chExt cx="312" cy="312"/>
          </a:xfrm>
        </p:grpSpPr>
        <p:graphicFrame>
          <p:nvGraphicFramePr>
            <p:cNvPr id="10268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4531955"/>
                </p:ext>
              </p:extLst>
            </p:nvPr>
          </p:nvGraphicFramePr>
          <p:xfrm>
            <a:off x="3744" y="2433"/>
            <a:ext cx="312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47" name="Equation" r:id="rId17" imgW="126720" imgH="126720" progId="Equation.DSMT4">
                    <p:embed/>
                  </p:oleObj>
                </mc:Choice>
                <mc:Fallback>
                  <p:oleObj name="Equation" r:id="rId17" imgW="126720" imgH="126720" progId="Equation.DSMT4">
                    <p:embed/>
                    <p:pic>
                      <p:nvPicPr>
                        <p:cNvPr id="10268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433"/>
                          <a:ext cx="312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7" name="Line 27"/>
            <p:cNvSpPr>
              <a:spLocks noChangeShapeType="1"/>
            </p:cNvSpPr>
            <p:nvPr/>
          </p:nvSpPr>
          <p:spPr bwMode="auto">
            <a:xfrm>
              <a:off x="3840" y="2448"/>
              <a:ext cx="96" cy="28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10269" name="Text Box 29"/>
          <p:cNvSpPr txBox="1">
            <a:spLocks noChangeArrowheads="1"/>
          </p:cNvSpPr>
          <p:nvPr/>
        </p:nvSpPr>
        <p:spPr bwMode="auto">
          <a:xfrm>
            <a:off x="7600113" y="3741106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常数</a:t>
            </a:r>
          </a:p>
        </p:txBody>
      </p:sp>
      <p:sp>
        <p:nvSpPr>
          <p:cNvPr id="10272" name="Text Box 32"/>
          <p:cNvSpPr txBox="1">
            <a:spLocks noChangeArrowheads="1"/>
          </p:cNvSpPr>
          <p:nvPr/>
        </p:nvSpPr>
        <p:spPr bwMode="auto">
          <a:xfrm>
            <a:off x="1910513" y="5247643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思考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027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679512"/>
              </p:ext>
            </p:extLst>
          </p:nvPr>
        </p:nvGraphicFramePr>
        <p:xfrm>
          <a:off x="3099070" y="5304377"/>
          <a:ext cx="2053778" cy="506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8" name="Equation" r:id="rId19" imgW="927000" imgH="228600" progId="Equation.DSMT4">
                  <p:embed/>
                </p:oleObj>
              </mc:Choice>
              <mc:Fallback>
                <p:oleObj name="Equation" r:id="rId19" imgW="927000" imgH="228600" progId="Equation.DSMT4">
                  <p:embed/>
                  <p:pic>
                    <p:nvPicPr>
                      <p:cNvPr id="1027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9070" y="5304377"/>
                        <a:ext cx="2053778" cy="506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4" name="Text Box 34"/>
          <p:cNvSpPr txBox="1">
            <a:spLocks noChangeArrowheads="1"/>
          </p:cNvSpPr>
          <p:nvPr/>
        </p:nvSpPr>
        <p:spPr bwMode="auto">
          <a:xfrm>
            <a:off x="5110913" y="5309556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中有一个恒为 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0, 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1027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797501"/>
              </p:ext>
            </p:extLst>
          </p:nvPr>
        </p:nvGraphicFramePr>
        <p:xfrm>
          <a:off x="8376251" y="5301732"/>
          <a:ext cx="1696855" cy="509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" name="Equation" r:id="rId21" imgW="761760" imgH="228600" progId="Equation.DSMT4">
                  <p:embed/>
                </p:oleObj>
              </mc:Choice>
              <mc:Fallback>
                <p:oleObj name="Equation" r:id="rId21" imgW="761760" imgH="228600" progId="Equation.DSMT4">
                  <p:embed/>
                  <p:pic>
                    <p:nvPicPr>
                      <p:cNvPr id="10275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6251" y="5301732"/>
                        <a:ext cx="1696855" cy="509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6" name="Text Box 36"/>
          <p:cNvSpPr txBox="1">
            <a:spLocks noChangeArrowheads="1"/>
          </p:cNvSpPr>
          <p:nvPr/>
        </p:nvSpPr>
        <p:spPr bwMode="auto">
          <a:xfrm>
            <a:off x="2901113" y="5842956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必线性</a:t>
            </a:r>
          </a:p>
        </p:txBody>
      </p:sp>
      <p:sp>
        <p:nvSpPr>
          <p:cNvPr id="10277" name="Line 37"/>
          <p:cNvSpPr>
            <a:spLocks noChangeShapeType="1"/>
          </p:cNvSpPr>
          <p:nvPr/>
        </p:nvSpPr>
        <p:spPr bwMode="auto">
          <a:xfrm>
            <a:off x="4107613" y="6376355"/>
            <a:ext cx="1371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0278" name="Text Box 38"/>
          <p:cNvSpPr txBox="1">
            <a:spLocks noChangeArrowheads="1"/>
          </p:cNvSpPr>
          <p:nvPr/>
        </p:nvSpPr>
        <p:spPr bwMode="auto">
          <a:xfrm>
            <a:off x="4272713" y="5842956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相关</a:t>
            </a:r>
          </a:p>
        </p:txBody>
      </p:sp>
    </p:spTree>
    <p:extLst>
      <p:ext uri="{BB962C8B-B14F-4D97-AF65-F5344CB8AC3E}">
        <p14:creationId xmlns:p14="http://schemas.microsoft.com/office/powerpoint/2010/main" val="117073890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utoUpdateAnimBg="0"/>
      <p:bldP spid="10247" grpId="0" autoUpdateAnimBg="0"/>
      <p:bldP spid="10249" grpId="0" autoUpdateAnimBg="0"/>
      <p:bldP spid="10261" grpId="0" autoUpdateAnimBg="0"/>
      <p:bldP spid="10269" grpId="0" autoUpdateAnimBg="0"/>
      <p:bldP spid="10272" grpId="0" autoUpdateAnimBg="0"/>
      <p:bldP spid="10274" grpId="0" autoUpdateAnimBg="0"/>
      <p:bldP spid="10276" grpId="0" autoUpdateAnimBg="0"/>
      <p:bldP spid="1027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0">
            <a:extLst>
              <a:ext uri="{FF2B5EF4-FFF2-40B4-BE49-F238E27FC236}">
                <a16:creationId xmlns:a16="http://schemas.microsoft.com/office/drawing/2014/main" id="{2AE219A2-3A3A-4CA2-B9C9-E6AF24CB487F}"/>
              </a:ext>
            </a:extLst>
          </p:cNvPr>
          <p:cNvSpPr txBox="1">
            <a:spLocks noChangeArrowheads="1"/>
          </p:cNvSpPr>
          <p:nvPr/>
        </p:nvSpPr>
        <p:spPr>
          <a:xfrm>
            <a:off x="3266984" y="246735"/>
            <a:ext cx="6215354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二、</a:t>
            </a:r>
            <a:r>
              <a:rPr kumimoji="1"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齐次线性微分方程解的结构</a:t>
            </a:r>
            <a:endParaRPr kumimoji="0" lang="zh-CN" altLang="en-US" sz="3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E5F4291-CD0D-42D3-900A-13588E563A01}"/>
              </a:ext>
            </a:extLst>
          </p:cNvPr>
          <p:cNvGrpSpPr/>
          <p:nvPr/>
        </p:nvGrpSpPr>
        <p:grpSpPr>
          <a:xfrm>
            <a:off x="450021" y="682142"/>
            <a:ext cx="11032917" cy="4161914"/>
            <a:chOff x="82202" y="623872"/>
            <a:chExt cx="11032917" cy="4161914"/>
          </a:xfrm>
        </p:grpSpPr>
        <p:sp>
          <p:nvSpPr>
            <p:cNvPr id="16" name="Rectangle: Rounded Corners 1">
              <a:extLst>
                <a:ext uri="{FF2B5EF4-FFF2-40B4-BE49-F238E27FC236}">
                  <a16:creationId xmlns:a16="http://schemas.microsoft.com/office/drawing/2014/main" id="{40853927-3A8A-4298-84FA-BD413D486A5A}"/>
                </a:ext>
              </a:extLst>
            </p:cNvPr>
            <p:cNvSpPr/>
            <p:nvPr/>
          </p:nvSpPr>
          <p:spPr>
            <a:xfrm>
              <a:off x="856343" y="1242654"/>
              <a:ext cx="10258776" cy="3543132"/>
            </a:xfrm>
            <a:prstGeom prst="roundRect">
              <a:avLst>
                <a:gd name="adj" fmla="val 3407"/>
              </a:avLst>
            </a:prstGeom>
            <a:gradFill flip="none" rotWithShape="1">
              <a:gsLst>
                <a:gs pos="50000">
                  <a:srgbClr val="1068B8"/>
                </a:gs>
                <a:gs pos="0">
                  <a:srgbClr val="0A2B7C"/>
                </a:gs>
                <a:gs pos="100000">
                  <a:srgbClr val="46A9E6"/>
                </a:gs>
              </a:gsLst>
              <a:path path="circle">
                <a:fillToRect r="100000" b="100000"/>
              </a:path>
              <a:tileRect l="-100000" t="-100000"/>
            </a:gradFill>
            <a:ln w="3175">
              <a:noFill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PA-文本框 1">
              <a:extLst>
                <a:ext uri="{FF2B5EF4-FFF2-40B4-BE49-F238E27FC236}">
                  <a16:creationId xmlns:a16="http://schemas.microsoft.com/office/drawing/2014/main" id="{99B48E5E-60B7-4EBB-B411-90C5CBF87A1B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82202" y="623872"/>
              <a:ext cx="230280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定理</a:t>
              </a:r>
              <a:r>
                <a:rPr lang="en-US" altLang="zh-CN" sz="6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1</a:t>
              </a:r>
              <a:endParaRPr lang="id-ID" sz="60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18" name="Text Box 4">
            <a:extLst>
              <a:ext uri="{FF2B5EF4-FFF2-40B4-BE49-F238E27FC236}">
                <a16:creationId xmlns:a16="http://schemas.microsoft.com/office/drawing/2014/main" id="{082DA611-7A72-452C-B5FF-48BFE4185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5824" y="1480827"/>
            <a:ext cx="8166234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如果函数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是二阶齐次线性方程</a:t>
            </a:r>
          </a:p>
        </p:txBody>
      </p:sp>
      <p:graphicFrame>
        <p:nvGraphicFramePr>
          <p:cNvPr id="19" name="Object 5">
            <a:extLst>
              <a:ext uri="{FF2B5EF4-FFF2-40B4-BE49-F238E27FC236}">
                <a16:creationId xmlns:a16="http://schemas.microsoft.com/office/drawing/2014/main" id="{0E5A29D7-EAE6-47FC-AA44-D283DBA6D4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888939"/>
              </p:ext>
            </p:extLst>
          </p:nvPr>
        </p:nvGraphicFramePr>
        <p:xfrm>
          <a:off x="4617471" y="2197776"/>
          <a:ext cx="32258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公式" r:id="rId4" imgW="1457280" imgH="171610" progId="Equation.3">
                  <p:embed/>
                </p:oleObj>
              </mc:Choice>
              <mc:Fallback>
                <p:oleObj name="公式" r:id="rId4" imgW="1457280" imgH="171610" progId="Equation.3">
                  <p:embed/>
                  <p:pic>
                    <p:nvPicPr>
                      <p:cNvPr id="69637" name="Object 5">
                        <a:extLst>
                          <a:ext uri="{FF2B5EF4-FFF2-40B4-BE49-F238E27FC236}">
                            <a16:creationId xmlns:a16="http://schemas.microsoft.com/office/drawing/2014/main" id="{2271E1C4-C71A-4F94-84ED-27490E93ED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7471" y="2197776"/>
                        <a:ext cx="32258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6">
            <a:extLst>
              <a:ext uri="{FF2B5EF4-FFF2-40B4-BE49-F238E27FC236}">
                <a16:creationId xmlns:a16="http://schemas.microsoft.com/office/drawing/2014/main" id="{04A21C6B-C3C2-4E08-8C34-3FBF347C3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6658" y="2794676"/>
            <a:ext cx="44958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的两个线性无关的特解，</a:t>
            </a:r>
          </a:p>
        </p:txBody>
      </p:sp>
      <p:graphicFrame>
        <p:nvGraphicFramePr>
          <p:cNvPr id="21" name="Object 7">
            <a:extLst>
              <a:ext uri="{FF2B5EF4-FFF2-40B4-BE49-F238E27FC236}">
                <a16:creationId xmlns:a16="http://schemas.microsoft.com/office/drawing/2014/main" id="{DD3556D8-7042-4D0B-9B50-FA072E9117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221245"/>
              </p:ext>
            </p:extLst>
          </p:nvPr>
        </p:nvGraphicFramePr>
        <p:xfrm>
          <a:off x="3907858" y="3442376"/>
          <a:ext cx="29495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公式" r:id="rId6" imgW="1333440" imgH="190358" progId="Equation.3">
                  <p:embed/>
                </p:oleObj>
              </mc:Choice>
              <mc:Fallback>
                <p:oleObj name="公式" r:id="rId6" imgW="1333440" imgH="190358" progId="Equation.3">
                  <p:embed/>
                  <p:pic>
                    <p:nvPicPr>
                      <p:cNvPr id="69639" name="Object 7">
                        <a:extLst>
                          <a:ext uri="{FF2B5EF4-FFF2-40B4-BE49-F238E27FC236}">
                            <a16:creationId xmlns:a16="http://schemas.microsoft.com/office/drawing/2014/main" id="{7AAEE987-3BC5-42CB-9528-04F3AEC634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7858" y="3442376"/>
                        <a:ext cx="294957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8">
            <a:extLst>
              <a:ext uri="{FF2B5EF4-FFF2-40B4-BE49-F238E27FC236}">
                <a16:creationId xmlns:a16="http://schemas.microsoft.com/office/drawing/2014/main" id="{C226FC13-BEC7-48E5-91F8-1550F63A9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9658" y="3367764"/>
            <a:ext cx="35052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是任意常数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3" name="Text Box 9">
            <a:extLst>
              <a:ext uri="{FF2B5EF4-FFF2-40B4-BE49-F238E27FC236}">
                <a16:creationId xmlns:a16="http://schemas.microsoft.com/office/drawing/2014/main" id="{DF68AA9E-46DD-45ED-8FBA-527D2228F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058" y="4013876"/>
            <a:ext cx="32766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是该方程的通解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6" name="Text Box 14"/>
          <p:cNvSpPr txBox="1">
            <a:spLocks noChangeArrowheads="1"/>
          </p:cNvSpPr>
          <p:nvPr/>
        </p:nvSpPr>
        <p:spPr bwMode="auto">
          <a:xfrm>
            <a:off x="1025755" y="5113931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证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717644"/>
              </p:ext>
            </p:extLst>
          </p:nvPr>
        </p:nvGraphicFramePr>
        <p:xfrm>
          <a:off x="1926658" y="5177871"/>
          <a:ext cx="3604002" cy="536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Equation" r:id="rId8" imgW="1536480" imgH="228600" progId="Equation.DSMT4">
                  <p:embed/>
                </p:oleObj>
              </mc:Choice>
              <mc:Fallback>
                <p:oleObj name="Equation" r:id="rId8" imgW="1536480" imgH="228600" progId="Equation.DSMT4">
                  <p:embed/>
                  <p:pic>
                    <p:nvPicPr>
                      <p:cNvPr id="6555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6658" y="5177871"/>
                        <a:ext cx="3604002" cy="536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6"/>
          <p:cNvSpPr txBox="1">
            <a:spLocks noChangeArrowheads="1"/>
          </p:cNvSpPr>
          <p:nvPr/>
        </p:nvSpPr>
        <p:spPr bwMode="auto">
          <a:xfrm>
            <a:off x="5616445" y="5181489"/>
            <a:ext cx="53391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代入</a:t>
            </a:r>
            <a:r>
              <a:rPr kumimoji="1" lang="zh-CN" alt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方程 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直接计算即可证得。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045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2" grpId="0"/>
      <p:bldP spid="23" grpId="0"/>
      <p:bldP spid="26" grpId="0" build="p" autoUpdateAnimBg="0"/>
      <p:bldP spid="28" grpId="0" build="p" autoUpdateAnimBg="0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>
            <a:extLst>
              <a:ext uri="{FF2B5EF4-FFF2-40B4-BE49-F238E27FC236}">
                <a16:creationId xmlns:a16="http://schemas.microsoft.com/office/drawing/2014/main" id="{30C7BDB3-8745-4306-97BA-6A3363549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795" y="1853659"/>
            <a:ext cx="203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例如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方程</a:t>
            </a:r>
          </a:p>
        </p:txBody>
      </p:sp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BF07CF4A-5456-44CA-B0CF-94F2304CDC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744149"/>
              </p:ext>
            </p:extLst>
          </p:nvPr>
        </p:nvGraphicFramePr>
        <p:xfrm>
          <a:off x="3884595" y="1929859"/>
          <a:ext cx="1473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6" name="Equation" r:id="rId3" imgW="1447680" imgH="390329" progId="Equation.3">
                  <p:embed/>
                </p:oleObj>
              </mc:Choice>
              <mc:Fallback>
                <p:oleObj name="Equation" r:id="rId3" imgW="1447680" imgH="390329" progId="Equation.3">
                  <p:embed/>
                  <p:pic>
                    <p:nvPicPr>
                      <p:cNvPr id="69644" name="Object 12">
                        <a:extLst>
                          <a:ext uri="{FF2B5EF4-FFF2-40B4-BE49-F238E27FC236}">
                            <a16:creationId xmlns:a16="http://schemas.microsoft.com/office/drawing/2014/main" id="{2533AC4D-4EF5-4CEE-BB22-2EFDFE47FD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4595" y="1929859"/>
                        <a:ext cx="1473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3">
            <a:extLst>
              <a:ext uri="{FF2B5EF4-FFF2-40B4-BE49-F238E27FC236}">
                <a16:creationId xmlns:a16="http://schemas.microsoft.com/office/drawing/2014/main" id="{8478AFC9-7F01-4FE0-BB72-C14A15EB9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395" y="1853659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有特解</a:t>
            </a:r>
          </a:p>
        </p:txBody>
      </p:sp>
      <p:graphicFrame>
        <p:nvGraphicFramePr>
          <p:cNvPr id="6" name="Object 14">
            <a:extLst>
              <a:ext uri="{FF2B5EF4-FFF2-40B4-BE49-F238E27FC236}">
                <a16:creationId xmlns:a16="http://schemas.microsoft.com/office/drawing/2014/main" id="{BCA88D91-F93A-470B-89A7-2FBA9A2A14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657537"/>
              </p:ext>
            </p:extLst>
          </p:nvPr>
        </p:nvGraphicFramePr>
        <p:xfrm>
          <a:off x="6602395" y="1929859"/>
          <a:ext cx="1549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" name="Equation" r:id="rId5" imgW="1524000" imgH="419171" progId="Equation.3">
                  <p:embed/>
                </p:oleObj>
              </mc:Choice>
              <mc:Fallback>
                <p:oleObj name="Equation" r:id="rId5" imgW="1524000" imgH="419171" progId="Equation.3">
                  <p:embed/>
                  <p:pic>
                    <p:nvPicPr>
                      <p:cNvPr id="69646" name="Object 14">
                        <a:extLst>
                          <a:ext uri="{FF2B5EF4-FFF2-40B4-BE49-F238E27FC236}">
                            <a16:creationId xmlns:a16="http://schemas.microsoft.com/office/drawing/2014/main" id="{022B21C9-748E-403D-A400-DBA9DD450D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2395" y="1929859"/>
                        <a:ext cx="1549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5">
            <a:extLst>
              <a:ext uri="{FF2B5EF4-FFF2-40B4-BE49-F238E27FC236}">
                <a16:creationId xmlns:a16="http://schemas.microsoft.com/office/drawing/2014/main" id="{244330CE-5180-4F70-9A3E-C344E82087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127138"/>
              </p:ext>
            </p:extLst>
          </p:nvPr>
        </p:nvGraphicFramePr>
        <p:xfrm>
          <a:off x="8183545" y="1929859"/>
          <a:ext cx="1549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" name="Equation" r:id="rId7" imgW="1524000" imgH="419171" progId="Equation.3">
                  <p:embed/>
                </p:oleObj>
              </mc:Choice>
              <mc:Fallback>
                <p:oleObj name="Equation" r:id="rId7" imgW="1524000" imgH="419171" progId="Equation.3">
                  <p:embed/>
                  <p:pic>
                    <p:nvPicPr>
                      <p:cNvPr id="69647" name="Object 15">
                        <a:extLst>
                          <a:ext uri="{FF2B5EF4-FFF2-40B4-BE49-F238E27FC236}">
                            <a16:creationId xmlns:a16="http://schemas.microsoft.com/office/drawing/2014/main" id="{C6A20734-E2D0-403A-B805-BDBC247102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545" y="1929859"/>
                        <a:ext cx="1549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6">
            <a:extLst>
              <a:ext uri="{FF2B5EF4-FFF2-40B4-BE49-F238E27FC236}">
                <a16:creationId xmlns:a16="http://schemas.microsoft.com/office/drawing/2014/main" id="{ABF348C9-FB37-4037-A71A-B01789968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1195" y="1853659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且</a:t>
            </a:r>
          </a:p>
        </p:txBody>
      </p:sp>
      <p:sp>
        <p:nvSpPr>
          <p:cNvPr id="9" name="Text Box 20">
            <a:extLst>
              <a:ext uri="{FF2B5EF4-FFF2-40B4-BE49-F238E27FC236}">
                <a16:creationId xmlns:a16="http://schemas.microsoft.com/office/drawing/2014/main" id="{1FEBAB03-A054-4461-A265-93D4C3D32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2595" y="2628359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不恒等于常数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10" name="Text Box 21">
            <a:extLst>
              <a:ext uri="{FF2B5EF4-FFF2-40B4-BE49-F238E27FC236}">
                <a16:creationId xmlns:a16="http://schemas.microsoft.com/office/drawing/2014/main" id="{A6D92D0D-385B-4F1B-8DD0-0B95CE497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0995" y="2615659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故方程的通解为</a:t>
            </a:r>
          </a:p>
        </p:txBody>
      </p:sp>
      <p:graphicFrame>
        <p:nvGraphicFramePr>
          <p:cNvPr id="11" name="Object 22">
            <a:extLst>
              <a:ext uri="{FF2B5EF4-FFF2-40B4-BE49-F238E27FC236}">
                <a16:creationId xmlns:a16="http://schemas.microsoft.com/office/drawing/2014/main" id="{5ECFB5A1-80F5-4D5F-AC76-57528E1C91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58678"/>
              </p:ext>
            </p:extLst>
          </p:nvPr>
        </p:nvGraphicFramePr>
        <p:xfrm>
          <a:off x="3960795" y="3377659"/>
          <a:ext cx="329565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" name="公式" r:id="rId9" imgW="1371840" imgH="190358" progId="Equation.3">
                  <p:embed/>
                </p:oleObj>
              </mc:Choice>
              <mc:Fallback>
                <p:oleObj name="公式" r:id="rId9" imgW="1371840" imgH="190358" progId="Equation.3">
                  <p:embed/>
                  <p:pic>
                    <p:nvPicPr>
                      <p:cNvPr id="69654" name="Object 22">
                        <a:extLst>
                          <a:ext uri="{FF2B5EF4-FFF2-40B4-BE49-F238E27FC236}">
                            <a16:creationId xmlns:a16="http://schemas.microsoft.com/office/drawing/2014/main" id="{7B49E5A6-CC2B-429F-B6F0-135D82D2C1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795" y="3377659"/>
                        <a:ext cx="329565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23">
            <a:extLst>
              <a:ext uri="{FF2B5EF4-FFF2-40B4-BE49-F238E27FC236}">
                <a16:creationId xmlns:a16="http://schemas.microsoft.com/office/drawing/2014/main" id="{58AC30A9-CDE6-4630-B779-3F84A2417B35}"/>
              </a:ext>
            </a:extLst>
          </p:cNvPr>
          <p:cNvGrpSpPr>
            <a:grpSpLocks/>
          </p:cNvGrpSpPr>
          <p:nvPr/>
        </p:nvGrpSpPr>
        <p:grpSpPr bwMode="auto">
          <a:xfrm>
            <a:off x="1598595" y="2437859"/>
            <a:ext cx="1524000" cy="939800"/>
            <a:chOff x="768" y="1616"/>
            <a:chExt cx="960" cy="592"/>
          </a:xfrm>
        </p:grpSpPr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6E9EDF67-76FB-4E58-B3D6-D618282941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9184031"/>
                </p:ext>
              </p:extLst>
            </p:nvPr>
          </p:nvGraphicFramePr>
          <p:xfrm>
            <a:off x="768" y="1616"/>
            <a:ext cx="960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80" name="Equation" r:id="rId11" imgW="1495200" imgH="914293" progId="Equation.3">
                    <p:embed/>
                  </p:oleObj>
                </mc:Choice>
                <mc:Fallback>
                  <p:oleObj name="Equation" r:id="rId11" imgW="1495200" imgH="914293" progId="Equation.3">
                    <p:embed/>
                    <p:pic>
                      <p:nvPicPr>
                        <p:cNvPr id="14355" name="Object 24">
                          <a:extLst>
                            <a:ext uri="{FF2B5EF4-FFF2-40B4-BE49-F238E27FC236}">
                              <a16:creationId xmlns:a16="http://schemas.microsoft.com/office/drawing/2014/main" id="{21FAB5A5-5054-4BF6-A3AB-A9D10A89CD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616"/>
                          <a:ext cx="960" cy="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25">
              <a:extLst>
                <a:ext uri="{FF2B5EF4-FFF2-40B4-BE49-F238E27FC236}">
                  <a16:creationId xmlns:a16="http://schemas.microsoft.com/office/drawing/2014/main" id="{A1C245CC-AC7E-4452-8BF9-0AF7248662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6163857"/>
                </p:ext>
              </p:extLst>
            </p:nvPr>
          </p:nvGraphicFramePr>
          <p:xfrm>
            <a:off x="820" y="1868"/>
            <a:ext cx="20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81" name="Equation" r:id="rId13" imgW="304800" imgH="419171" progId="Equation.3">
                    <p:embed/>
                  </p:oleObj>
                </mc:Choice>
                <mc:Fallback>
                  <p:oleObj name="Equation" r:id="rId13" imgW="304800" imgH="419171" progId="Equation.3">
                    <p:embed/>
                    <p:pic>
                      <p:nvPicPr>
                        <p:cNvPr id="14356" name="Object 25">
                          <a:extLst>
                            <a:ext uri="{FF2B5EF4-FFF2-40B4-BE49-F238E27FC236}">
                              <a16:creationId xmlns:a16="http://schemas.microsoft.com/office/drawing/2014/main" id="{143018BD-CB35-4ACF-BA3F-0E97F5D7D7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0" y="1868"/>
                          <a:ext cx="208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9517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6926E3BB-009D-472B-AC73-6B0C7544BA9D}"/>
              </a:ext>
            </a:extLst>
          </p:cNvPr>
          <p:cNvGrpSpPr/>
          <p:nvPr/>
        </p:nvGrpSpPr>
        <p:grpSpPr>
          <a:xfrm>
            <a:off x="450021" y="828785"/>
            <a:ext cx="11032917" cy="4667240"/>
            <a:chOff x="82202" y="623872"/>
            <a:chExt cx="11032917" cy="4667240"/>
          </a:xfrm>
        </p:grpSpPr>
        <p:sp>
          <p:nvSpPr>
            <p:cNvPr id="11" name="Rectangle: Rounded Corners 1">
              <a:extLst>
                <a:ext uri="{FF2B5EF4-FFF2-40B4-BE49-F238E27FC236}">
                  <a16:creationId xmlns:a16="http://schemas.microsoft.com/office/drawing/2014/main" id="{BE90B1EB-C302-4A37-803B-1BCAC638CA12}"/>
                </a:ext>
              </a:extLst>
            </p:cNvPr>
            <p:cNvSpPr/>
            <p:nvPr/>
          </p:nvSpPr>
          <p:spPr>
            <a:xfrm>
              <a:off x="856343" y="1242653"/>
              <a:ext cx="10258776" cy="4048459"/>
            </a:xfrm>
            <a:prstGeom prst="roundRect">
              <a:avLst>
                <a:gd name="adj" fmla="val 3407"/>
              </a:avLst>
            </a:prstGeom>
            <a:gradFill flip="none" rotWithShape="1">
              <a:gsLst>
                <a:gs pos="50000">
                  <a:srgbClr val="1068B8"/>
                </a:gs>
                <a:gs pos="0">
                  <a:srgbClr val="0A2B7C"/>
                </a:gs>
                <a:gs pos="100000">
                  <a:srgbClr val="46A9E6"/>
                </a:gs>
              </a:gsLst>
              <a:path path="circle">
                <a:fillToRect r="100000" b="100000"/>
              </a:path>
              <a:tileRect l="-100000" t="-100000"/>
            </a:gradFill>
            <a:ln w="3175">
              <a:noFill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PA-文本框 1">
              <a:extLst>
                <a:ext uri="{FF2B5EF4-FFF2-40B4-BE49-F238E27FC236}">
                  <a16:creationId xmlns:a16="http://schemas.microsoft.com/office/drawing/2014/main" id="{C87875AC-80F0-4102-B9CB-1FD48796D334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82202" y="623872"/>
              <a:ext cx="230280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推论</a:t>
              </a:r>
              <a:endParaRPr lang="id-ID" sz="60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2" name="Text Box 4">
            <a:extLst>
              <a:ext uri="{FF2B5EF4-FFF2-40B4-BE49-F238E27FC236}">
                <a16:creationId xmlns:a16="http://schemas.microsoft.com/office/drawing/2014/main" id="{B1657E31-9BCF-4541-9931-E9BB28815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21070"/>
            <a:ext cx="624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不难推广到 </a:t>
            </a:r>
            <a:r>
              <a:rPr kumimoji="1"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阶齐次线性方程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9C2AD6A1-0E37-4922-8F3F-BB9505D00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5656" y="1797587"/>
            <a:ext cx="838200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,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, … , </a:t>
            </a:r>
            <a:r>
              <a:rPr lang="en-US" altLang="zh-CN" sz="28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i="1" baseline="-25000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阶齐次线性方程</a:t>
            </a:r>
          </a:p>
        </p:txBody>
      </p:sp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436885D3-4300-488C-B539-6204BA1E1E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914543"/>
              </p:ext>
            </p:extLst>
          </p:nvPr>
        </p:nvGraphicFramePr>
        <p:xfrm>
          <a:off x="3393706" y="2526485"/>
          <a:ext cx="59832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" name="公式" r:id="rId4" imgW="2724000" imgH="209586" progId="Equation.3">
                  <p:embed/>
                </p:oleObj>
              </mc:Choice>
              <mc:Fallback>
                <p:oleObj name="公式" r:id="rId4" imgW="2724000" imgH="209586" progId="Equation.3">
                  <p:embed/>
                  <p:pic>
                    <p:nvPicPr>
                      <p:cNvPr id="70663" name="Object 7">
                        <a:extLst>
                          <a:ext uri="{FF2B5EF4-FFF2-40B4-BE49-F238E27FC236}">
                            <a16:creationId xmlns:a16="http://schemas.microsoft.com/office/drawing/2014/main" id="{A15E90FE-2392-4BA4-82FB-E59FF4CDAB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3706" y="2526485"/>
                        <a:ext cx="598328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>
            <a:extLst>
              <a:ext uri="{FF2B5EF4-FFF2-40B4-BE49-F238E27FC236}">
                <a16:creationId xmlns:a16="http://schemas.microsoft.com/office/drawing/2014/main" id="{8617973D-5DEE-4BBA-8DF5-AED4761AD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1527" y="3288485"/>
            <a:ext cx="42672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 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个线性无关的特解，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3E1022B0-A321-40EB-A8D2-834745C56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3927" y="3291960"/>
            <a:ext cx="38100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那么此方程的通解为</a:t>
            </a:r>
          </a:p>
        </p:txBody>
      </p:sp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315B53CE-064D-4783-8368-30E8E5DCD8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656149"/>
              </p:ext>
            </p:extLst>
          </p:nvPr>
        </p:nvGraphicFramePr>
        <p:xfrm>
          <a:off x="3800106" y="3999685"/>
          <a:ext cx="50180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" name="公式" r:id="rId6" imgW="2286240" imgH="199972" progId="Equation.3">
                  <p:embed/>
                </p:oleObj>
              </mc:Choice>
              <mc:Fallback>
                <p:oleObj name="公式" r:id="rId6" imgW="2286240" imgH="199972" progId="Equation.3">
                  <p:embed/>
                  <p:pic>
                    <p:nvPicPr>
                      <p:cNvPr id="70666" name="Object 10">
                        <a:extLst>
                          <a:ext uri="{FF2B5EF4-FFF2-40B4-BE49-F238E27FC236}">
                            <a16:creationId xmlns:a16="http://schemas.microsoft.com/office/drawing/2014/main" id="{C206F86C-E7C4-40B4-B809-7AC5576B0F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0106" y="3999685"/>
                        <a:ext cx="501808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1">
            <a:extLst>
              <a:ext uri="{FF2B5EF4-FFF2-40B4-BE49-F238E27FC236}">
                <a16:creationId xmlns:a16="http://schemas.microsoft.com/office/drawing/2014/main" id="{784DF4DB-0BB5-4833-A9A5-BED773098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1527" y="4660085"/>
            <a:ext cx="60198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 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… , 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i="1" baseline="-25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为任意常数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382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6" grpId="0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20">
            <a:extLst>
              <a:ext uri="{FF2B5EF4-FFF2-40B4-BE49-F238E27FC236}">
                <a16:creationId xmlns:a16="http://schemas.microsoft.com/office/drawing/2014/main" id="{504CCD2C-2F92-495E-94EF-C1BAA31842B5}"/>
              </a:ext>
            </a:extLst>
          </p:cNvPr>
          <p:cNvSpPr txBox="1">
            <a:spLocks noChangeArrowheads="1"/>
          </p:cNvSpPr>
          <p:nvPr/>
        </p:nvSpPr>
        <p:spPr>
          <a:xfrm>
            <a:off x="3051208" y="246735"/>
            <a:ext cx="6776186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三、</a:t>
            </a:r>
            <a:r>
              <a:rPr kumimoji="1"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非齐次线性微分方程解的结构</a:t>
            </a:r>
            <a:endParaRPr kumimoji="0" lang="zh-CN" altLang="en-US" sz="3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1034345-70AF-4EC0-99FD-B160FB9BDEBE}"/>
              </a:ext>
            </a:extLst>
          </p:cNvPr>
          <p:cNvGrpSpPr/>
          <p:nvPr/>
        </p:nvGrpSpPr>
        <p:grpSpPr>
          <a:xfrm>
            <a:off x="450021" y="828785"/>
            <a:ext cx="11032917" cy="4099350"/>
            <a:chOff x="82202" y="623872"/>
            <a:chExt cx="11032917" cy="4099350"/>
          </a:xfrm>
        </p:grpSpPr>
        <p:sp>
          <p:nvSpPr>
            <p:cNvPr id="6" name="Rectangle: Rounded Corners 1">
              <a:extLst>
                <a:ext uri="{FF2B5EF4-FFF2-40B4-BE49-F238E27FC236}">
                  <a16:creationId xmlns:a16="http://schemas.microsoft.com/office/drawing/2014/main" id="{3E59DC41-392B-4155-AC31-37FCD6CFA459}"/>
                </a:ext>
              </a:extLst>
            </p:cNvPr>
            <p:cNvSpPr/>
            <p:nvPr/>
          </p:nvSpPr>
          <p:spPr>
            <a:xfrm>
              <a:off x="856343" y="1242654"/>
              <a:ext cx="10258776" cy="3480568"/>
            </a:xfrm>
            <a:prstGeom prst="roundRect">
              <a:avLst>
                <a:gd name="adj" fmla="val 3407"/>
              </a:avLst>
            </a:prstGeom>
            <a:gradFill flip="none" rotWithShape="1">
              <a:gsLst>
                <a:gs pos="50000">
                  <a:srgbClr val="1068B8"/>
                </a:gs>
                <a:gs pos="0">
                  <a:srgbClr val="0A2B7C"/>
                </a:gs>
                <a:gs pos="100000">
                  <a:srgbClr val="46A9E6"/>
                </a:gs>
              </a:gsLst>
              <a:path path="circle">
                <a:fillToRect r="100000" b="100000"/>
              </a:path>
              <a:tileRect l="-100000" t="-100000"/>
            </a:gradFill>
            <a:ln w="3175">
              <a:noFill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PA-文本框 1">
              <a:extLst>
                <a:ext uri="{FF2B5EF4-FFF2-40B4-BE49-F238E27FC236}">
                  <a16:creationId xmlns:a16="http://schemas.microsoft.com/office/drawing/2014/main" id="{AC69DD8F-9078-48BD-9FAA-FC128D3E0BE4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82202" y="623872"/>
              <a:ext cx="230280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定理</a:t>
              </a:r>
              <a:r>
                <a:rPr lang="en-US" altLang="zh-CN" sz="6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2</a:t>
              </a:r>
              <a:endParaRPr lang="id-ID" sz="60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8" name="Text Box 5">
            <a:extLst>
              <a:ext uri="{FF2B5EF4-FFF2-40B4-BE49-F238E27FC236}">
                <a16:creationId xmlns:a16="http://schemas.microsoft.com/office/drawing/2014/main" id="{4708DF5C-EC22-4012-A5D4-74F9B9EB4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580" y="1604963"/>
            <a:ext cx="6564431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如果函数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i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是二阶非齐次线性方程</a:t>
            </a:r>
          </a:p>
        </p:txBody>
      </p:sp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C513899D-2BC5-4CE3-8FB7-675D6788B5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108806"/>
              </p:ext>
            </p:extLst>
          </p:nvPr>
        </p:nvGraphicFramePr>
        <p:xfrm>
          <a:off x="4634364" y="2379663"/>
          <a:ext cx="369411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公式" r:id="rId4" imgW="1676640" imgH="171610" progId="Equation.3">
                  <p:embed/>
                </p:oleObj>
              </mc:Choice>
              <mc:Fallback>
                <p:oleObj name="公式" r:id="rId4" imgW="1676640" imgH="171610" progId="Equation.3">
                  <p:embed/>
                  <p:pic>
                    <p:nvPicPr>
                      <p:cNvPr id="71686" name="Object 6">
                        <a:extLst>
                          <a:ext uri="{FF2B5EF4-FFF2-40B4-BE49-F238E27FC236}">
                            <a16:creationId xmlns:a16="http://schemas.microsoft.com/office/drawing/2014/main" id="{83C1FEB2-6471-4C5B-92E5-097BE0B9F6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4364" y="2379663"/>
                        <a:ext cx="369411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>
            <a:extLst>
              <a:ext uri="{FF2B5EF4-FFF2-40B4-BE49-F238E27FC236}">
                <a16:creationId xmlns:a16="http://schemas.microsoft.com/office/drawing/2014/main" id="{AECAB73E-BDDD-4E05-B4D3-41B652057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914" y="3003550"/>
            <a:ext cx="25146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的一个特解，</a:t>
            </a:r>
          </a:p>
        </p:txBody>
      </p:sp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76D196AF-7086-4A13-9D03-C33F5694DF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27953"/>
              </p:ext>
            </p:extLst>
          </p:nvPr>
        </p:nvGraphicFramePr>
        <p:xfrm>
          <a:off x="5188402" y="3622675"/>
          <a:ext cx="2260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公式" r:id="rId6" imgW="1009440" imgH="199972" progId="Equation.3">
                  <p:embed/>
                </p:oleObj>
              </mc:Choice>
              <mc:Fallback>
                <p:oleObj name="公式" r:id="rId6" imgW="1009440" imgH="199972" progId="Equation.3">
                  <p:embed/>
                  <p:pic>
                    <p:nvPicPr>
                      <p:cNvPr id="71688" name="Object 8">
                        <a:extLst>
                          <a:ext uri="{FF2B5EF4-FFF2-40B4-BE49-F238E27FC236}">
                            <a16:creationId xmlns:a16="http://schemas.microsoft.com/office/drawing/2014/main" id="{F754C619-3A8C-49D9-B1D4-4468B5EF57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8402" y="3622675"/>
                        <a:ext cx="2260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9">
            <a:extLst>
              <a:ext uri="{FF2B5EF4-FFF2-40B4-BE49-F238E27FC236}">
                <a16:creationId xmlns:a16="http://schemas.microsoft.com/office/drawing/2014/main" id="{9CE57C69-8498-4581-98E8-101000EB6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2314" y="4195763"/>
            <a:ext cx="54610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是二阶非齐次线性方程的通解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0C33B37B-DAB8-4C02-8A1D-C349EC183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5114" y="3001963"/>
            <a:ext cx="54102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是对应的齐次方程的通解，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0F9765BB-E351-4E1C-9273-9F1281465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3514" y="3005138"/>
            <a:ext cx="1205941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那么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0D76FD24-F5BC-4D49-A9A7-006F4B5A4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002028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可简洁地表示为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008CBC8E-1CDE-4AFF-BEDA-750FD8116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919" y="5702116"/>
            <a:ext cx="4191000" cy="523875"/>
          </a:xfrm>
          <a:prstGeom prst="rect">
            <a:avLst/>
          </a:prstGeom>
          <a:solidFill>
            <a:schemeClr val="accent4"/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非齐通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齐通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非齐特</a:t>
            </a:r>
          </a:p>
        </p:txBody>
      </p:sp>
    </p:spTree>
    <p:extLst>
      <p:ext uri="{BB962C8B-B14F-4D97-AF65-F5344CB8AC3E}">
        <p14:creationId xmlns:p14="http://schemas.microsoft.com/office/powerpoint/2010/main" val="277937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3" grpId="0"/>
      <p:bldP spid="14" grpId="0"/>
      <p:bldP spid="15" grpId="0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EF179742-102B-47B2-8532-F5A40DE29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990600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例如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 </a:t>
            </a: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方程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84B356D4-E924-405B-B52D-7C23347275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145663"/>
              </p:ext>
            </p:extLst>
          </p:nvPr>
        </p:nvGraphicFramePr>
        <p:xfrm>
          <a:off x="4038600" y="1036638"/>
          <a:ext cx="17526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" name="公式" r:id="rId3" imgW="628800" imgH="171610" progId="Equation.3">
                  <p:embed/>
                </p:oleObj>
              </mc:Choice>
              <mc:Fallback>
                <p:oleObj name="公式" r:id="rId3" imgW="628800" imgH="171610" progId="Equation.3">
                  <p:embed/>
                  <p:pic>
                    <p:nvPicPr>
                      <p:cNvPr id="72709" name="Object 5">
                        <a:extLst>
                          <a:ext uri="{FF2B5EF4-FFF2-40B4-BE49-F238E27FC236}">
                            <a16:creationId xmlns:a16="http://schemas.microsoft.com/office/drawing/2014/main" id="{E7B52222-BCEA-4A53-A322-B8CE154065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036638"/>
                        <a:ext cx="17526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5304CAA1-362F-48BD-B727-CF42B6840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990600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有特解</a:t>
            </a:r>
          </a:p>
        </p:txBody>
      </p:sp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0E037211-160E-4EB8-8834-FFB4E7D780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55144"/>
              </p:ext>
            </p:extLst>
          </p:nvPr>
        </p:nvGraphicFramePr>
        <p:xfrm>
          <a:off x="7086600" y="1066800"/>
          <a:ext cx="11445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6" name="公式" r:id="rId5" imgW="466560" imgH="171610" progId="Equation.3">
                  <p:embed/>
                </p:oleObj>
              </mc:Choice>
              <mc:Fallback>
                <p:oleObj name="公式" r:id="rId5" imgW="466560" imgH="171610" progId="Equation.3">
                  <p:embed/>
                  <p:pic>
                    <p:nvPicPr>
                      <p:cNvPr id="72711" name="Object 7">
                        <a:extLst>
                          <a:ext uri="{FF2B5EF4-FFF2-40B4-BE49-F238E27FC236}">
                            <a16:creationId xmlns:a16="http://schemas.microsoft.com/office/drawing/2014/main" id="{E7319FC8-0C15-4835-9C24-6EDC1BDA48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066800"/>
                        <a:ext cx="11445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251EAD69-79A1-47FC-A13C-5531670090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247039"/>
              </p:ext>
            </p:extLst>
          </p:nvPr>
        </p:nvGraphicFramePr>
        <p:xfrm>
          <a:off x="4267200" y="2438400"/>
          <a:ext cx="32893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7" name="公式" r:id="rId7" imgW="1390560" imgH="190358" progId="Equation.3">
                  <p:embed/>
                </p:oleObj>
              </mc:Choice>
              <mc:Fallback>
                <p:oleObj name="公式" r:id="rId7" imgW="1390560" imgH="190358" progId="Equation.3">
                  <p:embed/>
                  <p:pic>
                    <p:nvPicPr>
                      <p:cNvPr id="72712" name="Object 8">
                        <a:extLst>
                          <a:ext uri="{FF2B5EF4-FFF2-40B4-BE49-F238E27FC236}">
                            <a16:creationId xmlns:a16="http://schemas.microsoft.com/office/drawing/2014/main" id="{C2001B54-7C89-42EB-B0DF-24BD96EDB7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438400"/>
                        <a:ext cx="32893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9">
            <a:extLst>
              <a:ext uri="{FF2B5EF4-FFF2-40B4-BE49-F238E27FC236}">
                <a16:creationId xmlns:a16="http://schemas.microsoft.com/office/drawing/2014/main" id="{7E4ACE7F-2485-4D7E-933C-63FF7818F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1800" y="1749425"/>
            <a:ext cx="294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对应的齐次方程</a:t>
            </a:r>
          </a:p>
        </p:txBody>
      </p:sp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81DEAC70-A7DA-4480-8BB3-209DA3D3B5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151120"/>
              </p:ext>
            </p:extLst>
          </p:nvPr>
        </p:nvGraphicFramePr>
        <p:xfrm>
          <a:off x="4419600" y="1789113"/>
          <a:ext cx="17526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8" name="公式" r:id="rId9" imgW="628800" imgH="171610" progId="Equation.3">
                  <p:embed/>
                </p:oleObj>
              </mc:Choice>
              <mc:Fallback>
                <p:oleObj name="公式" r:id="rId9" imgW="628800" imgH="171610" progId="Equation.3">
                  <p:embed/>
                  <p:pic>
                    <p:nvPicPr>
                      <p:cNvPr id="72714" name="Object 10">
                        <a:extLst>
                          <a:ext uri="{FF2B5EF4-FFF2-40B4-BE49-F238E27FC236}">
                            <a16:creationId xmlns:a16="http://schemas.microsoft.com/office/drawing/2014/main" id="{8FF98400-D761-4636-8956-C874135FB9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789113"/>
                        <a:ext cx="17526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1">
            <a:extLst>
              <a:ext uri="{FF2B5EF4-FFF2-40B4-BE49-F238E27FC236}">
                <a16:creationId xmlns:a16="http://schemas.microsoft.com/office/drawing/2014/main" id="{80D4A824-6CC7-4610-BADE-3E0EFA201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1709738"/>
            <a:ext cx="32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的通解为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51705A17-551F-49C1-A2C6-4E031FDF5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1800" y="3062288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因此该方程的通解为</a:t>
            </a:r>
          </a:p>
        </p:txBody>
      </p:sp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745A6F21-5B05-42FB-99EC-E12C0BBA5D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654526"/>
              </p:ext>
            </p:extLst>
          </p:nvPr>
        </p:nvGraphicFramePr>
        <p:xfrm>
          <a:off x="4267200" y="3810000"/>
          <a:ext cx="37338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9" name="公式" r:id="rId11" imgW="1581120" imgH="190358" progId="Equation.3">
                  <p:embed/>
                </p:oleObj>
              </mc:Choice>
              <mc:Fallback>
                <p:oleObj name="公式" r:id="rId11" imgW="1581120" imgH="190358" progId="Equation.3">
                  <p:embed/>
                  <p:pic>
                    <p:nvPicPr>
                      <p:cNvPr id="72717" name="Object 13">
                        <a:extLst>
                          <a:ext uri="{FF2B5EF4-FFF2-40B4-BE49-F238E27FC236}">
                            <a16:creationId xmlns:a16="http://schemas.microsoft.com/office/drawing/2014/main" id="{4BEBC0FB-B3C2-459B-AC1E-A8239453F0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810000"/>
                        <a:ext cx="37338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058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4" grpId="0" build="p" autoUpdateAnimBg="0"/>
      <p:bldP spid="7" grpId="0" build="p" autoUpdateAnimBg="0"/>
      <p:bldP spid="9" grpId="0" build="p" autoUpdateAnimBg="0"/>
      <p:bldP spid="10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26432" y="672082"/>
            <a:ext cx="2142226" cy="60960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chemeClr val="bg1"/>
                </a:solidFill>
                <a:ea typeface="楷体_GB2312" pitchFamily="49" charset="-122"/>
              </a:rPr>
              <a:t>定理 </a:t>
            </a:r>
            <a:r>
              <a:rPr lang="en-US" altLang="zh-CN" sz="2800" b="1" dirty="0" smtClean="0">
                <a:solidFill>
                  <a:schemeClr val="bg1"/>
                </a:solidFill>
                <a:ea typeface="楷体_GB2312" pitchFamily="49" charset="-122"/>
              </a:rPr>
              <a:t>2</a:t>
            </a:r>
            <a:r>
              <a:rPr lang="zh-CN" altLang="en-US" sz="2800" b="1" dirty="0" smtClean="0">
                <a:solidFill>
                  <a:schemeClr val="bg1"/>
                </a:solidFill>
                <a:ea typeface="楷体_GB2312" pitchFamily="49" charset="-122"/>
              </a:rPr>
              <a:t>推广：</a:t>
            </a:r>
            <a:endParaRPr lang="en-US" altLang="zh-CN" sz="2800" b="1" dirty="0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430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878536"/>
              </p:ext>
            </p:extLst>
          </p:nvPr>
        </p:nvGraphicFramePr>
        <p:xfrm>
          <a:off x="1492370" y="1910329"/>
          <a:ext cx="3669907" cy="54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9" name="Equation" r:id="rId3" imgW="1536480" imgH="228600" progId="Equation.DSMT4">
                  <p:embed/>
                </p:oleObj>
              </mc:Choice>
              <mc:Fallback>
                <p:oleObj name="Equation" r:id="rId3" imgW="1536480" imgH="228600" progId="Equation.DSMT4">
                  <p:embed/>
                  <p:pic>
                    <p:nvPicPr>
                      <p:cNvPr id="430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370" y="1910329"/>
                        <a:ext cx="3669907" cy="54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5133364" y="1918104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是对应齐次方程的 </a:t>
            </a:r>
            <a:r>
              <a:rPr kumimoji="1"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个线性</a:t>
            </a:r>
          </a:p>
        </p:txBody>
      </p:sp>
      <p:graphicFrame>
        <p:nvGraphicFramePr>
          <p:cNvPr id="430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259175"/>
              </p:ext>
            </p:extLst>
          </p:nvPr>
        </p:nvGraphicFramePr>
        <p:xfrm>
          <a:off x="2668658" y="3496569"/>
          <a:ext cx="7143768" cy="595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0" name="Equation" r:id="rId5" imgW="2743200" imgH="228600" progId="Equation.DSMT4">
                  <p:embed/>
                </p:oleObj>
              </mc:Choice>
              <mc:Fallback>
                <p:oleObj name="Equation" r:id="rId5" imgW="2743200" imgH="228600" progId="Equation.DSMT4">
                  <p:embed/>
                  <p:pic>
                    <p:nvPicPr>
                      <p:cNvPr id="4302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658" y="3496569"/>
                        <a:ext cx="7143768" cy="5953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3" name="Text Box 15"/>
          <p:cNvSpPr txBox="1">
            <a:spLocks noChangeArrowheads="1"/>
          </p:cNvSpPr>
          <p:nvPr/>
        </p:nvSpPr>
        <p:spPr bwMode="auto">
          <a:xfrm>
            <a:off x="9459511" y="1925247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无关特解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</a:p>
        </p:txBody>
      </p:sp>
      <p:sp>
        <p:nvSpPr>
          <p:cNvPr id="43024" name="Text Box 16"/>
          <p:cNvSpPr txBox="1">
            <a:spLocks noChangeArrowheads="1"/>
          </p:cNvSpPr>
          <p:nvPr/>
        </p:nvSpPr>
        <p:spPr bwMode="auto">
          <a:xfrm>
            <a:off x="3318294" y="612386"/>
            <a:ext cx="426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给定 </a:t>
            </a:r>
            <a:r>
              <a:rPr kumimoji="1"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阶非齐次线性方程</a:t>
            </a:r>
          </a:p>
        </p:txBody>
      </p:sp>
      <p:graphicFrame>
        <p:nvGraphicFramePr>
          <p:cNvPr id="430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00346"/>
              </p:ext>
            </p:extLst>
          </p:nvPr>
        </p:nvGraphicFramePr>
        <p:xfrm>
          <a:off x="2562449" y="1143567"/>
          <a:ext cx="6083689" cy="642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name="Equation" r:id="rId7" imgW="2286000" imgH="241200" progId="Equation.DSMT4">
                  <p:embed/>
                </p:oleObj>
              </mc:Choice>
              <mc:Fallback>
                <p:oleObj name="Equation" r:id="rId7" imgW="2286000" imgH="241200" progId="Equation.DSMT4">
                  <p:embed/>
                  <p:pic>
                    <p:nvPicPr>
                      <p:cNvPr id="4302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449" y="1143567"/>
                        <a:ext cx="6083689" cy="642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247113"/>
              </p:ext>
            </p:extLst>
          </p:nvPr>
        </p:nvGraphicFramePr>
        <p:xfrm>
          <a:off x="3010619" y="4258568"/>
          <a:ext cx="2698788" cy="533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" name="Equation" r:id="rId9" imgW="914400" imgH="228600" progId="Equation.DSMT4">
                  <p:embed/>
                </p:oleObj>
              </mc:Choice>
              <mc:Fallback>
                <p:oleObj name="Equation" r:id="rId9" imgW="914400" imgH="228600" progId="Equation.DSMT4">
                  <p:embed/>
                  <p:pic>
                    <p:nvPicPr>
                      <p:cNvPr id="4302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0619" y="4258568"/>
                        <a:ext cx="2698788" cy="5334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199141"/>
              </p:ext>
            </p:extLst>
          </p:nvPr>
        </p:nvGraphicFramePr>
        <p:xfrm>
          <a:off x="2075300" y="2665863"/>
          <a:ext cx="960432" cy="451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" name="Equation" r:id="rId11" imgW="431640" imgH="203040" progId="Equation.DSMT4">
                  <p:embed/>
                </p:oleObj>
              </mc:Choice>
              <mc:Fallback>
                <p:oleObj name="Equation" r:id="rId11" imgW="431640" imgH="203040" progId="Equation.DSMT4">
                  <p:embed/>
                  <p:pic>
                    <p:nvPicPr>
                      <p:cNvPr id="430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5300" y="2665863"/>
                        <a:ext cx="960432" cy="4519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8" name="Text Box 20"/>
          <p:cNvSpPr txBox="1">
            <a:spLocks noChangeArrowheads="1"/>
          </p:cNvSpPr>
          <p:nvPr/>
        </p:nvSpPr>
        <p:spPr bwMode="auto">
          <a:xfrm>
            <a:off x="3067337" y="2613005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是非齐次方程的特解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43029" name="Text Box 21"/>
          <p:cNvSpPr txBox="1">
            <a:spLocks noChangeArrowheads="1"/>
          </p:cNvSpPr>
          <p:nvPr/>
        </p:nvSpPr>
        <p:spPr bwMode="auto">
          <a:xfrm>
            <a:off x="6496337" y="2598718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则非齐次方程</a:t>
            </a:r>
          </a:p>
        </p:txBody>
      </p:sp>
      <p:sp>
        <p:nvSpPr>
          <p:cNvPr id="43030" name="Text Box 22"/>
          <p:cNvSpPr txBox="1">
            <a:spLocks noChangeArrowheads="1"/>
          </p:cNvSpPr>
          <p:nvPr/>
        </p:nvSpPr>
        <p:spPr bwMode="auto">
          <a:xfrm>
            <a:off x="8652535" y="2596439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的通解为</a:t>
            </a:r>
          </a:p>
        </p:txBody>
      </p:sp>
      <p:sp>
        <p:nvSpPr>
          <p:cNvPr id="43032" name="Line 24"/>
          <p:cNvSpPr>
            <a:spLocks noChangeShapeType="1"/>
          </p:cNvSpPr>
          <p:nvPr/>
        </p:nvSpPr>
        <p:spPr bwMode="auto">
          <a:xfrm>
            <a:off x="3394494" y="4029970"/>
            <a:ext cx="49530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43034" name="Text Box 26"/>
          <p:cNvSpPr txBox="1">
            <a:spLocks noChangeArrowheads="1"/>
          </p:cNvSpPr>
          <p:nvPr/>
        </p:nvSpPr>
        <p:spPr bwMode="auto">
          <a:xfrm>
            <a:off x="2873794" y="5187258"/>
            <a:ext cx="2578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齐次方程通解</a:t>
            </a:r>
            <a:endParaRPr kumimoji="1" lang="zh-CN" altLang="en-US" sz="2800" b="1" i="1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035" name="Text Box 27"/>
          <p:cNvSpPr txBox="1">
            <a:spLocks noChangeArrowheads="1"/>
          </p:cNvSpPr>
          <p:nvPr/>
        </p:nvSpPr>
        <p:spPr bwMode="auto">
          <a:xfrm>
            <a:off x="5528094" y="5187258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非齐次方程特解</a:t>
            </a:r>
          </a:p>
        </p:txBody>
      </p:sp>
      <p:sp>
        <p:nvSpPr>
          <p:cNvPr id="43036" name="Line 28"/>
          <p:cNvSpPr>
            <a:spLocks noChangeShapeType="1"/>
          </p:cNvSpPr>
          <p:nvPr/>
        </p:nvSpPr>
        <p:spPr bwMode="auto">
          <a:xfrm flipV="1">
            <a:off x="3699294" y="4791970"/>
            <a:ext cx="0" cy="3810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43037" name="Line 29"/>
          <p:cNvSpPr>
            <a:spLocks noChangeShapeType="1"/>
          </p:cNvSpPr>
          <p:nvPr/>
        </p:nvSpPr>
        <p:spPr bwMode="auto">
          <a:xfrm>
            <a:off x="5223294" y="4791970"/>
            <a:ext cx="381000" cy="3810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8618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1" grpId="0" autoUpdateAnimBg="0"/>
      <p:bldP spid="43023" grpId="0" autoUpdateAnimBg="0"/>
      <p:bldP spid="43024" grpId="0" autoUpdateAnimBg="0"/>
      <p:bldP spid="43028" grpId="0" autoUpdateAnimBg="0"/>
      <p:bldP spid="43029" grpId="0" autoUpdateAnimBg="0"/>
      <p:bldP spid="43030" grpId="0" autoUpdateAnimBg="0"/>
      <p:bldP spid="43034" grpId="0" autoUpdateAnimBg="0"/>
      <p:bldP spid="4303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E6C07FDD-20E5-4C0F-B5E8-D0D89EDDA622}"/>
              </a:ext>
            </a:extLst>
          </p:cNvPr>
          <p:cNvGrpSpPr/>
          <p:nvPr/>
        </p:nvGrpSpPr>
        <p:grpSpPr>
          <a:xfrm>
            <a:off x="450021" y="520775"/>
            <a:ext cx="11032917" cy="4657616"/>
            <a:chOff x="82202" y="623872"/>
            <a:chExt cx="11032917" cy="4657616"/>
          </a:xfrm>
        </p:grpSpPr>
        <p:sp>
          <p:nvSpPr>
            <p:cNvPr id="12" name="Rectangle: Rounded Corners 1">
              <a:extLst>
                <a:ext uri="{FF2B5EF4-FFF2-40B4-BE49-F238E27FC236}">
                  <a16:creationId xmlns:a16="http://schemas.microsoft.com/office/drawing/2014/main" id="{97D4DB1C-F4C6-455B-8416-B26E7057AB43}"/>
                </a:ext>
              </a:extLst>
            </p:cNvPr>
            <p:cNvSpPr/>
            <p:nvPr/>
          </p:nvSpPr>
          <p:spPr>
            <a:xfrm>
              <a:off x="856343" y="1242654"/>
              <a:ext cx="10258776" cy="4038834"/>
            </a:xfrm>
            <a:prstGeom prst="roundRect">
              <a:avLst>
                <a:gd name="adj" fmla="val 3407"/>
              </a:avLst>
            </a:prstGeom>
            <a:gradFill flip="none" rotWithShape="1">
              <a:gsLst>
                <a:gs pos="50000">
                  <a:srgbClr val="1068B8"/>
                </a:gs>
                <a:gs pos="0">
                  <a:srgbClr val="0A2B7C"/>
                </a:gs>
                <a:gs pos="100000">
                  <a:srgbClr val="46A9E6"/>
                </a:gs>
              </a:gsLst>
              <a:path path="circle">
                <a:fillToRect r="100000" b="100000"/>
              </a:path>
              <a:tileRect l="-100000" t="-100000"/>
            </a:gradFill>
            <a:ln w="3175">
              <a:noFill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PA-文本框 1">
              <a:extLst>
                <a:ext uri="{FF2B5EF4-FFF2-40B4-BE49-F238E27FC236}">
                  <a16:creationId xmlns:a16="http://schemas.microsoft.com/office/drawing/2014/main" id="{96C27AE2-4CCF-4E58-9819-03518251FC25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82202" y="623872"/>
              <a:ext cx="230280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定理</a:t>
              </a:r>
              <a:r>
                <a:rPr lang="en-US" altLang="zh-CN" sz="60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3</a:t>
              </a:r>
              <a:endParaRPr lang="id-ID" sz="60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2" name="Text Box 4">
            <a:extLst>
              <a:ext uri="{FF2B5EF4-FFF2-40B4-BE49-F238E27FC236}">
                <a16:creationId xmlns:a16="http://schemas.microsoft.com/office/drawing/2014/main" id="{8A472EE7-E7A1-49AC-B265-AE580DDEA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2328" y="1305675"/>
            <a:ext cx="731520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设函数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分别是方程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33E94C63-0F58-4B40-9B78-CDAE9D16FB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663009"/>
              </p:ext>
            </p:extLst>
          </p:nvPr>
        </p:nvGraphicFramePr>
        <p:xfrm>
          <a:off x="4789372" y="1990675"/>
          <a:ext cx="37211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" name="公式" r:id="rId4" imgW="1685760" imgH="190358" progId="Equation.3">
                  <p:embed/>
                </p:oleObj>
              </mc:Choice>
              <mc:Fallback>
                <p:oleObj name="公式" r:id="rId4" imgW="1685760" imgH="190358" progId="Equation.3">
                  <p:embed/>
                  <p:pic>
                    <p:nvPicPr>
                      <p:cNvPr id="73733" name="Object 5">
                        <a:extLst>
                          <a:ext uri="{FF2B5EF4-FFF2-40B4-BE49-F238E27FC236}">
                            <a16:creationId xmlns:a16="http://schemas.microsoft.com/office/drawing/2014/main" id="{1C94E8C2-4215-41E9-A279-5A83E0151C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9372" y="1990675"/>
                        <a:ext cx="372110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242E864F-91CC-4DAF-9DEB-7E380D45B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172" y="3362275"/>
            <a:ext cx="17526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的特解，</a:t>
            </a: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21D4057D-8E1B-450C-A8E2-1006F6FD0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172" y="4581475"/>
            <a:ext cx="20320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的特解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AF17D4F7-D585-4987-8AEF-A8F870F1F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172" y="2663775"/>
            <a:ext cx="9144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</a:p>
        </p:txBody>
      </p:sp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155B14F6-92A7-4EE7-8CB5-E0060F741B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120019"/>
              </p:ext>
            </p:extLst>
          </p:nvPr>
        </p:nvGraphicFramePr>
        <p:xfrm>
          <a:off x="4789372" y="2752675"/>
          <a:ext cx="37766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4" name="公式" r:id="rId6" imgW="1714560" imgH="190358" progId="Equation.3">
                  <p:embed/>
                </p:oleObj>
              </mc:Choice>
              <mc:Fallback>
                <p:oleObj name="公式" r:id="rId6" imgW="1714560" imgH="190358" progId="Equation.3">
                  <p:embed/>
                  <p:pic>
                    <p:nvPicPr>
                      <p:cNvPr id="73738" name="Object 10">
                        <a:extLst>
                          <a:ext uri="{FF2B5EF4-FFF2-40B4-BE49-F238E27FC236}">
                            <a16:creationId xmlns:a16="http://schemas.microsoft.com/office/drawing/2014/main" id="{5EB4BE9F-481D-4585-890D-B13956C914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9372" y="2752675"/>
                        <a:ext cx="3776663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1">
            <a:extLst>
              <a:ext uri="{FF2B5EF4-FFF2-40B4-BE49-F238E27FC236}">
                <a16:creationId xmlns:a16="http://schemas.microsoft.com/office/drawing/2014/main" id="{E22870E5-1B0D-4DAF-97F1-D062A745C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8772" y="3374975"/>
            <a:ext cx="48006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那么 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baseline="30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+ 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baseline="30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是方程</a:t>
            </a:r>
          </a:p>
        </p:txBody>
      </p:sp>
      <p:graphicFrame>
        <p:nvGraphicFramePr>
          <p:cNvPr id="9" name="Object 12">
            <a:extLst>
              <a:ext uri="{FF2B5EF4-FFF2-40B4-BE49-F238E27FC236}">
                <a16:creationId xmlns:a16="http://schemas.microsoft.com/office/drawing/2014/main" id="{BC3155EA-C8D9-4A9D-84CF-B9FE36E44D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93486"/>
              </p:ext>
            </p:extLst>
          </p:nvPr>
        </p:nvGraphicFramePr>
        <p:xfrm>
          <a:off x="4154372" y="4033787"/>
          <a:ext cx="474186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5" name="公式" r:id="rId8" imgW="2152800" imgH="190358" progId="Equation.3">
                  <p:embed/>
                </p:oleObj>
              </mc:Choice>
              <mc:Fallback>
                <p:oleObj name="公式" r:id="rId8" imgW="2152800" imgH="190358" progId="Equation.3">
                  <p:embed/>
                  <p:pic>
                    <p:nvPicPr>
                      <p:cNvPr id="73740" name="Object 12">
                        <a:extLst>
                          <a:ext uri="{FF2B5EF4-FFF2-40B4-BE49-F238E27FC236}">
                            <a16:creationId xmlns:a16="http://schemas.microsoft.com/office/drawing/2014/main" id="{C4E349E7-2D7D-4F22-8F49-DE07DBC968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372" y="4033787"/>
                        <a:ext cx="4741863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3">
            <a:extLst>
              <a:ext uri="{FF2B5EF4-FFF2-40B4-BE49-F238E27FC236}">
                <a16:creationId xmlns:a16="http://schemas.microsoft.com/office/drawing/2014/main" id="{EBF359BF-870C-4382-B86B-E9B5A7D9B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334650"/>
            <a:ext cx="40386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称之为</a:t>
            </a: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叠加原理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08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8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48"/>
          <p:cNvSpPr>
            <a:spLocks noChangeArrowheads="1"/>
          </p:cNvSpPr>
          <p:nvPr/>
        </p:nvSpPr>
        <p:spPr bwMode="auto">
          <a:xfrm>
            <a:off x="2097088" y="1357313"/>
            <a:ext cx="592137" cy="5794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9" name="Text Box 309"/>
          <p:cNvSpPr txBox="1">
            <a:spLocks noChangeArrowheads="1"/>
          </p:cNvSpPr>
          <p:nvPr/>
        </p:nvSpPr>
        <p:spPr bwMode="auto">
          <a:xfrm>
            <a:off x="1422400" y="3794125"/>
            <a:ext cx="5922963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kern="0">
                <a:solidFill>
                  <a:schemeClr val="bg1"/>
                </a:solidFill>
              </a:rPr>
              <a:t>解上述可降阶微分方程</a:t>
            </a:r>
            <a:r>
              <a:rPr kumimoji="1" lang="en-US" altLang="zh-CN" kern="0">
                <a:solidFill>
                  <a:schemeClr val="bg1"/>
                </a:solidFill>
              </a:rPr>
              <a:t>, </a:t>
            </a:r>
            <a:r>
              <a:rPr kumimoji="1" lang="zh-CN" altLang="en-US" kern="0">
                <a:solidFill>
                  <a:schemeClr val="bg1"/>
                </a:solidFill>
              </a:rPr>
              <a:t>可得通解</a:t>
            </a:r>
            <a:r>
              <a:rPr kumimoji="1" lang="en-US" altLang="zh-CN" kern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20" name="Rectangle 310"/>
          <p:cNvSpPr>
            <a:spLocks noChangeArrowheads="1"/>
          </p:cNvSpPr>
          <p:nvPr/>
        </p:nvSpPr>
        <p:spPr bwMode="auto">
          <a:xfrm>
            <a:off x="2090738" y="660400"/>
            <a:ext cx="2438400" cy="609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求方程</a:t>
            </a:r>
          </a:p>
        </p:txBody>
      </p:sp>
      <p:graphicFrame>
        <p:nvGraphicFramePr>
          <p:cNvPr id="21" name="Object 311"/>
          <p:cNvGraphicFramePr>
            <a:graphicFrameLocks noChangeAspect="1"/>
          </p:cNvGraphicFramePr>
          <p:nvPr/>
        </p:nvGraphicFramePr>
        <p:xfrm>
          <a:off x="3992563" y="695325"/>
          <a:ext cx="43434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8" name="公式" r:id="rId3" imgW="1676640" imgH="199972" progId="Equation.3">
                  <p:embed/>
                </p:oleObj>
              </mc:Choice>
              <mc:Fallback>
                <p:oleObj name="公式" r:id="rId3" imgW="1676640" imgH="199972" progId="Equation.3">
                  <p:embed/>
                  <p:pic>
                    <p:nvPicPr>
                      <p:cNvPr id="2053" name="Object 3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2563" y="695325"/>
                        <a:ext cx="43434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312"/>
          <p:cNvSpPr txBox="1">
            <a:spLocks noChangeArrowheads="1"/>
          </p:cNvSpPr>
          <p:nvPr/>
        </p:nvSpPr>
        <p:spPr bwMode="auto">
          <a:xfrm>
            <a:off x="8339138" y="736600"/>
            <a:ext cx="16764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kern="0">
                <a:solidFill>
                  <a:schemeClr val="bg1"/>
                </a:solidFill>
              </a:rPr>
              <a:t>的通解</a:t>
            </a:r>
            <a:r>
              <a:rPr kumimoji="1" lang="en-US" altLang="zh-CN" kern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3" name="Text Box 313"/>
          <p:cNvSpPr txBox="1">
            <a:spLocks noChangeArrowheads="1"/>
          </p:cNvSpPr>
          <p:nvPr/>
        </p:nvSpPr>
        <p:spPr bwMode="auto">
          <a:xfrm>
            <a:off x="2776538" y="1384300"/>
            <a:ext cx="28194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kern="0">
                <a:solidFill>
                  <a:schemeClr val="bg1"/>
                </a:solidFill>
              </a:rPr>
              <a:t>对应齐次方程为</a:t>
            </a:r>
          </a:p>
        </p:txBody>
      </p:sp>
      <p:graphicFrame>
        <p:nvGraphicFramePr>
          <p:cNvPr id="24" name="Object 314"/>
          <p:cNvGraphicFramePr>
            <a:graphicFrameLocks noChangeAspect="1"/>
          </p:cNvGraphicFramePr>
          <p:nvPr/>
        </p:nvGraphicFramePr>
        <p:xfrm>
          <a:off x="5519738" y="1397000"/>
          <a:ext cx="3962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9" name="Equation" r:id="rId5" imgW="3933600" imgH="495122" progId="Equation.3">
                  <p:embed/>
                </p:oleObj>
              </mc:Choice>
              <mc:Fallback>
                <p:oleObj name="Equation" r:id="rId5" imgW="3933600" imgH="495122" progId="Equation.3">
                  <p:embed/>
                  <p:pic>
                    <p:nvPicPr>
                      <p:cNvPr id="33" name="Object 3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8" y="1397000"/>
                        <a:ext cx="39624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315"/>
          <p:cNvSpPr txBox="1">
            <a:spLocks noChangeArrowheads="1"/>
          </p:cNvSpPr>
          <p:nvPr/>
        </p:nvSpPr>
        <p:spPr bwMode="auto">
          <a:xfrm>
            <a:off x="1422400" y="2027238"/>
            <a:ext cx="3657600" cy="519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kern="0">
                <a:solidFill>
                  <a:schemeClr val="bg1"/>
                </a:solidFill>
              </a:rPr>
              <a:t>由观察可知它有特解</a:t>
            </a:r>
            <a:r>
              <a:rPr kumimoji="1" lang="en-US" altLang="zh-CN" kern="0">
                <a:solidFill>
                  <a:schemeClr val="bg1"/>
                </a:solidFill>
              </a:rPr>
              <a:t>:</a:t>
            </a:r>
          </a:p>
        </p:txBody>
      </p:sp>
      <p:graphicFrame>
        <p:nvGraphicFramePr>
          <p:cNvPr id="26" name="Object 316"/>
          <p:cNvGraphicFramePr>
            <a:graphicFrameLocks noChangeAspect="1"/>
          </p:cNvGraphicFramePr>
          <p:nvPr/>
        </p:nvGraphicFramePr>
        <p:xfrm>
          <a:off x="5222875" y="2060575"/>
          <a:ext cx="1041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0" name="Equation" r:id="rId7" imgW="1009440" imgH="419171" progId="Equation.3">
                  <p:embed/>
                </p:oleObj>
              </mc:Choice>
              <mc:Fallback>
                <p:oleObj name="Equation" r:id="rId7" imgW="1009440" imgH="419171" progId="Equation.3">
                  <p:embed/>
                  <p:pic>
                    <p:nvPicPr>
                      <p:cNvPr id="40" name="Object 3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75" y="2060575"/>
                        <a:ext cx="1041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317"/>
          <p:cNvSpPr txBox="1">
            <a:spLocks noChangeArrowheads="1"/>
          </p:cNvSpPr>
          <p:nvPr/>
        </p:nvSpPr>
        <p:spPr bwMode="auto">
          <a:xfrm>
            <a:off x="1422400" y="2635250"/>
            <a:ext cx="6858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kern="0">
                <a:solidFill>
                  <a:schemeClr val="bg1"/>
                </a:solidFill>
              </a:rPr>
              <a:t>令</a:t>
            </a:r>
          </a:p>
        </p:txBody>
      </p:sp>
      <p:graphicFrame>
        <p:nvGraphicFramePr>
          <p:cNvPr id="28" name="Object 318"/>
          <p:cNvGraphicFramePr>
            <a:graphicFrameLocks noChangeAspect="1"/>
          </p:cNvGraphicFramePr>
          <p:nvPr/>
        </p:nvGraphicFramePr>
        <p:xfrm>
          <a:off x="2305050" y="2725738"/>
          <a:ext cx="1612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1" name="Equation" r:id="rId9" imgW="1581120" imgH="381196" progId="Equation.3">
                  <p:embed/>
                </p:oleObj>
              </mc:Choice>
              <mc:Fallback>
                <p:oleObj name="Equation" r:id="rId9" imgW="1581120" imgH="381196" progId="Equation.3">
                  <p:embed/>
                  <p:pic>
                    <p:nvPicPr>
                      <p:cNvPr id="42" name="Object 3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050" y="2725738"/>
                        <a:ext cx="1612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319"/>
          <p:cNvSpPr txBox="1">
            <a:spLocks noChangeArrowheads="1"/>
          </p:cNvSpPr>
          <p:nvPr/>
        </p:nvSpPr>
        <p:spPr bwMode="auto">
          <a:xfrm>
            <a:off x="4224338" y="2636838"/>
            <a:ext cx="4572000" cy="519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kern="0">
                <a:solidFill>
                  <a:schemeClr val="bg1"/>
                </a:solidFill>
              </a:rPr>
              <a:t>代入非齐次方程后化简得</a:t>
            </a:r>
          </a:p>
        </p:txBody>
      </p:sp>
      <p:graphicFrame>
        <p:nvGraphicFramePr>
          <p:cNvPr id="30" name="Object 320"/>
          <p:cNvGraphicFramePr>
            <a:graphicFrameLocks noChangeAspect="1"/>
          </p:cNvGraphicFramePr>
          <p:nvPr/>
        </p:nvGraphicFramePr>
        <p:xfrm>
          <a:off x="4824413" y="3249613"/>
          <a:ext cx="172878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2" name="公式" r:id="rId11" imgW="685920" imgH="171610" progId="Equation.3">
                  <p:embed/>
                </p:oleObj>
              </mc:Choice>
              <mc:Fallback>
                <p:oleObj name="公式" r:id="rId11" imgW="685920" imgH="171610" progId="Equation.3">
                  <p:embed/>
                  <p:pic>
                    <p:nvPicPr>
                      <p:cNvPr id="44" name="Object 3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413" y="3249613"/>
                        <a:ext cx="1728787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21"/>
          <p:cNvGraphicFramePr>
            <a:graphicFrameLocks noChangeAspect="1"/>
          </p:cNvGraphicFramePr>
          <p:nvPr/>
        </p:nvGraphicFramePr>
        <p:xfrm>
          <a:off x="4176713" y="4391025"/>
          <a:ext cx="38862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3" name="公式" r:id="rId13" imgW="1571520" imgH="209586" progId="Equation.3">
                  <p:embed/>
                </p:oleObj>
              </mc:Choice>
              <mc:Fallback>
                <p:oleObj name="公式" r:id="rId13" imgW="1571520" imgH="209586" progId="Equation.3">
                  <p:embed/>
                  <p:pic>
                    <p:nvPicPr>
                      <p:cNvPr id="45" name="Object 3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13" y="4391025"/>
                        <a:ext cx="3886200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322"/>
          <p:cNvSpPr txBox="1">
            <a:spLocks noChangeArrowheads="1"/>
          </p:cNvSpPr>
          <p:nvPr/>
        </p:nvSpPr>
        <p:spPr bwMode="auto">
          <a:xfrm>
            <a:off x="1422400" y="5089525"/>
            <a:ext cx="277336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r>
              <a:rPr kumimoji="1" lang="zh-CN" altLang="en-US" kern="0">
                <a:solidFill>
                  <a:schemeClr val="bg1"/>
                </a:solidFill>
              </a:rPr>
              <a:t>故原方程通解为 </a:t>
            </a:r>
          </a:p>
        </p:txBody>
      </p:sp>
      <p:graphicFrame>
        <p:nvGraphicFramePr>
          <p:cNvPr id="33" name="Object 323"/>
          <p:cNvGraphicFramePr>
            <a:graphicFrameLocks noChangeAspect="1"/>
          </p:cNvGraphicFramePr>
          <p:nvPr/>
        </p:nvGraphicFramePr>
        <p:xfrm>
          <a:off x="4176713" y="5616575"/>
          <a:ext cx="51816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4" name="公式" r:id="rId15" imgW="2104800" imgH="209586" progId="Equation.3">
                  <p:embed/>
                </p:oleObj>
              </mc:Choice>
              <mc:Fallback>
                <p:oleObj name="公式" r:id="rId15" imgW="2104800" imgH="209586" progId="Equation.3">
                  <p:embed/>
                  <p:pic>
                    <p:nvPicPr>
                      <p:cNvPr id="52" name="Object 3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13" y="5616575"/>
                        <a:ext cx="5181600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583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 autoUpdateAnimBg="0"/>
      <p:bldP spid="23" grpId="0" autoUpdateAnimBg="0"/>
      <p:bldP spid="25" grpId="0" autoUpdateAnimBg="0"/>
      <p:bldP spid="27" grpId="0" autoUpdateAnimBg="0"/>
      <p:bldP spid="29" grpId="0" autoUpdateAnimBg="0"/>
      <p:bldP spid="32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https://hbimg.huabanimg.com/b96de12fa5dba823666af6d770da122a48d93bb01549e-57PAF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" y="34590"/>
            <a:ext cx="12192000" cy="686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-166003" y="-87493"/>
            <a:ext cx="12365622" cy="6959599"/>
            <a:chOff x="-127322" y="-50800"/>
            <a:chExt cx="12365622" cy="6959599"/>
          </a:xfrm>
        </p:grpSpPr>
        <p:sp>
          <p:nvSpPr>
            <p:cNvPr id="3" name="矩形: 圆角 16">
              <a:extLst>
                <a:ext uri="{FF2B5EF4-FFF2-40B4-BE49-F238E27FC236}">
                  <a16:creationId xmlns:a16="http://schemas.microsoft.com/office/drawing/2014/main" id="{51361C5B-6E6E-42D2-A84D-60AA9BFD82B2}"/>
                </a:ext>
              </a:extLst>
            </p:cNvPr>
            <p:cNvSpPr/>
            <p:nvPr/>
          </p:nvSpPr>
          <p:spPr>
            <a:xfrm>
              <a:off x="0" y="-50799"/>
              <a:ext cx="12192000" cy="690879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">
                  <a:srgbClr val="00003A"/>
                </a:gs>
                <a:gs pos="71000">
                  <a:srgbClr val="0063AC">
                    <a:alpha val="60000"/>
                  </a:srgbClr>
                </a:gs>
                <a:gs pos="40000">
                  <a:srgbClr val="084098">
                    <a:alpha val="92000"/>
                  </a:srgbClr>
                </a:gs>
                <a:gs pos="91000">
                  <a:srgbClr val="0072BC">
                    <a:alpha val="0"/>
                  </a:srgbClr>
                </a:gs>
              </a:gsLst>
              <a:lin ang="4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Rounded Book"/>
                <a:ea typeface="思源黑体 CN Regular"/>
                <a:cs typeface="+mn-cs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-127322" y="-50800"/>
              <a:ext cx="12365622" cy="6959599"/>
            </a:xfrm>
            <a:prstGeom prst="rect">
              <a:avLst/>
            </a:prstGeom>
            <a:gradFill flip="none" rotWithShape="1">
              <a:gsLst>
                <a:gs pos="0">
                  <a:srgbClr val="0072BC">
                    <a:alpha val="0"/>
                  </a:srgbClr>
                </a:gs>
                <a:gs pos="38000">
                  <a:srgbClr val="084098">
                    <a:alpha val="0"/>
                  </a:srgbClr>
                </a:gs>
                <a:gs pos="76000">
                  <a:srgbClr val="00003A">
                    <a:alpha val="71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186141" y="2156713"/>
            <a:ext cx="3839173" cy="1619434"/>
            <a:chOff x="4770777" y="2563691"/>
            <a:chExt cx="2650446" cy="1118007"/>
          </a:xfrm>
        </p:grpSpPr>
        <p:sp>
          <p:nvSpPr>
            <p:cNvPr id="6" name="任意多边形: 形状 81">
              <a:extLst>
                <a:ext uri="{FF2B5EF4-FFF2-40B4-BE49-F238E27FC236}">
                  <a16:creationId xmlns:a16="http://schemas.microsoft.com/office/drawing/2014/main" id="{2479DF4E-9948-4FA5-A7F9-89ED8712CE7F}"/>
                </a:ext>
              </a:extLst>
            </p:cNvPr>
            <p:cNvSpPr/>
            <p:nvPr/>
          </p:nvSpPr>
          <p:spPr>
            <a:xfrm>
              <a:off x="4991452" y="2563691"/>
              <a:ext cx="814598" cy="1118007"/>
            </a:xfrm>
            <a:custGeom>
              <a:avLst/>
              <a:gdLst/>
              <a:ahLst/>
              <a:cxnLst/>
              <a:rect l="l" t="t" r="r" b="b"/>
              <a:pathLst>
                <a:path w="814598" h="1118007">
                  <a:moveTo>
                    <a:pt x="525419" y="0"/>
                  </a:moveTo>
                  <a:lnTo>
                    <a:pt x="757067" y="0"/>
                  </a:lnTo>
                  <a:lnTo>
                    <a:pt x="717061" y="89002"/>
                  </a:lnTo>
                  <a:lnTo>
                    <a:pt x="814598" y="89002"/>
                  </a:lnTo>
                  <a:lnTo>
                    <a:pt x="464897" y="1118007"/>
                  </a:lnTo>
                  <a:lnTo>
                    <a:pt x="219837" y="1118007"/>
                  </a:lnTo>
                  <a:lnTo>
                    <a:pt x="256775" y="998525"/>
                  </a:lnTo>
                  <a:lnTo>
                    <a:pt x="175565" y="1111911"/>
                  </a:lnTo>
                  <a:lnTo>
                    <a:pt x="0" y="1111911"/>
                  </a:lnTo>
                  <a:lnTo>
                    <a:pt x="58008" y="941223"/>
                  </a:lnTo>
                  <a:lnTo>
                    <a:pt x="95803" y="941223"/>
                  </a:lnTo>
                  <a:lnTo>
                    <a:pt x="208560" y="788823"/>
                  </a:lnTo>
                  <a:lnTo>
                    <a:pt x="109805" y="788823"/>
                  </a:lnTo>
                  <a:lnTo>
                    <a:pt x="164097" y="629107"/>
                  </a:lnTo>
                  <a:lnTo>
                    <a:pt x="184824" y="629107"/>
                  </a:lnTo>
                  <a:lnTo>
                    <a:pt x="369608" y="85344"/>
                  </a:lnTo>
                  <a:lnTo>
                    <a:pt x="485433" y="85344"/>
                  </a:lnTo>
                  <a:lnTo>
                    <a:pt x="525419" y="0"/>
                  </a:lnTo>
                  <a:close/>
                  <a:moveTo>
                    <a:pt x="498348" y="223114"/>
                  </a:moveTo>
                  <a:lnTo>
                    <a:pt x="483432" y="267005"/>
                  </a:lnTo>
                  <a:lnTo>
                    <a:pt x="569996" y="267005"/>
                  </a:lnTo>
                  <a:lnTo>
                    <a:pt x="584912" y="223114"/>
                  </a:lnTo>
                  <a:lnTo>
                    <a:pt x="498348" y="223114"/>
                  </a:lnTo>
                  <a:close/>
                  <a:moveTo>
                    <a:pt x="439103" y="397459"/>
                  </a:moveTo>
                  <a:lnTo>
                    <a:pt x="423768" y="442570"/>
                  </a:lnTo>
                  <a:lnTo>
                    <a:pt x="510331" y="442570"/>
                  </a:lnTo>
                  <a:lnTo>
                    <a:pt x="525666" y="397459"/>
                  </a:lnTo>
                  <a:lnTo>
                    <a:pt x="439103" y="397459"/>
                  </a:lnTo>
                  <a:close/>
                  <a:moveTo>
                    <a:pt x="379019" y="574243"/>
                  </a:moveTo>
                  <a:lnTo>
                    <a:pt x="360388" y="629107"/>
                  </a:lnTo>
                  <a:lnTo>
                    <a:pt x="446951" y="629107"/>
                  </a:lnTo>
                  <a:lnTo>
                    <a:pt x="465582" y="574243"/>
                  </a:lnTo>
                  <a:lnTo>
                    <a:pt x="379019" y="574243"/>
                  </a:lnTo>
                  <a:close/>
                  <a:moveTo>
                    <a:pt x="378581" y="830275"/>
                  </a:moveTo>
                  <a:lnTo>
                    <a:pt x="298190" y="941223"/>
                  </a:lnTo>
                  <a:lnTo>
                    <a:pt x="340862" y="941223"/>
                  </a:lnTo>
                  <a:lnTo>
                    <a:pt x="378581" y="830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任意多边形: 形状 80">
              <a:extLst>
                <a:ext uri="{FF2B5EF4-FFF2-40B4-BE49-F238E27FC236}">
                  <a16:creationId xmlns:a16="http://schemas.microsoft.com/office/drawing/2014/main" id="{CA53E22B-3456-4D36-8322-3B0838905AD0}"/>
                </a:ext>
              </a:extLst>
            </p:cNvPr>
            <p:cNvSpPr/>
            <p:nvPr/>
          </p:nvSpPr>
          <p:spPr>
            <a:xfrm>
              <a:off x="6210652" y="2563691"/>
              <a:ext cx="814597" cy="1118007"/>
            </a:xfrm>
            <a:custGeom>
              <a:avLst/>
              <a:gdLst/>
              <a:ahLst/>
              <a:cxnLst/>
              <a:rect l="l" t="t" r="r" b="b"/>
              <a:pathLst>
                <a:path w="814597" h="1118007">
                  <a:moveTo>
                    <a:pt x="525418" y="0"/>
                  </a:moveTo>
                  <a:lnTo>
                    <a:pt x="757066" y="0"/>
                  </a:lnTo>
                  <a:lnTo>
                    <a:pt x="717061" y="89002"/>
                  </a:lnTo>
                  <a:lnTo>
                    <a:pt x="814597" y="89002"/>
                  </a:lnTo>
                  <a:lnTo>
                    <a:pt x="464897" y="1118007"/>
                  </a:lnTo>
                  <a:lnTo>
                    <a:pt x="219837" y="1118007"/>
                  </a:lnTo>
                  <a:lnTo>
                    <a:pt x="256775" y="998525"/>
                  </a:lnTo>
                  <a:lnTo>
                    <a:pt x="175565" y="1111911"/>
                  </a:lnTo>
                  <a:lnTo>
                    <a:pt x="0" y="1111911"/>
                  </a:lnTo>
                  <a:lnTo>
                    <a:pt x="58008" y="941223"/>
                  </a:lnTo>
                  <a:lnTo>
                    <a:pt x="95803" y="941223"/>
                  </a:lnTo>
                  <a:lnTo>
                    <a:pt x="208560" y="788823"/>
                  </a:lnTo>
                  <a:lnTo>
                    <a:pt x="109805" y="788823"/>
                  </a:lnTo>
                  <a:lnTo>
                    <a:pt x="164097" y="629107"/>
                  </a:lnTo>
                  <a:lnTo>
                    <a:pt x="184824" y="629107"/>
                  </a:lnTo>
                  <a:lnTo>
                    <a:pt x="369608" y="85344"/>
                  </a:lnTo>
                  <a:lnTo>
                    <a:pt x="485432" y="85344"/>
                  </a:lnTo>
                  <a:lnTo>
                    <a:pt x="525418" y="0"/>
                  </a:lnTo>
                  <a:close/>
                  <a:moveTo>
                    <a:pt x="498348" y="223114"/>
                  </a:moveTo>
                  <a:lnTo>
                    <a:pt x="483432" y="267005"/>
                  </a:lnTo>
                  <a:lnTo>
                    <a:pt x="569995" y="267005"/>
                  </a:lnTo>
                  <a:lnTo>
                    <a:pt x="584912" y="223114"/>
                  </a:lnTo>
                  <a:lnTo>
                    <a:pt x="498348" y="223114"/>
                  </a:lnTo>
                  <a:close/>
                  <a:moveTo>
                    <a:pt x="439103" y="397459"/>
                  </a:moveTo>
                  <a:lnTo>
                    <a:pt x="423768" y="442570"/>
                  </a:lnTo>
                  <a:lnTo>
                    <a:pt x="510331" y="442570"/>
                  </a:lnTo>
                  <a:lnTo>
                    <a:pt x="525666" y="397459"/>
                  </a:lnTo>
                  <a:lnTo>
                    <a:pt x="439103" y="397459"/>
                  </a:lnTo>
                  <a:close/>
                  <a:moveTo>
                    <a:pt x="379019" y="574243"/>
                  </a:moveTo>
                  <a:lnTo>
                    <a:pt x="360388" y="629107"/>
                  </a:lnTo>
                  <a:lnTo>
                    <a:pt x="446952" y="629107"/>
                  </a:lnTo>
                  <a:lnTo>
                    <a:pt x="465582" y="574243"/>
                  </a:lnTo>
                  <a:lnTo>
                    <a:pt x="379019" y="574243"/>
                  </a:lnTo>
                  <a:close/>
                  <a:moveTo>
                    <a:pt x="378581" y="830275"/>
                  </a:moveTo>
                  <a:lnTo>
                    <a:pt x="298190" y="941223"/>
                  </a:lnTo>
                  <a:lnTo>
                    <a:pt x="340862" y="941223"/>
                  </a:lnTo>
                  <a:lnTo>
                    <a:pt x="378581" y="830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任意多边形: 形状 79">
              <a:extLst>
                <a:ext uri="{FF2B5EF4-FFF2-40B4-BE49-F238E27FC236}">
                  <a16:creationId xmlns:a16="http://schemas.microsoft.com/office/drawing/2014/main" id="{0212B1DD-797F-4E79-B4BD-888360466A47}"/>
                </a:ext>
              </a:extLst>
            </p:cNvPr>
            <p:cNvSpPr/>
            <p:nvPr/>
          </p:nvSpPr>
          <p:spPr>
            <a:xfrm>
              <a:off x="5055480" y="2564910"/>
              <a:ext cx="262242" cy="265786"/>
            </a:xfrm>
            <a:custGeom>
              <a:avLst/>
              <a:gdLst/>
              <a:ahLst/>
              <a:cxnLst/>
              <a:rect l="l" t="t" r="r" b="b"/>
              <a:pathLst>
                <a:path w="262242" h="265786">
                  <a:moveTo>
                    <a:pt x="57416" y="0"/>
                  </a:moveTo>
                  <a:lnTo>
                    <a:pt x="262242" y="0"/>
                  </a:lnTo>
                  <a:lnTo>
                    <a:pt x="207263" y="265786"/>
                  </a:lnTo>
                  <a:lnTo>
                    <a:pt x="0" y="265786"/>
                  </a:lnTo>
                  <a:lnTo>
                    <a:pt x="5741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任意多边形: 形状 78">
              <a:extLst>
                <a:ext uri="{FF2B5EF4-FFF2-40B4-BE49-F238E27FC236}">
                  <a16:creationId xmlns:a16="http://schemas.microsoft.com/office/drawing/2014/main" id="{9BB59066-A7D5-4EF2-9948-EAEEB6D96C84}"/>
                </a:ext>
              </a:extLst>
            </p:cNvPr>
            <p:cNvSpPr/>
            <p:nvPr/>
          </p:nvSpPr>
          <p:spPr>
            <a:xfrm>
              <a:off x="6274680" y="2564910"/>
              <a:ext cx="262243" cy="265786"/>
            </a:xfrm>
            <a:custGeom>
              <a:avLst/>
              <a:gdLst/>
              <a:ahLst/>
              <a:cxnLst/>
              <a:rect l="l" t="t" r="r" b="b"/>
              <a:pathLst>
                <a:path w="262243" h="265786">
                  <a:moveTo>
                    <a:pt x="57417" y="0"/>
                  </a:moveTo>
                  <a:lnTo>
                    <a:pt x="262243" y="0"/>
                  </a:lnTo>
                  <a:lnTo>
                    <a:pt x="207264" y="265786"/>
                  </a:lnTo>
                  <a:lnTo>
                    <a:pt x="0" y="265786"/>
                  </a:lnTo>
                  <a:lnTo>
                    <a:pt x="5741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任意多边形: 形状 77">
              <a:extLst>
                <a:ext uri="{FF2B5EF4-FFF2-40B4-BE49-F238E27FC236}">
                  <a16:creationId xmlns:a16="http://schemas.microsoft.com/office/drawing/2014/main" id="{5384D700-AFC6-43C1-8297-3478892FFF96}"/>
                </a:ext>
              </a:extLst>
            </p:cNvPr>
            <p:cNvSpPr/>
            <p:nvPr/>
          </p:nvSpPr>
          <p:spPr>
            <a:xfrm>
              <a:off x="5507555" y="2567349"/>
              <a:ext cx="694468" cy="1114349"/>
            </a:xfrm>
            <a:custGeom>
              <a:avLst/>
              <a:gdLst/>
              <a:ahLst/>
              <a:cxnLst/>
              <a:rect l="l" t="t" r="r" b="b"/>
              <a:pathLst>
                <a:path w="694468" h="1114349">
                  <a:moveTo>
                    <a:pt x="490861" y="0"/>
                  </a:moveTo>
                  <a:lnTo>
                    <a:pt x="694468" y="0"/>
                  </a:lnTo>
                  <a:lnTo>
                    <a:pt x="642690" y="152400"/>
                  </a:lnTo>
                  <a:lnTo>
                    <a:pt x="684143" y="152400"/>
                  </a:lnTo>
                  <a:lnTo>
                    <a:pt x="620325" y="340157"/>
                  </a:lnTo>
                  <a:lnTo>
                    <a:pt x="578872" y="340157"/>
                  </a:lnTo>
                  <a:lnTo>
                    <a:pt x="315773" y="1114349"/>
                  </a:lnTo>
                  <a:lnTo>
                    <a:pt x="0" y="1114349"/>
                  </a:lnTo>
                  <a:lnTo>
                    <a:pt x="50749" y="932688"/>
                  </a:lnTo>
                  <a:lnTo>
                    <a:pt x="173888" y="932688"/>
                  </a:lnTo>
                  <a:lnTo>
                    <a:pt x="221540" y="792480"/>
                  </a:lnTo>
                  <a:lnTo>
                    <a:pt x="87440" y="792480"/>
                  </a:lnTo>
                  <a:lnTo>
                    <a:pt x="195644" y="402336"/>
                  </a:lnTo>
                  <a:lnTo>
                    <a:pt x="327317" y="402336"/>
                  </a:lnTo>
                  <a:lnTo>
                    <a:pt x="221599" y="792305"/>
                  </a:lnTo>
                  <a:lnTo>
                    <a:pt x="375266" y="340157"/>
                  </a:lnTo>
                  <a:lnTo>
                    <a:pt x="222866" y="340157"/>
                  </a:lnTo>
                  <a:lnTo>
                    <a:pt x="286684" y="152400"/>
                  </a:lnTo>
                  <a:lnTo>
                    <a:pt x="439084" y="152400"/>
                  </a:lnTo>
                  <a:lnTo>
                    <a:pt x="49086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任意多边形: 形状 76">
              <a:extLst>
                <a:ext uri="{FF2B5EF4-FFF2-40B4-BE49-F238E27FC236}">
                  <a16:creationId xmlns:a16="http://schemas.microsoft.com/office/drawing/2014/main" id="{A6EC6683-5002-41CA-A1DE-7430A66D3C29}"/>
                </a:ext>
              </a:extLst>
            </p:cNvPr>
            <p:cNvSpPr/>
            <p:nvPr/>
          </p:nvSpPr>
          <p:spPr>
            <a:xfrm>
              <a:off x="6726755" y="2567349"/>
              <a:ext cx="694468" cy="1114349"/>
            </a:xfrm>
            <a:custGeom>
              <a:avLst/>
              <a:gdLst/>
              <a:ahLst/>
              <a:cxnLst/>
              <a:rect l="l" t="t" r="r" b="b"/>
              <a:pathLst>
                <a:path w="694468" h="1114349">
                  <a:moveTo>
                    <a:pt x="490861" y="0"/>
                  </a:moveTo>
                  <a:lnTo>
                    <a:pt x="694468" y="0"/>
                  </a:lnTo>
                  <a:lnTo>
                    <a:pt x="642690" y="152400"/>
                  </a:lnTo>
                  <a:lnTo>
                    <a:pt x="684143" y="152400"/>
                  </a:lnTo>
                  <a:lnTo>
                    <a:pt x="620325" y="340157"/>
                  </a:lnTo>
                  <a:lnTo>
                    <a:pt x="578872" y="340157"/>
                  </a:lnTo>
                  <a:lnTo>
                    <a:pt x="315773" y="1114349"/>
                  </a:lnTo>
                  <a:lnTo>
                    <a:pt x="0" y="1114349"/>
                  </a:lnTo>
                  <a:lnTo>
                    <a:pt x="50749" y="932688"/>
                  </a:lnTo>
                  <a:lnTo>
                    <a:pt x="173888" y="932688"/>
                  </a:lnTo>
                  <a:lnTo>
                    <a:pt x="221539" y="792480"/>
                  </a:lnTo>
                  <a:lnTo>
                    <a:pt x="87439" y="792480"/>
                  </a:lnTo>
                  <a:lnTo>
                    <a:pt x="195644" y="402336"/>
                  </a:lnTo>
                  <a:lnTo>
                    <a:pt x="327317" y="402336"/>
                  </a:lnTo>
                  <a:lnTo>
                    <a:pt x="221599" y="792305"/>
                  </a:lnTo>
                  <a:lnTo>
                    <a:pt x="375266" y="340157"/>
                  </a:lnTo>
                  <a:lnTo>
                    <a:pt x="222866" y="340157"/>
                  </a:lnTo>
                  <a:lnTo>
                    <a:pt x="286683" y="152400"/>
                  </a:lnTo>
                  <a:lnTo>
                    <a:pt x="439083" y="152400"/>
                  </a:lnTo>
                  <a:lnTo>
                    <a:pt x="490861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52000">
                  <a:schemeClr val="bg1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任意多边形: 形状 75">
              <a:extLst>
                <a:ext uri="{FF2B5EF4-FFF2-40B4-BE49-F238E27FC236}">
                  <a16:creationId xmlns:a16="http://schemas.microsoft.com/office/drawing/2014/main" id="{7A66BCDD-251A-4395-A0A6-ECF12F8434AC}"/>
                </a:ext>
              </a:extLst>
            </p:cNvPr>
            <p:cNvSpPr/>
            <p:nvPr/>
          </p:nvSpPr>
          <p:spPr>
            <a:xfrm>
              <a:off x="4770777" y="2870930"/>
              <a:ext cx="468554" cy="804672"/>
            </a:xfrm>
            <a:custGeom>
              <a:avLst/>
              <a:gdLst/>
              <a:ahLst/>
              <a:cxnLst/>
              <a:rect l="l" t="t" r="r" b="b"/>
              <a:pathLst>
                <a:path w="468554" h="804672">
                  <a:moveTo>
                    <a:pt x="228372" y="0"/>
                  </a:moveTo>
                  <a:lnTo>
                    <a:pt x="468554" y="0"/>
                  </a:lnTo>
                  <a:lnTo>
                    <a:pt x="269672" y="585216"/>
                  </a:lnTo>
                  <a:lnTo>
                    <a:pt x="295275" y="585216"/>
                  </a:lnTo>
                  <a:lnTo>
                    <a:pt x="209703" y="804672"/>
                  </a:lnTo>
                  <a:lnTo>
                    <a:pt x="0" y="804672"/>
                  </a:lnTo>
                  <a:lnTo>
                    <a:pt x="201797" y="210921"/>
                  </a:lnTo>
                  <a:lnTo>
                    <a:pt x="156686" y="210921"/>
                  </a:lnTo>
                  <a:lnTo>
                    <a:pt x="228372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任意多边形: 形状 74">
              <a:extLst>
                <a:ext uri="{FF2B5EF4-FFF2-40B4-BE49-F238E27FC236}">
                  <a16:creationId xmlns:a16="http://schemas.microsoft.com/office/drawing/2014/main" id="{3D3BA081-1975-4F85-B532-DD659860F411}"/>
                </a:ext>
              </a:extLst>
            </p:cNvPr>
            <p:cNvSpPr/>
            <p:nvPr/>
          </p:nvSpPr>
          <p:spPr>
            <a:xfrm>
              <a:off x="5989977" y="2870930"/>
              <a:ext cx="468554" cy="804672"/>
            </a:xfrm>
            <a:custGeom>
              <a:avLst/>
              <a:gdLst/>
              <a:ahLst/>
              <a:cxnLst/>
              <a:rect l="l" t="t" r="r" b="b"/>
              <a:pathLst>
                <a:path w="468554" h="804672">
                  <a:moveTo>
                    <a:pt x="228372" y="0"/>
                  </a:moveTo>
                  <a:lnTo>
                    <a:pt x="468554" y="0"/>
                  </a:lnTo>
                  <a:lnTo>
                    <a:pt x="269672" y="585216"/>
                  </a:lnTo>
                  <a:lnTo>
                    <a:pt x="295275" y="585216"/>
                  </a:lnTo>
                  <a:lnTo>
                    <a:pt x="209703" y="804672"/>
                  </a:lnTo>
                  <a:lnTo>
                    <a:pt x="0" y="804672"/>
                  </a:lnTo>
                  <a:lnTo>
                    <a:pt x="201797" y="210921"/>
                  </a:lnTo>
                  <a:lnTo>
                    <a:pt x="156687" y="210921"/>
                  </a:lnTo>
                  <a:lnTo>
                    <a:pt x="22837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5FDE679-FD78-4F85-ABC6-764214388045}"/>
              </a:ext>
            </a:extLst>
          </p:cNvPr>
          <p:cNvGrpSpPr/>
          <p:nvPr/>
        </p:nvGrpSpPr>
        <p:grpSpPr>
          <a:xfrm>
            <a:off x="5167378" y="2054667"/>
            <a:ext cx="5670490" cy="190500"/>
            <a:chOff x="3358495" y="2159000"/>
            <a:chExt cx="5670490" cy="190500"/>
          </a:xfrm>
        </p:grpSpPr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F40B6635-2B48-4DDE-BE26-58BD5C512A50}"/>
                </a:ext>
              </a:extLst>
            </p:cNvPr>
            <p:cNvCxnSpPr>
              <a:cxnSpLocks/>
            </p:cNvCxnSpPr>
            <p:nvPr/>
          </p:nvCxnSpPr>
          <p:spPr>
            <a:xfrm>
              <a:off x="3358495" y="2159000"/>
              <a:ext cx="3018571" cy="1586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5904BB60-A8C3-400A-BD91-58BDC73EF481}"/>
                </a:ext>
              </a:extLst>
            </p:cNvPr>
            <p:cNvCxnSpPr>
              <a:cxnSpLocks/>
            </p:cNvCxnSpPr>
            <p:nvPr/>
          </p:nvCxnSpPr>
          <p:spPr>
            <a:xfrm>
              <a:off x="6565185" y="2349500"/>
              <a:ext cx="24638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72000">
                    <a:srgbClr val="0082D2">
                      <a:alpha val="49000"/>
                    </a:srgbClr>
                  </a:gs>
                </a:gsLst>
                <a:lin ang="0" scaled="1"/>
                <a:tileRect/>
              </a:gra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4F0BB6B-28A9-40CE-87ED-71E01CC7715A}"/>
                </a:ext>
              </a:extLst>
            </p:cNvPr>
            <p:cNvCxnSpPr>
              <a:cxnSpLocks/>
            </p:cNvCxnSpPr>
            <p:nvPr/>
          </p:nvCxnSpPr>
          <p:spPr>
            <a:xfrm>
              <a:off x="6374685" y="2159000"/>
              <a:ext cx="190500" cy="19050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5CF1336-DF70-4F08-BF8F-6D90A9FED702}"/>
              </a:ext>
            </a:extLst>
          </p:cNvPr>
          <p:cNvGrpSpPr/>
          <p:nvPr/>
        </p:nvGrpSpPr>
        <p:grpSpPr>
          <a:xfrm flipH="1">
            <a:off x="1509654" y="3905261"/>
            <a:ext cx="6012691" cy="190500"/>
            <a:chOff x="3016294" y="2159000"/>
            <a:chExt cx="6012691" cy="190500"/>
          </a:xfrm>
        </p:grpSpPr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7899BC5C-4E74-4935-9A42-9412BBC3BF86}"/>
                </a:ext>
              </a:extLst>
            </p:cNvPr>
            <p:cNvCxnSpPr>
              <a:cxnSpLocks/>
            </p:cNvCxnSpPr>
            <p:nvPr/>
          </p:nvCxnSpPr>
          <p:spPr>
            <a:xfrm>
              <a:off x="3016294" y="2160586"/>
              <a:ext cx="3360772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4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B0543839-0C6A-4F89-91AE-0CF4870CEE2E}"/>
                </a:ext>
              </a:extLst>
            </p:cNvPr>
            <p:cNvCxnSpPr>
              <a:cxnSpLocks/>
            </p:cNvCxnSpPr>
            <p:nvPr/>
          </p:nvCxnSpPr>
          <p:spPr>
            <a:xfrm>
              <a:off x="6565185" y="2349500"/>
              <a:ext cx="24638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100000">
                    <a:srgbClr val="0082D2">
                      <a:alpha val="48000"/>
                    </a:srgbClr>
                  </a:gs>
                </a:gsLst>
                <a:lin ang="0" scaled="1"/>
                <a:tileRect/>
              </a:gra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BF71600B-5E3B-4E34-8F6D-1DFEEE4FB2BB}"/>
                </a:ext>
              </a:extLst>
            </p:cNvPr>
            <p:cNvCxnSpPr>
              <a:cxnSpLocks/>
            </p:cNvCxnSpPr>
            <p:nvPr/>
          </p:nvCxnSpPr>
          <p:spPr>
            <a:xfrm>
              <a:off x="6374685" y="2159000"/>
              <a:ext cx="190500" cy="1905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71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9" name="Text Box 47"/>
          <p:cNvSpPr txBox="1">
            <a:spLocks noChangeArrowheads="1"/>
          </p:cNvSpPr>
          <p:nvPr/>
        </p:nvSpPr>
        <p:spPr bwMode="auto">
          <a:xfrm>
            <a:off x="1828800" y="1385888"/>
            <a:ext cx="533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常数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则该方程的通解是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         ).</a:t>
            </a:r>
          </a:p>
        </p:txBody>
      </p:sp>
      <p:graphicFrame>
        <p:nvGraphicFramePr>
          <p:cNvPr id="184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976920"/>
              </p:ext>
            </p:extLst>
          </p:nvPr>
        </p:nvGraphicFramePr>
        <p:xfrm>
          <a:off x="5638800" y="393700"/>
          <a:ext cx="1485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" name="Equation" r:id="rId3" imgW="1485720" imgH="444240" progId="Equation.DSMT4">
                  <p:embed/>
                </p:oleObj>
              </mc:Choice>
              <mc:Fallback>
                <p:oleObj name="Equation" r:id="rId3" imgW="1485720" imgH="444240" progId="Equation.DSMT4">
                  <p:embed/>
                  <p:pic>
                    <p:nvPicPr>
                      <p:cNvPr id="184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93700"/>
                        <a:ext cx="1485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2971800" y="319088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设线性无关函数</a:t>
            </a:r>
          </a:p>
        </p:txBody>
      </p:sp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7162800" y="381001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都是二阶非齐次线</a:t>
            </a:r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1828800" y="8524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性方程</a:t>
            </a:r>
          </a:p>
        </p:txBody>
      </p:sp>
      <p:graphicFrame>
        <p:nvGraphicFramePr>
          <p:cNvPr id="184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942324"/>
              </p:ext>
            </p:extLst>
          </p:nvPr>
        </p:nvGraphicFramePr>
        <p:xfrm>
          <a:off x="3098800" y="952500"/>
          <a:ext cx="4064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2" name="Equation" r:id="rId5" imgW="4063680" imgH="419040" progId="Equation.3">
                  <p:embed/>
                </p:oleObj>
              </mc:Choice>
              <mc:Fallback>
                <p:oleObj name="Equation" r:id="rId5" imgW="4063680" imgH="419040" progId="Equation.3">
                  <p:embed/>
                  <p:pic>
                    <p:nvPicPr>
                      <p:cNvPr id="1844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952500"/>
                        <a:ext cx="4064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7086600" y="9144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的解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</a:p>
        </p:txBody>
      </p:sp>
      <p:graphicFrame>
        <p:nvGraphicFramePr>
          <p:cNvPr id="184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721047"/>
              </p:ext>
            </p:extLst>
          </p:nvPr>
        </p:nvGraphicFramePr>
        <p:xfrm>
          <a:off x="8077200" y="1003300"/>
          <a:ext cx="914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3" name="Equation" r:id="rId7" imgW="914400" imgH="444240" progId="Equation.3">
                  <p:embed/>
                </p:oleObj>
              </mc:Choice>
              <mc:Fallback>
                <p:oleObj name="Equation" r:id="rId7" imgW="914400" imgH="444240" progId="Equation.3">
                  <p:embed/>
                  <p:pic>
                    <p:nvPicPr>
                      <p:cNvPr id="1844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1003300"/>
                        <a:ext cx="914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9067800" y="9144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是任意</a:t>
            </a:r>
          </a:p>
        </p:txBody>
      </p:sp>
      <p:graphicFrame>
        <p:nvGraphicFramePr>
          <p:cNvPr id="1845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880665"/>
              </p:ext>
            </p:extLst>
          </p:nvPr>
        </p:nvGraphicFramePr>
        <p:xfrm>
          <a:off x="2895601" y="1981200"/>
          <a:ext cx="33115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name="Equation" r:id="rId9" imgW="3314520" imgH="444240" progId="Equation.3">
                  <p:embed/>
                </p:oleObj>
              </mc:Choice>
              <mc:Fallback>
                <p:oleObj name="Equation" r:id="rId9" imgW="3314520" imgH="444240" progId="Equation.3">
                  <p:embed/>
                  <p:pic>
                    <p:nvPicPr>
                      <p:cNvPr id="1845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981200"/>
                        <a:ext cx="33115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107648"/>
              </p:ext>
            </p:extLst>
          </p:nvPr>
        </p:nvGraphicFramePr>
        <p:xfrm>
          <a:off x="2895601" y="2527300"/>
          <a:ext cx="47339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5" name="Equation" r:id="rId11" imgW="4736880" imgH="444240" progId="Equation.3">
                  <p:embed/>
                </p:oleObj>
              </mc:Choice>
              <mc:Fallback>
                <p:oleObj name="Equation" r:id="rId11" imgW="4736880" imgH="444240" progId="Equation.3">
                  <p:embed/>
                  <p:pic>
                    <p:nvPicPr>
                      <p:cNvPr id="1845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2527300"/>
                        <a:ext cx="47339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086216"/>
              </p:ext>
            </p:extLst>
          </p:nvPr>
        </p:nvGraphicFramePr>
        <p:xfrm>
          <a:off x="2855913" y="3068639"/>
          <a:ext cx="5256212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6" name="公式" r:id="rId13" imgW="2095200" imgH="228600" progId="Equation.3">
                  <p:embed/>
                </p:oleObj>
              </mc:Choice>
              <mc:Fallback>
                <p:oleObj name="公式" r:id="rId13" imgW="2095200" imgH="228600" progId="Equation.3">
                  <p:embed/>
                  <p:pic>
                    <p:nvPicPr>
                      <p:cNvPr id="1845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3068639"/>
                        <a:ext cx="5256212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366090"/>
              </p:ext>
            </p:extLst>
          </p:nvPr>
        </p:nvGraphicFramePr>
        <p:xfrm>
          <a:off x="2895600" y="3657600"/>
          <a:ext cx="51895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7" name="Equation" r:id="rId15" imgW="5194080" imgH="444240" progId="Equation.3">
                  <p:embed/>
                </p:oleObj>
              </mc:Choice>
              <mc:Fallback>
                <p:oleObj name="Equation" r:id="rId15" imgW="5194080" imgH="444240" progId="Equation.3">
                  <p:embed/>
                  <p:pic>
                    <p:nvPicPr>
                      <p:cNvPr id="1845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657600"/>
                        <a:ext cx="51895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0934223"/>
              </p:ext>
            </p:extLst>
          </p:nvPr>
        </p:nvGraphicFramePr>
        <p:xfrm>
          <a:off x="6083300" y="1524000"/>
          <a:ext cx="317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8" name="Equation" r:id="rId17" imgW="317160" imgH="304560" progId="Equation.3">
                  <p:embed/>
                </p:oleObj>
              </mc:Choice>
              <mc:Fallback>
                <p:oleObj name="Equation" r:id="rId17" imgW="317160" imgH="304560" progId="Equation.3">
                  <p:embed/>
                  <p:pic>
                    <p:nvPicPr>
                      <p:cNvPr id="1845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300" y="1524000"/>
                        <a:ext cx="3175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6" name="Rectangle 24"/>
          <p:cNvSpPr>
            <a:spLocks noGrp="1" noChangeArrowheads="1"/>
          </p:cNvSpPr>
          <p:nvPr>
            <p:ph type="title"/>
          </p:nvPr>
        </p:nvSpPr>
        <p:spPr>
          <a:xfrm>
            <a:off x="1577006" y="358141"/>
            <a:ext cx="1214788" cy="609600"/>
          </a:xfrm>
        </p:spPr>
        <p:txBody>
          <a:bodyPr/>
          <a:lstStyle/>
          <a:p>
            <a:pPr algn="l"/>
            <a:r>
              <a:rPr lang="zh-CN" altLang="en-US" sz="2800" b="1" dirty="0" smtClean="0">
                <a:solidFill>
                  <a:srgbClr val="FF0000"/>
                </a:solidFill>
                <a:ea typeface="楷体_GB2312" pitchFamily="49" charset="-122"/>
              </a:rPr>
              <a:t>习题</a:t>
            </a:r>
            <a:r>
              <a:rPr lang="en-US" altLang="zh-CN" sz="2800" b="1" dirty="0" smtClean="0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lang="zh-CN" altLang="en-US" sz="2800" b="1" dirty="0" smtClean="0">
                <a:solidFill>
                  <a:srgbClr val="FF0000"/>
                </a:solidFill>
                <a:ea typeface="楷体_GB2312" pitchFamily="49" charset="-122"/>
              </a:rPr>
              <a:t>：</a:t>
            </a:r>
            <a:endParaRPr lang="en-US" altLang="zh-CN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18457" name="Text Box 25"/>
          <p:cNvSpPr txBox="1">
            <a:spLocks noChangeArrowheads="1"/>
          </p:cNvSpPr>
          <p:nvPr/>
        </p:nvSpPr>
        <p:spPr bwMode="auto">
          <a:xfrm>
            <a:off x="2209800" y="41275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提示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845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603020"/>
              </p:ext>
            </p:extLst>
          </p:nvPr>
        </p:nvGraphicFramePr>
        <p:xfrm>
          <a:off x="2667000" y="5272088"/>
          <a:ext cx="2286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9" name="Equation" r:id="rId19" imgW="2286000" imgH="444240" progId="Equation.3">
                  <p:embed/>
                </p:oleObj>
              </mc:Choice>
              <mc:Fallback>
                <p:oleObj name="Equation" r:id="rId19" imgW="2286000" imgH="444240" progId="Equation.3">
                  <p:embed/>
                  <p:pic>
                    <p:nvPicPr>
                      <p:cNvPr id="1845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272088"/>
                        <a:ext cx="2286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9" name="Text Box 27"/>
          <p:cNvSpPr txBox="1">
            <a:spLocks noChangeArrowheads="1"/>
          </p:cNvSpPr>
          <p:nvPr/>
        </p:nvSpPr>
        <p:spPr bwMode="auto">
          <a:xfrm>
            <a:off x="4953000" y="5272088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都是对应齐次方程的解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18461" name="Text Box 29"/>
          <p:cNvSpPr txBox="1">
            <a:spLocks noChangeArrowheads="1"/>
          </p:cNvSpPr>
          <p:nvPr/>
        </p:nvSpPr>
        <p:spPr bwMode="auto">
          <a:xfrm>
            <a:off x="2514600" y="5805488"/>
            <a:ext cx="480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二者线性无关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反证法可证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1846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141432"/>
              </p:ext>
            </p:extLst>
          </p:nvPr>
        </p:nvGraphicFramePr>
        <p:xfrm>
          <a:off x="3276600" y="4203700"/>
          <a:ext cx="5168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0" name="Equation" r:id="rId21" imgW="5168880" imgH="444240" progId="Equation.3">
                  <p:embed/>
                </p:oleObj>
              </mc:Choice>
              <mc:Fallback>
                <p:oleObj name="Equation" r:id="rId21" imgW="5168880" imgH="444240" progId="Equation.3">
                  <p:embed/>
                  <p:pic>
                    <p:nvPicPr>
                      <p:cNvPr id="1846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203700"/>
                        <a:ext cx="5168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84" name="Group 52"/>
          <p:cNvGrpSpPr>
            <a:grpSpLocks/>
          </p:cNvGrpSpPr>
          <p:nvPr/>
        </p:nvGrpSpPr>
        <p:grpSpPr bwMode="auto">
          <a:xfrm>
            <a:off x="2895600" y="1905000"/>
            <a:ext cx="503238" cy="488950"/>
            <a:chOff x="240" y="1242"/>
            <a:chExt cx="317" cy="308"/>
          </a:xfrm>
        </p:grpSpPr>
        <p:sp>
          <p:nvSpPr>
            <p:cNvPr id="18469" name="Line 37"/>
            <p:cNvSpPr>
              <a:spLocks noChangeShapeType="1"/>
            </p:cNvSpPr>
            <p:nvPr/>
          </p:nvSpPr>
          <p:spPr bwMode="auto">
            <a:xfrm flipH="1">
              <a:off x="240" y="1248"/>
              <a:ext cx="317" cy="302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8470" name="Line 38"/>
            <p:cNvSpPr>
              <a:spLocks noChangeShapeType="1"/>
            </p:cNvSpPr>
            <p:nvPr/>
          </p:nvSpPr>
          <p:spPr bwMode="auto">
            <a:xfrm>
              <a:off x="240" y="1242"/>
              <a:ext cx="317" cy="302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18488" name="Group 56"/>
          <p:cNvGrpSpPr>
            <a:grpSpLocks/>
          </p:cNvGrpSpPr>
          <p:nvPr/>
        </p:nvGrpSpPr>
        <p:grpSpPr bwMode="auto">
          <a:xfrm>
            <a:off x="2914650" y="2514600"/>
            <a:ext cx="503238" cy="488950"/>
            <a:chOff x="240" y="1242"/>
            <a:chExt cx="317" cy="308"/>
          </a:xfrm>
        </p:grpSpPr>
        <p:sp>
          <p:nvSpPr>
            <p:cNvPr id="18489" name="Line 57"/>
            <p:cNvSpPr>
              <a:spLocks noChangeShapeType="1"/>
            </p:cNvSpPr>
            <p:nvPr/>
          </p:nvSpPr>
          <p:spPr bwMode="auto">
            <a:xfrm flipH="1">
              <a:off x="240" y="1248"/>
              <a:ext cx="317" cy="302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8490" name="Line 58"/>
            <p:cNvSpPr>
              <a:spLocks noChangeShapeType="1"/>
            </p:cNvSpPr>
            <p:nvPr/>
          </p:nvSpPr>
          <p:spPr bwMode="auto">
            <a:xfrm>
              <a:off x="240" y="1242"/>
              <a:ext cx="317" cy="302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aphicFrame>
        <p:nvGraphicFramePr>
          <p:cNvPr id="18491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037167"/>
              </p:ext>
            </p:extLst>
          </p:nvPr>
        </p:nvGraphicFramePr>
        <p:xfrm>
          <a:off x="3276600" y="4737100"/>
          <a:ext cx="5194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1" name="Equation" r:id="rId23" imgW="5194080" imgH="444240" progId="Equation.3">
                  <p:embed/>
                </p:oleObj>
              </mc:Choice>
              <mc:Fallback>
                <p:oleObj name="Equation" r:id="rId23" imgW="5194080" imgH="444240" progId="Equation.3">
                  <p:embed/>
                  <p:pic>
                    <p:nvPicPr>
                      <p:cNvPr id="18491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37100"/>
                        <a:ext cx="5194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651514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79" grpId="0" autoUpdateAnimBg="0"/>
      <p:bldP spid="18450" grpId="0" autoUpdateAnimBg="0"/>
      <p:bldP spid="18457" grpId="0" autoUpdateAnimBg="0"/>
      <p:bldP spid="18459" grpId="0" autoUpdateAnimBg="0"/>
      <p:bldP spid="1846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657149" y="401307"/>
            <a:ext cx="1314651" cy="609600"/>
          </a:xfrm>
        </p:spPr>
        <p:txBody>
          <a:bodyPr/>
          <a:lstStyle/>
          <a:p>
            <a:pPr algn="l"/>
            <a:r>
              <a:rPr lang="zh-CN" altLang="en-US" sz="2800" b="1" dirty="0" smtClean="0">
                <a:solidFill>
                  <a:srgbClr val="FF0000"/>
                </a:solidFill>
                <a:ea typeface="楷体_GB2312" pitchFamily="49" charset="-122"/>
              </a:rPr>
              <a:t>题习</a:t>
            </a:r>
            <a:r>
              <a:rPr lang="en-US" altLang="zh-CN" sz="2800" b="1" dirty="0" smtClean="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zh-CN" altLang="en-US" sz="2800" b="1" dirty="0" smtClean="0">
                <a:solidFill>
                  <a:srgbClr val="FF0000"/>
                </a:solidFill>
                <a:ea typeface="楷体_GB2312" pitchFamily="49" charset="-122"/>
              </a:rPr>
              <a:t>：</a:t>
            </a:r>
            <a:endParaRPr lang="en-US" altLang="zh-CN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2971801" y="381001"/>
            <a:ext cx="2682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已知微分方程</a:t>
            </a:r>
            <a:endParaRPr kumimoji="1" lang="zh-CN" altLang="en-US" sz="280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5400675" y="419100"/>
          <a:ext cx="3987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2" name="Equation" r:id="rId3" imgW="3987720" imgH="419040" progId="Equation.3">
                  <p:embed/>
                </p:oleObj>
              </mc:Choice>
              <mc:Fallback>
                <p:oleObj name="Equation" r:id="rId3" imgW="3987720" imgH="419040" progId="Equation.3">
                  <p:embed/>
                  <p:pic>
                    <p:nvPicPr>
                      <p:cNvPr id="348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419100"/>
                        <a:ext cx="3987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1905000" y="928688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个解</a:t>
            </a:r>
          </a:p>
        </p:txBody>
      </p:sp>
      <p:graphicFrame>
        <p:nvGraphicFramePr>
          <p:cNvPr id="34823" name="Object 7"/>
          <p:cNvGraphicFramePr>
            <a:graphicFrameLocks noChangeAspect="1"/>
          </p:cNvGraphicFramePr>
          <p:nvPr/>
        </p:nvGraphicFramePr>
        <p:xfrm>
          <a:off x="2819400" y="927100"/>
          <a:ext cx="3759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3" name="Equation" r:id="rId5" imgW="3759120" imgH="520560" progId="Equation.3">
                  <p:embed/>
                </p:oleObj>
              </mc:Choice>
              <mc:Fallback>
                <p:oleObj name="Equation" r:id="rId5" imgW="3759120" imgH="520560" progId="Equation.3">
                  <p:embed/>
                  <p:pic>
                    <p:nvPicPr>
                      <p:cNvPr id="348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927100"/>
                        <a:ext cx="3759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4" name="Text Box 8"/>
          <p:cNvSpPr txBox="1">
            <a:spLocks noChangeArrowheads="1"/>
          </p:cNvSpPr>
          <p:nvPr/>
        </p:nvSpPr>
        <p:spPr bwMode="auto">
          <a:xfrm>
            <a:off x="6629400" y="914401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求此方程满足初始条件</a:t>
            </a:r>
          </a:p>
        </p:txBody>
      </p:sp>
      <p:graphicFrame>
        <p:nvGraphicFramePr>
          <p:cNvPr id="34825" name="Object 9"/>
          <p:cNvGraphicFramePr>
            <a:graphicFrameLocks noChangeAspect="1"/>
          </p:cNvGraphicFramePr>
          <p:nvPr/>
        </p:nvGraphicFramePr>
        <p:xfrm>
          <a:off x="1981200" y="1619250"/>
          <a:ext cx="2641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4" name="Equation" r:id="rId7" imgW="2641320" imgH="419040" progId="Equation.3">
                  <p:embed/>
                </p:oleObj>
              </mc:Choice>
              <mc:Fallback>
                <p:oleObj name="Equation" r:id="rId7" imgW="2641320" imgH="419040" progId="Equation.3">
                  <p:embed/>
                  <p:pic>
                    <p:nvPicPr>
                      <p:cNvPr id="3482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619250"/>
                        <a:ext cx="2641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6" name="Text Box 10"/>
          <p:cNvSpPr txBox="1">
            <a:spLocks noChangeArrowheads="1"/>
          </p:cNvSpPr>
          <p:nvPr/>
        </p:nvSpPr>
        <p:spPr bwMode="auto">
          <a:xfrm>
            <a:off x="4648200" y="1519238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的特解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34827" name="Text Box 11"/>
          <p:cNvSpPr txBox="1">
            <a:spLocks noChangeArrowheads="1"/>
          </p:cNvSpPr>
          <p:nvPr/>
        </p:nvSpPr>
        <p:spPr bwMode="auto">
          <a:xfrm>
            <a:off x="2209800" y="2133601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4828" name="Object 12"/>
          <p:cNvGraphicFramePr>
            <a:graphicFrameLocks noChangeAspect="1"/>
          </p:cNvGraphicFramePr>
          <p:nvPr/>
        </p:nvGraphicFramePr>
        <p:xfrm>
          <a:off x="2895600" y="2209801"/>
          <a:ext cx="25146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5" name="Equation" r:id="rId9" imgW="2514600" imgH="457200" progId="Equation.3">
                  <p:embed/>
                </p:oleObj>
              </mc:Choice>
              <mc:Fallback>
                <p:oleObj name="Equation" r:id="rId9" imgW="2514600" imgH="457200" progId="Equation.3">
                  <p:embed/>
                  <p:pic>
                    <p:nvPicPr>
                      <p:cNvPr id="3482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209801"/>
                        <a:ext cx="25146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9" name="Text Box 13"/>
          <p:cNvSpPr txBox="1">
            <a:spLocks noChangeArrowheads="1"/>
          </p:cNvSpPr>
          <p:nvPr/>
        </p:nvSpPr>
        <p:spPr bwMode="auto">
          <a:xfrm>
            <a:off x="5410200" y="2147888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是对应齐次方程的解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34832" name="Text Box 16"/>
          <p:cNvSpPr txBox="1">
            <a:spLocks noChangeArrowheads="1"/>
          </p:cNvSpPr>
          <p:nvPr/>
        </p:nvSpPr>
        <p:spPr bwMode="auto">
          <a:xfrm>
            <a:off x="8839200" y="2133601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且</a:t>
            </a:r>
          </a:p>
        </p:txBody>
      </p:sp>
      <p:graphicFrame>
        <p:nvGraphicFramePr>
          <p:cNvPr id="34833" name="Object 17"/>
          <p:cNvGraphicFramePr>
            <a:graphicFrameLocks noChangeAspect="1"/>
          </p:cNvGraphicFramePr>
          <p:nvPr/>
        </p:nvGraphicFramePr>
        <p:xfrm>
          <a:off x="3505200" y="2628900"/>
          <a:ext cx="28067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6" name="Equation" r:id="rId11" imgW="2806560" imgH="1028520" progId="Equation.3">
                  <p:embed/>
                </p:oleObj>
              </mc:Choice>
              <mc:Fallback>
                <p:oleObj name="Equation" r:id="rId11" imgW="2806560" imgH="1028520" progId="Equation.3">
                  <p:embed/>
                  <p:pic>
                    <p:nvPicPr>
                      <p:cNvPr id="3483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628900"/>
                        <a:ext cx="28067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4" name="Text Box 18"/>
          <p:cNvSpPr txBox="1">
            <a:spLocks noChangeArrowheads="1"/>
          </p:cNvSpPr>
          <p:nvPr/>
        </p:nvSpPr>
        <p:spPr bwMode="auto">
          <a:xfrm>
            <a:off x="6324600" y="2833688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常数</a:t>
            </a:r>
          </a:p>
        </p:txBody>
      </p:sp>
      <p:sp>
        <p:nvSpPr>
          <p:cNvPr id="34835" name="Text Box 19"/>
          <p:cNvSpPr txBox="1">
            <a:spLocks noChangeArrowheads="1"/>
          </p:cNvSpPr>
          <p:nvPr/>
        </p:nvSpPr>
        <p:spPr bwMode="auto">
          <a:xfrm>
            <a:off x="1828800" y="3733801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因而线性无关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34836" name="Text Box 20"/>
          <p:cNvSpPr txBox="1">
            <a:spLocks noChangeArrowheads="1"/>
          </p:cNvSpPr>
          <p:nvPr/>
        </p:nvSpPr>
        <p:spPr bwMode="auto">
          <a:xfrm>
            <a:off x="4191000" y="3733801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故原方程通解为</a:t>
            </a:r>
          </a:p>
        </p:txBody>
      </p:sp>
      <p:graphicFrame>
        <p:nvGraphicFramePr>
          <p:cNvPr id="34837" name="Object 21"/>
          <p:cNvGraphicFramePr>
            <a:graphicFrameLocks noChangeAspect="1"/>
          </p:cNvGraphicFramePr>
          <p:nvPr/>
        </p:nvGraphicFramePr>
        <p:xfrm>
          <a:off x="3048000" y="4279900"/>
          <a:ext cx="4419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7" name="Equation" r:id="rId13" imgW="4419360" imgH="520560" progId="Equation.3">
                  <p:embed/>
                </p:oleObj>
              </mc:Choice>
              <mc:Fallback>
                <p:oleObj name="Equation" r:id="rId13" imgW="4419360" imgH="520560" progId="Equation.3">
                  <p:embed/>
                  <p:pic>
                    <p:nvPicPr>
                      <p:cNvPr id="3483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279900"/>
                        <a:ext cx="4419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8" name="Object 22"/>
          <p:cNvGraphicFramePr>
            <a:graphicFrameLocks noChangeAspect="1"/>
          </p:cNvGraphicFramePr>
          <p:nvPr/>
        </p:nvGraphicFramePr>
        <p:xfrm>
          <a:off x="7543800" y="4483100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8" name="Equation" r:id="rId15" imgW="228600" imgH="241200" progId="Equation.3">
                  <p:embed/>
                </p:oleObj>
              </mc:Choice>
              <mc:Fallback>
                <p:oleObj name="Equation" r:id="rId15" imgW="228600" imgH="241200" progId="Equation.3">
                  <p:embed/>
                  <p:pic>
                    <p:nvPicPr>
                      <p:cNvPr id="3483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483100"/>
                        <a:ext cx="228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9" name="Text Box 23"/>
          <p:cNvSpPr txBox="1">
            <a:spLocks noChangeArrowheads="1"/>
          </p:cNvSpPr>
          <p:nvPr/>
        </p:nvSpPr>
        <p:spPr bwMode="auto">
          <a:xfrm>
            <a:off x="1828800" y="4876801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代入初始条件</a:t>
            </a:r>
          </a:p>
        </p:txBody>
      </p:sp>
      <p:graphicFrame>
        <p:nvGraphicFramePr>
          <p:cNvPr id="34840" name="Object 24"/>
          <p:cNvGraphicFramePr>
            <a:graphicFrameLocks noChangeAspect="1"/>
          </p:cNvGraphicFramePr>
          <p:nvPr/>
        </p:nvGraphicFramePr>
        <p:xfrm>
          <a:off x="4095750" y="4991100"/>
          <a:ext cx="273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9" name="Equation" r:id="rId17" imgW="2730240" imgH="419040" progId="Equation.3">
                  <p:embed/>
                </p:oleObj>
              </mc:Choice>
              <mc:Fallback>
                <p:oleObj name="Equation" r:id="rId17" imgW="2730240" imgH="419040" progId="Equation.3">
                  <p:embed/>
                  <p:pic>
                    <p:nvPicPr>
                      <p:cNvPr id="3484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50" y="4991100"/>
                        <a:ext cx="273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2" name="Object 26"/>
          <p:cNvGraphicFramePr>
            <a:graphicFrameLocks noChangeAspect="1"/>
          </p:cNvGraphicFramePr>
          <p:nvPr/>
        </p:nvGraphicFramePr>
        <p:xfrm>
          <a:off x="6858000" y="4991100"/>
          <a:ext cx="2844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0" name="Equation" r:id="rId19" imgW="2844720" imgH="457200" progId="Equation.3">
                  <p:embed/>
                </p:oleObj>
              </mc:Choice>
              <mc:Fallback>
                <p:oleObj name="Equation" r:id="rId19" imgW="2844720" imgH="457200" progId="Equation.3">
                  <p:embed/>
                  <p:pic>
                    <p:nvPicPr>
                      <p:cNvPr id="3484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991100"/>
                        <a:ext cx="2844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3" name="Object 27"/>
          <p:cNvGraphicFramePr>
            <a:graphicFrameLocks noChangeAspect="1"/>
          </p:cNvGraphicFramePr>
          <p:nvPr/>
        </p:nvGraphicFramePr>
        <p:xfrm>
          <a:off x="4191000" y="5511800"/>
          <a:ext cx="2044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1" name="Equation" r:id="rId21" imgW="2044440" imgH="507960" progId="Equation.3">
                  <p:embed/>
                </p:oleObj>
              </mc:Choice>
              <mc:Fallback>
                <p:oleObj name="Equation" r:id="rId21" imgW="2044440" imgH="507960" progId="Equation.3">
                  <p:embed/>
                  <p:pic>
                    <p:nvPicPr>
                      <p:cNvPr id="3484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511800"/>
                        <a:ext cx="20447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9" name="Text Box 33"/>
          <p:cNvSpPr txBox="1">
            <a:spLocks noChangeArrowheads="1"/>
          </p:cNvSpPr>
          <p:nvPr/>
        </p:nvSpPr>
        <p:spPr bwMode="auto">
          <a:xfrm>
            <a:off x="1828800" y="5486401"/>
            <a:ext cx="2317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故所求特解为</a:t>
            </a:r>
          </a:p>
        </p:txBody>
      </p:sp>
      <p:sp>
        <p:nvSpPr>
          <p:cNvPr id="34850" name="Text Box 34"/>
          <p:cNvSpPr txBox="1">
            <a:spLocks noChangeArrowheads="1"/>
          </p:cNvSpPr>
          <p:nvPr/>
        </p:nvSpPr>
        <p:spPr bwMode="auto">
          <a:xfrm>
            <a:off x="9432925" y="371476"/>
            <a:ext cx="984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有三 </a:t>
            </a:r>
          </a:p>
        </p:txBody>
      </p:sp>
    </p:spTree>
    <p:extLst>
      <p:ext uri="{BB962C8B-B14F-4D97-AF65-F5344CB8AC3E}">
        <p14:creationId xmlns:p14="http://schemas.microsoft.com/office/powerpoint/2010/main" val="119867425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4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4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4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4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4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4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1" grpId="0" build="p" autoUpdateAnimBg="0" advAuto="0"/>
      <p:bldP spid="34824" grpId="0" build="p" autoUpdateAnimBg="0"/>
      <p:bldP spid="34826" grpId="0" build="p" autoUpdateAnimBg="0" advAuto="0"/>
      <p:bldP spid="34827" grpId="0" build="p" autoUpdateAnimBg="0"/>
      <p:bldP spid="34829" grpId="0" build="p" autoUpdateAnimBg="0" advAuto="0"/>
      <p:bldP spid="34832" grpId="0" build="p" autoUpdateAnimBg="0"/>
      <p:bldP spid="34834" grpId="0" build="p" autoUpdateAnimBg="0" advAuto="0"/>
      <p:bldP spid="34835" grpId="0" build="p" autoUpdateAnimBg="0"/>
      <p:bldP spid="34836" grpId="0" build="p" autoUpdateAnimBg="0"/>
      <p:bldP spid="34839" grpId="0" build="p" autoUpdateAnimBg="0"/>
      <p:bldP spid="34849" grpId="0" build="p" autoUpdateAnimBg="0"/>
      <p:bldP spid="34850" grpId="0" build="p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RESOURCELIBID_ANIM" val="46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RESOURCELIBID_ANIM" val="46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RESOURCELIBID_ANIM" val="46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RESOURCELIBID_ANIM" val="46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RESOURCELIBID_ANIM" val="46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RESOURCELIBID_ANIM" val="46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RESOURCELIBID_ANIM" val="46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12747</TotalTime>
  <Words>896</Words>
  <Application>Microsoft Office PowerPoint</Application>
  <PresentationFormat>宽屏</PresentationFormat>
  <Paragraphs>167</Paragraphs>
  <Slides>19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40" baseType="lpstr">
      <vt:lpstr>Gotham Rounded Book</vt:lpstr>
      <vt:lpstr>等线</vt:lpstr>
      <vt:lpstr>黑体</vt:lpstr>
      <vt:lpstr>华文新魏</vt:lpstr>
      <vt:lpstr>华文中宋</vt:lpstr>
      <vt:lpstr>楷体</vt:lpstr>
      <vt:lpstr>楷体_GB2312</vt:lpstr>
      <vt:lpstr>思源黑体 CN Regular</vt:lpstr>
      <vt:lpstr>宋体</vt:lpstr>
      <vt:lpstr>微软雅黑</vt:lpstr>
      <vt:lpstr>Arial</vt:lpstr>
      <vt:lpstr>Calibri</vt:lpstr>
      <vt:lpstr>Calibri Light</vt:lpstr>
      <vt:lpstr>Symbol</vt:lpstr>
      <vt:lpstr>Times New Roman</vt:lpstr>
      <vt:lpstr>Office 主题</vt:lpstr>
      <vt:lpstr>自定义设计方案</vt:lpstr>
      <vt:lpstr>1_Office 主题</vt:lpstr>
      <vt:lpstr>1_自定义设计方案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说明：</vt:lpstr>
      <vt:lpstr>PowerPoint 演示文稿</vt:lpstr>
      <vt:lpstr>PowerPoint 演示文稿</vt:lpstr>
      <vt:lpstr>两个函数在区间 I 上线性相关与线性无关的充要条件: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定理 2推广：</vt:lpstr>
      <vt:lpstr>PowerPoint 演示文稿</vt:lpstr>
      <vt:lpstr>PowerPoint 演示文稿</vt:lpstr>
      <vt:lpstr>PowerPoint 演示文稿</vt:lpstr>
      <vt:lpstr>习题1：</vt:lpstr>
      <vt:lpstr>题习2：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Tom</cp:lastModifiedBy>
  <cp:revision>413</cp:revision>
  <dcterms:created xsi:type="dcterms:W3CDTF">2021-01-27T16:02:23Z</dcterms:created>
  <dcterms:modified xsi:type="dcterms:W3CDTF">2024-03-06T08:13:58Z</dcterms:modified>
</cp:coreProperties>
</file>