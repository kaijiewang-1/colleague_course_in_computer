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61" r:id="rId3"/>
    <p:sldMasterId id="2147483673" r:id="rId4"/>
  </p:sldMasterIdLst>
  <p:notesMasterIdLst>
    <p:notesMasterId r:id="rId6"/>
  </p:notesMasterIdLst>
  <p:sldIdLst>
    <p:sldId id="2498" r:id="rId5"/>
    <p:sldId id="2513" r:id="rId7"/>
    <p:sldId id="2522" r:id="rId8"/>
    <p:sldId id="2523" r:id="rId9"/>
    <p:sldId id="2514" r:id="rId10"/>
    <p:sldId id="2524" r:id="rId11"/>
    <p:sldId id="2515" r:id="rId12"/>
    <p:sldId id="2525" r:id="rId13"/>
    <p:sldId id="2390" r:id="rId14"/>
    <p:sldId id="2440" r:id="rId15"/>
    <p:sldId id="2511" r:id="rId16"/>
    <p:sldId id="2526" r:id="rId17"/>
    <p:sldId id="2536" r:id="rId18"/>
    <p:sldId id="2441" r:id="rId19"/>
    <p:sldId id="2466" r:id="rId20"/>
    <p:sldId id="2465" r:id="rId21"/>
    <p:sldId id="2467" r:id="rId22"/>
    <p:sldId id="2468" r:id="rId23"/>
    <p:sldId id="2469" r:id="rId24"/>
    <p:sldId id="2470" r:id="rId25"/>
    <p:sldId id="2471" r:id="rId26"/>
    <p:sldId id="2472" r:id="rId27"/>
    <p:sldId id="2447" r:id="rId28"/>
    <p:sldId id="2448" r:id="rId29"/>
    <p:sldId id="2449" r:id="rId30"/>
    <p:sldId id="2450" r:id="rId31"/>
    <p:sldId id="2527" r:id="rId32"/>
    <p:sldId id="2451" r:id="rId33"/>
    <p:sldId id="2452" r:id="rId34"/>
    <p:sldId id="2453" r:id="rId35"/>
    <p:sldId id="2473" r:id="rId36"/>
    <p:sldId id="2538" r:id="rId37"/>
    <p:sldId id="2474" r:id="rId38"/>
    <p:sldId id="2475" r:id="rId39"/>
    <p:sldId id="2476" r:id="rId40"/>
    <p:sldId id="2479" r:id="rId41"/>
    <p:sldId id="2499" r:id="rId42"/>
    <p:sldId id="2500" r:id="rId43"/>
    <p:sldId id="2501" r:id="rId44"/>
    <p:sldId id="2502" r:id="rId45"/>
    <p:sldId id="2477" r:id="rId46"/>
    <p:sldId id="2528" r:id="rId47"/>
    <p:sldId id="2512" r:id="rId48"/>
    <p:sldId id="2478" r:id="rId49"/>
    <p:sldId id="2480" r:id="rId50"/>
    <p:sldId id="2529" r:id="rId51"/>
    <p:sldId id="2481" r:id="rId52"/>
    <p:sldId id="2482" r:id="rId53"/>
    <p:sldId id="2530" r:id="rId54"/>
    <p:sldId id="2483" r:id="rId55"/>
    <p:sldId id="2459" r:id="rId56"/>
    <p:sldId id="2531" r:id="rId57"/>
    <p:sldId id="2460" r:id="rId58"/>
    <p:sldId id="2532" r:id="rId59"/>
    <p:sldId id="2503" r:id="rId60"/>
    <p:sldId id="2539" r:id="rId61"/>
  </p:sldIdLst>
  <p:sldSz cx="10080625" cy="6858000"/>
  <p:notesSz cx="6669405" cy="9928225"/>
  <p:defaultTextStyle>
    <a:defPPr>
      <a:defRPr lang="ko-KR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2" orient="horz" pos="1071" userDrawn="1">
          <p15:clr>
            <a:srgbClr val="A4A3A4"/>
          </p15:clr>
        </p15:guide>
        <p15:guide id="3" pos="181" userDrawn="1">
          <p15:clr>
            <a:srgbClr val="A4A3A4"/>
          </p15:clr>
        </p15:guide>
        <p15:guide id="4" pos="6169" userDrawn="1">
          <p15:clr>
            <a:srgbClr val="A4A3A4"/>
          </p15:clr>
        </p15:guide>
        <p15:guide id="5" pos="3175" userDrawn="1">
          <p15:clr>
            <a:srgbClr val="A4A3A4"/>
          </p15:clr>
        </p15:guide>
        <p15:guide id="6" pos="10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CCECFF"/>
    <a:srgbClr val="0000FF"/>
    <a:srgbClr val="333399"/>
    <a:srgbClr val="CCFFFF"/>
    <a:srgbClr val="FFFFCC"/>
    <a:srgbClr val="55AF84"/>
    <a:srgbClr val="B2B2B2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howOutlineIcons="0">
    <p:restoredLeft sz="15620"/>
    <p:restoredTop sz="83624"/>
  </p:normalViewPr>
  <p:slideViewPr>
    <p:cSldViewPr snapToObjects="1" showGuides="1">
      <p:cViewPr varScale="1">
        <p:scale>
          <a:sx n="50" d="100"/>
          <a:sy n="50" d="100"/>
        </p:scale>
        <p:origin x="1380" y="48"/>
      </p:cViewPr>
      <p:guideLst>
        <p:guide orient="horz" pos="3884"/>
        <p:guide orient="horz" pos="1071"/>
        <p:guide pos="181"/>
        <p:guide pos="6169"/>
        <p:guide pos="3175"/>
        <p:guide pos="1096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-239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t" anchorCtr="0" compatLnSpc="1"/>
          <a:lstStyle>
            <a:lvl1pPr algn="l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  <a:defRPr sz="1300"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l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Tahoma" panose="020B060403050404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t" anchorCtr="0" compatLnSpc="1"/>
          <a:lstStyle>
            <a:lvl1pPr algn="r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  <a:defRPr sz="1300"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r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Tahoma" panose="020B0604030504040204" pitchFamily="34" charset="0"/>
            </a:endParaRPr>
          </a:p>
        </p:txBody>
      </p:sp>
      <p:sp>
        <p:nvSpPr>
          <p:cNvPr id="4100" name="Rectangle 4"/>
          <p:cNvSpPr>
            <a:spLocks noGrp="1"/>
          </p:cNvSpPr>
          <p:nvPr>
            <p:ph type="sldImg" idx="2"/>
          </p:nvPr>
        </p:nvSpPr>
        <p:spPr>
          <a:xfrm>
            <a:off x="606425" y="746125"/>
            <a:ext cx="5464175" cy="3719513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0588" y="4714875"/>
            <a:ext cx="4887913" cy="4467225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ctr" anchorCtr="0" compatLnSpc="1"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마스터 텍스트 스타일을 편집합니다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둘째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셋째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넷째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다섯째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b" anchorCtr="0" compatLnSpc="1"/>
          <a:lstStyle>
            <a:lvl1pPr algn="l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  <a:defRPr sz="1300"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l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Tahoma" panose="020B0604030504040204" pitchFamily="34" charset="0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31338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b" anchorCtr="0" compatLnSpc="1"/>
          <a:lstStyle>
            <a:lvl1pPr algn="r" defTabSz="946150" eaLnBrk="1" latinLnBrk="1" hangingPunct="1">
              <a:spcBef>
                <a:spcPct val="50000"/>
              </a:spcBef>
              <a:buFont typeface="Wingdings" panose="05000000000000000000" pitchFamily="2" charset="2"/>
              <a:buNone/>
              <a:defRPr sz="1300" smtClean="0"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r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fld id="{054A5A29-1113-417F-A79E-8D25302B2B03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Gulim" pitchFamily="34" charset="-127"/>
                <a:cs typeface="Tahoma" panose="020B0604030504040204" pitchFamily="34" charset="0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>
          <a:xfrm>
            <a:off x="890588" y="4714875"/>
            <a:ext cx="4887912" cy="4467225"/>
          </a:xfrm>
          <a:ln/>
        </p:spPr>
        <p:txBody>
          <a:bodyPr wrap="square" lIns="94651" tIns="47326" rIns="94651" bIns="47326" anchor="ctr" anchorCtr="0"/>
          <a:p>
            <a:pPr lvl="0"/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  <a:ln w="9525">
            <a:noFill/>
          </a:ln>
        </p:spPr>
        <p:txBody>
          <a:bodyPr lIns="94651" tIns="47326" rIns="94651" bIns="47326" anchor="b" anchorCtr="0"/>
          <a:p>
            <a:pPr lvl="0" algn="r" defTabSz="946150" eaLnBrk="1" latinLnBrk="1" hangingPunct="1">
              <a:spcBef>
                <a:spcPct val="50000"/>
              </a:spcBef>
              <a:buFont typeface="Wingdings" panose="05000000000000000000" pitchFamily="2" charset="2"/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  <a:cs typeface="Tahoma" panose="020B0604030504040204" pitchFamily="34" charset="0"/>
              </a:rPr>
            </a:fld>
            <a:endParaRPr lang="en-US" altLang="zh-CN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>
          <a:xfrm>
            <a:off x="890588" y="4714875"/>
            <a:ext cx="4887912" cy="4467225"/>
          </a:xfrm>
          <a:ln/>
        </p:spPr>
        <p:txBody>
          <a:bodyPr wrap="square" lIns="94651" tIns="47326" rIns="94651" bIns="47326" anchor="ctr" anchorCtr="0"/>
          <a:p>
            <a:pPr lvl="0"/>
            <a:endParaRPr lang="zh-CN" altLang="en-US" dirty="0"/>
          </a:p>
        </p:txBody>
      </p:sp>
      <p:sp>
        <p:nvSpPr>
          <p:cNvPr id="81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  <a:ln w="9525">
            <a:noFill/>
          </a:ln>
        </p:spPr>
        <p:txBody>
          <a:bodyPr lIns="94651" tIns="47326" rIns="94651" bIns="47326" anchor="b" anchorCtr="0"/>
          <a:p>
            <a:pPr lvl="0" algn="r" defTabSz="946150" eaLnBrk="1" latinLnBrk="1" hangingPunct="1">
              <a:spcBef>
                <a:spcPct val="50000"/>
              </a:spcBef>
              <a:buFont typeface="Wingdings" panose="05000000000000000000" pitchFamily="2" charset="2"/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  <a:cs typeface="Tahoma" panose="020B0604030504040204" pitchFamily="34" charset="0"/>
              </a:rPr>
            </a:fld>
            <a:endParaRPr lang="en-US" altLang="zh-CN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>
          <a:xfrm>
            <a:off x="890588" y="4714875"/>
            <a:ext cx="4887912" cy="4467225"/>
          </a:xfrm>
          <a:ln/>
        </p:spPr>
        <p:txBody>
          <a:bodyPr wrap="square" lIns="94651" tIns="47326" rIns="94651" bIns="47326" anchor="ctr" anchorCtr="0"/>
          <a:p>
            <a:pPr lvl="0"/>
            <a:endParaRPr lang="zh-CN" altLang="en-US" dirty="0"/>
          </a:p>
        </p:txBody>
      </p:sp>
      <p:sp>
        <p:nvSpPr>
          <p:cNvPr id="122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  <a:ln w="9525">
            <a:noFill/>
          </a:ln>
        </p:spPr>
        <p:txBody>
          <a:bodyPr lIns="94651" tIns="47326" rIns="94651" bIns="47326" anchor="b" anchorCtr="0"/>
          <a:p>
            <a:pPr lvl="0" algn="r" defTabSz="946150" eaLnBrk="1" latinLnBrk="1" hangingPunct="1">
              <a:spcBef>
                <a:spcPct val="50000"/>
              </a:spcBef>
              <a:buFont typeface="Wingdings" panose="05000000000000000000" pitchFamily="2" charset="2"/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  <a:cs typeface="Tahoma" panose="020B0604030504040204" pitchFamily="34" charset="0"/>
              </a:rPr>
            </a:fld>
            <a:endParaRPr lang="en-US" altLang="zh-CN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xfrm>
            <a:off x="890588" y="4714875"/>
            <a:ext cx="4887912" cy="4467225"/>
          </a:xfrm>
          <a:ln/>
        </p:spPr>
        <p:txBody>
          <a:bodyPr wrap="square" lIns="94651" tIns="47326" rIns="94651" bIns="47326" anchor="ctr" anchorCtr="0"/>
          <a:p>
            <a:pPr lvl="0"/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  <a:ln w="9525">
            <a:noFill/>
          </a:ln>
        </p:spPr>
        <p:txBody>
          <a:bodyPr lIns="94651" tIns="47326" rIns="94651" bIns="47326" anchor="b" anchorCtr="0"/>
          <a:p>
            <a:pPr lvl="0" algn="r" defTabSz="946150" eaLnBrk="1" latinLnBrk="1" hangingPunct="1">
              <a:spcBef>
                <a:spcPct val="50000"/>
              </a:spcBef>
              <a:buFont typeface="Wingdings" panose="05000000000000000000" pitchFamily="2" charset="2"/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  <a:cs typeface="Tahoma" panose="020B0604030504040204" pitchFamily="34" charset="0"/>
              </a:rPr>
            </a:fld>
            <a:endParaRPr lang="en-US" altLang="zh-CN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xfrm>
            <a:off x="890588" y="4714875"/>
            <a:ext cx="4887912" cy="4467225"/>
          </a:xfrm>
          <a:ln/>
        </p:spPr>
        <p:txBody>
          <a:bodyPr wrap="square" lIns="94651" tIns="47326" rIns="94651" bIns="47326" anchor="ctr" anchorCtr="0"/>
          <a:p>
            <a:pPr lvl="0"/>
            <a:endParaRPr lang="zh-CN" altLang="en-US" dirty="0"/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  <a:ln w="9525">
            <a:noFill/>
          </a:ln>
        </p:spPr>
        <p:txBody>
          <a:bodyPr lIns="94651" tIns="47326" rIns="94651" bIns="47326" anchor="b" anchorCtr="0"/>
          <a:p>
            <a:pPr lvl="0" algn="r" defTabSz="946150" eaLnBrk="1" latinLnBrk="1" hangingPunct="1">
              <a:spcBef>
                <a:spcPct val="50000"/>
              </a:spcBef>
              <a:buFont typeface="Wingdings" panose="05000000000000000000" pitchFamily="2" charset="2"/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  <a:cs typeface="Tahoma" panose="020B0604030504040204" pitchFamily="34" charset="0"/>
              </a:rPr>
            </a:fld>
            <a:endParaRPr lang="en-US" altLang="zh-CN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xfrm>
            <a:off x="890588" y="4714875"/>
            <a:ext cx="4887912" cy="4467225"/>
          </a:xfrm>
          <a:ln/>
        </p:spPr>
        <p:txBody>
          <a:bodyPr wrap="square" lIns="94651" tIns="47326" rIns="94651" bIns="47326" anchor="ctr" anchorCtr="0"/>
          <a:p>
            <a:pPr lvl="0"/>
            <a:endParaRPr lang="zh-CN" altLang="en-US" dirty="0"/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  <a:ln w="9525">
            <a:noFill/>
          </a:ln>
        </p:spPr>
        <p:txBody>
          <a:bodyPr lIns="94651" tIns="47326" rIns="94651" bIns="47326" anchor="b" anchorCtr="0"/>
          <a:p>
            <a:pPr lvl="0" algn="r" defTabSz="946150" eaLnBrk="1" latinLnBrk="1" hangingPunct="1">
              <a:spcBef>
                <a:spcPct val="50000"/>
              </a:spcBef>
              <a:buFont typeface="Wingdings" panose="05000000000000000000" pitchFamily="2" charset="2"/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  <a:cs typeface="Tahoma" panose="020B0604030504040204" pitchFamily="34" charset="0"/>
              </a:rPr>
            </a:fld>
            <a:endParaRPr lang="en-US" altLang="zh-CN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xfrm>
            <a:off x="890588" y="4714875"/>
            <a:ext cx="4887912" cy="4467225"/>
          </a:xfrm>
          <a:ln/>
        </p:spPr>
        <p:txBody>
          <a:bodyPr wrap="square" lIns="94651" tIns="47326" rIns="94651" bIns="47326" anchor="ctr" anchorCtr="0"/>
          <a:p>
            <a:pPr lvl="0"/>
            <a:endParaRPr lang="zh-CN" altLang="en-US" dirty="0"/>
          </a:p>
        </p:txBody>
      </p:sp>
      <p:sp>
        <p:nvSpPr>
          <p:cNvPr id="460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  <a:ln w="9525">
            <a:noFill/>
          </a:ln>
        </p:spPr>
        <p:txBody>
          <a:bodyPr lIns="94651" tIns="47326" rIns="94651" bIns="47326" anchor="b" anchorCtr="0"/>
          <a:p>
            <a:pPr lvl="0" algn="r" defTabSz="946150" eaLnBrk="1" latinLnBrk="1" hangingPunct="1">
              <a:spcBef>
                <a:spcPct val="50000"/>
              </a:spcBef>
              <a:buFont typeface="Wingdings" panose="05000000000000000000" pitchFamily="2" charset="2"/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  <a:cs typeface="Tahoma" panose="020B0604030504040204" pitchFamily="34" charset="0"/>
              </a:rPr>
            </a:fld>
            <a:endParaRPr lang="en-US" altLang="zh-CN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>
          <a:xfrm>
            <a:off x="890588" y="4714875"/>
            <a:ext cx="4887912" cy="4467225"/>
          </a:xfrm>
          <a:ln/>
        </p:spPr>
        <p:txBody>
          <a:bodyPr wrap="square" lIns="94651" tIns="47326" rIns="94651" bIns="47326" anchor="ctr" anchorCtr="0"/>
          <a:p>
            <a:pPr lvl="0"/>
            <a:endParaRPr lang="zh-CN" altLang="en-US" dirty="0"/>
          </a:p>
        </p:txBody>
      </p:sp>
      <p:sp>
        <p:nvSpPr>
          <p:cNvPr id="542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  <a:ln w="9525">
            <a:noFill/>
          </a:ln>
        </p:spPr>
        <p:txBody>
          <a:bodyPr lIns="94651" tIns="47326" rIns="94651" bIns="47326" anchor="b" anchorCtr="0"/>
          <a:p>
            <a:pPr lvl="0" algn="r" defTabSz="946150" eaLnBrk="1" latinLnBrk="1" hangingPunct="1">
              <a:spcBef>
                <a:spcPct val="50000"/>
              </a:spcBef>
              <a:buFont typeface="Wingdings" panose="05000000000000000000" pitchFamily="2" charset="2"/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  <a:cs typeface="Tahoma" panose="020B0604030504040204" pitchFamily="34" charset="0"/>
              </a:rPr>
            </a:fld>
            <a:endParaRPr lang="en-US" altLang="zh-CN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890588" y="4714875"/>
            <a:ext cx="4887912" cy="4467225"/>
          </a:xfrm>
          <a:ln/>
        </p:spPr>
        <p:txBody>
          <a:bodyPr wrap="square" lIns="94651" tIns="47326" rIns="94651" bIns="47326" anchor="ctr" anchorCtr="0"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  <a:ln w="9525">
            <a:noFill/>
          </a:ln>
        </p:spPr>
        <p:txBody>
          <a:bodyPr lIns="94651" tIns="47326" rIns="94651" bIns="47326" anchor="b" anchorCtr="0"/>
          <a:p>
            <a:pPr lvl="0" algn="r" defTabSz="946150" eaLnBrk="1" latinLnBrk="1" hangingPunct="1">
              <a:spcBef>
                <a:spcPct val="50000"/>
              </a:spcBef>
              <a:buFont typeface="Wingdings" panose="05000000000000000000" pitchFamily="2" charset="2"/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  <a:cs typeface="Tahoma" panose="020B0604030504040204" pitchFamily="34" charset="0"/>
              </a:rPr>
            </a:fld>
            <a:endParaRPr lang="en-US" altLang="zh-CN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650" y="2130425"/>
            <a:ext cx="8569325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12888" y="3886200"/>
            <a:ext cx="7056437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4825" y="1600200"/>
            <a:ext cx="9072563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6925" y="4406900"/>
            <a:ext cx="8567738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6925" y="2906713"/>
            <a:ext cx="8567738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4825" y="1600200"/>
            <a:ext cx="4459288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6513" y="1600200"/>
            <a:ext cx="44608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4825" y="1535113"/>
            <a:ext cx="44529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4825" y="2174875"/>
            <a:ext cx="44529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21275" y="1535113"/>
            <a:ext cx="445611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21275" y="2174875"/>
            <a:ext cx="445611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3050"/>
            <a:ext cx="331628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41763" y="273050"/>
            <a:ext cx="5635625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4825" y="1435100"/>
            <a:ext cx="331628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6438" y="4800600"/>
            <a:ext cx="6048375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76438" y="612775"/>
            <a:ext cx="6048375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76438" y="5367338"/>
            <a:ext cx="6048375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1600200"/>
            <a:ext cx="9072563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10438" y="274638"/>
            <a:ext cx="226695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274638"/>
            <a:ext cx="665321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04825" y="274638"/>
            <a:ext cx="9072563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650" y="2130425"/>
            <a:ext cx="8569325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12888" y="3886200"/>
            <a:ext cx="7056437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4825" y="1600200"/>
            <a:ext cx="9072563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6925" y="4406900"/>
            <a:ext cx="8567738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6925" y="2906713"/>
            <a:ext cx="8567738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4825" y="1600200"/>
            <a:ext cx="4459288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6513" y="1600200"/>
            <a:ext cx="44608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4825" y="1535113"/>
            <a:ext cx="44529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4825" y="2174875"/>
            <a:ext cx="44529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21275" y="1535113"/>
            <a:ext cx="445611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21275" y="2174875"/>
            <a:ext cx="445611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edg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3050"/>
            <a:ext cx="331628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41763" y="273050"/>
            <a:ext cx="5635625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4825" y="1435100"/>
            <a:ext cx="331628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6438" y="4800600"/>
            <a:ext cx="6048375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76438" y="612775"/>
            <a:ext cx="6048375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76438" y="5367338"/>
            <a:ext cx="6048375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1600200"/>
            <a:ext cx="9072563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10438" y="274638"/>
            <a:ext cx="226695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274638"/>
            <a:ext cx="665321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122363"/>
            <a:ext cx="7560469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3602038"/>
            <a:ext cx="756046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93" y="1709739"/>
            <a:ext cx="8694539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93" y="4589464"/>
            <a:ext cx="8694539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6047" y="1981200"/>
            <a:ext cx="4200260" cy="4876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4318" y="1981200"/>
            <a:ext cx="4200260" cy="4876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794" y="365126"/>
            <a:ext cx="8694539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4794" y="1681163"/>
            <a:ext cx="426501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794" y="2505075"/>
            <a:ext cx="4265014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3317" y="1681163"/>
            <a:ext cx="42860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3317" y="2505075"/>
            <a:ext cx="42860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794" y="457200"/>
            <a:ext cx="325170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6016" y="987426"/>
            <a:ext cx="510331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794" y="2057400"/>
            <a:ext cx="325170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794" y="457200"/>
            <a:ext cx="325170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6016" y="987426"/>
            <a:ext cx="5103316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794" y="2057400"/>
            <a:ext cx="325170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2445" y="609600"/>
            <a:ext cx="2142133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6047" y="609600"/>
            <a:ext cx="6258388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6047" y="609600"/>
            <a:ext cx="8568531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6047" y="1981200"/>
            <a:ext cx="4200260" cy="4876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4318" y="1981200"/>
            <a:ext cx="4200260" cy="4876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image" Target="../media/image4.jpe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100000">
              <a:srgbClr val="FFFF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 descr="subbar"/>
          <p:cNvPicPr>
            <a:picLocks noChangeAspect="1"/>
          </p:cNvPicPr>
          <p:nvPr userDrawn="1"/>
        </p:nvPicPr>
        <p:blipFill>
          <a:blip r:embed="rId13"/>
          <a:srcRect l="189" r="267"/>
          <a:stretch>
            <a:fillRect/>
          </a:stretch>
        </p:blipFill>
        <p:spPr>
          <a:xfrm>
            <a:off x="0" y="-9525"/>
            <a:ext cx="10080625" cy="1062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Line 3"/>
          <p:cNvSpPr/>
          <p:nvPr userDrawn="1"/>
        </p:nvSpPr>
        <p:spPr>
          <a:xfrm>
            <a:off x="0" y="1020763"/>
            <a:ext cx="10080625" cy="0"/>
          </a:xfrm>
          <a:prstGeom prst="line">
            <a:avLst/>
          </a:prstGeom>
          <a:ln w="28575" cap="flat" cmpd="sng">
            <a:solidFill>
              <a:srgbClr val="236485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rgbClr val="90C060">
                <a:alpha val="50000"/>
              </a:srgbClr>
            </a:outerShdw>
          </a:effectLst>
        </p:spPr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0" y="6608763"/>
            <a:ext cx="287338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46038" rIns="0" bIns="46038" anchor="ctr"/>
          <a:lstStyle>
            <a:lvl1pPr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fld id="{64CDCC1C-4E5B-4AB6-9E5A-F0749158748A}" type="slidenum">
              <a:rPr kumimoji="0" lang="en-GB" altLang="en-US" sz="900" b="0" i="1" u="none" strike="noStrike" kern="120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ahoma" panose="020B0604030504040204" pitchFamily="34" charset="0"/>
                <a:ea typeface="Gulim" pitchFamily="34" charset="-127"/>
                <a:cs typeface="Tahoma" panose="020B0604030504040204" pitchFamily="34" charset="0"/>
              </a:rPr>
            </a:fld>
            <a:r>
              <a:rPr kumimoji="0" lang="en-GB" altLang="en-US" sz="900" b="0" i="1" u="none" strike="noStrike" kern="120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ahoma" panose="020B0604030504040204" pitchFamily="34" charset="0"/>
                <a:ea typeface="Gulim" pitchFamily="34" charset="-127"/>
                <a:cs typeface="Tahoma" panose="020B0604030504040204" pitchFamily="34" charset="0"/>
              </a:rPr>
              <a:t> </a:t>
            </a:r>
            <a:endParaRPr kumimoji="0" lang="ko-KR" altLang="en-US" sz="900" b="0" i="1" u="none" strike="noStrike" kern="120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Tahoma" panose="020B0604030504040204" pitchFamily="34" charset="0"/>
            </a:endParaRPr>
          </a:p>
        </p:txBody>
      </p:sp>
      <p:pic>
        <p:nvPicPr>
          <p:cNvPr id="1029" name="Picture 6" descr="그림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38125" y="6715125"/>
            <a:ext cx="9077325" cy="8413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>
    <p:wedge/>
  </p:transition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5pPr>
      <a:lvl6pPr marL="4572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6pPr>
      <a:lvl7pPr marL="9144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7pPr>
      <a:lvl8pPr marL="13716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8pPr>
      <a:lvl9pPr marL="18288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9pPr>
    </p:titleStyle>
    <p:bodyStyle>
      <a:lvl1pPr marL="447675" indent="-44767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4005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600">
          <a:solidFill>
            <a:schemeClr val="tx1"/>
          </a:solidFill>
          <a:latin typeface="+mn-lt"/>
          <a:ea typeface="+mn-ea"/>
        </a:defRPr>
      </a:lvl2pPr>
      <a:lvl3pPr marL="1294130" indent="-40322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200">
          <a:solidFill>
            <a:schemeClr val="tx1"/>
          </a:solidFill>
          <a:latin typeface="+mn-lt"/>
          <a:ea typeface="+mn-ea"/>
        </a:defRPr>
      </a:lvl3pPr>
      <a:lvl4pPr marL="1681480" indent="-38608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4pPr>
      <a:lvl5pPr marL="20701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273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845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417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989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50" name="Picture 122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4343400"/>
            <a:ext cx="10080625" cy="2528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121" descr="Untitled-5 copy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0080625" cy="26892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2" name="Group 4"/>
          <p:cNvGrpSpPr/>
          <p:nvPr userDrawn="1"/>
        </p:nvGrpSpPr>
        <p:grpSpPr>
          <a:xfrm>
            <a:off x="3509963" y="1300163"/>
            <a:ext cx="5761037" cy="912812"/>
            <a:chOff x="0" y="0"/>
            <a:chExt cx="3629" cy="575"/>
          </a:xfrm>
        </p:grpSpPr>
        <p:sp>
          <p:nvSpPr>
            <p:cNvPr id="2055" name="Oval 10"/>
            <p:cNvSpPr>
              <a:spLocks noChangeArrowheads="1"/>
            </p:cNvSpPr>
            <p:nvPr/>
          </p:nvSpPr>
          <p:spPr bwMode="auto">
            <a:xfrm>
              <a:off x="0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56" name="Oval 11"/>
            <p:cNvSpPr>
              <a:spLocks noChangeArrowheads="1"/>
            </p:cNvSpPr>
            <p:nvPr/>
          </p:nvSpPr>
          <p:spPr bwMode="auto">
            <a:xfrm>
              <a:off x="117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57" name="Oval 12"/>
            <p:cNvSpPr>
              <a:spLocks noChangeArrowheads="1"/>
            </p:cNvSpPr>
            <p:nvPr/>
          </p:nvSpPr>
          <p:spPr bwMode="auto">
            <a:xfrm>
              <a:off x="234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58" name="Oval 13"/>
            <p:cNvSpPr>
              <a:spLocks noChangeArrowheads="1"/>
            </p:cNvSpPr>
            <p:nvPr/>
          </p:nvSpPr>
          <p:spPr bwMode="auto">
            <a:xfrm>
              <a:off x="351" y="3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59" name="Oval 14"/>
            <p:cNvSpPr>
              <a:spLocks noChangeArrowheads="1"/>
            </p:cNvSpPr>
            <p:nvPr/>
          </p:nvSpPr>
          <p:spPr bwMode="auto">
            <a:xfrm>
              <a:off x="467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0" name="Oval 15"/>
            <p:cNvSpPr>
              <a:spLocks noChangeArrowheads="1"/>
            </p:cNvSpPr>
            <p:nvPr/>
          </p:nvSpPr>
          <p:spPr bwMode="auto">
            <a:xfrm>
              <a:off x="584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1" name="Oval 16"/>
            <p:cNvSpPr>
              <a:spLocks noChangeArrowheads="1"/>
            </p:cNvSpPr>
            <p:nvPr/>
          </p:nvSpPr>
          <p:spPr bwMode="auto">
            <a:xfrm>
              <a:off x="709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2" name="Oval 17"/>
            <p:cNvSpPr>
              <a:spLocks noChangeArrowheads="1"/>
            </p:cNvSpPr>
            <p:nvPr/>
          </p:nvSpPr>
          <p:spPr bwMode="auto">
            <a:xfrm>
              <a:off x="826" y="2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3" name="Oval 18"/>
            <p:cNvSpPr>
              <a:spLocks noChangeArrowheads="1"/>
            </p:cNvSpPr>
            <p:nvPr/>
          </p:nvSpPr>
          <p:spPr bwMode="auto">
            <a:xfrm>
              <a:off x="943" y="3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4" name="Oval 19"/>
            <p:cNvSpPr>
              <a:spLocks noChangeArrowheads="1"/>
            </p:cNvSpPr>
            <p:nvPr/>
          </p:nvSpPr>
          <p:spPr bwMode="auto">
            <a:xfrm>
              <a:off x="1059" y="1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5" name="Oval 20"/>
            <p:cNvSpPr>
              <a:spLocks noChangeArrowheads="1"/>
            </p:cNvSpPr>
            <p:nvPr/>
          </p:nvSpPr>
          <p:spPr bwMode="auto">
            <a:xfrm>
              <a:off x="1176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6" name="Oval 21"/>
            <p:cNvSpPr>
              <a:spLocks noChangeArrowheads="1"/>
            </p:cNvSpPr>
            <p:nvPr/>
          </p:nvSpPr>
          <p:spPr bwMode="auto">
            <a:xfrm>
              <a:off x="1293" y="0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7" name="Oval 22"/>
            <p:cNvSpPr>
              <a:spLocks noChangeArrowheads="1"/>
            </p:cNvSpPr>
            <p:nvPr/>
          </p:nvSpPr>
          <p:spPr bwMode="auto">
            <a:xfrm>
              <a:off x="1418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8" name="Oval 23"/>
            <p:cNvSpPr>
              <a:spLocks noChangeArrowheads="1"/>
            </p:cNvSpPr>
            <p:nvPr/>
          </p:nvSpPr>
          <p:spPr bwMode="auto">
            <a:xfrm>
              <a:off x="1534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9" name="Oval 24"/>
            <p:cNvSpPr>
              <a:spLocks noChangeArrowheads="1"/>
            </p:cNvSpPr>
            <p:nvPr/>
          </p:nvSpPr>
          <p:spPr bwMode="auto">
            <a:xfrm>
              <a:off x="1651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0" name="Oval 25"/>
            <p:cNvSpPr>
              <a:spLocks noChangeArrowheads="1"/>
            </p:cNvSpPr>
            <p:nvPr/>
          </p:nvSpPr>
          <p:spPr bwMode="auto">
            <a:xfrm>
              <a:off x="1768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1" name="Oval 26"/>
            <p:cNvSpPr>
              <a:spLocks noChangeArrowheads="1"/>
            </p:cNvSpPr>
            <p:nvPr/>
          </p:nvSpPr>
          <p:spPr bwMode="auto">
            <a:xfrm>
              <a:off x="1885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2" name="Oval 27"/>
            <p:cNvSpPr>
              <a:spLocks noChangeArrowheads="1"/>
            </p:cNvSpPr>
            <p:nvPr/>
          </p:nvSpPr>
          <p:spPr bwMode="auto">
            <a:xfrm>
              <a:off x="2002" y="1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3" name="Oval 28"/>
            <p:cNvSpPr>
              <a:spLocks noChangeArrowheads="1"/>
            </p:cNvSpPr>
            <p:nvPr/>
          </p:nvSpPr>
          <p:spPr bwMode="auto">
            <a:xfrm>
              <a:off x="2126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4" name="Oval 29"/>
            <p:cNvSpPr>
              <a:spLocks noChangeArrowheads="1"/>
            </p:cNvSpPr>
            <p:nvPr/>
          </p:nvSpPr>
          <p:spPr bwMode="auto">
            <a:xfrm>
              <a:off x="2243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5" name="Oval 30"/>
            <p:cNvSpPr>
              <a:spLocks noChangeArrowheads="1"/>
            </p:cNvSpPr>
            <p:nvPr/>
          </p:nvSpPr>
          <p:spPr bwMode="auto">
            <a:xfrm>
              <a:off x="2360" y="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6" name="Oval 31"/>
            <p:cNvSpPr>
              <a:spLocks noChangeArrowheads="1"/>
            </p:cNvSpPr>
            <p:nvPr/>
          </p:nvSpPr>
          <p:spPr bwMode="auto">
            <a:xfrm>
              <a:off x="2477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7" name="Oval 32"/>
            <p:cNvSpPr>
              <a:spLocks noChangeArrowheads="1"/>
            </p:cNvSpPr>
            <p:nvPr/>
          </p:nvSpPr>
          <p:spPr bwMode="auto">
            <a:xfrm>
              <a:off x="2594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8" name="Oval 33"/>
            <p:cNvSpPr>
              <a:spLocks noChangeArrowheads="1"/>
            </p:cNvSpPr>
            <p:nvPr/>
          </p:nvSpPr>
          <p:spPr bwMode="auto">
            <a:xfrm>
              <a:off x="2711" y="2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9" name="Oval 34"/>
            <p:cNvSpPr>
              <a:spLocks noChangeArrowheads="1"/>
            </p:cNvSpPr>
            <p:nvPr/>
          </p:nvSpPr>
          <p:spPr bwMode="auto">
            <a:xfrm>
              <a:off x="2835" y="7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0" name="Oval 35"/>
            <p:cNvSpPr>
              <a:spLocks noChangeArrowheads="1"/>
            </p:cNvSpPr>
            <p:nvPr/>
          </p:nvSpPr>
          <p:spPr bwMode="auto">
            <a:xfrm>
              <a:off x="2952" y="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1" name="Oval 36"/>
            <p:cNvSpPr>
              <a:spLocks noChangeArrowheads="1"/>
            </p:cNvSpPr>
            <p:nvPr/>
          </p:nvSpPr>
          <p:spPr bwMode="auto">
            <a:xfrm>
              <a:off x="3069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2" name="Oval 37"/>
            <p:cNvSpPr>
              <a:spLocks noChangeArrowheads="1"/>
            </p:cNvSpPr>
            <p:nvPr/>
          </p:nvSpPr>
          <p:spPr bwMode="auto">
            <a:xfrm>
              <a:off x="3186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3" name="Oval 38"/>
            <p:cNvSpPr>
              <a:spLocks noChangeArrowheads="1"/>
            </p:cNvSpPr>
            <p:nvPr/>
          </p:nvSpPr>
          <p:spPr bwMode="auto">
            <a:xfrm>
              <a:off x="3303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4" name="Oval 39"/>
            <p:cNvSpPr>
              <a:spLocks noChangeArrowheads="1"/>
            </p:cNvSpPr>
            <p:nvPr/>
          </p:nvSpPr>
          <p:spPr bwMode="auto">
            <a:xfrm>
              <a:off x="0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5" name="Oval 40"/>
            <p:cNvSpPr>
              <a:spLocks noChangeArrowheads="1"/>
            </p:cNvSpPr>
            <p:nvPr/>
          </p:nvSpPr>
          <p:spPr bwMode="auto">
            <a:xfrm>
              <a:off x="117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6" name="Oval 41"/>
            <p:cNvSpPr>
              <a:spLocks noChangeArrowheads="1"/>
            </p:cNvSpPr>
            <p:nvPr/>
          </p:nvSpPr>
          <p:spPr bwMode="auto">
            <a:xfrm>
              <a:off x="234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7" name="Oval 42"/>
            <p:cNvSpPr>
              <a:spLocks noChangeArrowheads="1"/>
            </p:cNvSpPr>
            <p:nvPr/>
          </p:nvSpPr>
          <p:spPr bwMode="auto">
            <a:xfrm>
              <a:off x="351" y="123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8" name="Oval 43"/>
            <p:cNvSpPr>
              <a:spLocks noChangeArrowheads="1"/>
            </p:cNvSpPr>
            <p:nvPr/>
          </p:nvSpPr>
          <p:spPr bwMode="auto">
            <a:xfrm>
              <a:off x="467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9" name="Oval 44"/>
            <p:cNvSpPr>
              <a:spLocks noChangeArrowheads="1"/>
            </p:cNvSpPr>
            <p:nvPr/>
          </p:nvSpPr>
          <p:spPr bwMode="auto">
            <a:xfrm>
              <a:off x="584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0" name="Oval 45"/>
            <p:cNvSpPr>
              <a:spLocks noChangeArrowheads="1"/>
            </p:cNvSpPr>
            <p:nvPr/>
          </p:nvSpPr>
          <p:spPr bwMode="auto">
            <a:xfrm>
              <a:off x="709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1" name="Oval 46"/>
            <p:cNvSpPr>
              <a:spLocks noChangeArrowheads="1"/>
            </p:cNvSpPr>
            <p:nvPr/>
          </p:nvSpPr>
          <p:spPr bwMode="auto">
            <a:xfrm>
              <a:off x="826" y="122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2" name="Oval 47"/>
            <p:cNvSpPr>
              <a:spLocks noChangeArrowheads="1"/>
            </p:cNvSpPr>
            <p:nvPr/>
          </p:nvSpPr>
          <p:spPr bwMode="auto">
            <a:xfrm>
              <a:off x="943" y="123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3" name="Oval 48"/>
            <p:cNvSpPr>
              <a:spLocks noChangeArrowheads="1"/>
            </p:cNvSpPr>
            <p:nvPr/>
          </p:nvSpPr>
          <p:spPr bwMode="auto">
            <a:xfrm>
              <a:off x="1059" y="121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4" name="Oval 49"/>
            <p:cNvSpPr>
              <a:spLocks noChangeArrowheads="1"/>
            </p:cNvSpPr>
            <p:nvPr/>
          </p:nvSpPr>
          <p:spPr bwMode="auto">
            <a:xfrm>
              <a:off x="1176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5" name="Oval 50"/>
            <p:cNvSpPr>
              <a:spLocks noChangeArrowheads="1"/>
            </p:cNvSpPr>
            <p:nvPr/>
          </p:nvSpPr>
          <p:spPr bwMode="auto">
            <a:xfrm>
              <a:off x="1293" y="120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6" name="Oval 51"/>
            <p:cNvSpPr>
              <a:spLocks noChangeArrowheads="1"/>
            </p:cNvSpPr>
            <p:nvPr/>
          </p:nvSpPr>
          <p:spPr bwMode="auto">
            <a:xfrm>
              <a:off x="1418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7" name="Oval 52"/>
            <p:cNvSpPr>
              <a:spLocks noChangeArrowheads="1"/>
            </p:cNvSpPr>
            <p:nvPr/>
          </p:nvSpPr>
          <p:spPr bwMode="auto">
            <a:xfrm>
              <a:off x="1534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8" name="Oval 53"/>
            <p:cNvSpPr>
              <a:spLocks noChangeArrowheads="1"/>
            </p:cNvSpPr>
            <p:nvPr/>
          </p:nvSpPr>
          <p:spPr bwMode="auto">
            <a:xfrm>
              <a:off x="1651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9" name="Oval 54"/>
            <p:cNvSpPr>
              <a:spLocks noChangeArrowheads="1"/>
            </p:cNvSpPr>
            <p:nvPr/>
          </p:nvSpPr>
          <p:spPr bwMode="auto">
            <a:xfrm>
              <a:off x="1768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0" name="Oval 55"/>
            <p:cNvSpPr>
              <a:spLocks noChangeArrowheads="1"/>
            </p:cNvSpPr>
            <p:nvPr/>
          </p:nvSpPr>
          <p:spPr bwMode="auto">
            <a:xfrm>
              <a:off x="1885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1" name="Oval 56"/>
            <p:cNvSpPr>
              <a:spLocks noChangeArrowheads="1"/>
            </p:cNvSpPr>
            <p:nvPr/>
          </p:nvSpPr>
          <p:spPr bwMode="auto">
            <a:xfrm>
              <a:off x="2002" y="121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2" name="Oval 57"/>
            <p:cNvSpPr>
              <a:spLocks noChangeArrowheads="1"/>
            </p:cNvSpPr>
            <p:nvPr/>
          </p:nvSpPr>
          <p:spPr bwMode="auto">
            <a:xfrm>
              <a:off x="2126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3" name="Oval 58"/>
            <p:cNvSpPr>
              <a:spLocks noChangeArrowheads="1"/>
            </p:cNvSpPr>
            <p:nvPr/>
          </p:nvSpPr>
          <p:spPr bwMode="auto">
            <a:xfrm>
              <a:off x="2243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4" name="Oval 59"/>
            <p:cNvSpPr>
              <a:spLocks noChangeArrowheads="1"/>
            </p:cNvSpPr>
            <p:nvPr/>
          </p:nvSpPr>
          <p:spPr bwMode="auto">
            <a:xfrm>
              <a:off x="2360" y="12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5" name="Oval 60"/>
            <p:cNvSpPr>
              <a:spLocks noChangeArrowheads="1"/>
            </p:cNvSpPr>
            <p:nvPr/>
          </p:nvSpPr>
          <p:spPr bwMode="auto">
            <a:xfrm>
              <a:off x="2477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6" name="Oval 61"/>
            <p:cNvSpPr>
              <a:spLocks noChangeArrowheads="1"/>
            </p:cNvSpPr>
            <p:nvPr/>
          </p:nvSpPr>
          <p:spPr bwMode="auto">
            <a:xfrm>
              <a:off x="2594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7" name="Oval 62"/>
            <p:cNvSpPr>
              <a:spLocks noChangeArrowheads="1"/>
            </p:cNvSpPr>
            <p:nvPr/>
          </p:nvSpPr>
          <p:spPr bwMode="auto">
            <a:xfrm>
              <a:off x="2711" y="122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8" name="Oval 63"/>
            <p:cNvSpPr>
              <a:spLocks noChangeArrowheads="1"/>
            </p:cNvSpPr>
            <p:nvPr/>
          </p:nvSpPr>
          <p:spPr bwMode="auto">
            <a:xfrm>
              <a:off x="2835" y="127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9" name="Oval 64"/>
            <p:cNvSpPr>
              <a:spLocks noChangeArrowheads="1"/>
            </p:cNvSpPr>
            <p:nvPr/>
          </p:nvSpPr>
          <p:spPr bwMode="auto">
            <a:xfrm>
              <a:off x="2952" y="12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0" name="Oval 65"/>
            <p:cNvSpPr>
              <a:spLocks noChangeArrowheads="1"/>
            </p:cNvSpPr>
            <p:nvPr/>
          </p:nvSpPr>
          <p:spPr bwMode="auto">
            <a:xfrm>
              <a:off x="3069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1" name="Oval 66"/>
            <p:cNvSpPr>
              <a:spLocks noChangeArrowheads="1"/>
            </p:cNvSpPr>
            <p:nvPr/>
          </p:nvSpPr>
          <p:spPr bwMode="auto">
            <a:xfrm>
              <a:off x="3186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2" name="Oval 67"/>
            <p:cNvSpPr>
              <a:spLocks noChangeArrowheads="1"/>
            </p:cNvSpPr>
            <p:nvPr/>
          </p:nvSpPr>
          <p:spPr bwMode="auto">
            <a:xfrm>
              <a:off x="3303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3" name="Oval 68"/>
            <p:cNvSpPr>
              <a:spLocks noChangeArrowheads="1"/>
            </p:cNvSpPr>
            <p:nvPr/>
          </p:nvSpPr>
          <p:spPr bwMode="auto">
            <a:xfrm>
              <a:off x="234" y="255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4" name="Oval 69"/>
            <p:cNvSpPr>
              <a:spLocks noChangeArrowheads="1"/>
            </p:cNvSpPr>
            <p:nvPr/>
          </p:nvSpPr>
          <p:spPr bwMode="auto">
            <a:xfrm>
              <a:off x="351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5" name="Oval 70"/>
            <p:cNvSpPr>
              <a:spLocks noChangeArrowheads="1"/>
            </p:cNvSpPr>
            <p:nvPr/>
          </p:nvSpPr>
          <p:spPr bwMode="auto">
            <a:xfrm>
              <a:off x="467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6" name="Oval 71"/>
            <p:cNvSpPr>
              <a:spLocks noChangeArrowheads="1"/>
            </p:cNvSpPr>
            <p:nvPr/>
          </p:nvSpPr>
          <p:spPr bwMode="auto">
            <a:xfrm>
              <a:off x="584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7" name="Oval 72"/>
            <p:cNvSpPr>
              <a:spLocks noChangeArrowheads="1"/>
            </p:cNvSpPr>
            <p:nvPr/>
          </p:nvSpPr>
          <p:spPr bwMode="auto">
            <a:xfrm>
              <a:off x="701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8" name="Oval 73"/>
            <p:cNvSpPr>
              <a:spLocks noChangeArrowheads="1"/>
            </p:cNvSpPr>
            <p:nvPr/>
          </p:nvSpPr>
          <p:spPr bwMode="auto">
            <a:xfrm>
              <a:off x="818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9" name="Oval 74"/>
            <p:cNvSpPr>
              <a:spLocks noChangeArrowheads="1"/>
            </p:cNvSpPr>
            <p:nvPr/>
          </p:nvSpPr>
          <p:spPr bwMode="auto">
            <a:xfrm>
              <a:off x="943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0" name="Oval 75"/>
            <p:cNvSpPr>
              <a:spLocks noChangeArrowheads="1"/>
            </p:cNvSpPr>
            <p:nvPr/>
          </p:nvSpPr>
          <p:spPr bwMode="auto">
            <a:xfrm>
              <a:off x="1059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1" name="Oval 76"/>
            <p:cNvSpPr>
              <a:spLocks noChangeArrowheads="1"/>
            </p:cNvSpPr>
            <p:nvPr/>
          </p:nvSpPr>
          <p:spPr bwMode="auto">
            <a:xfrm>
              <a:off x="1176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2" name="Oval 77"/>
            <p:cNvSpPr>
              <a:spLocks noChangeArrowheads="1"/>
            </p:cNvSpPr>
            <p:nvPr/>
          </p:nvSpPr>
          <p:spPr bwMode="auto">
            <a:xfrm>
              <a:off x="1293" y="250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3" name="Oval 78"/>
            <p:cNvSpPr>
              <a:spLocks noChangeArrowheads="1"/>
            </p:cNvSpPr>
            <p:nvPr/>
          </p:nvSpPr>
          <p:spPr bwMode="auto">
            <a:xfrm>
              <a:off x="1410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4" name="Oval 79"/>
            <p:cNvSpPr>
              <a:spLocks noChangeArrowheads="1"/>
            </p:cNvSpPr>
            <p:nvPr/>
          </p:nvSpPr>
          <p:spPr bwMode="auto">
            <a:xfrm>
              <a:off x="1527" y="249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5" name="Oval 80"/>
            <p:cNvSpPr>
              <a:spLocks noChangeArrowheads="1"/>
            </p:cNvSpPr>
            <p:nvPr/>
          </p:nvSpPr>
          <p:spPr bwMode="auto">
            <a:xfrm>
              <a:off x="1651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6" name="Oval 81"/>
            <p:cNvSpPr>
              <a:spLocks noChangeArrowheads="1"/>
            </p:cNvSpPr>
            <p:nvPr/>
          </p:nvSpPr>
          <p:spPr bwMode="auto">
            <a:xfrm>
              <a:off x="1768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7" name="Oval 82"/>
            <p:cNvSpPr>
              <a:spLocks noChangeArrowheads="1"/>
            </p:cNvSpPr>
            <p:nvPr/>
          </p:nvSpPr>
          <p:spPr bwMode="auto">
            <a:xfrm>
              <a:off x="1885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8" name="Oval 83"/>
            <p:cNvSpPr>
              <a:spLocks noChangeArrowheads="1"/>
            </p:cNvSpPr>
            <p:nvPr/>
          </p:nvSpPr>
          <p:spPr bwMode="auto">
            <a:xfrm>
              <a:off x="2002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9" name="Oval 84"/>
            <p:cNvSpPr>
              <a:spLocks noChangeArrowheads="1"/>
            </p:cNvSpPr>
            <p:nvPr/>
          </p:nvSpPr>
          <p:spPr bwMode="auto">
            <a:xfrm>
              <a:off x="2119" y="252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0" name="Oval 85"/>
            <p:cNvSpPr>
              <a:spLocks noChangeArrowheads="1"/>
            </p:cNvSpPr>
            <p:nvPr/>
          </p:nvSpPr>
          <p:spPr bwMode="auto">
            <a:xfrm>
              <a:off x="2236" y="250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1" name="Oval 86"/>
            <p:cNvSpPr>
              <a:spLocks noChangeArrowheads="1"/>
            </p:cNvSpPr>
            <p:nvPr/>
          </p:nvSpPr>
          <p:spPr bwMode="auto">
            <a:xfrm>
              <a:off x="2360" y="255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2" name="Oval 87"/>
            <p:cNvSpPr>
              <a:spLocks noChangeArrowheads="1"/>
            </p:cNvSpPr>
            <p:nvPr/>
          </p:nvSpPr>
          <p:spPr bwMode="auto">
            <a:xfrm>
              <a:off x="2477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3" name="Oval 88"/>
            <p:cNvSpPr>
              <a:spLocks noChangeArrowheads="1"/>
            </p:cNvSpPr>
            <p:nvPr/>
          </p:nvSpPr>
          <p:spPr bwMode="auto">
            <a:xfrm>
              <a:off x="2594" y="254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4" name="Oval 89"/>
            <p:cNvSpPr>
              <a:spLocks noChangeArrowheads="1"/>
            </p:cNvSpPr>
            <p:nvPr/>
          </p:nvSpPr>
          <p:spPr bwMode="auto">
            <a:xfrm>
              <a:off x="2711" y="252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5" name="Oval 90"/>
            <p:cNvSpPr>
              <a:spLocks noChangeArrowheads="1"/>
            </p:cNvSpPr>
            <p:nvPr/>
          </p:nvSpPr>
          <p:spPr bwMode="auto">
            <a:xfrm>
              <a:off x="2828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6" name="Oval 91"/>
            <p:cNvSpPr>
              <a:spLocks noChangeArrowheads="1"/>
            </p:cNvSpPr>
            <p:nvPr/>
          </p:nvSpPr>
          <p:spPr bwMode="auto">
            <a:xfrm>
              <a:off x="2944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7" name="Oval 92"/>
            <p:cNvSpPr>
              <a:spLocks noChangeArrowheads="1"/>
            </p:cNvSpPr>
            <p:nvPr/>
          </p:nvSpPr>
          <p:spPr bwMode="auto">
            <a:xfrm>
              <a:off x="3069" y="256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8" name="Oval 93"/>
            <p:cNvSpPr>
              <a:spLocks noChangeArrowheads="1"/>
            </p:cNvSpPr>
            <p:nvPr/>
          </p:nvSpPr>
          <p:spPr bwMode="auto">
            <a:xfrm>
              <a:off x="3186" y="254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9" name="Oval 94"/>
            <p:cNvSpPr>
              <a:spLocks noChangeArrowheads="1"/>
            </p:cNvSpPr>
            <p:nvPr/>
          </p:nvSpPr>
          <p:spPr bwMode="auto">
            <a:xfrm>
              <a:off x="3303" y="255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0" name="Oval 95"/>
            <p:cNvSpPr>
              <a:spLocks noChangeArrowheads="1"/>
            </p:cNvSpPr>
            <p:nvPr/>
          </p:nvSpPr>
          <p:spPr bwMode="auto">
            <a:xfrm>
              <a:off x="3420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1" name="Oval 96"/>
            <p:cNvSpPr>
              <a:spLocks noChangeArrowheads="1"/>
            </p:cNvSpPr>
            <p:nvPr/>
          </p:nvSpPr>
          <p:spPr bwMode="auto">
            <a:xfrm>
              <a:off x="3536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2" name="Oval 97"/>
            <p:cNvSpPr>
              <a:spLocks noChangeArrowheads="1"/>
            </p:cNvSpPr>
            <p:nvPr/>
          </p:nvSpPr>
          <p:spPr bwMode="auto">
            <a:xfrm>
              <a:off x="476" y="371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3" name="Oval 98"/>
            <p:cNvSpPr>
              <a:spLocks noChangeArrowheads="1"/>
            </p:cNvSpPr>
            <p:nvPr/>
          </p:nvSpPr>
          <p:spPr bwMode="auto">
            <a:xfrm>
              <a:off x="593" y="369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4" name="Oval 99"/>
            <p:cNvSpPr>
              <a:spLocks noChangeArrowheads="1"/>
            </p:cNvSpPr>
            <p:nvPr/>
          </p:nvSpPr>
          <p:spPr bwMode="auto">
            <a:xfrm>
              <a:off x="710" y="370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5" name="Oval 100"/>
            <p:cNvSpPr>
              <a:spLocks noChangeArrowheads="1"/>
            </p:cNvSpPr>
            <p:nvPr/>
          </p:nvSpPr>
          <p:spPr bwMode="auto">
            <a:xfrm>
              <a:off x="827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6" name="Oval 101"/>
            <p:cNvSpPr>
              <a:spLocks noChangeArrowheads="1"/>
            </p:cNvSpPr>
            <p:nvPr/>
          </p:nvSpPr>
          <p:spPr bwMode="auto">
            <a:xfrm>
              <a:off x="944" y="369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7" name="Oval 102"/>
            <p:cNvSpPr>
              <a:spLocks noChangeArrowheads="1"/>
            </p:cNvSpPr>
            <p:nvPr/>
          </p:nvSpPr>
          <p:spPr bwMode="auto">
            <a:xfrm>
              <a:off x="1060" y="367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8" name="Oval 103"/>
            <p:cNvSpPr>
              <a:spLocks noChangeArrowheads="1"/>
            </p:cNvSpPr>
            <p:nvPr/>
          </p:nvSpPr>
          <p:spPr bwMode="auto">
            <a:xfrm>
              <a:off x="1185" y="369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9" name="Oval 104"/>
            <p:cNvSpPr>
              <a:spLocks noChangeArrowheads="1"/>
            </p:cNvSpPr>
            <p:nvPr/>
          </p:nvSpPr>
          <p:spPr bwMode="auto">
            <a:xfrm>
              <a:off x="1302" y="367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0" name="Oval 105"/>
            <p:cNvSpPr>
              <a:spLocks noChangeArrowheads="1"/>
            </p:cNvSpPr>
            <p:nvPr/>
          </p:nvSpPr>
          <p:spPr bwMode="auto">
            <a:xfrm>
              <a:off x="1419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1" name="Oval 106"/>
            <p:cNvSpPr>
              <a:spLocks noChangeArrowheads="1"/>
            </p:cNvSpPr>
            <p:nvPr/>
          </p:nvSpPr>
          <p:spPr bwMode="auto">
            <a:xfrm>
              <a:off x="1536" y="366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2" name="Oval 107"/>
            <p:cNvSpPr>
              <a:spLocks noChangeArrowheads="1"/>
            </p:cNvSpPr>
            <p:nvPr/>
          </p:nvSpPr>
          <p:spPr bwMode="auto">
            <a:xfrm>
              <a:off x="1652" y="367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3" name="Oval 108"/>
            <p:cNvSpPr>
              <a:spLocks noChangeArrowheads="1"/>
            </p:cNvSpPr>
            <p:nvPr/>
          </p:nvSpPr>
          <p:spPr bwMode="auto">
            <a:xfrm>
              <a:off x="1769" y="365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4" name="Oval 109"/>
            <p:cNvSpPr>
              <a:spLocks noChangeArrowheads="1"/>
            </p:cNvSpPr>
            <p:nvPr/>
          </p:nvSpPr>
          <p:spPr bwMode="auto">
            <a:xfrm>
              <a:off x="1894" y="370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5" name="Oval 110"/>
            <p:cNvSpPr>
              <a:spLocks noChangeArrowheads="1"/>
            </p:cNvSpPr>
            <p:nvPr/>
          </p:nvSpPr>
          <p:spPr bwMode="auto">
            <a:xfrm>
              <a:off x="2011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6" name="Oval 111"/>
            <p:cNvSpPr>
              <a:spLocks noChangeArrowheads="1"/>
            </p:cNvSpPr>
            <p:nvPr/>
          </p:nvSpPr>
          <p:spPr bwMode="auto">
            <a:xfrm>
              <a:off x="485" y="491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7" name="Oval 112"/>
            <p:cNvSpPr>
              <a:spLocks noChangeArrowheads="1"/>
            </p:cNvSpPr>
            <p:nvPr/>
          </p:nvSpPr>
          <p:spPr bwMode="auto">
            <a:xfrm>
              <a:off x="602" y="489"/>
              <a:ext cx="92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8" name="Oval 113"/>
            <p:cNvSpPr>
              <a:spLocks noChangeArrowheads="1"/>
            </p:cNvSpPr>
            <p:nvPr/>
          </p:nvSpPr>
          <p:spPr bwMode="auto">
            <a:xfrm>
              <a:off x="1060" y="486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9" name="Oval 114"/>
            <p:cNvSpPr>
              <a:spLocks noChangeArrowheads="1"/>
            </p:cNvSpPr>
            <p:nvPr/>
          </p:nvSpPr>
          <p:spPr bwMode="auto">
            <a:xfrm>
              <a:off x="1200" y="485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</p:grpSp>
      <p:sp>
        <p:nvSpPr>
          <p:cNvPr id="2053" name="Rectangle 116"/>
          <p:cNvSpPr>
            <a:spLocks noChangeArrowheads="1"/>
          </p:cNvSpPr>
          <p:nvPr/>
        </p:nvSpPr>
        <p:spPr bwMode="auto">
          <a:xfrm>
            <a:off x="2928938" y="4375150"/>
            <a:ext cx="4527550" cy="55562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헤드라인M" pitchFamily="2" charset="-127"/>
                <a:ea typeface="华文隶书" panose="02010800040101010101" pitchFamily="2" charset="-122"/>
                <a:cs typeface="Tahoma" panose="020B0604030504040204" pitchFamily="34" charset="0"/>
              </a:rPr>
              <a:t>程序设计基础课程组</a:t>
            </a:r>
            <a:endParaRPr kumimoji="0" lang="zh-CN" altLang="en-US" sz="3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헤드라인M" pitchFamily="2" charset="-127"/>
              <a:ea typeface="华文隶书" panose="02010800040101010101" pitchFamily="2" charset="-122"/>
              <a:cs typeface="Tahoma" panose="020B0604030504040204" pitchFamily="34" charset="0"/>
            </a:endParaRPr>
          </a:p>
        </p:txBody>
      </p:sp>
      <p:sp>
        <p:nvSpPr>
          <p:cNvPr id="2054" name="Text Box 111"/>
          <p:cNvSpPr txBox="1">
            <a:spLocks noChangeArrowheads="1"/>
          </p:cNvSpPr>
          <p:nvPr/>
        </p:nvSpPr>
        <p:spPr bwMode="auto">
          <a:xfrm>
            <a:off x="6461125" y="6453188"/>
            <a:ext cx="3548063" cy="33655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华文隶书" panose="02010800040101010101" pitchFamily="2" charset="-122"/>
                <a:cs typeface="Tahoma" panose="020B0604030504040204" pitchFamily="34" charset="0"/>
              </a:rPr>
              <a:t>深圳大学计算机与软件学院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华文隶书" panose="0201080004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med">
    <p:wedge/>
  </p:transition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5pPr>
      <a:lvl6pPr marL="4572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6pPr>
      <a:lvl7pPr marL="9144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7pPr>
      <a:lvl8pPr marL="13716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8pPr>
      <a:lvl9pPr marL="18288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9pPr>
    </p:titleStyle>
    <p:bodyStyle>
      <a:lvl1pPr marL="447675" indent="-44767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4005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600">
          <a:solidFill>
            <a:schemeClr val="tx1"/>
          </a:solidFill>
          <a:latin typeface="+mn-lt"/>
          <a:ea typeface="+mn-ea"/>
        </a:defRPr>
      </a:lvl2pPr>
      <a:lvl3pPr marL="1294130" indent="-40322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200">
          <a:solidFill>
            <a:schemeClr val="tx1"/>
          </a:solidFill>
          <a:latin typeface="+mn-lt"/>
          <a:ea typeface="+mn-ea"/>
        </a:defRPr>
      </a:lvl3pPr>
      <a:lvl4pPr marL="1681480" indent="-38608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4pPr>
      <a:lvl5pPr marL="20701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273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845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417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989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10"/>
          <p:cNvSpPr>
            <a:spLocks noGrp="1"/>
          </p:cNvSpPr>
          <p:nvPr>
            <p:ph type="title"/>
          </p:nvPr>
        </p:nvSpPr>
        <p:spPr>
          <a:xfrm>
            <a:off x="755650" y="609600"/>
            <a:ext cx="8569325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75" name="Rectangle 11"/>
          <p:cNvSpPr>
            <a:spLocks noGrp="1"/>
          </p:cNvSpPr>
          <p:nvPr>
            <p:ph type="body" idx="1"/>
          </p:nvPr>
        </p:nvSpPr>
        <p:spPr>
          <a:xfrm>
            <a:off x="755650" y="1981200"/>
            <a:ext cx="8569325" cy="4876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§"/>
        <a:defRPr sz="3200" kern="1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«"/>
        <a:defRPr sz="28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92557"/>
        </a:buClr>
        <a:buFont typeface="Wingdings" panose="05000000000000000000" pitchFamily="2" charset="2"/>
        <a:buChar char="v"/>
        <a:defRPr sz="24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sz="20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u"/>
        <a:defRPr sz="20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tieba.baidu.com/p/3934237222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2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30.xml"/><Relationship Id="rId5" Type="http://schemas.openxmlformats.org/officeDocument/2006/relationships/hyperlink" Target="file:///c:\Program%20Files\Microsoft%20Visual%20Studio\Common\MSDev98\Bin\MSDEV.EXE%20%20c:\fengyi\bkc\ch4_30.c" TargetMode="External"/><Relationship Id="rId4" Type="http://schemas.openxmlformats.org/officeDocument/2006/relationships/image" Target="../media/image8.wmf"/><Relationship Id="rId3" Type="http://schemas.openxmlformats.org/officeDocument/2006/relationships/oleObject" Target="../embeddings/oleObject3.bin"/><Relationship Id="rId2" Type="http://schemas.openxmlformats.org/officeDocument/2006/relationships/audio" Target="../media/audio1.wav"/><Relationship Id="rId1" Type="http://schemas.openxmlformats.org/officeDocument/2006/relationships/hyperlink" Target="file:///e:\TC\TC.EXE%20%20e:\fengyi\bkc\ch4_30.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/>
          <p:nvPr>
            <p:ph type="title"/>
          </p:nvPr>
        </p:nvSpPr>
        <p:spPr>
          <a:xfrm>
            <a:off x="576263" y="58738"/>
            <a:ext cx="9072562" cy="777875"/>
          </a:xfrm>
          <a:noFill/>
          <a:ln>
            <a:noFill/>
          </a:ln>
        </p:spPr>
        <p:txBody>
          <a:bodyPr/>
          <a:p>
            <a:r>
              <a:rPr lang="zh-CN" altLang="en-US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本周</a:t>
            </a:r>
            <a:r>
              <a:rPr lang="en-US" altLang="zh-CN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MOOC</a:t>
            </a:r>
            <a:endParaRPr lang="zh-CN" altLang="en-US" sz="4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23" name="矩形 2"/>
          <p:cNvSpPr/>
          <p:nvPr/>
        </p:nvSpPr>
        <p:spPr>
          <a:xfrm>
            <a:off x="0" y="1104900"/>
            <a:ext cx="10080625" cy="5478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任务：学习字符和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if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选择语句。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、视频部分：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2.4.6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字符数据和字符串常量，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16.15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3.4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字符数据的非格式化输入输出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9.23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4.1 C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语言中的程序语句的分类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5.11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4.2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关系、逻辑、条件运算符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5.25+10.20+5.47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           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4.3.1 if 16.58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、课件：第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讲（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BB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系统），课件中例题代码已放。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、完成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OJ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上：本周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MOOC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题，练习顺序结构的字符处理。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周日晚截止。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、下周，字符，顺序结构，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if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习题讲解。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87338" y="1341438"/>
            <a:ext cx="9432925" cy="647700"/>
          </a:xfrm>
          <a:solidFill>
            <a:srgbClr val="FFFFFF"/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练习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：土豆这学期学习了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 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《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程序设计基础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》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课程，这门课的总评成绩计算方法是：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-apple-system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  总成绩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=MOOC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成绩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*10% + 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实验成绩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*30% +  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期末机考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成绩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*60%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-apple-system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输入土豆的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MOOC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成绩、实验成绩、期末成绩，请帮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他计算总评成绩。假设输入成绩均整数。输出四舍五  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入取整。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输入示例：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98,97,90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输出示例：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93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125413"/>
            <a:ext cx="9072563" cy="114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顺序结构复习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" name="对话气泡: 椭圆形 3"/>
          <p:cNvSpPr/>
          <p:nvPr/>
        </p:nvSpPr>
        <p:spPr>
          <a:xfrm>
            <a:off x="3671888" y="2817813"/>
            <a:ext cx="4176712" cy="1222375"/>
          </a:xfrm>
          <a:prstGeom prst="wedgeEllipseCallout">
            <a:avLst>
              <a:gd name="adj1" fmla="val -49218"/>
              <a:gd name="adj2" fmla="val 132495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53882" dir="13499999" algn="ctr" rotWithShape="0">
              <a:schemeClr val="bg2">
                <a:alpha val="50000"/>
              </a:schemeClr>
            </a:outerShdw>
          </a:effectLst>
        </p:spPr>
        <p:txBody>
          <a:bodyPr wrap="none" lIns="0" tIns="0" rIns="0" bIns="0" anchor="ctr" anchorCtr="0"/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3200" dirty="0">
                <a:latin typeface="Gulim" pitchFamily="34" charset="-127"/>
                <a:cs typeface="Tahoma" panose="020B0604030504040204" pitchFamily="34" charset="0"/>
              </a:rPr>
              <a:t>round</a:t>
            </a:r>
            <a:r>
              <a:rPr lang="zh-CN" altLang="en-US" sz="3200" dirty="0">
                <a:latin typeface="Gulim" pitchFamily="34" charset="-127"/>
                <a:cs typeface="Tahoma" panose="020B0604030504040204" pitchFamily="34" charset="0"/>
              </a:rPr>
              <a:t>函数，</a:t>
            </a:r>
            <a:r>
              <a:rPr lang="en-US" altLang="zh-CN" sz="3200" dirty="0">
                <a:latin typeface="Gulim" pitchFamily="34" charset="-127"/>
                <a:cs typeface="Tahoma" panose="020B0604030504040204" pitchFamily="34" charset="0"/>
              </a:rPr>
              <a:t>math.h</a:t>
            </a:r>
            <a:endParaRPr lang="zh-CN" altLang="en-US" sz="3200" dirty="0">
              <a:latin typeface="Gulim" pitchFamily="34" charset="-127"/>
              <a:ea typeface="Tahoma" panose="020B0604030504040204" pitchFamily="34" charset="0"/>
            </a:endParaRPr>
          </a:p>
        </p:txBody>
      </p:sp>
      <p:sp>
        <p:nvSpPr>
          <p:cNvPr id="7173" name="文本框 1"/>
          <p:cNvSpPr txBox="1"/>
          <p:nvPr/>
        </p:nvSpPr>
        <p:spPr>
          <a:xfrm>
            <a:off x="6911975" y="5638800"/>
            <a:ext cx="23764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dirty="0">
                <a:solidFill>
                  <a:srgbClr val="FF0000"/>
                </a:solidFill>
                <a:latin typeface="Gulim" pitchFamily="34" charset="-127"/>
              </a:rPr>
              <a:t>成绩计算</a:t>
            </a:r>
            <a:r>
              <a:rPr lang="en-US" altLang="zh-CN" sz="2800" dirty="0">
                <a:solidFill>
                  <a:srgbClr val="FF0000"/>
                </a:solidFill>
                <a:latin typeface="Gulim" pitchFamily="34" charset="-127"/>
              </a:rPr>
              <a:t>.cpp</a:t>
            </a:r>
            <a:endParaRPr lang="zh-CN" altLang="en-US" sz="2800" dirty="0">
              <a:solidFill>
                <a:srgbClr val="FF0000"/>
              </a:solidFill>
              <a:latin typeface="Gulim" pitchFamily="34" charset="-127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endParaRPr lang="zh-CN" altLang="en-US" dirty="0"/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en-US" altLang="zh-CN" dirty="0"/>
              <a:t>round(11.16) = 11</a:t>
            </a:r>
            <a:endParaRPr lang="en-US" altLang="zh-CN" dirty="0"/>
          </a:p>
          <a:p>
            <a:r>
              <a:rPr lang="en-US" altLang="zh-CN" dirty="0"/>
              <a:t>round(13.87) = 14</a:t>
            </a:r>
            <a:endParaRPr lang="en-US" altLang="zh-CN" dirty="0"/>
          </a:p>
          <a:p>
            <a:r>
              <a:rPr lang="en-US" altLang="zh-CN" dirty="0"/>
              <a:t>round(50.5) = 51</a:t>
            </a:r>
            <a:endParaRPr lang="en-US" altLang="zh-CN" dirty="0"/>
          </a:p>
          <a:p>
            <a:r>
              <a:rPr lang="en-US" altLang="zh-CN" dirty="0"/>
              <a:t>round(-11.16) = -11</a:t>
            </a:r>
            <a:endParaRPr lang="en-US" altLang="zh-CN" dirty="0"/>
          </a:p>
          <a:p>
            <a:r>
              <a:rPr lang="en-US" altLang="zh-CN" dirty="0"/>
              <a:t>round(-13.87) = -14</a:t>
            </a:r>
            <a:endParaRPr lang="en-US" altLang="zh-CN" dirty="0"/>
          </a:p>
          <a:p>
            <a:r>
              <a:rPr lang="en-US" altLang="zh-CN" dirty="0"/>
              <a:t>round(-50.5) = -51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935856" y="5258086"/>
            <a:ext cx="5064070" cy="11695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0" dirty="0">
                <a:solidFill>
                  <a:srgbClr val="666666"/>
                </a:solidFill>
                <a:latin typeface="Arial" panose="020B0604020202020204" pitchFamily="34" charset="0"/>
                <a:ea typeface="Gulim" pitchFamily="34" charset="-127"/>
                <a:cs typeface="+mn-cs"/>
              </a:rPr>
              <a:t>正常用法：</a:t>
            </a:r>
            <a:endParaRPr kumimoji="0" lang="zh-CN" altLang="en-US" kern="1200" cap="none" spc="0" normalizeH="0" baseline="0" noProof="0" dirty="0">
              <a:solidFill>
                <a:srgbClr val="666666"/>
              </a:solidFill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rgbClr val="666666"/>
                </a:solidFill>
                <a:highlight>
                  <a:srgbClr val="FFFF00"/>
                </a:highlight>
                <a:latin typeface="Arial" panose="020B0604020202020204" pitchFamily="34" charset="0"/>
                <a:ea typeface="Gulim" pitchFamily="34" charset="-127"/>
                <a:cs typeface="+mn-cs"/>
              </a:rPr>
              <a:t>对于小数而言，</a:t>
            </a:r>
            <a:r>
              <a:rPr kumimoji="0" lang="en-US" altLang="zh-CN" kern="1200" cap="none" spc="0" normalizeH="0" baseline="0" noProof="0" dirty="0">
                <a:solidFill>
                  <a:srgbClr val="666666"/>
                </a:solidFill>
                <a:highlight>
                  <a:srgbClr val="FFFF00"/>
                </a:highlight>
                <a:latin typeface="Arial" panose="020B0604020202020204" pitchFamily="34" charset="0"/>
                <a:ea typeface="Gulim" pitchFamily="34" charset="-127"/>
                <a:cs typeface="+mn-cs"/>
              </a:rPr>
              <a:t>round()</a:t>
            </a:r>
            <a:r>
              <a:rPr kumimoji="0" lang="zh-CN" altLang="en-US" kern="1200" cap="none" spc="0" normalizeH="0" baseline="0" noProof="0" dirty="0">
                <a:solidFill>
                  <a:srgbClr val="666666"/>
                </a:solidFill>
                <a:highlight>
                  <a:srgbClr val="FFFF00"/>
                </a:highlight>
                <a:latin typeface="Arial" panose="020B0604020202020204" pitchFamily="34" charset="0"/>
                <a:ea typeface="Gulim" pitchFamily="34" charset="-127"/>
                <a:cs typeface="+mn-cs"/>
              </a:rPr>
              <a:t>函数仅仅保留到整数位，即仅仅对小数点后一位四舍五入，</a:t>
            </a:r>
            <a:endParaRPr kumimoji="0" lang="zh-CN" altLang="en-US" kern="1200" cap="none" spc="0" normalizeH="0" baseline="0" noProof="0" dirty="0">
              <a:solidFill>
                <a:srgbClr val="666666"/>
              </a:solidFill>
              <a:highlight>
                <a:srgbClr val="FFFF00"/>
              </a:highlight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0" dirty="0">
                <a:solidFill>
                  <a:srgbClr val="666666"/>
                </a:solidFill>
                <a:latin typeface="Arial" panose="020B0604020202020204" pitchFamily="34" charset="0"/>
                <a:ea typeface="Gulim" pitchFamily="34" charset="-127"/>
                <a:cs typeface="+mn-cs"/>
              </a:rPr>
              <a:t>样例：</a:t>
            </a:r>
            <a:endParaRPr kumimoji="0" lang="zh-CN" altLang="en-US" kern="1200" cap="none" spc="0" normalizeH="0" baseline="0" noProof="0" dirty="0">
              <a:solidFill>
                <a:srgbClr val="666666"/>
              </a:solidFill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solidFill>
                  <a:srgbClr val="444444"/>
                </a:solidFill>
                <a:latin typeface="Consolas" panose="020B0609020204030204" pitchFamily="49" charset="0"/>
                <a:ea typeface="Gulim" pitchFamily="34" charset="-127"/>
                <a:cs typeface="+mn-cs"/>
              </a:rPr>
              <a:t>round(1.5)=2.000000</a:t>
            </a:r>
            <a:endParaRPr kumimoji="0" lang="en-US" altLang="zh-CN" kern="1200" cap="none" spc="0" normalizeH="0" baseline="0" noProof="0" dirty="0">
              <a:solidFill>
                <a:srgbClr val="444444"/>
              </a:solidFill>
              <a:latin typeface="Consolas" panose="020B0609020204030204" pitchFamily="49" charset="0"/>
              <a:ea typeface="Gulim" pitchFamily="34" charset="-127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solidFill>
                  <a:srgbClr val="444444"/>
                </a:solidFill>
                <a:latin typeface="Consolas" panose="020B0609020204030204" pitchFamily="49" charset="0"/>
                <a:ea typeface="Gulim" pitchFamily="34" charset="-127"/>
                <a:cs typeface="+mn-cs"/>
              </a:rPr>
              <a:t>round(1.56)=2.000000</a:t>
            </a:r>
            <a:endParaRPr kumimoji="0" lang="en-US" altLang="zh-CN" kern="1200" cap="none" spc="0" normalizeH="0" baseline="0" noProof="0" dirty="0">
              <a:solidFill>
                <a:srgbClr val="444444"/>
              </a:solidFill>
              <a:latin typeface="Consolas" panose="020B0609020204030204" pitchFamily="49" charset="0"/>
              <a:ea typeface="Gulim" pitchFamily="34" charset="-127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solidFill>
                  <a:srgbClr val="444444"/>
                </a:solidFill>
                <a:latin typeface="Consolas" panose="020B0609020204030204" pitchFamily="49" charset="0"/>
                <a:ea typeface="Gulim" pitchFamily="34" charset="-127"/>
                <a:cs typeface="+mn-cs"/>
              </a:rPr>
              <a:t>round(-1.5)=-2.000000</a:t>
            </a:r>
            <a:endParaRPr kumimoji="0" lang="en-US" altLang="zh-CN" kern="1200" cap="none" spc="0" normalizeH="0" baseline="0" noProof="0" dirty="0">
              <a:solidFill>
                <a:srgbClr val="444444"/>
              </a:solidFill>
              <a:latin typeface="Consolas" panose="020B0609020204030204" pitchFamily="49" charset="0"/>
              <a:ea typeface="Gulim" pitchFamily="34" charset="-127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solidFill>
                  <a:srgbClr val="444444"/>
                </a:solidFill>
                <a:latin typeface="Consolas" panose="020B0609020204030204" pitchFamily="49" charset="0"/>
                <a:ea typeface="Gulim" pitchFamily="34" charset="-127"/>
                <a:cs typeface="+mn-cs"/>
              </a:rPr>
              <a:t>round(-1.56)=-2.000000</a:t>
            </a:r>
            <a:endParaRPr kumimoji="0" lang="en-US" altLang="zh-CN" kern="1200" cap="none" spc="0" normalizeH="0" baseline="0" noProof="0" dirty="0">
              <a:solidFill>
                <a:srgbClr val="444444"/>
              </a:solidFill>
              <a:latin typeface="Consolas" panose="020B0609020204030204" pitchFamily="49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633412"/>
          </a:xfrm>
          <a:noFill/>
          <a:ln>
            <a:noFill/>
          </a:ln>
        </p:spPr>
        <p:txBody>
          <a:bodyPr/>
          <a:p>
            <a:endParaRPr lang="zh-CN" altLang="en-US" dirty="0"/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>
          <a:xfrm>
            <a:off x="144463" y="1274763"/>
            <a:ext cx="11376025" cy="4308475"/>
          </a:xfrm>
          <a:noFill/>
          <a:ln>
            <a:noFill/>
          </a:ln>
        </p:spPr>
        <p:txBody>
          <a:bodyPr/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#include&lt;stdio.h&gt;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#include&lt;math.h&gt;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int main() 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{	int moocG, examG, finalG;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	int overG;    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	scanf("%d%d%d", &amp;moocG, &amp;examG, &amp;finalG);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	overG = round(moocG * 0.1 + examG * 0.3 + finalG * 0.6);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	printf("%d", overG);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	return 0;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zh-CN" altLang="en-US" sz="28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/>
          <p:nvPr>
            <p:ph idx="1"/>
          </p:nvPr>
        </p:nvSpPr>
        <p:spPr>
          <a:xfrm>
            <a:off x="287338" y="1341438"/>
            <a:ext cx="9432925" cy="647700"/>
          </a:xfrm>
          <a:solidFill>
            <a:srgbClr val="FFFFFF"/>
          </a:solidFill>
          <a:ln>
            <a:noFill/>
          </a:ln>
        </p:spPr>
        <p:txBody>
          <a:bodyPr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练习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/>
              <a:t>：</a:t>
            </a:r>
            <a:r>
              <a:rPr lang="zh-CN" altLang="en-US" dirty="0">
                <a:latin typeface="-apple-system"/>
              </a:rPr>
              <a:t>大家都知道有 </a:t>
            </a:r>
            <a:r>
              <a:rPr lang="en-US" altLang="zh-CN" dirty="0">
                <a:latin typeface="-apple-system"/>
              </a:rPr>
              <a:t>26 </a:t>
            </a:r>
            <a:r>
              <a:rPr lang="zh-CN" altLang="en-US" dirty="0">
                <a:latin typeface="-apple-system"/>
              </a:rPr>
              <a:t>个英文字母，其中</a:t>
            </a:r>
            <a:r>
              <a:rPr lang="en-US" altLang="zh-CN" dirty="0">
                <a:latin typeface="-apple-system"/>
              </a:rPr>
              <a:t>A</a:t>
            </a:r>
            <a:r>
              <a:rPr lang="zh-CN" altLang="en-US" dirty="0">
                <a:latin typeface="-apple-system"/>
              </a:rPr>
              <a:t>是第一个字母。请编程求出：</a:t>
            </a:r>
            <a:endParaRPr lang="en-US" altLang="zh-CN" dirty="0">
              <a:latin typeface="-apple-system"/>
            </a:endParaRPr>
          </a:p>
          <a:p>
            <a:pPr marL="0" indent="0">
              <a:buNone/>
            </a:pPr>
            <a:r>
              <a:rPr lang="zh-CN" altLang="en-US" dirty="0">
                <a:latin typeface="-apple-system"/>
              </a:rPr>
              <a:t>输入</a:t>
            </a:r>
            <a:r>
              <a:rPr lang="en-US" altLang="zh-CN" dirty="0">
                <a:latin typeface="-apple-system"/>
              </a:rPr>
              <a:t>n(1~26)</a:t>
            </a:r>
            <a:r>
              <a:rPr lang="zh-CN" altLang="en-US" dirty="0">
                <a:latin typeface="-apple-system"/>
              </a:rPr>
              <a:t>。</a:t>
            </a:r>
            <a:endParaRPr lang="en-US" altLang="zh-CN" dirty="0">
              <a:latin typeface="-apple-system"/>
            </a:endParaRPr>
          </a:p>
          <a:p>
            <a:pPr marL="0" indent="0">
              <a:buNone/>
            </a:pPr>
            <a:r>
              <a:rPr lang="zh-CN" altLang="en-US" dirty="0">
                <a:latin typeface="-apple-system"/>
              </a:rPr>
              <a:t>输出第</a:t>
            </a:r>
            <a:r>
              <a:rPr lang="en-US" altLang="zh-CN" dirty="0">
                <a:latin typeface="-apple-system"/>
              </a:rPr>
              <a:t>n</a:t>
            </a:r>
            <a:r>
              <a:rPr lang="zh-CN" altLang="en-US" dirty="0">
                <a:latin typeface="-apple-system"/>
              </a:rPr>
              <a:t>个字母是什么？输出</a:t>
            </a:r>
            <a:r>
              <a:rPr lang="en-US" altLang="zh-CN" dirty="0">
                <a:latin typeface="-apple-system"/>
              </a:rPr>
              <a:t>Q</a:t>
            </a:r>
            <a:r>
              <a:rPr lang="zh-CN" altLang="en-US" dirty="0">
                <a:latin typeface="-apple-system"/>
              </a:rPr>
              <a:t>是第几个字母？</a:t>
            </a:r>
            <a:endParaRPr lang="en-US" altLang="zh-CN" dirty="0">
              <a:latin typeface="-apple-system"/>
            </a:endParaRPr>
          </a:p>
          <a:p>
            <a:pPr marL="0" indent="0">
              <a:buNone/>
            </a:pPr>
            <a:endParaRPr lang="zh-CN" altLang="en-US" dirty="0">
              <a:latin typeface="-apple-system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125413"/>
            <a:ext cx="9072563" cy="114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顺序结构复习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1268" name="文本框 3"/>
          <p:cNvSpPr txBox="1"/>
          <p:nvPr/>
        </p:nvSpPr>
        <p:spPr>
          <a:xfrm>
            <a:off x="6408738" y="5732463"/>
            <a:ext cx="35274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dirty="0">
                <a:solidFill>
                  <a:srgbClr val="FF0000"/>
                </a:solidFill>
                <a:latin typeface="Gulim" pitchFamily="34" charset="-127"/>
              </a:rPr>
              <a:t>字符输出</a:t>
            </a:r>
            <a:r>
              <a:rPr lang="en-US" altLang="zh-CN" sz="2800" dirty="0">
                <a:solidFill>
                  <a:srgbClr val="FF0000"/>
                </a:solidFill>
                <a:latin typeface="Gulim" pitchFamily="34" charset="-127"/>
              </a:rPr>
              <a:t>.cpp</a:t>
            </a:r>
            <a:endParaRPr lang="zh-CN" altLang="en-US" sz="2800" dirty="0">
              <a:solidFill>
                <a:srgbClr val="FF0000"/>
              </a:solidFill>
              <a:latin typeface="Gulim" pitchFamily="34" charset="-127"/>
            </a:endParaRPr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endParaRPr lang="zh-CN" altLang="en-US" dirty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xfrm>
            <a:off x="471488" y="1268413"/>
            <a:ext cx="9072562" cy="4525962"/>
          </a:xfrm>
          <a:noFill/>
          <a:ln>
            <a:noFill/>
          </a:ln>
        </p:spPr>
        <p:txBody>
          <a:bodyPr/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#include&lt;stdio.h&gt;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int main() 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	int n;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	printf("intput n(1~26):\n");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	scanf("%d", &amp;n);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	printf("%c Q--&gt;%d", 'A' + n - 1, 'Q' - 'A' + 1);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	return 0;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zh-CN" altLang="en-US" sz="28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/>
          <p:nvPr>
            <p:ph idx="1"/>
          </p:nvPr>
        </p:nvSpPr>
        <p:spPr>
          <a:xfrm>
            <a:off x="176213" y="1125538"/>
            <a:ext cx="9432925" cy="647700"/>
          </a:xfrm>
          <a:solidFill>
            <a:srgbClr val="FFFFFF"/>
          </a:solidFill>
          <a:ln>
            <a:noFill/>
          </a:ln>
        </p:spPr>
        <p:txBody>
          <a:bodyPr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练习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-apple-system"/>
              </a:rPr>
              <a:t>输入一个不小于 </a:t>
            </a:r>
            <a:r>
              <a:rPr lang="en-US" altLang="zh-CN" dirty="0">
                <a:latin typeface="KaTeX_Main"/>
              </a:rPr>
              <a:t>100</a:t>
            </a:r>
            <a:r>
              <a:rPr lang="zh-CN" altLang="en-US" dirty="0">
                <a:latin typeface="-apple-system"/>
              </a:rPr>
              <a:t> 且小于 </a:t>
            </a:r>
            <a:r>
              <a:rPr lang="en-US" altLang="zh-CN" dirty="0">
                <a:latin typeface="KaTeX_Main"/>
              </a:rPr>
              <a:t>1000</a:t>
            </a:r>
            <a:r>
              <a:rPr lang="zh-CN" altLang="en-US" dirty="0">
                <a:latin typeface="-apple-system"/>
              </a:rPr>
              <a:t>，同时包括小数点后一位的一个浮点数，例如 </a:t>
            </a:r>
            <a:r>
              <a:rPr lang="en-US" altLang="zh-CN" dirty="0">
                <a:latin typeface="KaTeX_Main"/>
              </a:rPr>
              <a:t>123.4</a:t>
            </a:r>
            <a:r>
              <a:rPr lang="zh-CN" altLang="en-US" dirty="0">
                <a:latin typeface="-apple-system"/>
              </a:rPr>
              <a:t> ，要求把这个数字翻转过来，变成 </a:t>
            </a:r>
            <a:r>
              <a:rPr lang="en-US" altLang="zh-CN" dirty="0">
                <a:latin typeface="KaTeX_Main"/>
              </a:rPr>
              <a:t>4.321</a:t>
            </a:r>
            <a:r>
              <a:rPr lang="zh-CN" altLang="en-US" dirty="0">
                <a:latin typeface="-apple-system"/>
              </a:rPr>
              <a:t> 并输出。</a:t>
            </a:r>
            <a:endParaRPr lang="en-US" altLang="zh-CN" dirty="0">
              <a:latin typeface="-apple-system"/>
            </a:endParaRPr>
          </a:p>
          <a:p>
            <a:pPr marL="0" indent="0">
              <a:buNone/>
            </a:pPr>
            <a:endParaRPr lang="zh-CN" altLang="en-US" dirty="0">
              <a:latin typeface="-apple-system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125413"/>
            <a:ext cx="9072563" cy="114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顺序结构复习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4340" name="文本框 3"/>
          <p:cNvSpPr txBox="1"/>
          <p:nvPr/>
        </p:nvSpPr>
        <p:spPr>
          <a:xfrm>
            <a:off x="6408738" y="5732463"/>
            <a:ext cx="35274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dirty="0">
                <a:solidFill>
                  <a:srgbClr val="FF0000"/>
                </a:solidFill>
                <a:latin typeface="Gulim" pitchFamily="34" charset="-127"/>
              </a:rPr>
              <a:t>数字颠倒</a:t>
            </a:r>
            <a:r>
              <a:rPr lang="en-US" altLang="zh-CN" sz="2800" dirty="0">
                <a:solidFill>
                  <a:srgbClr val="FF0000"/>
                </a:solidFill>
                <a:latin typeface="Gulim" pitchFamily="34" charset="-127"/>
              </a:rPr>
              <a:t>.cpp</a:t>
            </a:r>
            <a:endParaRPr lang="zh-CN" altLang="en-US" sz="2800" dirty="0">
              <a:solidFill>
                <a:srgbClr val="FF0000"/>
              </a:solidFill>
              <a:latin typeface="Gulim" pitchFamily="34" charset="-127"/>
            </a:endParaRPr>
          </a:p>
        </p:txBody>
      </p:sp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9072562" cy="981075"/>
          </a:xfrm>
          <a:noFill/>
          <a:ln>
            <a:noFill/>
          </a:ln>
        </p:spPr>
        <p:txBody>
          <a:bodyPr/>
          <a:p>
            <a:endParaRPr lang="zh-CN" altLang="en-US" dirty="0"/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xfrm>
            <a:off x="30163" y="1196975"/>
            <a:ext cx="11591925" cy="5472113"/>
          </a:xfrm>
          <a:noFill/>
          <a:ln>
            <a:noFill/>
          </a:ln>
        </p:spPr>
        <p:txBody>
          <a:bodyPr/>
          <a:p>
            <a:pPr marL="0" indent="0">
              <a:buNone/>
            </a:pPr>
            <a:r>
              <a:rPr lang="es-E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#include&lt;stdio.h&gt;</a:t>
            </a:r>
            <a:endParaRPr lang="es-E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int main() </a:t>
            </a:r>
            <a:endParaRPr lang="es-E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{  float x;</a:t>
            </a:r>
            <a:endParaRPr lang="es-E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  int y;</a:t>
            </a:r>
            <a:endParaRPr lang="es-E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  scanf("%f", &amp;x);</a:t>
            </a:r>
            <a:endParaRPr lang="es-E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   y = x * 10;                    </a:t>
            </a:r>
            <a:endParaRPr lang="es-E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   printf</a:t>
            </a:r>
            <a:r>
              <a:rPr lang="es-E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("%d.%d%d%d", y % 10, y / 10 % 10, y / 100 % 10, y / 1000);</a:t>
            </a:r>
            <a:endParaRPr lang="es-E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   return 0;</a:t>
            </a:r>
            <a:endParaRPr lang="es-E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zh-CN" altLang="en-US" sz="28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 spd="med"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AutoShape 7"/>
          <p:cNvSpPr/>
          <p:nvPr/>
        </p:nvSpPr>
        <p:spPr>
          <a:xfrm>
            <a:off x="7580313" y="4292600"/>
            <a:ext cx="2500312" cy="379413"/>
          </a:xfrm>
          <a:prstGeom prst="roundRect">
            <a:avLst>
              <a:gd name="adj" fmla="val 36819"/>
            </a:avLst>
          </a:prstGeom>
          <a:solidFill>
            <a:schemeClr val="bg1"/>
          </a:solidFill>
          <a:ln w="9525">
            <a:noFill/>
          </a:ln>
          <a:effectLst>
            <a:outerShdw dist="35921" dir="8100000" algn="ctr" rotWithShape="0">
              <a:srgbClr val="333399">
                <a:alpha val="50000"/>
              </a:srgbClr>
            </a:outerShdw>
          </a:effectLst>
        </p:spPr>
        <p:txBody>
          <a:bodyPr wrap="none" anchor="ctr" anchorCtr="0"/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endParaRPr lang="ko-KR" altLang="en-US" dirty="0">
              <a:latin typeface="Gulim" pitchFamily="34" charset="-127"/>
            </a:endParaRPr>
          </a:p>
        </p:txBody>
      </p:sp>
      <p:sp>
        <p:nvSpPr>
          <p:cNvPr id="17411" name="Text Box 3"/>
          <p:cNvSpPr txBox="1"/>
          <p:nvPr/>
        </p:nvSpPr>
        <p:spPr>
          <a:xfrm>
            <a:off x="431800" y="2133600"/>
            <a:ext cx="9504363" cy="677863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48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48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4800" b="1" dirty="0">
                <a:latin typeface="宋体" panose="02010600030101010101" pitchFamily="2" charset="-122"/>
                <a:ea typeface="宋体" panose="02010600030101010101" pitchFamily="2" charset="-122"/>
              </a:rPr>
              <a:t>讲 关系、逻辑运算符和</a:t>
            </a:r>
            <a:r>
              <a:rPr lang="en-US" altLang="zh-CN" sz="4800" b="1" dirty="0">
                <a:latin typeface="宋体" panose="02010600030101010101" pitchFamily="2" charset="-122"/>
                <a:ea typeface="宋体" panose="02010600030101010101" pitchFamily="2" charset="-122"/>
              </a:rPr>
              <a:t>if</a:t>
            </a:r>
            <a:r>
              <a:rPr lang="zh-CN" altLang="en-US" sz="4800" b="1" dirty="0">
                <a:latin typeface="宋体" panose="02010600030101010101" pitchFamily="2" charset="-122"/>
                <a:ea typeface="宋体" panose="02010600030101010101" pitchFamily="2" charset="-122"/>
              </a:rPr>
              <a:t>语句</a:t>
            </a:r>
            <a:endParaRPr lang="zh-CN" altLang="en-US" sz="4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edg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/>
          <p:nvPr>
            <p:ph idx="1"/>
          </p:nvPr>
        </p:nvSpPr>
        <p:spPr>
          <a:xfrm>
            <a:off x="287338" y="1341438"/>
            <a:ext cx="9432925" cy="647700"/>
          </a:xfrm>
          <a:solidFill>
            <a:srgbClr val="FFFFFF"/>
          </a:solidFill>
          <a:ln>
            <a:noFill/>
          </a:ln>
        </p:spPr>
        <p:txBody>
          <a:bodyPr/>
          <a:p>
            <a:pPr>
              <a:buNone/>
            </a:pPr>
            <a:r>
              <a:rPr lang="zh-CN" altLang="en-US" dirty="0"/>
              <a:t>第三讲，第四讲内容为课本第五章</a:t>
            </a:r>
            <a:r>
              <a:rPr lang="en-US" altLang="zh-CN" dirty="0"/>
              <a:t>5.1</a:t>
            </a:r>
            <a:r>
              <a:rPr lang="zh-CN" altLang="en-US" dirty="0"/>
              <a:t>、</a:t>
            </a:r>
            <a:r>
              <a:rPr lang="en-US" altLang="zh-CN" dirty="0"/>
              <a:t>5.2</a:t>
            </a:r>
            <a:r>
              <a:rPr lang="zh-CN" altLang="en-US" dirty="0"/>
              <a:t>、</a:t>
            </a:r>
            <a:r>
              <a:rPr lang="en-US" altLang="zh-CN" dirty="0"/>
              <a:t>5.3.1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  <p:transition spd="med">
    <p:wedg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125413"/>
            <a:ext cx="9072563" cy="114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引例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—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幸运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52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猜数游戏</a:t>
            </a:r>
            <a:b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</a:b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9459" name="Rectangle 3"/>
          <p:cNvSpPr/>
          <p:nvPr>
            <p:ph idx="1"/>
          </p:nvPr>
        </p:nvSpPr>
        <p:spPr>
          <a:xfrm>
            <a:off x="144463" y="1196975"/>
            <a:ext cx="9720262" cy="3024188"/>
          </a:xfrm>
          <a:solidFill>
            <a:srgbClr val="FFFFFF"/>
          </a:solidFill>
          <a:ln>
            <a:noFill/>
          </a:ln>
        </p:spPr>
        <p:txBody>
          <a:bodyPr/>
          <a:p>
            <a:pPr marL="0" indent="0">
              <a:lnSpc>
                <a:spcPct val="80000"/>
              </a:lnSpc>
              <a:buSzPct val="70000"/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</a:t>
            </a:r>
            <a:r>
              <a:rPr lang="zh-CN" altLang="en-US" dirty="0">
                <a:solidFill>
                  <a:srgbClr val="FF0000"/>
                </a:solidFill>
              </a:rPr>
              <a:t>随机生成</a:t>
            </a:r>
            <a:r>
              <a:rPr lang="zh-CN" altLang="en-US" dirty="0"/>
              <a:t>一个</a:t>
            </a:r>
            <a:r>
              <a:rPr lang="en-US" altLang="zh-CN" dirty="0"/>
              <a:t>1-100</a:t>
            </a:r>
            <a:r>
              <a:rPr lang="zh-CN" altLang="en-US" dirty="0"/>
              <a:t>之间的数字。用户输入数字，若两数相等，则提示：“</a:t>
            </a:r>
            <a:r>
              <a:rPr lang="en-US" altLang="zh-CN" dirty="0"/>
              <a:t>Right!”,</a:t>
            </a:r>
            <a:r>
              <a:rPr lang="zh-CN" altLang="en-US" dirty="0"/>
              <a:t>并在屏幕上输出用户猜了多少次才猜对此数。</a:t>
            </a:r>
            <a:endParaRPr lang="en-US" altLang="zh-CN" dirty="0"/>
          </a:p>
          <a:p>
            <a:pPr marL="0" indent="0">
              <a:lnSpc>
                <a:spcPct val="80000"/>
              </a:lnSpc>
              <a:buSzPct val="70000"/>
              <a:buNone/>
            </a:pPr>
            <a:r>
              <a:rPr lang="zh-CN" altLang="en-US" dirty="0"/>
              <a:t>，   </a:t>
            </a:r>
            <a:r>
              <a:rPr lang="zh-CN" altLang="en-US" dirty="0">
                <a:solidFill>
                  <a:srgbClr val="FF0000"/>
                </a:solidFill>
              </a:rPr>
              <a:t>若</a:t>
            </a:r>
            <a:r>
              <a:rPr lang="zh-CN" altLang="en-US" dirty="0"/>
              <a:t>用户猜错了，提示“</a:t>
            </a:r>
            <a:r>
              <a:rPr lang="en-US" altLang="zh-CN" dirty="0"/>
              <a:t>Wrong!”</a:t>
            </a:r>
            <a:r>
              <a:rPr lang="zh-CN" altLang="en-US" dirty="0"/>
              <a:t>，并告诉用户所猜的数是</a:t>
            </a:r>
            <a:r>
              <a:rPr lang="zh-CN" altLang="en-US" dirty="0">
                <a:solidFill>
                  <a:srgbClr val="FF0000"/>
                </a:solidFill>
              </a:rPr>
              <a:t>高了</a:t>
            </a:r>
            <a:r>
              <a:rPr lang="zh-CN" altLang="en-US" dirty="0"/>
              <a:t>还是</a:t>
            </a:r>
            <a:r>
              <a:rPr lang="zh-CN" altLang="en-US" dirty="0">
                <a:solidFill>
                  <a:srgbClr val="FF0000"/>
                </a:solidFill>
              </a:rPr>
              <a:t>低了</a:t>
            </a:r>
            <a:r>
              <a:rPr lang="zh-CN" altLang="en-US" dirty="0"/>
              <a:t>。最多可以猜</a:t>
            </a:r>
            <a:r>
              <a:rPr lang="en-US" altLang="zh-CN" dirty="0"/>
              <a:t>10</a:t>
            </a:r>
            <a:r>
              <a:rPr lang="zh-CN" altLang="en-US" dirty="0"/>
              <a:t>次。</a:t>
            </a:r>
            <a:endParaRPr lang="en-US" altLang="zh-CN" dirty="0"/>
          </a:p>
          <a:p>
            <a:pPr marL="0" indent="0">
              <a:lnSpc>
                <a:spcPct val="80000"/>
              </a:lnSpc>
              <a:buSzPct val="70000"/>
              <a:buNone/>
            </a:pPr>
            <a:r>
              <a:rPr lang="en-US" altLang="zh-CN" dirty="0"/>
              <a:t>      </a:t>
            </a:r>
            <a:r>
              <a:rPr lang="zh-CN" altLang="en-US" dirty="0">
                <a:solidFill>
                  <a:srgbClr val="FF0000"/>
                </a:solidFill>
              </a:rPr>
              <a:t>若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  <a:r>
              <a:rPr lang="zh-CN" altLang="en-US" dirty="0">
                <a:solidFill>
                  <a:srgbClr val="FF0000"/>
                </a:solidFill>
              </a:rPr>
              <a:t>次仍未猜中</a:t>
            </a:r>
            <a:r>
              <a:rPr lang="zh-CN" altLang="en-US" dirty="0"/>
              <a:t>，则停止本次猜数。继续生成下一个随机数，重复游戏。</a:t>
            </a:r>
            <a:endParaRPr lang="zh-CN" altLang="en-US" dirty="0"/>
          </a:p>
        </p:txBody>
      </p:sp>
      <p:sp>
        <p:nvSpPr>
          <p:cNvPr id="2" name="对话气泡: 椭圆形 1"/>
          <p:cNvSpPr/>
          <p:nvPr/>
        </p:nvSpPr>
        <p:spPr>
          <a:xfrm>
            <a:off x="1858963" y="4437063"/>
            <a:ext cx="6769100" cy="1223962"/>
          </a:xfrm>
          <a:prstGeom prst="wedgeEllipseCallout">
            <a:avLst>
              <a:gd name="adj1" fmla="val -33829"/>
              <a:gd name="adj2" fmla="val -60421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53882" dir="13499999" algn="ctr" rotWithShape="0">
              <a:schemeClr val="bg2">
                <a:alpha val="50000"/>
              </a:schemeClr>
            </a:outerShdw>
          </a:effectLst>
        </p:spPr>
        <p:txBody>
          <a:bodyPr wrap="none" lIns="0" tIns="0" rIns="0" bIns="0" anchor="ctr" anchorCtr="0"/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3200" dirty="0">
                <a:latin typeface="Gulim" pitchFamily="34" charset="-127"/>
                <a:cs typeface="Tahoma" panose="020B0604030504040204" pitchFamily="34" charset="0"/>
              </a:rPr>
              <a:t>C</a:t>
            </a:r>
            <a:r>
              <a:rPr lang="zh-CN" altLang="en-US" sz="3200" dirty="0">
                <a:latin typeface="Gulim" pitchFamily="34" charset="-127"/>
                <a:cs typeface="Tahoma" panose="020B0604030504040204" pitchFamily="34" charset="0"/>
              </a:rPr>
              <a:t>的随机函数？查书后附录或网</a:t>
            </a:r>
            <a:endParaRPr lang="zh-CN" altLang="en-US" sz="3200" dirty="0">
              <a:latin typeface="Gulim" pitchFamily="34" charset="-127"/>
              <a:ea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endParaRPr lang="zh-CN" altLang="en-US" dirty="0"/>
          </a:p>
        </p:txBody>
      </p:sp>
      <p:pic>
        <p:nvPicPr>
          <p:cNvPr id="20483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92163" y="1125538"/>
            <a:ext cx="6335712" cy="5732462"/>
          </a:xfrm>
          <a:noFill/>
          <a:ln>
            <a:noFill/>
          </a:ln>
        </p:spPr>
      </p:pic>
    </p:spTree>
  </p:cSld>
  <p:clrMapOvr>
    <a:masterClrMapping/>
  </p:clrMapOvr>
  <p:transition spd="med">
    <p:wedg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9792" y="1"/>
            <a:ext cx="9289032" cy="7173416"/>
          </a:xfrm>
          <a:noFill/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/>
          <a:lstStyle/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include&lt;stdio.h&gt;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#include&lt;math.h&gt;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#include&lt;stdlib.h&gt;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#include&lt;time.h&gt;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void solve() {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int target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 rand() % 100 + 1;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int time = 10,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tryCnt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= 0;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("New game starts!\n");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while(time--) {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int guess;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scanf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("%d", &amp;guess);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(target == guess) {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	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("Right! %d\n",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tryCnt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+ 1);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	exit(0);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}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else if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(guess &lt; target) {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	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("Wrong! Too small!\n");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}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else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{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	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("Wrong! Too big!\n");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}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++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tryCnt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}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("Run out of times!\n");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}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main() {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srand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(time(0));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while(1) solve();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return 0;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}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125413"/>
            <a:ext cx="9072563" cy="114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顺序结构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463" y="1196975"/>
            <a:ext cx="9936162" cy="5516563"/>
          </a:xfrm>
          <a:solidFill>
            <a:srgbClr val="FFFFFF"/>
          </a:solidFill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447675" marR="0" lvl="0" indent="-447675" algn="l" defTabSz="914400" rtl="0" eaLnBrk="0" fontAlgn="base" latinLnBrk="1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m"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顺序结构 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：之前所写程序为顺序结构，从主函数的第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个语句开始逐语句执行，直至主函数结束。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m"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顺序结构不能满足实际需求，考虑期末成绩转换、引例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m"/>
              <a:defRPr/>
            </a:pP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m"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程序非从头至尾逐语句执行，开始有不同转向。结构化程序设计：程序由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顺序、选择、循环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三种基本结构组成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m"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本节学习选择结构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—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if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语句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。先介绍流程图的概念。      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对话气泡: 椭圆形 1"/>
          <p:cNvSpPr/>
          <p:nvPr/>
        </p:nvSpPr>
        <p:spPr>
          <a:xfrm>
            <a:off x="1944688" y="2924175"/>
            <a:ext cx="6840537" cy="1368425"/>
          </a:xfrm>
          <a:prstGeom prst="wedgeEllipseCallout">
            <a:avLst>
              <a:gd name="adj1" fmla="val 4935"/>
              <a:gd name="adj2" fmla="val -147310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53882" dir="13499999" algn="ctr" rotWithShape="0">
              <a:schemeClr val="bg2">
                <a:alpha val="50000"/>
              </a:schemeClr>
            </a:outerShdw>
          </a:effectLst>
        </p:spPr>
        <p:txBody>
          <a:bodyPr wrap="none" lIns="0" tIns="0" rIns="0" bIns="0" anchor="ctr" anchorCtr="0"/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dirty="0">
                <a:latin typeface="Gulim" pitchFamily="34" charset="-127"/>
                <a:cs typeface="Tahoma" panose="020B0604030504040204" pitchFamily="34" charset="0"/>
              </a:rPr>
              <a:t>脚踏实地，一步一个脚印，走好每一步路</a:t>
            </a:r>
            <a:endParaRPr lang="zh-CN" altLang="en-US" sz="2800" dirty="0">
              <a:latin typeface="Gulim" pitchFamily="34" charset="-127"/>
              <a:ea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Line 2"/>
          <p:cNvSpPr/>
          <p:nvPr/>
        </p:nvSpPr>
        <p:spPr>
          <a:xfrm>
            <a:off x="0" y="3562350"/>
            <a:ext cx="10080625" cy="0"/>
          </a:xfrm>
          <a:prstGeom prst="line">
            <a:avLst/>
          </a:prstGeom>
          <a:ln w="19050" cap="flat" cmpd="sng">
            <a:solidFill>
              <a:srgbClr val="666699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4579" name="Group 3"/>
          <p:cNvGrpSpPr/>
          <p:nvPr/>
        </p:nvGrpSpPr>
        <p:grpSpPr>
          <a:xfrm>
            <a:off x="0" y="2636838"/>
            <a:ext cx="10080625" cy="909637"/>
            <a:chOff x="0" y="0"/>
            <a:chExt cx="6350" cy="573"/>
          </a:xfrm>
        </p:grpSpPr>
        <p:sp>
          <p:nvSpPr>
            <p:cNvPr id="24689" name="Rectangle 4"/>
            <p:cNvSpPr/>
            <p:nvPr/>
          </p:nvSpPr>
          <p:spPr>
            <a:xfrm>
              <a:off x="0" y="0"/>
              <a:ext cx="6349" cy="573"/>
            </a:xfrm>
            <a:prstGeom prst="rect">
              <a:avLst/>
            </a:prstGeom>
            <a:solidFill>
              <a:srgbClr val="3A8CE7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90" name="Line 5"/>
            <p:cNvSpPr/>
            <p:nvPr/>
          </p:nvSpPr>
          <p:spPr>
            <a:xfrm>
              <a:off x="0" y="105"/>
              <a:ext cx="6350" cy="0"/>
            </a:xfrm>
            <a:prstGeom prst="line">
              <a:avLst/>
            </a:prstGeom>
            <a:ln w="190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4580" name="Group 6"/>
          <p:cNvGrpSpPr/>
          <p:nvPr/>
        </p:nvGrpSpPr>
        <p:grpSpPr>
          <a:xfrm>
            <a:off x="71438" y="80963"/>
            <a:ext cx="2228850" cy="6680200"/>
            <a:chOff x="0" y="0"/>
            <a:chExt cx="1404" cy="4208"/>
          </a:xfrm>
        </p:grpSpPr>
        <p:sp>
          <p:nvSpPr>
            <p:cNvPr id="24582" name="Oval 7"/>
            <p:cNvSpPr/>
            <p:nvPr/>
          </p:nvSpPr>
          <p:spPr>
            <a:xfrm>
              <a:off x="590" y="174"/>
              <a:ext cx="225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583" name="Oval 8"/>
            <p:cNvSpPr/>
            <p:nvPr/>
          </p:nvSpPr>
          <p:spPr>
            <a:xfrm>
              <a:off x="295" y="174"/>
              <a:ext cx="225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584" name="Oval 9"/>
            <p:cNvSpPr/>
            <p:nvPr/>
          </p:nvSpPr>
          <p:spPr>
            <a:xfrm>
              <a:off x="0" y="174"/>
              <a:ext cx="224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585" name="Oval 10"/>
            <p:cNvSpPr/>
            <p:nvPr/>
          </p:nvSpPr>
          <p:spPr>
            <a:xfrm>
              <a:off x="1180" y="174"/>
              <a:ext cx="224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586" name="Oval 11"/>
            <p:cNvSpPr/>
            <p:nvPr/>
          </p:nvSpPr>
          <p:spPr>
            <a:xfrm>
              <a:off x="885" y="174"/>
              <a:ext cx="224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587" name="Oval 12"/>
            <p:cNvSpPr/>
            <p:nvPr/>
          </p:nvSpPr>
          <p:spPr>
            <a:xfrm>
              <a:off x="646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588" name="Oval 13"/>
            <p:cNvSpPr/>
            <p:nvPr/>
          </p:nvSpPr>
          <p:spPr>
            <a:xfrm>
              <a:off x="351" y="473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589" name="Oval 14"/>
            <p:cNvSpPr/>
            <p:nvPr/>
          </p:nvSpPr>
          <p:spPr>
            <a:xfrm>
              <a:off x="56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590" name="Oval 15"/>
            <p:cNvSpPr/>
            <p:nvPr/>
          </p:nvSpPr>
          <p:spPr>
            <a:xfrm>
              <a:off x="1236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591" name="Oval 16"/>
            <p:cNvSpPr/>
            <p:nvPr/>
          </p:nvSpPr>
          <p:spPr>
            <a:xfrm>
              <a:off x="941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592" name="Oval 17"/>
            <p:cNvSpPr/>
            <p:nvPr/>
          </p:nvSpPr>
          <p:spPr>
            <a:xfrm>
              <a:off x="627" y="68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593" name="Oval 18"/>
            <p:cNvSpPr/>
            <p:nvPr/>
          </p:nvSpPr>
          <p:spPr>
            <a:xfrm>
              <a:off x="332" y="68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594" name="Oval 19"/>
            <p:cNvSpPr/>
            <p:nvPr/>
          </p:nvSpPr>
          <p:spPr>
            <a:xfrm>
              <a:off x="37" y="68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595" name="Oval 20"/>
            <p:cNvSpPr/>
            <p:nvPr/>
          </p:nvSpPr>
          <p:spPr>
            <a:xfrm>
              <a:off x="1217" y="68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596" name="Oval 21"/>
            <p:cNvSpPr/>
            <p:nvPr/>
          </p:nvSpPr>
          <p:spPr>
            <a:xfrm>
              <a:off x="922" y="68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597" name="Oval 22"/>
            <p:cNvSpPr/>
            <p:nvPr/>
          </p:nvSpPr>
          <p:spPr>
            <a:xfrm>
              <a:off x="590" y="1113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598" name="Oval 23"/>
            <p:cNvSpPr/>
            <p:nvPr/>
          </p:nvSpPr>
          <p:spPr>
            <a:xfrm>
              <a:off x="295" y="1113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599" name="Oval 24"/>
            <p:cNvSpPr/>
            <p:nvPr/>
          </p:nvSpPr>
          <p:spPr>
            <a:xfrm>
              <a:off x="0" y="1113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00" name="Oval 25"/>
            <p:cNvSpPr/>
            <p:nvPr/>
          </p:nvSpPr>
          <p:spPr>
            <a:xfrm>
              <a:off x="1180" y="1113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01" name="Oval 26"/>
            <p:cNvSpPr/>
            <p:nvPr/>
          </p:nvSpPr>
          <p:spPr>
            <a:xfrm>
              <a:off x="885" y="1113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02" name="Oval 27"/>
            <p:cNvSpPr/>
            <p:nvPr/>
          </p:nvSpPr>
          <p:spPr>
            <a:xfrm>
              <a:off x="646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03" name="Oval 28"/>
            <p:cNvSpPr/>
            <p:nvPr/>
          </p:nvSpPr>
          <p:spPr>
            <a:xfrm>
              <a:off x="351" y="930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04" name="Oval 29"/>
            <p:cNvSpPr/>
            <p:nvPr/>
          </p:nvSpPr>
          <p:spPr>
            <a:xfrm>
              <a:off x="56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05" name="Oval 30"/>
            <p:cNvSpPr/>
            <p:nvPr/>
          </p:nvSpPr>
          <p:spPr>
            <a:xfrm>
              <a:off x="1236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06" name="Oval 31"/>
            <p:cNvSpPr/>
            <p:nvPr/>
          </p:nvSpPr>
          <p:spPr>
            <a:xfrm>
              <a:off x="941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07" name="Oval 32"/>
            <p:cNvSpPr/>
            <p:nvPr/>
          </p:nvSpPr>
          <p:spPr>
            <a:xfrm>
              <a:off x="646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08" name="Oval 33"/>
            <p:cNvSpPr/>
            <p:nvPr/>
          </p:nvSpPr>
          <p:spPr>
            <a:xfrm>
              <a:off x="351" y="1429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09" name="Oval 34"/>
            <p:cNvSpPr/>
            <p:nvPr/>
          </p:nvSpPr>
          <p:spPr>
            <a:xfrm>
              <a:off x="56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10" name="Oval 35"/>
            <p:cNvSpPr/>
            <p:nvPr/>
          </p:nvSpPr>
          <p:spPr>
            <a:xfrm>
              <a:off x="1236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11" name="Oval 36"/>
            <p:cNvSpPr/>
            <p:nvPr/>
          </p:nvSpPr>
          <p:spPr>
            <a:xfrm>
              <a:off x="941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12" name="Oval 37"/>
            <p:cNvSpPr/>
            <p:nvPr/>
          </p:nvSpPr>
          <p:spPr>
            <a:xfrm>
              <a:off x="627" y="1640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13" name="Oval 38"/>
            <p:cNvSpPr/>
            <p:nvPr/>
          </p:nvSpPr>
          <p:spPr>
            <a:xfrm>
              <a:off x="332" y="1640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14" name="Oval 39"/>
            <p:cNvSpPr/>
            <p:nvPr/>
          </p:nvSpPr>
          <p:spPr>
            <a:xfrm>
              <a:off x="37" y="1640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15" name="Oval 40"/>
            <p:cNvSpPr/>
            <p:nvPr/>
          </p:nvSpPr>
          <p:spPr>
            <a:xfrm>
              <a:off x="1217" y="1640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16" name="Oval 41"/>
            <p:cNvSpPr/>
            <p:nvPr/>
          </p:nvSpPr>
          <p:spPr>
            <a:xfrm>
              <a:off x="922" y="1640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17" name="Oval 42"/>
            <p:cNvSpPr/>
            <p:nvPr/>
          </p:nvSpPr>
          <p:spPr>
            <a:xfrm>
              <a:off x="646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18" name="Oval 43"/>
            <p:cNvSpPr/>
            <p:nvPr/>
          </p:nvSpPr>
          <p:spPr>
            <a:xfrm>
              <a:off x="351" y="1886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19" name="Oval 44"/>
            <p:cNvSpPr/>
            <p:nvPr/>
          </p:nvSpPr>
          <p:spPr>
            <a:xfrm>
              <a:off x="56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20" name="Oval 45"/>
            <p:cNvSpPr/>
            <p:nvPr/>
          </p:nvSpPr>
          <p:spPr>
            <a:xfrm>
              <a:off x="1236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21" name="Oval 46"/>
            <p:cNvSpPr/>
            <p:nvPr/>
          </p:nvSpPr>
          <p:spPr>
            <a:xfrm>
              <a:off x="941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22" name="Oval 47"/>
            <p:cNvSpPr/>
            <p:nvPr/>
          </p:nvSpPr>
          <p:spPr>
            <a:xfrm>
              <a:off x="646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23" name="Oval 48"/>
            <p:cNvSpPr/>
            <p:nvPr/>
          </p:nvSpPr>
          <p:spPr>
            <a:xfrm>
              <a:off x="351" y="0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24" name="Oval 49"/>
            <p:cNvSpPr/>
            <p:nvPr/>
          </p:nvSpPr>
          <p:spPr>
            <a:xfrm>
              <a:off x="56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25" name="Oval 50"/>
            <p:cNvSpPr/>
            <p:nvPr/>
          </p:nvSpPr>
          <p:spPr>
            <a:xfrm>
              <a:off x="1236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26" name="Oval 51"/>
            <p:cNvSpPr/>
            <p:nvPr/>
          </p:nvSpPr>
          <p:spPr>
            <a:xfrm>
              <a:off x="941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27" name="Oval 52"/>
            <p:cNvSpPr/>
            <p:nvPr/>
          </p:nvSpPr>
          <p:spPr>
            <a:xfrm>
              <a:off x="590" y="2109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28" name="Oval 53"/>
            <p:cNvSpPr/>
            <p:nvPr/>
          </p:nvSpPr>
          <p:spPr>
            <a:xfrm>
              <a:off x="295" y="2109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29" name="Oval 54"/>
            <p:cNvSpPr/>
            <p:nvPr/>
          </p:nvSpPr>
          <p:spPr>
            <a:xfrm>
              <a:off x="0" y="2109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30" name="Oval 55"/>
            <p:cNvSpPr/>
            <p:nvPr/>
          </p:nvSpPr>
          <p:spPr>
            <a:xfrm>
              <a:off x="1180" y="2109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31" name="Oval 56"/>
            <p:cNvSpPr/>
            <p:nvPr/>
          </p:nvSpPr>
          <p:spPr>
            <a:xfrm>
              <a:off x="885" y="2109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32" name="Oval 57"/>
            <p:cNvSpPr/>
            <p:nvPr/>
          </p:nvSpPr>
          <p:spPr>
            <a:xfrm>
              <a:off x="646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33" name="Oval 58"/>
            <p:cNvSpPr/>
            <p:nvPr/>
          </p:nvSpPr>
          <p:spPr>
            <a:xfrm>
              <a:off x="351" y="2425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34" name="Oval 59"/>
            <p:cNvSpPr/>
            <p:nvPr/>
          </p:nvSpPr>
          <p:spPr>
            <a:xfrm>
              <a:off x="56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35" name="Oval 60"/>
            <p:cNvSpPr/>
            <p:nvPr/>
          </p:nvSpPr>
          <p:spPr>
            <a:xfrm>
              <a:off x="1236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36" name="Oval 61"/>
            <p:cNvSpPr/>
            <p:nvPr/>
          </p:nvSpPr>
          <p:spPr>
            <a:xfrm>
              <a:off x="941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37" name="Oval 62"/>
            <p:cNvSpPr/>
            <p:nvPr/>
          </p:nvSpPr>
          <p:spPr>
            <a:xfrm>
              <a:off x="627" y="2636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38" name="Oval 63"/>
            <p:cNvSpPr/>
            <p:nvPr/>
          </p:nvSpPr>
          <p:spPr>
            <a:xfrm>
              <a:off x="332" y="2636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39" name="Oval 64"/>
            <p:cNvSpPr/>
            <p:nvPr/>
          </p:nvSpPr>
          <p:spPr>
            <a:xfrm>
              <a:off x="37" y="2636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40" name="Oval 65"/>
            <p:cNvSpPr/>
            <p:nvPr/>
          </p:nvSpPr>
          <p:spPr>
            <a:xfrm>
              <a:off x="1217" y="2636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41" name="Oval 66"/>
            <p:cNvSpPr/>
            <p:nvPr/>
          </p:nvSpPr>
          <p:spPr>
            <a:xfrm>
              <a:off x="922" y="2636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42" name="Oval 67"/>
            <p:cNvSpPr/>
            <p:nvPr/>
          </p:nvSpPr>
          <p:spPr>
            <a:xfrm>
              <a:off x="646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43" name="Oval 68"/>
            <p:cNvSpPr/>
            <p:nvPr/>
          </p:nvSpPr>
          <p:spPr>
            <a:xfrm>
              <a:off x="351" y="2882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44" name="Oval 69"/>
            <p:cNvSpPr/>
            <p:nvPr/>
          </p:nvSpPr>
          <p:spPr>
            <a:xfrm>
              <a:off x="56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45" name="Oval 70"/>
            <p:cNvSpPr/>
            <p:nvPr/>
          </p:nvSpPr>
          <p:spPr>
            <a:xfrm>
              <a:off x="1236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46" name="Oval 71"/>
            <p:cNvSpPr/>
            <p:nvPr/>
          </p:nvSpPr>
          <p:spPr>
            <a:xfrm>
              <a:off x="941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47" name="Oval 72"/>
            <p:cNvSpPr/>
            <p:nvPr/>
          </p:nvSpPr>
          <p:spPr>
            <a:xfrm>
              <a:off x="590" y="3107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48" name="Oval 73"/>
            <p:cNvSpPr/>
            <p:nvPr/>
          </p:nvSpPr>
          <p:spPr>
            <a:xfrm>
              <a:off x="295" y="3107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49" name="Oval 74"/>
            <p:cNvSpPr/>
            <p:nvPr/>
          </p:nvSpPr>
          <p:spPr>
            <a:xfrm>
              <a:off x="0" y="3107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50" name="Oval 75"/>
            <p:cNvSpPr/>
            <p:nvPr/>
          </p:nvSpPr>
          <p:spPr>
            <a:xfrm>
              <a:off x="1180" y="3107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51" name="Oval 76"/>
            <p:cNvSpPr/>
            <p:nvPr/>
          </p:nvSpPr>
          <p:spPr>
            <a:xfrm>
              <a:off x="885" y="3107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52" name="Oval 77"/>
            <p:cNvSpPr/>
            <p:nvPr/>
          </p:nvSpPr>
          <p:spPr>
            <a:xfrm>
              <a:off x="646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53" name="Oval 78"/>
            <p:cNvSpPr/>
            <p:nvPr/>
          </p:nvSpPr>
          <p:spPr>
            <a:xfrm>
              <a:off x="351" y="3423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54" name="Oval 79"/>
            <p:cNvSpPr/>
            <p:nvPr/>
          </p:nvSpPr>
          <p:spPr>
            <a:xfrm>
              <a:off x="56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55" name="Oval 80"/>
            <p:cNvSpPr/>
            <p:nvPr/>
          </p:nvSpPr>
          <p:spPr>
            <a:xfrm>
              <a:off x="1236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56" name="Oval 81"/>
            <p:cNvSpPr/>
            <p:nvPr/>
          </p:nvSpPr>
          <p:spPr>
            <a:xfrm>
              <a:off x="941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57" name="Oval 82"/>
            <p:cNvSpPr/>
            <p:nvPr/>
          </p:nvSpPr>
          <p:spPr>
            <a:xfrm>
              <a:off x="627" y="363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58" name="Oval 83"/>
            <p:cNvSpPr/>
            <p:nvPr/>
          </p:nvSpPr>
          <p:spPr>
            <a:xfrm>
              <a:off x="332" y="363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59" name="Oval 84"/>
            <p:cNvSpPr/>
            <p:nvPr/>
          </p:nvSpPr>
          <p:spPr>
            <a:xfrm>
              <a:off x="37" y="363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60" name="Oval 85"/>
            <p:cNvSpPr/>
            <p:nvPr/>
          </p:nvSpPr>
          <p:spPr>
            <a:xfrm>
              <a:off x="1217" y="363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61" name="Oval 86"/>
            <p:cNvSpPr/>
            <p:nvPr/>
          </p:nvSpPr>
          <p:spPr>
            <a:xfrm>
              <a:off x="922" y="363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62" name="Oval 87"/>
            <p:cNvSpPr/>
            <p:nvPr/>
          </p:nvSpPr>
          <p:spPr>
            <a:xfrm>
              <a:off x="646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63" name="Oval 88"/>
            <p:cNvSpPr/>
            <p:nvPr/>
          </p:nvSpPr>
          <p:spPr>
            <a:xfrm>
              <a:off x="351" y="3880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64" name="Oval 89"/>
            <p:cNvSpPr/>
            <p:nvPr/>
          </p:nvSpPr>
          <p:spPr>
            <a:xfrm>
              <a:off x="56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65" name="Oval 90"/>
            <p:cNvSpPr/>
            <p:nvPr/>
          </p:nvSpPr>
          <p:spPr>
            <a:xfrm>
              <a:off x="1236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66" name="Oval 91"/>
            <p:cNvSpPr/>
            <p:nvPr/>
          </p:nvSpPr>
          <p:spPr>
            <a:xfrm>
              <a:off x="941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67" name="Oval 92"/>
            <p:cNvSpPr/>
            <p:nvPr/>
          </p:nvSpPr>
          <p:spPr>
            <a:xfrm>
              <a:off x="627" y="4059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68" name="Oval 93"/>
            <p:cNvSpPr/>
            <p:nvPr/>
          </p:nvSpPr>
          <p:spPr>
            <a:xfrm>
              <a:off x="332" y="4059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69" name="Oval 94"/>
            <p:cNvSpPr/>
            <p:nvPr/>
          </p:nvSpPr>
          <p:spPr>
            <a:xfrm>
              <a:off x="37" y="4059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70" name="Oval 95"/>
            <p:cNvSpPr/>
            <p:nvPr/>
          </p:nvSpPr>
          <p:spPr>
            <a:xfrm>
              <a:off x="1217" y="4059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71" name="Oval 96"/>
            <p:cNvSpPr/>
            <p:nvPr/>
          </p:nvSpPr>
          <p:spPr>
            <a:xfrm>
              <a:off x="922" y="4059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72" name="Oval 97"/>
            <p:cNvSpPr/>
            <p:nvPr/>
          </p:nvSpPr>
          <p:spPr>
            <a:xfrm>
              <a:off x="1254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73" name="Oval 98"/>
            <p:cNvSpPr/>
            <p:nvPr/>
          </p:nvSpPr>
          <p:spPr>
            <a:xfrm>
              <a:off x="961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74" name="Oval 99"/>
            <p:cNvSpPr/>
            <p:nvPr/>
          </p:nvSpPr>
          <p:spPr>
            <a:xfrm>
              <a:off x="664" y="1631"/>
              <a:ext cx="71" cy="71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75" name="Oval 100"/>
            <p:cNvSpPr/>
            <p:nvPr/>
          </p:nvSpPr>
          <p:spPr>
            <a:xfrm>
              <a:off x="663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76" name="Oval 101"/>
            <p:cNvSpPr/>
            <p:nvPr/>
          </p:nvSpPr>
          <p:spPr>
            <a:xfrm>
              <a:off x="367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77" name="Oval 102"/>
            <p:cNvSpPr/>
            <p:nvPr/>
          </p:nvSpPr>
          <p:spPr>
            <a:xfrm>
              <a:off x="74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78" name="Oval 103"/>
            <p:cNvSpPr/>
            <p:nvPr/>
          </p:nvSpPr>
          <p:spPr>
            <a:xfrm>
              <a:off x="1254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79" name="Oval 104"/>
            <p:cNvSpPr/>
            <p:nvPr/>
          </p:nvSpPr>
          <p:spPr>
            <a:xfrm>
              <a:off x="961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80" name="Oval 105"/>
            <p:cNvSpPr/>
            <p:nvPr/>
          </p:nvSpPr>
          <p:spPr>
            <a:xfrm>
              <a:off x="663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81" name="Oval 106"/>
            <p:cNvSpPr/>
            <p:nvPr/>
          </p:nvSpPr>
          <p:spPr>
            <a:xfrm>
              <a:off x="367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82" name="Oval 107"/>
            <p:cNvSpPr/>
            <p:nvPr/>
          </p:nvSpPr>
          <p:spPr>
            <a:xfrm>
              <a:off x="74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83" name="Oval 108"/>
            <p:cNvSpPr/>
            <p:nvPr/>
          </p:nvSpPr>
          <p:spPr>
            <a:xfrm>
              <a:off x="1254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84" name="Oval 109"/>
            <p:cNvSpPr/>
            <p:nvPr/>
          </p:nvSpPr>
          <p:spPr>
            <a:xfrm>
              <a:off x="961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85" name="Oval 110"/>
            <p:cNvSpPr/>
            <p:nvPr/>
          </p:nvSpPr>
          <p:spPr>
            <a:xfrm>
              <a:off x="664" y="2259"/>
              <a:ext cx="71" cy="71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86" name="Oval 111"/>
            <p:cNvSpPr/>
            <p:nvPr/>
          </p:nvSpPr>
          <p:spPr>
            <a:xfrm>
              <a:off x="663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87" name="Oval 112"/>
            <p:cNvSpPr/>
            <p:nvPr/>
          </p:nvSpPr>
          <p:spPr>
            <a:xfrm>
              <a:off x="367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24688" name="Oval 113"/>
            <p:cNvSpPr/>
            <p:nvPr/>
          </p:nvSpPr>
          <p:spPr>
            <a:xfrm>
              <a:off x="74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</p:grpSp>
      <p:sp>
        <p:nvSpPr>
          <p:cNvPr id="7282" name="Text Box 114"/>
          <p:cNvSpPr txBox="1">
            <a:spLocks noChangeArrowheads="1"/>
          </p:cNvSpPr>
          <p:nvPr/>
        </p:nvSpPr>
        <p:spPr bwMode="auto">
          <a:xfrm>
            <a:off x="2376488" y="2205038"/>
            <a:ext cx="5256213" cy="62865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ulim" pitchFamily="34" charset="-127"/>
                <a:ea typeface="宋体" panose="02010600030101010101" pitchFamily="2" charset="-122"/>
                <a:cs typeface="Tahoma" panose="020B0604030504040204" pitchFamily="34" charset="0"/>
              </a:rPr>
              <a:t>3.1 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ulim" pitchFamily="34" charset="-127"/>
                <a:ea typeface="宋体" panose="02010600030101010101" pitchFamily="2" charset="-122"/>
                <a:cs typeface="Tahoma" panose="020B0604030504040204" pitchFamily="34" charset="0"/>
              </a:rPr>
              <a:t>流程图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ulim" pitchFamily="34" charset="-127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wedg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71438"/>
            <a:ext cx="10080625" cy="9810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算法的基本概念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xfrm>
            <a:off x="0" y="1052513"/>
            <a:ext cx="10080625" cy="4032250"/>
          </a:xfrm>
          <a:noFill/>
          <a:ln>
            <a:noFill/>
          </a:ln>
        </p:spPr>
        <p:txBody>
          <a:bodyPr/>
          <a:p>
            <a:pPr>
              <a:buSzPct val="70000"/>
              <a:buFont typeface="Wingdings" panose="05000000000000000000" pitchFamily="2" charset="2"/>
              <a:buChar char="m"/>
            </a:pPr>
            <a:r>
              <a:rPr lang="zh-CN" altLang="en-US" sz="3200" b="1" dirty="0">
                <a:ea typeface="宋体" panose="02010600030101010101" pitchFamily="2" charset="-122"/>
              </a:rPr>
              <a:t>程序 </a:t>
            </a:r>
            <a:r>
              <a:rPr lang="en-US" altLang="zh-CN" sz="3200" b="1" dirty="0">
                <a:ea typeface="宋体" panose="02010600030101010101" pitchFamily="2" charset="-122"/>
              </a:rPr>
              <a:t>= </a:t>
            </a:r>
            <a:r>
              <a:rPr lang="zh-CN" altLang="en-US" sz="3200" b="1" dirty="0">
                <a:ea typeface="宋体" panose="02010600030101010101" pitchFamily="2" charset="-122"/>
              </a:rPr>
              <a:t>数据结构 </a:t>
            </a:r>
            <a:r>
              <a:rPr lang="en-US" altLang="zh-CN" sz="3200" b="1" dirty="0">
                <a:ea typeface="宋体" panose="02010600030101010101" pitchFamily="2" charset="-122"/>
              </a:rPr>
              <a:t>+ </a:t>
            </a:r>
            <a:r>
              <a:rPr lang="zh-CN" altLang="en-US" sz="3200" b="1" dirty="0">
                <a:ea typeface="宋体" panose="02010600030101010101" pitchFamily="2" charset="-122"/>
              </a:rPr>
              <a:t>算法</a:t>
            </a:r>
            <a:endParaRPr lang="zh-CN" altLang="en-US" sz="3200" b="1" dirty="0">
              <a:ea typeface="宋体" panose="02010600030101010101" pitchFamily="2" charset="-122"/>
            </a:endParaRPr>
          </a:p>
          <a:p>
            <a:pPr>
              <a:buSzPct val="70000"/>
              <a:buFont typeface="Wingdings" panose="05000000000000000000" pitchFamily="2" charset="2"/>
              <a:buChar char="m"/>
            </a:pPr>
            <a:r>
              <a:rPr lang="zh-CN" altLang="en-US" sz="3200" b="1" dirty="0">
                <a:ea typeface="宋体" panose="02010600030101010101" pitchFamily="2" charset="-122"/>
              </a:rPr>
              <a:t>程序设计关键之一，是解题的方法与步骤，即算法。</a:t>
            </a:r>
            <a:endParaRPr lang="zh-CN" altLang="en-US" sz="3200" b="1" dirty="0">
              <a:ea typeface="宋体" panose="02010600030101010101" pitchFamily="2" charset="-122"/>
            </a:endParaRPr>
          </a:p>
          <a:p>
            <a:pPr>
              <a:buSzPct val="70000"/>
              <a:buFont typeface="Wingdings" panose="05000000000000000000" pitchFamily="2" charset="2"/>
              <a:buChar char="m"/>
            </a:pPr>
            <a:r>
              <a:rPr lang="zh-CN" altLang="en-US" sz="3200" b="1" dirty="0">
                <a:ea typeface="宋体" panose="02010600030101010101" pitchFamily="2" charset="-122"/>
              </a:rPr>
              <a:t>算法的描述方法</a:t>
            </a:r>
            <a:endParaRPr lang="zh-CN" altLang="en-US" sz="3200" b="1" dirty="0"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800" b="1" dirty="0">
                <a:ea typeface="宋体" panose="02010600030101010101" pitchFamily="2" charset="-122"/>
              </a:rPr>
              <a:t>自然语言</a:t>
            </a:r>
            <a:endParaRPr lang="zh-CN" altLang="en-US" sz="2800" b="1" dirty="0"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800" b="1" dirty="0">
                <a:ea typeface="宋体" panose="02010600030101010101" pitchFamily="2" charset="-122"/>
              </a:rPr>
              <a:t>NS</a:t>
            </a:r>
            <a:r>
              <a:rPr lang="zh-CN" altLang="en-US" sz="2800" b="1" dirty="0">
                <a:ea typeface="宋体" panose="02010600030101010101" pitchFamily="2" charset="-122"/>
              </a:rPr>
              <a:t>结构化流程图</a:t>
            </a:r>
            <a:endParaRPr lang="zh-CN" altLang="en-US" sz="2800" b="1" dirty="0"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800" b="1" dirty="0">
                <a:ea typeface="宋体" panose="02010600030101010101" pitchFamily="2" charset="-122"/>
              </a:rPr>
              <a:t>伪码</a:t>
            </a:r>
            <a:endParaRPr lang="zh-CN" altLang="en-US" sz="2800" b="1" dirty="0"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800" b="1" dirty="0">
                <a:ea typeface="宋体" panose="02010600030101010101" pitchFamily="2" charset="-122"/>
              </a:rPr>
              <a:t>流程图</a:t>
            </a:r>
            <a:endParaRPr lang="zh-CN" altLang="en-US" sz="2800" b="1" dirty="0">
              <a:ea typeface="宋体" panose="02010600030101010101" pitchFamily="2" charset="-122"/>
            </a:endParaRPr>
          </a:p>
          <a:p>
            <a:pPr lvl="1">
              <a:buNone/>
            </a:pPr>
            <a:endParaRPr lang="zh-CN" altLang="en-US" sz="2800" b="1" dirty="0">
              <a:ea typeface="宋体" panose="02010600030101010101" pitchFamily="2" charset="-122"/>
            </a:endParaRPr>
          </a:p>
          <a:p>
            <a:pPr lvl="1">
              <a:buNone/>
            </a:pPr>
            <a:endParaRPr lang="zh-CN" altLang="en-US" sz="2800" b="1" dirty="0">
              <a:ea typeface="宋体" panose="02010600030101010101" pitchFamily="2" charset="-122"/>
            </a:endParaRPr>
          </a:p>
          <a:p>
            <a:pPr lvl="1">
              <a:buNone/>
            </a:pPr>
            <a:endParaRPr lang="zh-CN" altLang="en-US" sz="3200" b="1" dirty="0">
              <a:ea typeface="宋体" panose="02010600030101010101" pitchFamily="2" charset="-122"/>
            </a:endParaRPr>
          </a:p>
        </p:txBody>
      </p:sp>
      <p:sp>
        <p:nvSpPr>
          <p:cNvPr id="8196" name="Text Box 4"/>
          <p:cNvSpPr txBox="1"/>
          <p:nvPr/>
        </p:nvSpPr>
        <p:spPr>
          <a:xfrm>
            <a:off x="358775" y="5445125"/>
            <a:ext cx="9575800" cy="433388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FF0000"/>
                </a:solidFill>
                <a:latin typeface="Gulim" pitchFamily="34" charset="-127"/>
                <a:ea typeface="宋体" panose="02010600030101010101" pitchFamily="2" charset="-122"/>
              </a:rPr>
              <a:t>本节重点介绍流程图描述。</a:t>
            </a:r>
            <a:endParaRPr lang="zh-CN" altLang="en-US" sz="2800" dirty="0">
              <a:solidFill>
                <a:srgbClr val="FF0000"/>
              </a:solidFill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6" name="对话气泡: 椭圆形 5"/>
          <p:cNvSpPr/>
          <p:nvPr/>
        </p:nvSpPr>
        <p:spPr>
          <a:xfrm>
            <a:off x="2663825" y="2924175"/>
            <a:ext cx="6121400" cy="1368425"/>
          </a:xfrm>
          <a:prstGeom prst="wedgeEllipseCallout">
            <a:avLst>
              <a:gd name="adj1" fmla="val 51634"/>
              <a:gd name="adj2" fmla="val -103319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53882" dir="13499999" algn="ctr" rotWithShape="0">
              <a:schemeClr val="bg2">
                <a:alpha val="50000"/>
              </a:schemeClr>
            </a:outerShdw>
          </a:effectLst>
        </p:spPr>
        <p:txBody>
          <a:bodyPr wrap="none" lIns="0" tIns="0" rIns="0" bIns="0" anchor="ctr" anchorCtr="0"/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dirty="0">
                <a:latin typeface="Gulim" pitchFamily="34" charset="-127"/>
                <a:cs typeface="Tahoma" panose="020B0604030504040204" pitchFamily="34" charset="0"/>
              </a:rPr>
              <a:t>计算三角形面积，先计算</a:t>
            </a:r>
            <a:r>
              <a:rPr lang="en-US" altLang="zh-CN" sz="2800" dirty="0">
                <a:latin typeface="Gulim" pitchFamily="34" charset="-127"/>
                <a:cs typeface="Tahoma" panose="020B0604030504040204" pitchFamily="34" charset="0"/>
              </a:rPr>
              <a:t>S</a:t>
            </a:r>
            <a:r>
              <a:rPr lang="zh-CN" altLang="en-US" sz="2800" dirty="0">
                <a:latin typeface="Gulim" pitchFamily="34" charset="-127"/>
                <a:cs typeface="Tahoma" panose="020B0604030504040204" pitchFamily="34" charset="0"/>
              </a:rPr>
              <a:t>，再</a:t>
            </a:r>
            <a:r>
              <a:rPr lang="en-US" altLang="zh-CN" sz="2800" dirty="0">
                <a:latin typeface="Gulim" pitchFamily="34" charset="-127"/>
                <a:cs typeface="Tahoma" panose="020B0604030504040204" pitchFamily="34" charset="0"/>
              </a:rPr>
              <a:t>A</a:t>
            </a:r>
            <a:r>
              <a:rPr lang="zh-CN" altLang="en-US" sz="2800" dirty="0">
                <a:latin typeface="Gulim" pitchFamily="34" charset="-127"/>
                <a:cs typeface="Tahoma" panose="020B0604030504040204" pitchFamily="34" charset="0"/>
              </a:rPr>
              <a:t>。</a:t>
            </a:r>
            <a:endParaRPr lang="zh-CN" altLang="en-US" sz="2800" dirty="0">
              <a:latin typeface="Gulim" pitchFamily="34" charset="-127"/>
              <a:ea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15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charRg st="15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39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195">
                                            <p:txEl>
                                              <p:charRg st="39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47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195">
                                            <p:txEl>
                                              <p:charRg st="47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52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195">
                                            <p:txEl>
                                              <p:charRg st="52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61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195">
                                            <p:txEl>
                                              <p:charRg st="61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64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195">
                                            <p:txEl>
                                              <p:charRg st="64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15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39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47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52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61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64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  <p:bldP spid="8196" grpId="0"/>
      <p:bldP spid="6" grpId="0" animBg="1"/>
      <p:bldP spid="6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438" y="44450"/>
            <a:ext cx="10009188" cy="936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流程图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6627" name="Rectangle 3"/>
          <p:cNvSpPr/>
          <p:nvPr/>
        </p:nvSpPr>
        <p:spPr>
          <a:xfrm>
            <a:off x="71438" y="1008063"/>
            <a:ext cx="9759950" cy="126047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3200" b="1" dirty="0">
                <a:latin typeface="Gulim" pitchFamily="34" charset="-127"/>
                <a:ea typeface="宋体" panose="02010600030101010101" pitchFamily="2" charset="-122"/>
              </a:rPr>
              <a:t>是一种传统的算法表示法，利用几何图形的框代表各种不同性质的操作，用流程线表示算法的执行方向。</a:t>
            </a:r>
            <a:endParaRPr lang="zh-CN" altLang="en-US" sz="3200" b="1" dirty="0">
              <a:latin typeface="Gulim" pitchFamily="34" charset="-127"/>
              <a:ea typeface="宋体" panose="0201060003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682625" y="5084763"/>
            <a:ext cx="1514475" cy="1484312"/>
            <a:chOff x="0" y="0"/>
            <a:chExt cx="953" cy="935"/>
          </a:xfrm>
        </p:grpSpPr>
        <p:sp>
          <p:nvSpPr>
            <p:cNvPr id="26645" name="AutoShape 5"/>
            <p:cNvSpPr/>
            <p:nvPr/>
          </p:nvSpPr>
          <p:spPr>
            <a:xfrm>
              <a:off x="0" y="0"/>
              <a:ext cx="953" cy="499"/>
            </a:xfrm>
            <a:prstGeom prst="flowChartProcess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latinLnBrk="1" hangingPunct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anose="05000000000000000000" pitchFamily="2" charset="2"/>
              </a:pPr>
              <a:endParaRPr lang="zh-CN" altLang="en-US" dirty="0">
                <a:latin typeface="Gulim" pitchFamily="34" charset="-127"/>
              </a:endParaRPr>
            </a:p>
          </p:txBody>
        </p:sp>
        <p:sp>
          <p:nvSpPr>
            <p:cNvPr id="26646" name="Text Box 6"/>
            <p:cNvSpPr txBox="1"/>
            <p:nvPr/>
          </p:nvSpPr>
          <p:spPr>
            <a:xfrm>
              <a:off x="0" y="608"/>
              <a:ext cx="90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</a:pP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处理框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7"/>
          <p:cNvGrpSpPr/>
          <p:nvPr/>
        </p:nvGrpSpPr>
        <p:grpSpPr>
          <a:xfrm>
            <a:off x="3170238" y="3284538"/>
            <a:ext cx="2517775" cy="1512887"/>
            <a:chOff x="0" y="0"/>
            <a:chExt cx="1587" cy="953"/>
          </a:xfrm>
        </p:grpSpPr>
        <p:sp>
          <p:nvSpPr>
            <p:cNvPr id="26643" name="AutoShape 8"/>
            <p:cNvSpPr/>
            <p:nvPr/>
          </p:nvSpPr>
          <p:spPr>
            <a:xfrm>
              <a:off x="0" y="0"/>
              <a:ext cx="1587" cy="544"/>
            </a:xfrm>
            <a:prstGeom prst="flowChartDecision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latinLnBrk="1" hangingPunct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anose="05000000000000000000" pitchFamily="2" charset="2"/>
              </a:pPr>
              <a:endParaRPr lang="zh-CN" altLang="en-US" dirty="0">
                <a:latin typeface="Gulim" pitchFamily="34" charset="-127"/>
              </a:endParaRPr>
            </a:p>
          </p:txBody>
        </p:sp>
        <p:sp>
          <p:nvSpPr>
            <p:cNvPr id="26644" name="Text Box 9"/>
            <p:cNvSpPr txBox="1"/>
            <p:nvPr/>
          </p:nvSpPr>
          <p:spPr>
            <a:xfrm>
              <a:off x="340" y="626"/>
              <a:ext cx="90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</a:pP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判断框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10"/>
          <p:cNvGrpSpPr/>
          <p:nvPr/>
        </p:nvGrpSpPr>
        <p:grpSpPr>
          <a:xfrm>
            <a:off x="6588125" y="3284538"/>
            <a:ext cx="2268538" cy="1512887"/>
            <a:chOff x="0" y="0"/>
            <a:chExt cx="1429" cy="953"/>
          </a:xfrm>
        </p:grpSpPr>
        <p:sp>
          <p:nvSpPr>
            <p:cNvPr id="26641" name="AutoShape 11"/>
            <p:cNvSpPr/>
            <p:nvPr/>
          </p:nvSpPr>
          <p:spPr>
            <a:xfrm>
              <a:off x="171" y="0"/>
              <a:ext cx="1179" cy="499"/>
            </a:xfrm>
            <a:prstGeom prst="flowChartInputOutpu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latinLnBrk="1" hangingPunct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anose="05000000000000000000" pitchFamily="2" charset="2"/>
              </a:pPr>
              <a:endParaRPr lang="zh-CN" altLang="en-US" dirty="0">
                <a:latin typeface="Gulim" pitchFamily="34" charset="-127"/>
              </a:endParaRPr>
            </a:p>
          </p:txBody>
        </p:sp>
        <p:sp>
          <p:nvSpPr>
            <p:cNvPr id="26642" name="Text Box 12"/>
            <p:cNvSpPr txBox="1"/>
            <p:nvPr/>
          </p:nvSpPr>
          <p:spPr>
            <a:xfrm>
              <a:off x="0" y="626"/>
              <a:ext cx="14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</a:pP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输入输出框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13"/>
          <p:cNvGrpSpPr/>
          <p:nvPr/>
        </p:nvGrpSpPr>
        <p:grpSpPr>
          <a:xfrm>
            <a:off x="7056438" y="5159375"/>
            <a:ext cx="1439862" cy="1152525"/>
            <a:chOff x="0" y="0"/>
            <a:chExt cx="907" cy="726"/>
          </a:xfrm>
        </p:grpSpPr>
        <p:sp>
          <p:nvSpPr>
            <p:cNvPr id="26639" name="AutoShape 14"/>
            <p:cNvSpPr/>
            <p:nvPr/>
          </p:nvSpPr>
          <p:spPr>
            <a:xfrm>
              <a:off x="204" y="0"/>
              <a:ext cx="363" cy="318"/>
            </a:xfrm>
            <a:prstGeom prst="flowChartConnector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latinLnBrk="1" hangingPunct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anose="05000000000000000000" pitchFamily="2" charset="2"/>
              </a:pPr>
              <a:endParaRPr lang="zh-CN" altLang="en-US" dirty="0">
                <a:latin typeface="Gulim" pitchFamily="34" charset="-127"/>
              </a:endParaRPr>
            </a:p>
          </p:txBody>
        </p:sp>
        <p:sp>
          <p:nvSpPr>
            <p:cNvPr id="26640" name="Text Box 15"/>
            <p:cNvSpPr txBox="1"/>
            <p:nvPr/>
          </p:nvSpPr>
          <p:spPr>
            <a:xfrm>
              <a:off x="0" y="399"/>
              <a:ext cx="90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</a:pP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  <a:hlinkClick r:id="rId1"/>
                </a:rPr>
                <a:t>连接点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232" name="Text Box 16"/>
          <p:cNvSpPr txBox="1"/>
          <p:nvPr/>
        </p:nvSpPr>
        <p:spPr>
          <a:xfrm>
            <a:off x="146050" y="2492375"/>
            <a:ext cx="5080000" cy="48260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3200" b="1" dirty="0">
                <a:solidFill>
                  <a:srgbClr val="FF0000"/>
                </a:solidFill>
                <a:latin typeface="Gulim" pitchFamily="34" charset="-127"/>
                <a:ea typeface="宋体" panose="02010600030101010101" pitchFamily="2" charset="-122"/>
              </a:rPr>
              <a:t>常见流程图符号：</a:t>
            </a:r>
            <a:endParaRPr lang="zh-CN" altLang="en-US" sz="3200" b="1" dirty="0">
              <a:solidFill>
                <a:srgbClr val="FF0000"/>
              </a:solidFill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9233" name="AutoShape 17"/>
          <p:cNvSpPr/>
          <p:nvPr/>
        </p:nvSpPr>
        <p:spPr>
          <a:xfrm>
            <a:off x="539750" y="3444875"/>
            <a:ext cx="1728788" cy="576263"/>
          </a:xfrm>
          <a:prstGeom prst="flowChartTerminator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endParaRPr lang="zh-CN" altLang="en-US" dirty="0">
              <a:latin typeface="Gulim" pitchFamily="34" charset="-127"/>
            </a:endParaRPr>
          </a:p>
        </p:txBody>
      </p:sp>
      <p:sp>
        <p:nvSpPr>
          <p:cNvPr id="9234" name="Text Box 18"/>
          <p:cNvSpPr txBox="1"/>
          <p:nvPr/>
        </p:nvSpPr>
        <p:spPr>
          <a:xfrm>
            <a:off x="755650" y="4221163"/>
            <a:ext cx="14414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起止框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" name="Group 19"/>
          <p:cNvGrpSpPr/>
          <p:nvPr/>
        </p:nvGrpSpPr>
        <p:grpSpPr>
          <a:xfrm>
            <a:off x="3708400" y="5057775"/>
            <a:ext cx="1368425" cy="1516063"/>
            <a:chOff x="0" y="0"/>
            <a:chExt cx="862" cy="955"/>
          </a:xfrm>
        </p:grpSpPr>
        <p:sp>
          <p:nvSpPr>
            <p:cNvPr id="26636" name="Line 20"/>
            <p:cNvSpPr/>
            <p:nvPr/>
          </p:nvSpPr>
          <p:spPr>
            <a:xfrm>
              <a:off x="340" y="0"/>
              <a:ext cx="0" cy="5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637" name="Line 21"/>
            <p:cNvSpPr/>
            <p:nvPr/>
          </p:nvSpPr>
          <p:spPr>
            <a:xfrm flipH="1">
              <a:off x="431" y="272"/>
              <a:ext cx="4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638" name="Text Box 22"/>
            <p:cNvSpPr txBox="1"/>
            <p:nvPr/>
          </p:nvSpPr>
          <p:spPr>
            <a:xfrm>
              <a:off x="0" y="628"/>
              <a:ext cx="8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</a:pP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流程线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2" grpId="0"/>
      <p:bldP spid="9233" grpId="0" animBg="1"/>
      <p:bldP spid="923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idx="1"/>
          </p:nvPr>
        </p:nvSpPr>
        <p:spPr>
          <a:xfrm>
            <a:off x="146050" y="1125538"/>
            <a:ext cx="9788525" cy="5040312"/>
          </a:xfrm>
          <a:noFill/>
          <a:ln>
            <a:noFill/>
          </a:ln>
        </p:spPr>
        <p:txBody>
          <a:bodyPr/>
          <a:p>
            <a:pPr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3.1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r>
              <a:rPr lang="zh-CN" altLang="en-US" sz="3200" b="1" dirty="0">
                <a:ea typeface="宋体" panose="02010600030101010101" pitchFamily="2" charset="-122"/>
              </a:rPr>
              <a:t>对下列编程题，画出流程图描述求解算法。</a:t>
            </a:r>
            <a:endParaRPr lang="zh-CN" altLang="en-US" sz="3200" b="1" dirty="0"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dirty="0"/>
              <a:t>      </a:t>
            </a:r>
            <a:r>
              <a:rPr lang="zh-CN" altLang="en-US" sz="3200" b="1" dirty="0">
                <a:ea typeface="宋体" panose="02010600030101010101" pitchFamily="2" charset="-122"/>
              </a:rPr>
              <a:t>输入三角形三条边</a:t>
            </a:r>
            <a:r>
              <a:rPr lang="en-US" altLang="zh-CN" sz="3200" b="1" dirty="0">
                <a:ea typeface="宋体" panose="02010600030101010101" pitchFamily="2" charset="-122"/>
              </a:rPr>
              <a:t>a</a:t>
            </a:r>
            <a:r>
              <a:rPr lang="zh-CN" altLang="en-US" sz="3200" b="1" dirty="0"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ea typeface="宋体" panose="02010600030101010101" pitchFamily="2" charset="-122"/>
              </a:rPr>
              <a:t>b</a:t>
            </a:r>
            <a:r>
              <a:rPr lang="zh-CN" altLang="en-US" sz="3200" b="1" dirty="0"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ea typeface="宋体" panose="02010600030101010101" pitchFamily="2" charset="-122"/>
              </a:rPr>
              <a:t>c</a:t>
            </a:r>
            <a:r>
              <a:rPr lang="zh-CN" altLang="en-US" sz="3200" b="1" dirty="0">
                <a:ea typeface="宋体" panose="02010600030101010101" pitchFamily="2" charset="-122"/>
              </a:rPr>
              <a:t>（假设输入有效），</a:t>
            </a:r>
            <a:endParaRPr lang="zh-CN" altLang="en-US" sz="3200" b="1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3200" b="1" dirty="0"/>
              <a:t>      </a:t>
            </a:r>
            <a:r>
              <a:rPr lang="zh-CN" altLang="en-US" sz="3200" b="1" dirty="0">
                <a:ea typeface="宋体" panose="02010600030101010101" pitchFamily="2" charset="-122"/>
              </a:rPr>
              <a:t>按如下公式</a:t>
            </a:r>
            <a:r>
              <a:rPr lang="zh-CN" altLang="en-US" sz="3200" b="1" dirty="0"/>
              <a:t>求三角形面积</a:t>
            </a:r>
            <a:r>
              <a:rPr lang="en-US" altLang="zh-CN" sz="3200" b="1" dirty="0"/>
              <a:t>:</a:t>
            </a:r>
            <a:r>
              <a:rPr lang="en-US" altLang="zh-CN" dirty="0"/>
              <a:t> </a:t>
            </a:r>
            <a:endParaRPr lang="en-US" altLang="zh-CN" dirty="0"/>
          </a:p>
          <a:p>
            <a:pPr>
              <a:lnSpc>
                <a:spcPct val="120000"/>
              </a:lnSpc>
              <a:buNone/>
            </a:pPr>
            <a:r>
              <a:rPr lang="en-US" altLang="zh-CN" dirty="0"/>
              <a:t>       s  =  ( a + b + c) / 2</a:t>
            </a:r>
            <a:endParaRPr lang="en-US" altLang="zh-CN" dirty="0"/>
          </a:p>
          <a:p>
            <a:pPr>
              <a:lnSpc>
                <a:spcPct val="120000"/>
              </a:lnSpc>
              <a:buNone/>
            </a:pPr>
            <a:r>
              <a:rPr lang="en-US" altLang="zh-CN" dirty="0"/>
              <a:t>       A =  √ s ( s – a )( s – b )( s – c )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         </a:t>
            </a:r>
            <a:endParaRPr lang="zh-CN" altLang="en-US" dirty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27651" name="Text Box 5"/>
          <p:cNvSpPr txBox="1"/>
          <p:nvPr/>
        </p:nvSpPr>
        <p:spPr>
          <a:xfrm>
            <a:off x="4470400" y="74613"/>
            <a:ext cx="1397000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</a:t>
            </a:r>
            <a:r>
              <a:rPr lang="ko-KR" altLang="en-US" sz="2200" b="1" dirty="0">
                <a:solidFill>
                  <a:schemeClr val="bg1"/>
                </a:solidFill>
                <a:latin typeface="HY헤드라인M" pitchFamily="2" charset="-127"/>
                <a:ea typeface="HY헤드라인M" pitchFamily="2" charset="-127"/>
              </a:rPr>
              <a:t> </a:t>
            </a:r>
            <a:endParaRPr lang="ko-KR" altLang="en-US" sz="2200" b="1" dirty="0">
              <a:solidFill>
                <a:schemeClr val="bg1"/>
              </a:solidFill>
              <a:latin typeface="HY헤드라인M" pitchFamily="2" charset="-127"/>
              <a:ea typeface="HY헤드라인M" pitchFamily="2" charset="-127"/>
            </a:endParaRPr>
          </a:p>
        </p:txBody>
      </p:sp>
      <p:sp>
        <p:nvSpPr>
          <p:cNvPr id="27652" name="Line 4"/>
          <p:cNvSpPr/>
          <p:nvPr/>
        </p:nvSpPr>
        <p:spPr>
          <a:xfrm>
            <a:off x="2160588" y="4437063"/>
            <a:ext cx="46799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</p:sp>
    </p:spTree>
  </p:cSld>
  <p:clrMapOvr>
    <a:masterClrMapping/>
  </p:clrMapOvr>
  <p:transition spd="med">
    <p:wedg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8" name="Line 3"/>
          <p:cNvSpPr/>
          <p:nvPr/>
        </p:nvSpPr>
        <p:spPr>
          <a:xfrm>
            <a:off x="4716463" y="3043238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9" name="AutoShape 4"/>
          <p:cNvSpPr/>
          <p:nvPr/>
        </p:nvSpPr>
        <p:spPr>
          <a:xfrm>
            <a:off x="3998913" y="1387475"/>
            <a:ext cx="1468437" cy="576263"/>
          </a:xfrm>
          <a:prstGeom prst="flowChartTerminator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开始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0" name="Line 5"/>
          <p:cNvSpPr/>
          <p:nvPr/>
        </p:nvSpPr>
        <p:spPr>
          <a:xfrm>
            <a:off x="4733925" y="1963738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71" name="AutoShape 6"/>
          <p:cNvSpPr/>
          <p:nvPr/>
        </p:nvSpPr>
        <p:spPr>
          <a:xfrm>
            <a:off x="3509963" y="2324100"/>
            <a:ext cx="2363787" cy="719138"/>
          </a:xfrm>
          <a:prstGeom prst="flowChartInputOutpu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输入边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a,b,c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2" name="AutoShape 7"/>
          <p:cNvSpPr/>
          <p:nvPr/>
        </p:nvSpPr>
        <p:spPr>
          <a:xfrm>
            <a:off x="3167063" y="3459163"/>
            <a:ext cx="3097212" cy="865187"/>
          </a:xfrm>
          <a:prstGeom prst="flowChartProcess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3" name="AutoShape 8"/>
          <p:cNvSpPr/>
          <p:nvPr/>
        </p:nvSpPr>
        <p:spPr>
          <a:xfrm>
            <a:off x="3511550" y="4627563"/>
            <a:ext cx="2362200" cy="649287"/>
          </a:xfrm>
          <a:prstGeom prst="flowChartInputOutpu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输出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4" name="AutoShape 9"/>
          <p:cNvSpPr/>
          <p:nvPr/>
        </p:nvSpPr>
        <p:spPr>
          <a:xfrm>
            <a:off x="4000500" y="5661025"/>
            <a:ext cx="1468438" cy="576263"/>
          </a:xfrm>
          <a:prstGeom prst="flowChartTerminator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结束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5" name="Line 10"/>
          <p:cNvSpPr/>
          <p:nvPr/>
        </p:nvSpPr>
        <p:spPr>
          <a:xfrm>
            <a:off x="4733925" y="4340225"/>
            <a:ext cx="0" cy="2873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76" name="Line 11"/>
          <p:cNvSpPr/>
          <p:nvPr/>
        </p:nvSpPr>
        <p:spPr>
          <a:xfrm>
            <a:off x="4733925" y="5275263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2" name="Object 12"/>
          <p:cNvGraphicFramePr>
            <a:graphicFrameLocks noChangeAspect="1"/>
          </p:cNvGraphicFramePr>
          <p:nvPr/>
        </p:nvGraphicFramePr>
        <p:xfrm>
          <a:off x="3167063" y="3475038"/>
          <a:ext cx="3097212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727200" imgH="482600" progId="Equation.3">
                  <p:embed/>
                </p:oleObj>
              </mc:Choice>
              <mc:Fallback>
                <p:oleObj name="" r:id="rId1" imgW="1727200" imgH="482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67063" y="3475038"/>
                        <a:ext cx="3097212" cy="865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7" name="Text Box 13"/>
          <p:cNvSpPr txBox="1"/>
          <p:nvPr/>
        </p:nvSpPr>
        <p:spPr>
          <a:xfrm>
            <a:off x="103188" y="188913"/>
            <a:ext cx="3600450" cy="633412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marL="447675" indent="-447675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例</a:t>
            </a:r>
            <a:r>
              <a:rPr lang="en-US" altLang="zh-CN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3.1 </a:t>
            </a: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流程图</a:t>
            </a:r>
            <a:endParaRPr lang="zh-CN" altLang="en-US" sz="4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animBg="1"/>
      <p:bldP spid="11271" grpId="0" animBg="1"/>
      <p:bldP spid="11272" grpId="0" animBg="1"/>
      <p:bldP spid="11273" grpId="0" animBg="1"/>
      <p:bldP spid="11274" grpId="0" animBg="1"/>
      <p:bldP spid="1127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ext Box 5"/>
          <p:cNvSpPr txBox="1">
            <a:spLocks noChangeArrowheads="1"/>
          </p:cNvSpPr>
          <p:nvPr/>
        </p:nvSpPr>
        <p:spPr bwMode="auto">
          <a:xfrm>
            <a:off x="4454664" y="115888"/>
            <a:ext cx="1415772" cy="76944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609600" indent="-609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609600" marR="0" lvl="0" indent="-60960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练习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헤드라인M" pitchFamily="2" charset="-127"/>
                <a:ea typeface="HY헤드라인M" pitchFamily="2" charset="-127"/>
                <a:cs typeface="+mn-cs"/>
              </a:rPr>
              <a:t> 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헤드라인M" pitchFamily="2" charset="-127"/>
              <a:ea typeface="HY헤드라인M" pitchFamily="2" charset="-127"/>
              <a:cs typeface="+mn-cs"/>
            </a:endParaRPr>
          </a:p>
        </p:txBody>
      </p:sp>
      <p:sp>
        <p:nvSpPr>
          <p:cNvPr id="29699" name="Rectangle 3"/>
          <p:cNvSpPr/>
          <p:nvPr/>
        </p:nvSpPr>
        <p:spPr>
          <a:xfrm>
            <a:off x="-141287" y="1196975"/>
            <a:ext cx="9644062" cy="111760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3200" b="1" dirty="0">
                <a:solidFill>
                  <a:srgbClr val="A50021"/>
                </a:solidFill>
                <a:latin typeface="Gulim" pitchFamily="34" charset="-127"/>
                <a:ea typeface="宋体" panose="02010600030101010101" pitchFamily="2" charset="-122"/>
              </a:rPr>
              <a:t> 例</a:t>
            </a:r>
            <a:r>
              <a:rPr lang="en-US" altLang="zh-CN" sz="3200" b="1" dirty="0">
                <a:solidFill>
                  <a:srgbClr val="A50021"/>
                </a:solidFill>
                <a:latin typeface="Gulim" pitchFamily="34" charset="-127"/>
                <a:ea typeface="宋体" panose="02010600030101010101" pitchFamily="2" charset="-122"/>
              </a:rPr>
              <a:t>3.2</a:t>
            </a:r>
            <a:r>
              <a:rPr lang="zh-CN" altLang="en-US" sz="3200" b="1" dirty="0">
                <a:solidFill>
                  <a:srgbClr val="A50021"/>
                </a:solidFill>
                <a:latin typeface="Gulim" pitchFamily="34" charset="-127"/>
                <a:ea typeface="宋体" panose="02010600030101010101" pitchFamily="2" charset="-122"/>
              </a:rPr>
              <a:t>：</a:t>
            </a:r>
            <a:r>
              <a:rPr lang="zh-CN" altLang="en-US" sz="3200" b="1" dirty="0">
                <a:latin typeface="Gulim" pitchFamily="34" charset="-127"/>
                <a:ea typeface="宋体" panose="02010600030101010101" pitchFamily="2" charset="-122"/>
              </a:rPr>
              <a:t>输入立方体三条边，求体积和表面积。</a:t>
            </a:r>
            <a:endParaRPr lang="zh-CN" altLang="en-US" sz="3200" b="1" dirty="0">
              <a:latin typeface="Gulim" pitchFamily="34" charset="-127"/>
              <a:ea typeface="宋体" panose="02010600030101010101" pitchFamily="2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3200" b="1" dirty="0">
                <a:latin typeface="Gulim" pitchFamily="34" charset="-127"/>
                <a:ea typeface="宋体" panose="02010600030101010101" pitchFamily="2" charset="-122"/>
              </a:rPr>
              <a:t>           用流程图描述解题过程。</a:t>
            </a:r>
            <a:endParaRPr lang="zh-CN" altLang="en-US" sz="3200" b="1" dirty="0">
              <a:latin typeface="Gulim" pitchFamily="34" charset="-127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edg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6" name="Line 3"/>
          <p:cNvSpPr/>
          <p:nvPr/>
        </p:nvSpPr>
        <p:spPr>
          <a:xfrm>
            <a:off x="4860925" y="3043238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317" name="AutoShape 4"/>
          <p:cNvSpPr/>
          <p:nvPr/>
        </p:nvSpPr>
        <p:spPr>
          <a:xfrm>
            <a:off x="4143375" y="1387475"/>
            <a:ext cx="1468438" cy="576263"/>
          </a:xfrm>
          <a:prstGeom prst="flowChartTerminator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开始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8" name="Line 5"/>
          <p:cNvSpPr/>
          <p:nvPr/>
        </p:nvSpPr>
        <p:spPr>
          <a:xfrm>
            <a:off x="4878388" y="1963738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319" name="AutoShape 6"/>
          <p:cNvSpPr/>
          <p:nvPr/>
        </p:nvSpPr>
        <p:spPr>
          <a:xfrm>
            <a:off x="3654425" y="2324100"/>
            <a:ext cx="2363788" cy="719138"/>
          </a:xfrm>
          <a:prstGeom prst="flowChartInputOutpu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输入边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l,w,h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20" name="AutoShape 7"/>
          <p:cNvSpPr/>
          <p:nvPr/>
        </p:nvSpPr>
        <p:spPr>
          <a:xfrm>
            <a:off x="3311525" y="3459163"/>
            <a:ext cx="3097213" cy="865187"/>
          </a:xfrm>
          <a:prstGeom prst="flowChartProcess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21" name="AutoShape 8"/>
          <p:cNvSpPr/>
          <p:nvPr/>
        </p:nvSpPr>
        <p:spPr>
          <a:xfrm>
            <a:off x="3656013" y="4627563"/>
            <a:ext cx="2590800" cy="649287"/>
          </a:xfrm>
          <a:prstGeom prst="flowChartInputOutpu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输出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vol,area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22" name="AutoShape 9"/>
          <p:cNvSpPr/>
          <p:nvPr/>
        </p:nvSpPr>
        <p:spPr>
          <a:xfrm>
            <a:off x="4144963" y="5661025"/>
            <a:ext cx="1468437" cy="576263"/>
          </a:xfrm>
          <a:prstGeom prst="flowChartTerminator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结束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23" name="Line 10"/>
          <p:cNvSpPr/>
          <p:nvPr/>
        </p:nvSpPr>
        <p:spPr>
          <a:xfrm>
            <a:off x="4878388" y="4340225"/>
            <a:ext cx="0" cy="2873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324" name="Line 11"/>
          <p:cNvSpPr/>
          <p:nvPr/>
        </p:nvSpPr>
        <p:spPr>
          <a:xfrm>
            <a:off x="4878388" y="5275263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13325" name="Object 12"/>
          <p:cNvGraphicFramePr>
            <a:graphicFrameLocks noChangeAspect="1"/>
          </p:cNvGraphicFramePr>
          <p:nvPr/>
        </p:nvGraphicFramePr>
        <p:xfrm>
          <a:off x="3232150" y="3500438"/>
          <a:ext cx="3257550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624965" imgH="406400" progId="Equation.3">
                  <p:embed/>
                </p:oleObj>
              </mc:Choice>
              <mc:Fallback>
                <p:oleObj name="" r:id="rId1" imgW="1624965" imgH="4064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32150" y="3500438"/>
                        <a:ext cx="3257550" cy="814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2" name="Text Box 13"/>
          <p:cNvSpPr txBox="1"/>
          <p:nvPr/>
        </p:nvSpPr>
        <p:spPr>
          <a:xfrm>
            <a:off x="71438" y="188913"/>
            <a:ext cx="3600450" cy="633412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例</a:t>
            </a:r>
            <a:r>
              <a:rPr lang="en-US" altLang="zh-CN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3.2 </a:t>
            </a: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流程图</a:t>
            </a:r>
            <a:endParaRPr lang="zh-CN" altLang="en-US" sz="4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nimBg="1"/>
      <p:bldP spid="13319" grpId="0" animBg="1"/>
      <p:bldP spid="13320" grpId="0" animBg="1"/>
      <p:bldP spid="13321" grpId="0" animBg="1"/>
      <p:bldP spid="1332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Line 2"/>
          <p:cNvSpPr/>
          <p:nvPr/>
        </p:nvSpPr>
        <p:spPr>
          <a:xfrm>
            <a:off x="0" y="3562350"/>
            <a:ext cx="10080625" cy="0"/>
          </a:xfrm>
          <a:prstGeom prst="line">
            <a:avLst/>
          </a:prstGeom>
          <a:ln w="19050" cap="flat" cmpd="sng">
            <a:solidFill>
              <a:srgbClr val="666699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1747" name="Group 3"/>
          <p:cNvGrpSpPr/>
          <p:nvPr/>
        </p:nvGrpSpPr>
        <p:grpSpPr>
          <a:xfrm>
            <a:off x="0" y="2636838"/>
            <a:ext cx="10080625" cy="909637"/>
            <a:chOff x="0" y="0"/>
            <a:chExt cx="6350" cy="573"/>
          </a:xfrm>
        </p:grpSpPr>
        <p:sp>
          <p:nvSpPr>
            <p:cNvPr id="31857" name="Rectangle 4"/>
            <p:cNvSpPr/>
            <p:nvPr/>
          </p:nvSpPr>
          <p:spPr>
            <a:xfrm>
              <a:off x="0" y="0"/>
              <a:ext cx="6349" cy="573"/>
            </a:xfrm>
            <a:prstGeom prst="rect">
              <a:avLst/>
            </a:prstGeom>
            <a:solidFill>
              <a:srgbClr val="3A8CE7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58" name="Line 5"/>
            <p:cNvSpPr/>
            <p:nvPr/>
          </p:nvSpPr>
          <p:spPr>
            <a:xfrm>
              <a:off x="0" y="105"/>
              <a:ext cx="6350" cy="0"/>
            </a:xfrm>
            <a:prstGeom prst="line">
              <a:avLst/>
            </a:prstGeom>
            <a:ln w="190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1748" name="Group 6"/>
          <p:cNvGrpSpPr/>
          <p:nvPr/>
        </p:nvGrpSpPr>
        <p:grpSpPr>
          <a:xfrm>
            <a:off x="71438" y="80963"/>
            <a:ext cx="2228850" cy="6680200"/>
            <a:chOff x="0" y="0"/>
            <a:chExt cx="1404" cy="4208"/>
          </a:xfrm>
        </p:grpSpPr>
        <p:sp>
          <p:nvSpPr>
            <p:cNvPr id="31750" name="Oval 7"/>
            <p:cNvSpPr/>
            <p:nvPr/>
          </p:nvSpPr>
          <p:spPr>
            <a:xfrm>
              <a:off x="590" y="174"/>
              <a:ext cx="225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51" name="Oval 8"/>
            <p:cNvSpPr/>
            <p:nvPr/>
          </p:nvSpPr>
          <p:spPr>
            <a:xfrm>
              <a:off x="295" y="174"/>
              <a:ext cx="225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52" name="Oval 9"/>
            <p:cNvSpPr/>
            <p:nvPr/>
          </p:nvSpPr>
          <p:spPr>
            <a:xfrm>
              <a:off x="0" y="174"/>
              <a:ext cx="224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53" name="Oval 10"/>
            <p:cNvSpPr/>
            <p:nvPr/>
          </p:nvSpPr>
          <p:spPr>
            <a:xfrm>
              <a:off x="1180" y="174"/>
              <a:ext cx="224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54" name="Oval 11"/>
            <p:cNvSpPr/>
            <p:nvPr/>
          </p:nvSpPr>
          <p:spPr>
            <a:xfrm>
              <a:off x="885" y="174"/>
              <a:ext cx="224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55" name="Oval 12"/>
            <p:cNvSpPr/>
            <p:nvPr/>
          </p:nvSpPr>
          <p:spPr>
            <a:xfrm>
              <a:off x="646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56" name="Oval 13"/>
            <p:cNvSpPr/>
            <p:nvPr/>
          </p:nvSpPr>
          <p:spPr>
            <a:xfrm>
              <a:off x="351" y="473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57" name="Oval 14"/>
            <p:cNvSpPr/>
            <p:nvPr/>
          </p:nvSpPr>
          <p:spPr>
            <a:xfrm>
              <a:off x="56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58" name="Oval 15"/>
            <p:cNvSpPr/>
            <p:nvPr/>
          </p:nvSpPr>
          <p:spPr>
            <a:xfrm>
              <a:off x="1236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59" name="Oval 16"/>
            <p:cNvSpPr/>
            <p:nvPr/>
          </p:nvSpPr>
          <p:spPr>
            <a:xfrm>
              <a:off x="941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60" name="Oval 17"/>
            <p:cNvSpPr/>
            <p:nvPr/>
          </p:nvSpPr>
          <p:spPr>
            <a:xfrm>
              <a:off x="627" y="68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61" name="Oval 18"/>
            <p:cNvSpPr/>
            <p:nvPr/>
          </p:nvSpPr>
          <p:spPr>
            <a:xfrm>
              <a:off x="332" y="68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62" name="Oval 19"/>
            <p:cNvSpPr/>
            <p:nvPr/>
          </p:nvSpPr>
          <p:spPr>
            <a:xfrm>
              <a:off x="37" y="68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63" name="Oval 20"/>
            <p:cNvSpPr/>
            <p:nvPr/>
          </p:nvSpPr>
          <p:spPr>
            <a:xfrm>
              <a:off x="1217" y="68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64" name="Oval 21"/>
            <p:cNvSpPr/>
            <p:nvPr/>
          </p:nvSpPr>
          <p:spPr>
            <a:xfrm>
              <a:off x="922" y="68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65" name="Oval 22"/>
            <p:cNvSpPr/>
            <p:nvPr/>
          </p:nvSpPr>
          <p:spPr>
            <a:xfrm>
              <a:off x="590" y="1113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66" name="Oval 23"/>
            <p:cNvSpPr/>
            <p:nvPr/>
          </p:nvSpPr>
          <p:spPr>
            <a:xfrm>
              <a:off x="295" y="1113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67" name="Oval 24"/>
            <p:cNvSpPr/>
            <p:nvPr/>
          </p:nvSpPr>
          <p:spPr>
            <a:xfrm>
              <a:off x="0" y="1113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68" name="Oval 25"/>
            <p:cNvSpPr/>
            <p:nvPr/>
          </p:nvSpPr>
          <p:spPr>
            <a:xfrm>
              <a:off x="1180" y="1113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69" name="Oval 26"/>
            <p:cNvSpPr/>
            <p:nvPr/>
          </p:nvSpPr>
          <p:spPr>
            <a:xfrm>
              <a:off x="885" y="1113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70" name="Oval 27"/>
            <p:cNvSpPr/>
            <p:nvPr/>
          </p:nvSpPr>
          <p:spPr>
            <a:xfrm>
              <a:off x="646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71" name="Oval 28"/>
            <p:cNvSpPr/>
            <p:nvPr/>
          </p:nvSpPr>
          <p:spPr>
            <a:xfrm>
              <a:off x="351" y="930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72" name="Oval 29"/>
            <p:cNvSpPr/>
            <p:nvPr/>
          </p:nvSpPr>
          <p:spPr>
            <a:xfrm>
              <a:off x="56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73" name="Oval 30"/>
            <p:cNvSpPr/>
            <p:nvPr/>
          </p:nvSpPr>
          <p:spPr>
            <a:xfrm>
              <a:off x="1236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74" name="Oval 31"/>
            <p:cNvSpPr/>
            <p:nvPr/>
          </p:nvSpPr>
          <p:spPr>
            <a:xfrm>
              <a:off x="941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75" name="Oval 32"/>
            <p:cNvSpPr/>
            <p:nvPr/>
          </p:nvSpPr>
          <p:spPr>
            <a:xfrm>
              <a:off x="646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76" name="Oval 33"/>
            <p:cNvSpPr/>
            <p:nvPr/>
          </p:nvSpPr>
          <p:spPr>
            <a:xfrm>
              <a:off x="351" y="1429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77" name="Oval 34"/>
            <p:cNvSpPr/>
            <p:nvPr/>
          </p:nvSpPr>
          <p:spPr>
            <a:xfrm>
              <a:off x="56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78" name="Oval 35"/>
            <p:cNvSpPr/>
            <p:nvPr/>
          </p:nvSpPr>
          <p:spPr>
            <a:xfrm>
              <a:off x="1236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79" name="Oval 36"/>
            <p:cNvSpPr/>
            <p:nvPr/>
          </p:nvSpPr>
          <p:spPr>
            <a:xfrm>
              <a:off x="941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80" name="Oval 37"/>
            <p:cNvSpPr/>
            <p:nvPr/>
          </p:nvSpPr>
          <p:spPr>
            <a:xfrm>
              <a:off x="627" y="1640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81" name="Oval 38"/>
            <p:cNvSpPr/>
            <p:nvPr/>
          </p:nvSpPr>
          <p:spPr>
            <a:xfrm>
              <a:off x="332" y="1640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82" name="Oval 39"/>
            <p:cNvSpPr/>
            <p:nvPr/>
          </p:nvSpPr>
          <p:spPr>
            <a:xfrm>
              <a:off x="37" y="1640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83" name="Oval 40"/>
            <p:cNvSpPr/>
            <p:nvPr/>
          </p:nvSpPr>
          <p:spPr>
            <a:xfrm>
              <a:off x="1217" y="1640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84" name="Oval 41"/>
            <p:cNvSpPr/>
            <p:nvPr/>
          </p:nvSpPr>
          <p:spPr>
            <a:xfrm>
              <a:off x="922" y="1640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85" name="Oval 42"/>
            <p:cNvSpPr/>
            <p:nvPr/>
          </p:nvSpPr>
          <p:spPr>
            <a:xfrm>
              <a:off x="646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86" name="Oval 43"/>
            <p:cNvSpPr/>
            <p:nvPr/>
          </p:nvSpPr>
          <p:spPr>
            <a:xfrm>
              <a:off x="351" y="1886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87" name="Oval 44"/>
            <p:cNvSpPr/>
            <p:nvPr/>
          </p:nvSpPr>
          <p:spPr>
            <a:xfrm>
              <a:off x="56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88" name="Oval 45"/>
            <p:cNvSpPr/>
            <p:nvPr/>
          </p:nvSpPr>
          <p:spPr>
            <a:xfrm>
              <a:off x="1236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89" name="Oval 46"/>
            <p:cNvSpPr/>
            <p:nvPr/>
          </p:nvSpPr>
          <p:spPr>
            <a:xfrm>
              <a:off x="941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90" name="Oval 47"/>
            <p:cNvSpPr/>
            <p:nvPr/>
          </p:nvSpPr>
          <p:spPr>
            <a:xfrm>
              <a:off x="646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91" name="Oval 48"/>
            <p:cNvSpPr/>
            <p:nvPr/>
          </p:nvSpPr>
          <p:spPr>
            <a:xfrm>
              <a:off x="351" y="0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92" name="Oval 49"/>
            <p:cNvSpPr/>
            <p:nvPr/>
          </p:nvSpPr>
          <p:spPr>
            <a:xfrm>
              <a:off x="56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93" name="Oval 50"/>
            <p:cNvSpPr/>
            <p:nvPr/>
          </p:nvSpPr>
          <p:spPr>
            <a:xfrm>
              <a:off x="1236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94" name="Oval 51"/>
            <p:cNvSpPr/>
            <p:nvPr/>
          </p:nvSpPr>
          <p:spPr>
            <a:xfrm>
              <a:off x="941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95" name="Oval 52"/>
            <p:cNvSpPr/>
            <p:nvPr/>
          </p:nvSpPr>
          <p:spPr>
            <a:xfrm>
              <a:off x="590" y="2109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96" name="Oval 53"/>
            <p:cNvSpPr/>
            <p:nvPr/>
          </p:nvSpPr>
          <p:spPr>
            <a:xfrm>
              <a:off x="295" y="2109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97" name="Oval 54"/>
            <p:cNvSpPr/>
            <p:nvPr/>
          </p:nvSpPr>
          <p:spPr>
            <a:xfrm>
              <a:off x="0" y="2109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98" name="Oval 55"/>
            <p:cNvSpPr/>
            <p:nvPr/>
          </p:nvSpPr>
          <p:spPr>
            <a:xfrm>
              <a:off x="1180" y="2109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799" name="Oval 56"/>
            <p:cNvSpPr/>
            <p:nvPr/>
          </p:nvSpPr>
          <p:spPr>
            <a:xfrm>
              <a:off x="885" y="2109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00" name="Oval 57"/>
            <p:cNvSpPr/>
            <p:nvPr/>
          </p:nvSpPr>
          <p:spPr>
            <a:xfrm>
              <a:off x="646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01" name="Oval 58"/>
            <p:cNvSpPr/>
            <p:nvPr/>
          </p:nvSpPr>
          <p:spPr>
            <a:xfrm>
              <a:off x="351" y="2425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02" name="Oval 59"/>
            <p:cNvSpPr/>
            <p:nvPr/>
          </p:nvSpPr>
          <p:spPr>
            <a:xfrm>
              <a:off x="56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03" name="Oval 60"/>
            <p:cNvSpPr/>
            <p:nvPr/>
          </p:nvSpPr>
          <p:spPr>
            <a:xfrm>
              <a:off x="1236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04" name="Oval 61"/>
            <p:cNvSpPr/>
            <p:nvPr/>
          </p:nvSpPr>
          <p:spPr>
            <a:xfrm>
              <a:off x="941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05" name="Oval 62"/>
            <p:cNvSpPr/>
            <p:nvPr/>
          </p:nvSpPr>
          <p:spPr>
            <a:xfrm>
              <a:off x="627" y="2636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06" name="Oval 63"/>
            <p:cNvSpPr/>
            <p:nvPr/>
          </p:nvSpPr>
          <p:spPr>
            <a:xfrm>
              <a:off x="332" y="2636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07" name="Oval 64"/>
            <p:cNvSpPr/>
            <p:nvPr/>
          </p:nvSpPr>
          <p:spPr>
            <a:xfrm>
              <a:off x="37" y="2636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08" name="Oval 65"/>
            <p:cNvSpPr/>
            <p:nvPr/>
          </p:nvSpPr>
          <p:spPr>
            <a:xfrm>
              <a:off x="1217" y="2636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09" name="Oval 66"/>
            <p:cNvSpPr/>
            <p:nvPr/>
          </p:nvSpPr>
          <p:spPr>
            <a:xfrm>
              <a:off x="922" y="2636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10" name="Oval 67"/>
            <p:cNvSpPr/>
            <p:nvPr/>
          </p:nvSpPr>
          <p:spPr>
            <a:xfrm>
              <a:off x="646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11" name="Oval 68"/>
            <p:cNvSpPr/>
            <p:nvPr/>
          </p:nvSpPr>
          <p:spPr>
            <a:xfrm>
              <a:off x="351" y="2882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12" name="Oval 69"/>
            <p:cNvSpPr/>
            <p:nvPr/>
          </p:nvSpPr>
          <p:spPr>
            <a:xfrm>
              <a:off x="56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13" name="Oval 70"/>
            <p:cNvSpPr/>
            <p:nvPr/>
          </p:nvSpPr>
          <p:spPr>
            <a:xfrm>
              <a:off x="1236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14" name="Oval 71"/>
            <p:cNvSpPr/>
            <p:nvPr/>
          </p:nvSpPr>
          <p:spPr>
            <a:xfrm>
              <a:off x="941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15" name="Oval 72"/>
            <p:cNvSpPr/>
            <p:nvPr/>
          </p:nvSpPr>
          <p:spPr>
            <a:xfrm>
              <a:off x="590" y="3107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16" name="Oval 73"/>
            <p:cNvSpPr/>
            <p:nvPr/>
          </p:nvSpPr>
          <p:spPr>
            <a:xfrm>
              <a:off x="295" y="3107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17" name="Oval 74"/>
            <p:cNvSpPr/>
            <p:nvPr/>
          </p:nvSpPr>
          <p:spPr>
            <a:xfrm>
              <a:off x="0" y="3107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18" name="Oval 75"/>
            <p:cNvSpPr/>
            <p:nvPr/>
          </p:nvSpPr>
          <p:spPr>
            <a:xfrm>
              <a:off x="1180" y="3107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19" name="Oval 76"/>
            <p:cNvSpPr/>
            <p:nvPr/>
          </p:nvSpPr>
          <p:spPr>
            <a:xfrm>
              <a:off x="885" y="3107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20" name="Oval 77"/>
            <p:cNvSpPr/>
            <p:nvPr/>
          </p:nvSpPr>
          <p:spPr>
            <a:xfrm>
              <a:off x="646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21" name="Oval 78"/>
            <p:cNvSpPr/>
            <p:nvPr/>
          </p:nvSpPr>
          <p:spPr>
            <a:xfrm>
              <a:off x="351" y="3423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22" name="Oval 79"/>
            <p:cNvSpPr/>
            <p:nvPr/>
          </p:nvSpPr>
          <p:spPr>
            <a:xfrm>
              <a:off x="56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23" name="Oval 80"/>
            <p:cNvSpPr/>
            <p:nvPr/>
          </p:nvSpPr>
          <p:spPr>
            <a:xfrm>
              <a:off x="1236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24" name="Oval 81"/>
            <p:cNvSpPr/>
            <p:nvPr/>
          </p:nvSpPr>
          <p:spPr>
            <a:xfrm>
              <a:off x="941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25" name="Oval 82"/>
            <p:cNvSpPr/>
            <p:nvPr/>
          </p:nvSpPr>
          <p:spPr>
            <a:xfrm>
              <a:off x="627" y="363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26" name="Oval 83"/>
            <p:cNvSpPr/>
            <p:nvPr/>
          </p:nvSpPr>
          <p:spPr>
            <a:xfrm>
              <a:off x="332" y="363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27" name="Oval 84"/>
            <p:cNvSpPr/>
            <p:nvPr/>
          </p:nvSpPr>
          <p:spPr>
            <a:xfrm>
              <a:off x="37" y="363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28" name="Oval 85"/>
            <p:cNvSpPr/>
            <p:nvPr/>
          </p:nvSpPr>
          <p:spPr>
            <a:xfrm>
              <a:off x="1217" y="363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29" name="Oval 86"/>
            <p:cNvSpPr/>
            <p:nvPr/>
          </p:nvSpPr>
          <p:spPr>
            <a:xfrm>
              <a:off x="922" y="363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30" name="Oval 87"/>
            <p:cNvSpPr/>
            <p:nvPr/>
          </p:nvSpPr>
          <p:spPr>
            <a:xfrm>
              <a:off x="646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31" name="Oval 88"/>
            <p:cNvSpPr/>
            <p:nvPr/>
          </p:nvSpPr>
          <p:spPr>
            <a:xfrm>
              <a:off x="351" y="3880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32" name="Oval 89"/>
            <p:cNvSpPr/>
            <p:nvPr/>
          </p:nvSpPr>
          <p:spPr>
            <a:xfrm>
              <a:off x="56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33" name="Oval 90"/>
            <p:cNvSpPr/>
            <p:nvPr/>
          </p:nvSpPr>
          <p:spPr>
            <a:xfrm>
              <a:off x="1236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34" name="Oval 91"/>
            <p:cNvSpPr/>
            <p:nvPr/>
          </p:nvSpPr>
          <p:spPr>
            <a:xfrm>
              <a:off x="941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35" name="Oval 92"/>
            <p:cNvSpPr/>
            <p:nvPr/>
          </p:nvSpPr>
          <p:spPr>
            <a:xfrm>
              <a:off x="627" y="4059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36" name="Oval 93"/>
            <p:cNvSpPr/>
            <p:nvPr/>
          </p:nvSpPr>
          <p:spPr>
            <a:xfrm>
              <a:off x="332" y="4059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37" name="Oval 94"/>
            <p:cNvSpPr/>
            <p:nvPr/>
          </p:nvSpPr>
          <p:spPr>
            <a:xfrm>
              <a:off x="37" y="4059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38" name="Oval 95"/>
            <p:cNvSpPr/>
            <p:nvPr/>
          </p:nvSpPr>
          <p:spPr>
            <a:xfrm>
              <a:off x="1217" y="4059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39" name="Oval 96"/>
            <p:cNvSpPr/>
            <p:nvPr/>
          </p:nvSpPr>
          <p:spPr>
            <a:xfrm>
              <a:off x="922" y="4059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40" name="Oval 97"/>
            <p:cNvSpPr/>
            <p:nvPr/>
          </p:nvSpPr>
          <p:spPr>
            <a:xfrm>
              <a:off x="1254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41" name="Oval 98"/>
            <p:cNvSpPr/>
            <p:nvPr/>
          </p:nvSpPr>
          <p:spPr>
            <a:xfrm>
              <a:off x="961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42" name="Oval 99"/>
            <p:cNvSpPr/>
            <p:nvPr/>
          </p:nvSpPr>
          <p:spPr>
            <a:xfrm>
              <a:off x="664" y="1631"/>
              <a:ext cx="71" cy="71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43" name="Oval 100"/>
            <p:cNvSpPr/>
            <p:nvPr/>
          </p:nvSpPr>
          <p:spPr>
            <a:xfrm>
              <a:off x="663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44" name="Oval 101"/>
            <p:cNvSpPr/>
            <p:nvPr/>
          </p:nvSpPr>
          <p:spPr>
            <a:xfrm>
              <a:off x="367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45" name="Oval 102"/>
            <p:cNvSpPr/>
            <p:nvPr/>
          </p:nvSpPr>
          <p:spPr>
            <a:xfrm>
              <a:off x="74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46" name="Oval 103"/>
            <p:cNvSpPr/>
            <p:nvPr/>
          </p:nvSpPr>
          <p:spPr>
            <a:xfrm>
              <a:off x="1254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47" name="Oval 104"/>
            <p:cNvSpPr/>
            <p:nvPr/>
          </p:nvSpPr>
          <p:spPr>
            <a:xfrm>
              <a:off x="961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48" name="Oval 105"/>
            <p:cNvSpPr/>
            <p:nvPr/>
          </p:nvSpPr>
          <p:spPr>
            <a:xfrm>
              <a:off x="663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49" name="Oval 106"/>
            <p:cNvSpPr/>
            <p:nvPr/>
          </p:nvSpPr>
          <p:spPr>
            <a:xfrm>
              <a:off x="367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50" name="Oval 107"/>
            <p:cNvSpPr/>
            <p:nvPr/>
          </p:nvSpPr>
          <p:spPr>
            <a:xfrm>
              <a:off x="74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51" name="Oval 108"/>
            <p:cNvSpPr/>
            <p:nvPr/>
          </p:nvSpPr>
          <p:spPr>
            <a:xfrm>
              <a:off x="1254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52" name="Oval 109"/>
            <p:cNvSpPr/>
            <p:nvPr/>
          </p:nvSpPr>
          <p:spPr>
            <a:xfrm>
              <a:off x="961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53" name="Oval 110"/>
            <p:cNvSpPr/>
            <p:nvPr/>
          </p:nvSpPr>
          <p:spPr>
            <a:xfrm>
              <a:off x="664" y="2259"/>
              <a:ext cx="71" cy="71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54" name="Oval 111"/>
            <p:cNvSpPr/>
            <p:nvPr/>
          </p:nvSpPr>
          <p:spPr>
            <a:xfrm>
              <a:off x="663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55" name="Oval 112"/>
            <p:cNvSpPr/>
            <p:nvPr/>
          </p:nvSpPr>
          <p:spPr>
            <a:xfrm>
              <a:off x="367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31856" name="Oval 113"/>
            <p:cNvSpPr/>
            <p:nvPr/>
          </p:nvSpPr>
          <p:spPr>
            <a:xfrm>
              <a:off x="74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</p:grpSp>
      <p:sp>
        <p:nvSpPr>
          <p:cNvPr id="14450" name="Text Box 114"/>
          <p:cNvSpPr txBox="1">
            <a:spLocks noChangeArrowheads="1"/>
          </p:cNvSpPr>
          <p:nvPr/>
        </p:nvSpPr>
        <p:spPr bwMode="auto">
          <a:xfrm>
            <a:off x="896938" y="2008188"/>
            <a:ext cx="8175625" cy="62865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ulim" pitchFamily="34" charset="-127"/>
                <a:ea typeface="宋体" panose="02010600030101010101" pitchFamily="2" charset="-122"/>
                <a:cs typeface="Tahoma" panose="020B0604030504040204" pitchFamily="34" charset="0"/>
              </a:rPr>
              <a:t>3.2 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ulim" pitchFamily="34" charset="-127"/>
                <a:ea typeface="宋体" panose="02010600030101010101" pitchFamily="2" charset="-122"/>
                <a:cs typeface="Tahoma" panose="020B0604030504040204" pitchFamily="34" charset="0"/>
              </a:rPr>
              <a:t>关系运算符与逻辑运算符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ulim" pitchFamily="34" charset="-127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wedg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/>
          <p:nvPr>
            <p:ph type="title"/>
          </p:nvPr>
        </p:nvSpPr>
        <p:spPr>
          <a:xfrm>
            <a:off x="504825" y="53975"/>
            <a:ext cx="9072563" cy="1143000"/>
          </a:xfrm>
          <a:noFill/>
          <a:ln>
            <a:noFill/>
          </a:ln>
        </p:spPr>
        <p:txBody>
          <a:bodyPr/>
          <a:p>
            <a:pPr marL="609600" indent="-609600" eaLnBrk="1" hangingPunct="1"/>
            <a:r>
              <a:rPr lang="zh-CN" altLang="en-US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关系运算符</a:t>
            </a:r>
            <a:endParaRPr lang="zh-CN" altLang="en-US" sz="4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52413" y="1196975"/>
            <a:ext cx="9828212" cy="4754563"/>
          </a:xfrm>
          <a:solidFill>
            <a:srgbClr val="FFFFFF"/>
          </a:solidFill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447675" marR="0" lvl="0" indent="-447675" algn="l" defTabSz="914400" rtl="0" eaLnBrk="0" fontAlgn="base" latinLnBrk="1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&gt;=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&lt;=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==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!= 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(P109,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5-1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关系运算符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#include &lt;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stdio.h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main()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int 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= 6;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("%d\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n%d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\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n%d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\n",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&lt;=4, 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!= 9, 7&gt;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&gt;5 ); 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return 0;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}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5364" name="Text Box 4"/>
          <p:cNvSpPr txBox="1"/>
          <p:nvPr/>
        </p:nvSpPr>
        <p:spPr>
          <a:xfrm>
            <a:off x="323850" y="5951538"/>
            <a:ext cx="54371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中，真为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，假为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5" name="Text Box 5"/>
          <p:cNvSpPr txBox="1"/>
          <p:nvPr/>
        </p:nvSpPr>
        <p:spPr>
          <a:xfrm>
            <a:off x="5903913" y="2276475"/>
            <a:ext cx="388937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注：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关系表达式成立，结果为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，否则为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对话气泡: 椭圆形 5"/>
          <p:cNvSpPr/>
          <p:nvPr/>
        </p:nvSpPr>
        <p:spPr>
          <a:xfrm>
            <a:off x="2952750" y="5029200"/>
            <a:ext cx="6132513" cy="969963"/>
          </a:xfrm>
          <a:prstGeom prst="wedgeEllipseCallout">
            <a:avLst>
              <a:gd name="adj1" fmla="val 30847"/>
              <a:gd name="adj2" fmla="val -92319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53882" dir="13499999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 anchor="ctr" anchorCtr="0">
            <a:spAutoFit/>
          </a:bodyPr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dirty="0">
                <a:latin typeface="Gulim" pitchFamily="34" charset="-127"/>
                <a:cs typeface="Tahoma" panose="020B0604030504040204" pitchFamily="34" charset="0"/>
              </a:rPr>
              <a:t>从左至右计算：先计算</a:t>
            </a:r>
            <a:r>
              <a:rPr lang="en-US" altLang="zh-CN" sz="2800" dirty="0">
                <a:latin typeface="Gulim" pitchFamily="34" charset="-127"/>
                <a:cs typeface="Tahoma" panose="020B0604030504040204" pitchFamily="34" charset="0"/>
              </a:rPr>
              <a:t>7&gt;i</a:t>
            </a:r>
            <a:r>
              <a:rPr lang="zh-CN" altLang="en-US" sz="2800" dirty="0">
                <a:latin typeface="Gulim" pitchFamily="34" charset="-127"/>
                <a:cs typeface="Tahoma" panose="020B0604030504040204" pitchFamily="34" charset="0"/>
              </a:rPr>
              <a:t>，结果</a:t>
            </a:r>
            <a:r>
              <a:rPr lang="en-US" altLang="zh-CN" sz="2800" dirty="0">
                <a:latin typeface="Gulim" pitchFamily="34" charset="-127"/>
                <a:cs typeface="Tahoma" panose="020B0604030504040204" pitchFamily="34" charset="0"/>
              </a:rPr>
              <a:t>1</a:t>
            </a:r>
            <a:r>
              <a:rPr lang="zh-CN" altLang="en-US" sz="2800" dirty="0">
                <a:latin typeface="Gulim" pitchFamily="34" charset="-127"/>
                <a:cs typeface="Tahoma" panose="020B0604030504040204" pitchFamily="34" charset="0"/>
              </a:rPr>
              <a:t>。再计算</a:t>
            </a:r>
            <a:r>
              <a:rPr lang="en-US" altLang="zh-CN" sz="2800" dirty="0">
                <a:latin typeface="Gulim" pitchFamily="34" charset="-127"/>
                <a:cs typeface="Tahoma" panose="020B0604030504040204" pitchFamily="34" charset="0"/>
              </a:rPr>
              <a:t>1&gt;5</a:t>
            </a:r>
            <a:r>
              <a:rPr lang="zh-CN" altLang="en-US" sz="2800" dirty="0">
                <a:latin typeface="Gulim" pitchFamily="34" charset="-127"/>
                <a:cs typeface="Tahoma" panose="020B0604030504040204" pitchFamily="34" charset="0"/>
              </a:rPr>
              <a:t>，结果</a:t>
            </a:r>
            <a:r>
              <a:rPr lang="en-US" altLang="zh-CN" sz="2800" dirty="0">
                <a:latin typeface="Gulim" pitchFamily="34" charset="-127"/>
                <a:cs typeface="Tahoma" panose="020B0604030504040204" pitchFamily="34" charset="0"/>
              </a:rPr>
              <a:t>0</a:t>
            </a:r>
            <a:r>
              <a:rPr lang="zh-CN" altLang="en-US" sz="2800" dirty="0">
                <a:latin typeface="Gulim" pitchFamily="34" charset="-127"/>
                <a:cs typeface="Tahoma" panose="020B0604030504040204" pitchFamily="34" charset="0"/>
              </a:rPr>
              <a:t>。</a:t>
            </a:r>
            <a:endParaRPr lang="zh-CN" altLang="en-US" sz="2800" dirty="0">
              <a:latin typeface="Gulim" pitchFamily="34" charset="-127"/>
              <a:ea typeface="Tahoma" panose="020B0604030504040204" pitchFamily="34" charset="0"/>
            </a:endParaRPr>
          </a:p>
        </p:txBody>
      </p:sp>
      <p:sp>
        <p:nvSpPr>
          <p:cNvPr id="7" name="对话气泡: 椭圆形 6"/>
          <p:cNvSpPr/>
          <p:nvPr/>
        </p:nvSpPr>
        <p:spPr>
          <a:xfrm>
            <a:off x="2843213" y="5464175"/>
            <a:ext cx="5618162" cy="484188"/>
          </a:xfrm>
          <a:prstGeom prst="wedgeEllipseCallout">
            <a:avLst>
              <a:gd name="adj1" fmla="val 36866"/>
              <a:gd name="adj2" fmla="val -237981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53882" dir="13499999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 anchor="ctr" anchorCtr="0">
            <a:spAutoFit/>
          </a:bodyPr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  <a:cs typeface="Tahoma" panose="020B0604030504040204" pitchFamily="34" charset="0"/>
              </a:rPr>
              <a:t>i</a:t>
            </a:r>
            <a:r>
              <a:rPr lang="zh-CN" altLang="en-US" sz="2800" dirty="0">
                <a:latin typeface="Gulim" pitchFamily="34" charset="-127"/>
                <a:cs typeface="Tahoma" panose="020B0604030504040204" pitchFamily="34" charset="0"/>
              </a:rPr>
              <a:t>在</a:t>
            </a:r>
            <a:r>
              <a:rPr lang="en-US" altLang="zh-CN" sz="2800" dirty="0">
                <a:latin typeface="Gulim" pitchFamily="34" charset="-127"/>
                <a:cs typeface="Tahoma" panose="020B0604030504040204" pitchFamily="34" charset="0"/>
              </a:rPr>
              <a:t>5</a:t>
            </a:r>
            <a:r>
              <a:rPr lang="zh-CN" altLang="en-US" sz="2800" dirty="0">
                <a:latin typeface="Gulim" pitchFamily="34" charset="-127"/>
                <a:cs typeface="Tahoma" panose="020B0604030504040204" pitchFamily="34" charset="0"/>
              </a:rPr>
              <a:t>和</a:t>
            </a:r>
            <a:r>
              <a:rPr lang="en-US" altLang="zh-CN" sz="2800" dirty="0">
                <a:latin typeface="Gulim" pitchFamily="34" charset="-127"/>
                <a:cs typeface="Tahoma" panose="020B0604030504040204" pitchFamily="34" charset="0"/>
              </a:rPr>
              <a:t>7</a:t>
            </a:r>
            <a:r>
              <a:rPr lang="zh-CN" altLang="en-US" sz="2800" dirty="0">
                <a:latin typeface="Gulim" pitchFamily="34" charset="-127"/>
                <a:cs typeface="Tahoma" panose="020B0604030504040204" pitchFamily="34" charset="0"/>
              </a:rPr>
              <a:t>之间：</a:t>
            </a:r>
            <a:r>
              <a:rPr lang="en-US" altLang="zh-CN" sz="2800" dirty="0">
                <a:latin typeface="Gulim" pitchFamily="34" charset="-127"/>
                <a:cs typeface="Tahoma" panose="020B0604030504040204" pitchFamily="34" charset="0"/>
              </a:rPr>
              <a:t>i&gt;5 </a:t>
            </a:r>
            <a:r>
              <a:rPr lang="zh-CN" altLang="en-US" sz="2800" dirty="0">
                <a:latin typeface="Gulim" pitchFamily="34" charset="-127"/>
                <a:cs typeface="Tahoma" panose="020B0604030504040204" pitchFamily="34" charset="0"/>
              </a:rPr>
              <a:t>且</a:t>
            </a:r>
            <a:r>
              <a:rPr lang="en-US" altLang="zh-CN" sz="2800" dirty="0">
                <a:latin typeface="Gulim" pitchFamily="34" charset="-127"/>
                <a:cs typeface="Tahoma" panose="020B0604030504040204" pitchFamily="34" charset="0"/>
              </a:rPr>
              <a:t> i&lt;7</a:t>
            </a:r>
            <a:endParaRPr lang="zh-CN" altLang="en-US" sz="2800" dirty="0">
              <a:latin typeface="Gulim" pitchFamily="34" charset="-127"/>
              <a:ea typeface="Tahoma" panose="020B060403050404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80472" y="5397927"/>
            <a:ext cx="756071" cy="5232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highlight>
                  <a:srgbClr val="FFFF00"/>
                </a:highlight>
                <a:latin typeface="Gulim" pitchFamily="34" charset="-127"/>
                <a:ea typeface="Gulim" pitchFamily="34" charset="-127"/>
                <a:cs typeface="+mn-cs"/>
              </a:rPr>
              <a:t>&amp;&amp;</a:t>
            </a:r>
            <a:endParaRPr kumimoji="0" lang="zh-CN" altLang="en-US" sz="2800" kern="1200" cap="none" spc="0" normalizeH="0" baseline="0" noProof="0" dirty="0">
              <a:highlight>
                <a:srgbClr val="FFFF00"/>
              </a:highlight>
              <a:latin typeface="Gulim" pitchFamily="34" charset="-127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/>
      <p:bldP spid="15365" grpId="0"/>
      <p:bldP spid="6" grpId="0" animBg="1"/>
      <p:bldP spid="6" grpId="1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/>
          <p:nvPr>
            <p:ph type="title"/>
          </p:nvPr>
        </p:nvSpPr>
        <p:spPr>
          <a:xfrm>
            <a:off x="431800" y="44450"/>
            <a:ext cx="9072563" cy="1143000"/>
          </a:xfrm>
          <a:noFill/>
          <a:ln>
            <a:noFill/>
          </a:ln>
        </p:spPr>
        <p:txBody>
          <a:bodyPr/>
          <a:p>
            <a:r>
              <a:rPr lang="zh-CN" altLang="en-US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逻辑运算符</a:t>
            </a:r>
            <a:endParaRPr lang="zh-CN" altLang="en-US" sz="4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71438" y="1127125"/>
            <a:ext cx="10117136" cy="5516563"/>
          </a:xfrm>
          <a:solidFill>
            <a:srgbClr val="FFFFFF"/>
          </a:solidFill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&amp;&amp;, ||, !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P110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5-2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，表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5-3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表达式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&amp;&amp;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表达式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//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逻辑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与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只有当表达式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和表达式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均为真(非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,结果为真(1)。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表达式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||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表达式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        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逻辑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或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只要表达式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、表达式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个为真(非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),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结果为真(1)。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！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表达式              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逻辑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非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表达式为真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非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0)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，结果为假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(0)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表达式为假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(0)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，结果为真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/>
          <p:nvPr>
            <p:ph idx="1"/>
          </p:nvPr>
        </p:nvSpPr>
        <p:spPr>
          <a:xfrm>
            <a:off x="360363" y="1196975"/>
            <a:ext cx="9444037" cy="5403850"/>
          </a:xfrm>
          <a:solidFill>
            <a:srgbClr val="FFFFFF"/>
          </a:solidFill>
          <a:ln>
            <a:noFill/>
          </a:ln>
        </p:spPr>
        <p:txBody>
          <a:bodyPr/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</a:rPr>
              <a:t>#include &lt;stdio.h&gt;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</a:rPr>
              <a:t>int main()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</a:rPr>
              <a:t>{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</a:rPr>
              <a:t>   	int i, result;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</a:rPr>
              <a:t>   	i = 6;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</a:rPr>
              <a:t>    result = i &amp;&amp; i&gt;5;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</a:rPr>
              <a:t>   	printf("%d\n", result);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</a:rPr>
              <a:t>    return 0;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</a:rPr>
              <a:t>}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4819" name="Line 3"/>
          <p:cNvSpPr/>
          <p:nvPr/>
        </p:nvSpPr>
        <p:spPr>
          <a:xfrm>
            <a:off x="471488" y="6165850"/>
            <a:ext cx="8890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2" name="Text Box 4"/>
          <p:cNvSpPr txBox="1"/>
          <p:nvPr/>
        </p:nvSpPr>
        <p:spPr>
          <a:xfrm>
            <a:off x="398463" y="6237288"/>
            <a:ext cx="92090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注：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中，非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代表真，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代表假。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对话气泡: 椭圆形 4"/>
          <p:cNvSpPr/>
          <p:nvPr/>
        </p:nvSpPr>
        <p:spPr>
          <a:xfrm>
            <a:off x="5616575" y="4508500"/>
            <a:ext cx="855663" cy="485775"/>
          </a:xfrm>
          <a:prstGeom prst="wedgeEllipseCallout">
            <a:avLst>
              <a:gd name="adj1" fmla="val -32856"/>
              <a:gd name="adj2" fmla="val 37819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53882" dir="13499999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 anchor="ctr" anchorCtr="0">
            <a:spAutoFit/>
          </a:bodyPr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  <a:cs typeface="Tahoma" panose="020B0604030504040204" pitchFamily="34" charset="0"/>
              </a:rPr>
              <a:t>1</a:t>
            </a:r>
            <a:endParaRPr lang="zh-CN" altLang="en-US" sz="2800" dirty="0">
              <a:latin typeface="Gulim" pitchFamily="34" charset="-127"/>
              <a:ea typeface="Tahoma" panose="020B0604030504040204" pitchFamily="34" charset="0"/>
            </a:endParaRPr>
          </a:p>
        </p:txBody>
      </p:sp>
      <p:sp>
        <p:nvSpPr>
          <p:cNvPr id="34822" name="Rectangle 2"/>
          <p:cNvSpPr/>
          <p:nvPr>
            <p:ph type="title"/>
          </p:nvPr>
        </p:nvSpPr>
        <p:spPr>
          <a:xfrm>
            <a:off x="431800" y="44450"/>
            <a:ext cx="9072563" cy="1143000"/>
          </a:xfrm>
          <a:noFill/>
          <a:ln>
            <a:noFill/>
          </a:ln>
        </p:spPr>
        <p:txBody>
          <a:bodyPr/>
          <a:p>
            <a:r>
              <a:rPr lang="zh-CN" altLang="en-US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逻辑运算符</a:t>
            </a:r>
            <a:endParaRPr lang="zh-CN" altLang="en-US" sz="4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bldLvl="0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/>
          <p:nvPr>
            <p:ph type="title"/>
          </p:nvPr>
        </p:nvSpPr>
        <p:spPr>
          <a:xfrm>
            <a:off x="431800" y="44450"/>
            <a:ext cx="9072563" cy="1143000"/>
          </a:xfrm>
          <a:noFill/>
          <a:ln>
            <a:noFill/>
          </a:ln>
        </p:spPr>
        <p:txBody>
          <a:bodyPr/>
          <a:p>
            <a:r>
              <a:rPr lang="zh-CN" altLang="en-US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</a:t>
            </a:r>
            <a:endParaRPr lang="zh-CN" altLang="en-US" sz="4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843" name="Rectangle 3"/>
          <p:cNvSpPr/>
          <p:nvPr>
            <p:ph idx="1"/>
          </p:nvPr>
        </p:nvSpPr>
        <p:spPr>
          <a:xfrm>
            <a:off x="215900" y="1187450"/>
            <a:ext cx="9648825" cy="4525963"/>
          </a:xfrm>
          <a:solidFill>
            <a:srgbClr val="FFFFFF"/>
          </a:solidFill>
          <a:ln>
            <a:noFill/>
          </a:ln>
        </p:spPr>
        <p:txBody>
          <a:bodyPr/>
          <a:p>
            <a:pPr>
              <a:buNone/>
            </a:pPr>
            <a:r>
              <a:rPr lang="zh-CN" altLang="en-US" b="1" dirty="0"/>
              <a:t>编程：输入年，输出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0</a:t>
            </a:r>
            <a:r>
              <a:rPr lang="zh-CN" altLang="en-US" b="1" dirty="0"/>
              <a:t>分别代表该年是否闰年。</a:t>
            </a: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zh-CN" altLang="en-US" b="1" dirty="0"/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239713" y="2708275"/>
            <a:ext cx="9625012" cy="59445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闰年：能被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400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整除或者能被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4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整除但不能被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100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整除。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</p:txBody>
      </p:sp>
      <p:sp>
        <p:nvSpPr>
          <p:cNvPr id="35845" name="Text Box 5"/>
          <p:cNvSpPr txBox="1"/>
          <p:nvPr/>
        </p:nvSpPr>
        <p:spPr>
          <a:xfrm>
            <a:off x="7488238" y="5713413"/>
            <a:ext cx="2376487" cy="38417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FF0000"/>
                </a:solidFill>
                <a:latin typeface="Gulim" pitchFamily="34" charset="-127"/>
              </a:rPr>
              <a:t>exp3_1.cpp</a:t>
            </a:r>
            <a:endParaRPr lang="en-US" altLang="zh-CN" sz="2400" b="1" dirty="0">
              <a:solidFill>
                <a:srgbClr val="FF0000"/>
              </a:solidFill>
              <a:latin typeface="Gulim" pitchFamily="34" charset="-127"/>
            </a:endParaRPr>
          </a:p>
        </p:txBody>
      </p:sp>
      <p:sp>
        <p:nvSpPr>
          <p:cNvPr id="2" name="Text Box 4"/>
          <p:cNvSpPr txBox="1"/>
          <p:nvPr/>
        </p:nvSpPr>
        <p:spPr>
          <a:xfrm>
            <a:off x="215900" y="4005263"/>
            <a:ext cx="9625013" cy="573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3000" b="1" dirty="0">
                <a:latin typeface="Gulim" pitchFamily="34" charset="-127"/>
              </a:rPr>
              <a:t>printf(</a:t>
            </a:r>
            <a:r>
              <a:rPr lang="zh-CN" altLang="en-US" sz="3000" b="1" dirty="0">
                <a:latin typeface="Gulim" pitchFamily="34" charset="-127"/>
              </a:rPr>
              <a:t>“</a:t>
            </a:r>
            <a:r>
              <a:rPr lang="en-US" altLang="zh-CN" sz="3000" b="1" dirty="0">
                <a:latin typeface="Gulim" pitchFamily="34" charset="-127"/>
              </a:rPr>
              <a:t>%d”,y%400==0 || (y%4==0 &amp;&amp; y%100!=0));</a:t>
            </a:r>
            <a:endParaRPr lang="en-US" altLang="zh-CN" sz="3000" b="1" dirty="0">
              <a:latin typeface="Gulim" pitchFamily="34" charset="-127"/>
            </a:endParaRPr>
          </a:p>
        </p:txBody>
      </p:sp>
      <p:sp>
        <p:nvSpPr>
          <p:cNvPr id="8" name="Text Box 4"/>
          <p:cNvSpPr txBox="1"/>
          <p:nvPr/>
        </p:nvSpPr>
        <p:spPr>
          <a:xfrm>
            <a:off x="241300" y="4730750"/>
            <a:ext cx="9625013" cy="573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3000" b="1" dirty="0">
                <a:latin typeface="Gulim" pitchFamily="34" charset="-127"/>
              </a:rPr>
              <a:t>printf(</a:t>
            </a:r>
            <a:r>
              <a:rPr lang="zh-CN" altLang="en-US" sz="3000" b="1" dirty="0">
                <a:latin typeface="Gulim" pitchFamily="34" charset="-127"/>
              </a:rPr>
              <a:t>“</a:t>
            </a:r>
            <a:r>
              <a:rPr lang="en-US" altLang="zh-CN" sz="3000" b="1" dirty="0">
                <a:latin typeface="Gulim" pitchFamily="34" charset="-127"/>
              </a:rPr>
              <a:t>%d”,!(y%400) || (!(y%4) &amp;&amp; y%100));</a:t>
            </a:r>
            <a:endParaRPr lang="en-US" altLang="zh-CN" sz="3000" b="1" dirty="0">
              <a:latin typeface="Gulim" pitchFamily="34" charset="-127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endParaRPr lang="zh-CN" altLang="en-US" dirty="0"/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>
          <a:xfrm>
            <a:off x="0" y="1052513"/>
            <a:ext cx="11161713" cy="4525962"/>
          </a:xfrm>
          <a:noFill/>
          <a:ln>
            <a:solidFill>
              <a:schemeClr val="accent1"/>
            </a:solidFill>
            <a:miter/>
          </a:ln>
        </p:spPr>
        <p:txBody>
          <a:bodyPr/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</a:rPr>
              <a:t>#include &lt;stdio.h&gt;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</a:rPr>
              <a:t>int main()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</a:rPr>
              <a:t>{    int year;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</a:rPr>
              <a:t>     printf("pls input year(&gt;0):\n");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</a:rPr>
              <a:t>     scanf("%d",&amp;year);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</a:rPr>
              <a:t>    printf("%d\n",year%400==0 || (year%4==0 &amp;&amp; year%100!=0));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//printf("%d\n",!(year%400) || (!(year%4) &amp;&amp; year%100));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</a:rPr>
              <a:t>}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wedg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/>
          <p:nvPr>
            <p:ph type="title"/>
          </p:nvPr>
        </p:nvSpPr>
        <p:spPr>
          <a:xfrm>
            <a:off x="504825" y="0"/>
            <a:ext cx="9072563" cy="981075"/>
          </a:xfrm>
          <a:noFill/>
          <a:ln>
            <a:noFill/>
          </a:ln>
        </p:spPr>
        <p:txBody>
          <a:bodyPr/>
          <a:p>
            <a:r>
              <a:rPr lang="zh-CN" altLang="en-US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运算符优先级</a:t>
            </a:r>
            <a:endParaRPr lang="zh-CN" altLang="en-US" sz="4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15900" y="1268413"/>
            <a:ext cx="9072563" cy="4525962"/>
          </a:xfrm>
          <a:solidFill>
            <a:srgbClr val="FFFFFF"/>
          </a:solidFill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uLnTx/>
                <a:uFillTx/>
                <a:latin typeface="+mn-lt"/>
                <a:ea typeface="+mn-ea"/>
                <a:cs typeface="+mn-cs"/>
              </a:rPr>
              <a:t>!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CECFF"/>
                </a:highlight>
                <a:uLnTx/>
                <a:uFillTx/>
                <a:latin typeface="+mn-lt"/>
                <a:ea typeface="+mn-ea"/>
                <a:cs typeface="+mn-cs"/>
              </a:rPr>
              <a:t>*, /, %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CCECFF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CECFF"/>
                </a:highlight>
                <a:uLnTx/>
                <a:uFillTx/>
                <a:latin typeface="+mn-lt"/>
                <a:ea typeface="+mn-ea"/>
                <a:cs typeface="+mn-cs"/>
              </a:rPr>
              <a:t>+, -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CCECFF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&lt;, &lt;=, &gt;, &gt;=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==, !=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uLnTx/>
                <a:uFillTx/>
                <a:latin typeface="+mn-lt"/>
                <a:ea typeface="+mn-ea"/>
                <a:cs typeface="+mn-cs"/>
              </a:rPr>
              <a:t>&amp;&amp;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uLnTx/>
                <a:uFillTx/>
                <a:latin typeface="+mn-lt"/>
                <a:ea typeface="+mn-ea"/>
                <a:cs typeface="+mn-cs"/>
              </a:rPr>
              <a:t>||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/>
          <p:nvPr>
            <p:ph type="title"/>
          </p:nvPr>
        </p:nvSpPr>
        <p:spPr>
          <a:xfrm>
            <a:off x="504825" y="125413"/>
            <a:ext cx="9072563" cy="1143000"/>
          </a:xfrm>
          <a:noFill/>
          <a:ln>
            <a:noFill/>
          </a:ln>
        </p:spPr>
        <p:txBody>
          <a:bodyPr/>
          <a:p>
            <a:r>
              <a:rPr lang="en-US" altLang="zh-CN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&amp;&amp;</a:t>
            </a:r>
            <a:r>
              <a:rPr lang="zh-CN" altLang="en-US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||</a:t>
            </a:r>
            <a:r>
              <a:rPr lang="zh-CN" altLang="en-US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的计算顺序</a:t>
            </a:r>
            <a:endParaRPr lang="zh-CN" altLang="en-US" sz="4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76225" y="1196975"/>
            <a:ext cx="9447213" cy="4754563"/>
          </a:xfrm>
          <a:solidFill>
            <a:srgbClr val="FFFFFF"/>
          </a:solidFill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表达式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||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表达式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根据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||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的定义，只要表达式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为真，结果为真。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因此在计算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表达式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 ||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表达式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为真，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不计算。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940" name="Rectangle 4"/>
          <p:cNvSpPr/>
          <p:nvPr/>
        </p:nvSpPr>
        <p:spPr>
          <a:xfrm>
            <a:off x="635000" y="4005263"/>
            <a:ext cx="8812213" cy="1570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例：</a:t>
            </a:r>
            <a:r>
              <a:rPr lang="pt-BR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int 	n, a=-1;</a:t>
            </a:r>
            <a:endParaRPr lang="pt-BR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pt-BR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n = 10;</a:t>
            </a:r>
            <a:endParaRPr lang="pt-BR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pt-BR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printf("%d \t %d\n",  n ||(a= a+1),  a );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对话气泡: 椭圆形 4"/>
          <p:cNvSpPr/>
          <p:nvPr/>
        </p:nvSpPr>
        <p:spPr>
          <a:xfrm>
            <a:off x="6264275" y="5708650"/>
            <a:ext cx="2160588" cy="485775"/>
          </a:xfrm>
          <a:prstGeom prst="wedgeEllipseCallout">
            <a:avLst>
              <a:gd name="adj1" fmla="val -32856"/>
              <a:gd name="adj2" fmla="val 37819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53882" dir="13499999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 anchor="ctr" anchorCtr="0">
            <a:spAutoFit/>
          </a:bodyPr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  <a:cs typeface="Tahoma" panose="020B0604030504040204" pitchFamily="34" charset="0"/>
              </a:rPr>
              <a:t>1    -1    </a:t>
            </a:r>
            <a:endParaRPr lang="zh-CN" altLang="en-US" sz="2800" dirty="0">
              <a:latin typeface="Gulim" pitchFamily="34" charset="-127"/>
              <a:ea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44463" y="1052513"/>
            <a:ext cx="9723437" cy="5619750"/>
          </a:xfrm>
          <a:noFill/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表达式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&amp;&amp;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表达式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根据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&amp;&amp;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的定义，只要表达式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为假，结果必为假。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因此在计算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表达式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 &amp;&amp;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表达式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时，若式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为假，式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不计算。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963" name="Rectangle 3"/>
          <p:cNvSpPr/>
          <p:nvPr/>
        </p:nvSpPr>
        <p:spPr>
          <a:xfrm>
            <a:off x="600075" y="4075113"/>
            <a:ext cx="8812213" cy="1570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例：</a:t>
            </a:r>
            <a:r>
              <a:rPr lang="pt-BR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int 	n, a=-1;</a:t>
            </a:r>
            <a:endParaRPr lang="pt-BR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pt-BR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n = 0;</a:t>
            </a:r>
            <a:endParaRPr lang="pt-BR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pt-BR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printf("%d \t %d\n", n &amp;&amp;(a= a+1) , a);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对话气泡: 椭圆形 3"/>
          <p:cNvSpPr/>
          <p:nvPr/>
        </p:nvSpPr>
        <p:spPr>
          <a:xfrm>
            <a:off x="6264275" y="5708650"/>
            <a:ext cx="2160588" cy="485775"/>
          </a:xfrm>
          <a:prstGeom prst="wedgeEllipseCallout">
            <a:avLst>
              <a:gd name="adj1" fmla="val -32856"/>
              <a:gd name="adj2" fmla="val 37819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53882" dir="13499999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 anchor="ctr" anchorCtr="0">
            <a:spAutoFit/>
          </a:bodyPr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  <a:cs typeface="Tahoma" panose="020B0604030504040204" pitchFamily="34" charset="0"/>
              </a:rPr>
              <a:t>0    -1    </a:t>
            </a:r>
            <a:endParaRPr lang="zh-CN" altLang="en-US" sz="2800" dirty="0">
              <a:latin typeface="Gulim" pitchFamily="34" charset="-127"/>
              <a:ea typeface="Tahoma" panose="020B0604030504040204" pitchFamily="34" charset="0"/>
            </a:endParaRPr>
          </a:p>
        </p:txBody>
      </p:sp>
      <p:sp>
        <p:nvSpPr>
          <p:cNvPr id="40965" name="Rectangle 2"/>
          <p:cNvSpPr/>
          <p:nvPr>
            <p:ph type="title"/>
          </p:nvPr>
        </p:nvSpPr>
        <p:spPr>
          <a:xfrm>
            <a:off x="504825" y="125413"/>
            <a:ext cx="9072563" cy="1143000"/>
          </a:xfrm>
          <a:noFill/>
          <a:ln>
            <a:noFill/>
          </a:ln>
        </p:spPr>
        <p:txBody>
          <a:bodyPr/>
          <a:p>
            <a:r>
              <a:rPr lang="en-US" altLang="zh-CN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&amp;&amp;</a:t>
            </a:r>
            <a:r>
              <a:rPr lang="zh-CN" altLang="en-US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||</a:t>
            </a:r>
            <a:r>
              <a:rPr lang="zh-CN" altLang="en-US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的计算顺序</a:t>
            </a:r>
            <a:endParaRPr lang="zh-CN" altLang="en-US" sz="4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/>
          <p:nvPr>
            <p:ph type="title"/>
          </p:nvPr>
        </p:nvSpPr>
        <p:spPr>
          <a:xfrm>
            <a:off x="431800" y="44450"/>
            <a:ext cx="9072563" cy="1143000"/>
          </a:xfrm>
          <a:noFill/>
          <a:ln>
            <a:noFill/>
          </a:ln>
        </p:spPr>
        <p:txBody>
          <a:bodyPr/>
          <a:p>
            <a:r>
              <a:rPr lang="en-US" altLang="zh-CN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bool—</a:t>
            </a:r>
            <a:r>
              <a:rPr lang="zh-CN" altLang="en-US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布尔型</a:t>
            </a:r>
            <a:endParaRPr lang="zh-CN" altLang="en-US" sz="4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950" y="1125538"/>
            <a:ext cx="9972675" cy="5516562"/>
          </a:xfrm>
          <a:solidFill>
            <a:srgbClr val="FFFFFF"/>
          </a:solidFill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447675" marR="0" lvl="0" indent="-447675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基本数据类型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逻辑型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bool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值只有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true(1)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false(0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用于关系表达式或逻辑表达式判定中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bool       flag;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flag = !(year % 400) || (!(year % 4) &amp;&amp; year %100); 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1788" y="981075"/>
            <a:ext cx="9721850" cy="4525963"/>
          </a:xfrm>
        </p:spPr>
        <p:txBody>
          <a:bodyPr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#include &lt;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main()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   int year;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bool       flag;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d",&amp;year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flag = !(year % 400) || (!(year % 4) &amp;&amp; year %100);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("%d \n",  flag);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Line 2"/>
          <p:cNvSpPr/>
          <p:nvPr/>
        </p:nvSpPr>
        <p:spPr>
          <a:xfrm>
            <a:off x="0" y="3562350"/>
            <a:ext cx="10080625" cy="0"/>
          </a:xfrm>
          <a:prstGeom prst="line">
            <a:avLst/>
          </a:prstGeom>
          <a:ln w="19050" cap="flat" cmpd="sng">
            <a:solidFill>
              <a:srgbClr val="666699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4035" name="Group 3"/>
          <p:cNvGrpSpPr/>
          <p:nvPr/>
        </p:nvGrpSpPr>
        <p:grpSpPr>
          <a:xfrm>
            <a:off x="0" y="2636838"/>
            <a:ext cx="10080625" cy="909637"/>
            <a:chOff x="0" y="0"/>
            <a:chExt cx="6350" cy="573"/>
          </a:xfrm>
        </p:grpSpPr>
        <p:sp>
          <p:nvSpPr>
            <p:cNvPr id="44145" name="Rectangle 4"/>
            <p:cNvSpPr/>
            <p:nvPr/>
          </p:nvSpPr>
          <p:spPr>
            <a:xfrm>
              <a:off x="0" y="0"/>
              <a:ext cx="6349" cy="573"/>
            </a:xfrm>
            <a:prstGeom prst="rect">
              <a:avLst/>
            </a:prstGeom>
            <a:solidFill>
              <a:srgbClr val="3A8CE7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46" name="Line 5"/>
            <p:cNvSpPr/>
            <p:nvPr/>
          </p:nvSpPr>
          <p:spPr>
            <a:xfrm>
              <a:off x="0" y="105"/>
              <a:ext cx="6350" cy="0"/>
            </a:xfrm>
            <a:prstGeom prst="line">
              <a:avLst/>
            </a:prstGeom>
            <a:ln w="190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4036" name="Group 6"/>
          <p:cNvGrpSpPr/>
          <p:nvPr/>
        </p:nvGrpSpPr>
        <p:grpSpPr>
          <a:xfrm>
            <a:off x="71438" y="80963"/>
            <a:ext cx="2228850" cy="6680200"/>
            <a:chOff x="0" y="0"/>
            <a:chExt cx="1404" cy="4208"/>
          </a:xfrm>
        </p:grpSpPr>
        <p:sp>
          <p:nvSpPr>
            <p:cNvPr id="44038" name="Oval 7"/>
            <p:cNvSpPr/>
            <p:nvPr/>
          </p:nvSpPr>
          <p:spPr>
            <a:xfrm>
              <a:off x="590" y="174"/>
              <a:ext cx="225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39" name="Oval 8"/>
            <p:cNvSpPr/>
            <p:nvPr/>
          </p:nvSpPr>
          <p:spPr>
            <a:xfrm>
              <a:off x="295" y="174"/>
              <a:ext cx="225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40" name="Oval 9"/>
            <p:cNvSpPr/>
            <p:nvPr/>
          </p:nvSpPr>
          <p:spPr>
            <a:xfrm>
              <a:off x="0" y="174"/>
              <a:ext cx="224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41" name="Oval 10"/>
            <p:cNvSpPr/>
            <p:nvPr/>
          </p:nvSpPr>
          <p:spPr>
            <a:xfrm>
              <a:off x="1180" y="174"/>
              <a:ext cx="224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42" name="Oval 11"/>
            <p:cNvSpPr/>
            <p:nvPr/>
          </p:nvSpPr>
          <p:spPr>
            <a:xfrm>
              <a:off x="885" y="174"/>
              <a:ext cx="224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43" name="Oval 12"/>
            <p:cNvSpPr/>
            <p:nvPr/>
          </p:nvSpPr>
          <p:spPr>
            <a:xfrm>
              <a:off x="646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44" name="Oval 13"/>
            <p:cNvSpPr/>
            <p:nvPr/>
          </p:nvSpPr>
          <p:spPr>
            <a:xfrm>
              <a:off x="351" y="473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45" name="Oval 14"/>
            <p:cNvSpPr/>
            <p:nvPr/>
          </p:nvSpPr>
          <p:spPr>
            <a:xfrm>
              <a:off x="56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46" name="Oval 15"/>
            <p:cNvSpPr/>
            <p:nvPr/>
          </p:nvSpPr>
          <p:spPr>
            <a:xfrm>
              <a:off x="1236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47" name="Oval 16"/>
            <p:cNvSpPr/>
            <p:nvPr/>
          </p:nvSpPr>
          <p:spPr>
            <a:xfrm>
              <a:off x="941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48" name="Oval 17"/>
            <p:cNvSpPr/>
            <p:nvPr/>
          </p:nvSpPr>
          <p:spPr>
            <a:xfrm>
              <a:off x="627" y="68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49" name="Oval 18"/>
            <p:cNvSpPr/>
            <p:nvPr/>
          </p:nvSpPr>
          <p:spPr>
            <a:xfrm>
              <a:off x="332" y="68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50" name="Oval 19"/>
            <p:cNvSpPr/>
            <p:nvPr/>
          </p:nvSpPr>
          <p:spPr>
            <a:xfrm>
              <a:off x="37" y="68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51" name="Oval 20"/>
            <p:cNvSpPr/>
            <p:nvPr/>
          </p:nvSpPr>
          <p:spPr>
            <a:xfrm>
              <a:off x="1217" y="68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52" name="Oval 21"/>
            <p:cNvSpPr/>
            <p:nvPr/>
          </p:nvSpPr>
          <p:spPr>
            <a:xfrm>
              <a:off x="922" y="68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53" name="Oval 22"/>
            <p:cNvSpPr/>
            <p:nvPr/>
          </p:nvSpPr>
          <p:spPr>
            <a:xfrm>
              <a:off x="590" y="1113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54" name="Oval 23"/>
            <p:cNvSpPr/>
            <p:nvPr/>
          </p:nvSpPr>
          <p:spPr>
            <a:xfrm>
              <a:off x="295" y="1113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55" name="Oval 24"/>
            <p:cNvSpPr/>
            <p:nvPr/>
          </p:nvSpPr>
          <p:spPr>
            <a:xfrm>
              <a:off x="0" y="1113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56" name="Oval 25"/>
            <p:cNvSpPr/>
            <p:nvPr/>
          </p:nvSpPr>
          <p:spPr>
            <a:xfrm>
              <a:off x="1180" y="1113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57" name="Oval 26"/>
            <p:cNvSpPr/>
            <p:nvPr/>
          </p:nvSpPr>
          <p:spPr>
            <a:xfrm>
              <a:off x="885" y="1113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58" name="Oval 27"/>
            <p:cNvSpPr/>
            <p:nvPr/>
          </p:nvSpPr>
          <p:spPr>
            <a:xfrm>
              <a:off x="646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59" name="Oval 28"/>
            <p:cNvSpPr/>
            <p:nvPr/>
          </p:nvSpPr>
          <p:spPr>
            <a:xfrm>
              <a:off x="351" y="930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60" name="Oval 29"/>
            <p:cNvSpPr/>
            <p:nvPr/>
          </p:nvSpPr>
          <p:spPr>
            <a:xfrm>
              <a:off x="56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61" name="Oval 30"/>
            <p:cNvSpPr/>
            <p:nvPr/>
          </p:nvSpPr>
          <p:spPr>
            <a:xfrm>
              <a:off x="1236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62" name="Oval 31"/>
            <p:cNvSpPr/>
            <p:nvPr/>
          </p:nvSpPr>
          <p:spPr>
            <a:xfrm>
              <a:off x="941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63" name="Oval 32"/>
            <p:cNvSpPr/>
            <p:nvPr/>
          </p:nvSpPr>
          <p:spPr>
            <a:xfrm>
              <a:off x="646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64" name="Oval 33"/>
            <p:cNvSpPr/>
            <p:nvPr/>
          </p:nvSpPr>
          <p:spPr>
            <a:xfrm>
              <a:off x="351" y="1429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65" name="Oval 34"/>
            <p:cNvSpPr/>
            <p:nvPr/>
          </p:nvSpPr>
          <p:spPr>
            <a:xfrm>
              <a:off x="56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66" name="Oval 35"/>
            <p:cNvSpPr/>
            <p:nvPr/>
          </p:nvSpPr>
          <p:spPr>
            <a:xfrm>
              <a:off x="1236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67" name="Oval 36"/>
            <p:cNvSpPr/>
            <p:nvPr/>
          </p:nvSpPr>
          <p:spPr>
            <a:xfrm>
              <a:off x="941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68" name="Oval 37"/>
            <p:cNvSpPr/>
            <p:nvPr/>
          </p:nvSpPr>
          <p:spPr>
            <a:xfrm>
              <a:off x="627" y="1640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69" name="Oval 38"/>
            <p:cNvSpPr/>
            <p:nvPr/>
          </p:nvSpPr>
          <p:spPr>
            <a:xfrm>
              <a:off x="332" y="1640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70" name="Oval 39"/>
            <p:cNvSpPr/>
            <p:nvPr/>
          </p:nvSpPr>
          <p:spPr>
            <a:xfrm>
              <a:off x="37" y="1640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71" name="Oval 40"/>
            <p:cNvSpPr/>
            <p:nvPr/>
          </p:nvSpPr>
          <p:spPr>
            <a:xfrm>
              <a:off x="1217" y="1640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72" name="Oval 41"/>
            <p:cNvSpPr/>
            <p:nvPr/>
          </p:nvSpPr>
          <p:spPr>
            <a:xfrm>
              <a:off x="922" y="1640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73" name="Oval 42"/>
            <p:cNvSpPr/>
            <p:nvPr/>
          </p:nvSpPr>
          <p:spPr>
            <a:xfrm>
              <a:off x="646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74" name="Oval 43"/>
            <p:cNvSpPr/>
            <p:nvPr/>
          </p:nvSpPr>
          <p:spPr>
            <a:xfrm>
              <a:off x="351" y="1886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75" name="Oval 44"/>
            <p:cNvSpPr/>
            <p:nvPr/>
          </p:nvSpPr>
          <p:spPr>
            <a:xfrm>
              <a:off x="56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76" name="Oval 45"/>
            <p:cNvSpPr/>
            <p:nvPr/>
          </p:nvSpPr>
          <p:spPr>
            <a:xfrm>
              <a:off x="1236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77" name="Oval 46"/>
            <p:cNvSpPr/>
            <p:nvPr/>
          </p:nvSpPr>
          <p:spPr>
            <a:xfrm>
              <a:off x="941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78" name="Oval 47"/>
            <p:cNvSpPr/>
            <p:nvPr/>
          </p:nvSpPr>
          <p:spPr>
            <a:xfrm>
              <a:off x="646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79" name="Oval 48"/>
            <p:cNvSpPr/>
            <p:nvPr/>
          </p:nvSpPr>
          <p:spPr>
            <a:xfrm>
              <a:off x="351" y="0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80" name="Oval 49"/>
            <p:cNvSpPr/>
            <p:nvPr/>
          </p:nvSpPr>
          <p:spPr>
            <a:xfrm>
              <a:off x="56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81" name="Oval 50"/>
            <p:cNvSpPr/>
            <p:nvPr/>
          </p:nvSpPr>
          <p:spPr>
            <a:xfrm>
              <a:off x="1236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82" name="Oval 51"/>
            <p:cNvSpPr/>
            <p:nvPr/>
          </p:nvSpPr>
          <p:spPr>
            <a:xfrm>
              <a:off x="941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83" name="Oval 52"/>
            <p:cNvSpPr/>
            <p:nvPr/>
          </p:nvSpPr>
          <p:spPr>
            <a:xfrm>
              <a:off x="590" y="2109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84" name="Oval 53"/>
            <p:cNvSpPr/>
            <p:nvPr/>
          </p:nvSpPr>
          <p:spPr>
            <a:xfrm>
              <a:off x="295" y="2109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85" name="Oval 54"/>
            <p:cNvSpPr/>
            <p:nvPr/>
          </p:nvSpPr>
          <p:spPr>
            <a:xfrm>
              <a:off x="0" y="2109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86" name="Oval 55"/>
            <p:cNvSpPr/>
            <p:nvPr/>
          </p:nvSpPr>
          <p:spPr>
            <a:xfrm>
              <a:off x="1180" y="2109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87" name="Oval 56"/>
            <p:cNvSpPr/>
            <p:nvPr/>
          </p:nvSpPr>
          <p:spPr>
            <a:xfrm>
              <a:off x="885" y="2109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88" name="Oval 57"/>
            <p:cNvSpPr/>
            <p:nvPr/>
          </p:nvSpPr>
          <p:spPr>
            <a:xfrm>
              <a:off x="646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89" name="Oval 58"/>
            <p:cNvSpPr/>
            <p:nvPr/>
          </p:nvSpPr>
          <p:spPr>
            <a:xfrm>
              <a:off x="351" y="2425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90" name="Oval 59"/>
            <p:cNvSpPr/>
            <p:nvPr/>
          </p:nvSpPr>
          <p:spPr>
            <a:xfrm>
              <a:off x="56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91" name="Oval 60"/>
            <p:cNvSpPr/>
            <p:nvPr/>
          </p:nvSpPr>
          <p:spPr>
            <a:xfrm>
              <a:off x="1236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92" name="Oval 61"/>
            <p:cNvSpPr/>
            <p:nvPr/>
          </p:nvSpPr>
          <p:spPr>
            <a:xfrm>
              <a:off x="941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93" name="Oval 62"/>
            <p:cNvSpPr/>
            <p:nvPr/>
          </p:nvSpPr>
          <p:spPr>
            <a:xfrm>
              <a:off x="627" y="2636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94" name="Oval 63"/>
            <p:cNvSpPr/>
            <p:nvPr/>
          </p:nvSpPr>
          <p:spPr>
            <a:xfrm>
              <a:off x="332" y="2636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95" name="Oval 64"/>
            <p:cNvSpPr/>
            <p:nvPr/>
          </p:nvSpPr>
          <p:spPr>
            <a:xfrm>
              <a:off x="37" y="2636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96" name="Oval 65"/>
            <p:cNvSpPr/>
            <p:nvPr/>
          </p:nvSpPr>
          <p:spPr>
            <a:xfrm>
              <a:off x="1217" y="2636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97" name="Oval 66"/>
            <p:cNvSpPr/>
            <p:nvPr/>
          </p:nvSpPr>
          <p:spPr>
            <a:xfrm>
              <a:off x="922" y="2636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98" name="Oval 67"/>
            <p:cNvSpPr/>
            <p:nvPr/>
          </p:nvSpPr>
          <p:spPr>
            <a:xfrm>
              <a:off x="646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099" name="Oval 68"/>
            <p:cNvSpPr/>
            <p:nvPr/>
          </p:nvSpPr>
          <p:spPr>
            <a:xfrm>
              <a:off x="351" y="2882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00" name="Oval 69"/>
            <p:cNvSpPr/>
            <p:nvPr/>
          </p:nvSpPr>
          <p:spPr>
            <a:xfrm>
              <a:off x="56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01" name="Oval 70"/>
            <p:cNvSpPr/>
            <p:nvPr/>
          </p:nvSpPr>
          <p:spPr>
            <a:xfrm>
              <a:off x="1236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02" name="Oval 71"/>
            <p:cNvSpPr/>
            <p:nvPr/>
          </p:nvSpPr>
          <p:spPr>
            <a:xfrm>
              <a:off x="941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03" name="Oval 72"/>
            <p:cNvSpPr/>
            <p:nvPr/>
          </p:nvSpPr>
          <p:spPr>
            <a:xfrm>
              <a:off x="590" y="3107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04" name="Oval 73"/>
            <p:cNvSpPr/>
            <p:nvPr/>
          </p:nvSpPr>
          <p:spPr>
            <a:xfrm>
              <a:off x="295" y="3107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05" name="Oval 74"/>
            <p:cNvSpPr/>
            <p:nvPr/>
          </p:nvSpPr>
          <p:spPr>
            <a:xfrm>
              <a:off x="0" y="3107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06" name="Oval 75"/>
            <p:cNvSpPr/>
            <p:nvPr/>
          </p:nvSpPr>
          <p:spPr>
            <a:xfrm>
              <a:off x="1180" y="3107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07" name="Oval 76"/>
            <p:cNvSpPr/>
            <p:nvPr/>
          </p:nvSpPr>
          <p:spPr>
            <a:xfrm>
              <a:off x="885" y="3107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08" name="Oval 77"/>
            <p:cNvSpPr/>
            <p:nvPr/>
          </p:nvSpPr>
          <p:spPr>
            <a:xfrm>
              <a:off x="646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09" name="Oval 78"/>
            <p:cNvSpPr/>
            <p:nvPr/>
          </p:nvSpPr>
          <p:spPr>
            <a:xfrm>
              <a:off x="351" y="3423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10" name="Oval 79"/>
            <p:cNvSpPr/>
            <p:nvPr/>
          </p:nvSpPr>
          <p:spPr>
            <a:xfrm>
              <a:off x="56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11" name="Oval 80"/>
            <p:cNvSpPr/>
            <p:nvPr/>
          </p:nvSpPr>
          <p:spPr>
            <a:xfrm>
              <a:off x="1236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12" name="Oval 81"/>
            <p:cNvSpPr/>
            <p:nvPr/>
          </p:nvSpPr>
          <p:spPr>
            <a:xfrm>
              <a:off x="941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13" name="Oval 82"/>
            <p:cNvSpPr/>
            <p:nvPr/>
          </p:nvSpPr>
          <p:spPr>
            <a:xfrm>
              <a:off x="627" y="363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14" name="Oval 83"/>
            <p:cNvSpPr/>
            <p:nvPr/>
          </p:nvSpPr>
          <p:spPr>
            <a:xfrm>
              <a:off x="332" y="363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15" name="Oval 84"/>
            <p:cNvSpPr/>
            <p:nvPr/>
          </p:nvSpPr>
          <p:spPr>
            <a:xfrm>
              <a:off x="37" y="363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16" name="Oval 85"/>
            <p:cNvSpPr/>
            <p:nvPr/>
          </p:nvSpPr>
          <p:spPr>
            <a:xfrm>
              <a:off x="1217" y="363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17" name="Oval 86"/>
            <p:cNvSpPr/>
            <p:nvPr/>
          </p:nvSpPr>
          <p:spPr>
            <a:xfrm>
              <a:off x="922" y="363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18" name="Oval 87"/>
            <p:cNvSpPr/>
            <p:nvPr/>
          </p:nvSpPr>
          <p:spPr>
            <a:xfrm>
              <a:off x="646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19" name="Oval 88"/>
            <p:cNvSpPr/>
            <p:nvPr/>
          </p:nvSpPr>
          <p:spPr>
            <a:xfrm>
              <a:off x="351" y="3880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20" name="Oval 89"/>
            <p:cNvSpPr/>
            <p:nvPr/>
          </p:nvSpPr>
          <p:spPr>
            <a:xfrm>
              <a:off x="56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21" name="Oval 90"/>
            <p:cNvSpPr/>
            <p:nvPr/>
          </p:nvSpPr>
          <p:spPr>
            <a:xfrm>
              <a:off x="1236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22" name="Oval 91"/>
            <p:cNvSpPr/>
            <p:nvPr/>
          </p:nvSpPr>
          <p:spPr>
            <a:xfrm>
              <a:off x="941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23" name="Oval 92"/>
            <p:cNvSpPr/>
            <p:nvPr/>
          </p:nvSpPr>
          <p:spPr>
            <a:xfrm>
              <a:off x="627" y="4059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24" name="Oval 93"/>
            <p:cNvSpPr/>
            <p:nvPr/>
          </p:nvSpPr>
          <p:spPr>
            <a:xfrm>
              <a:off x="332" y="4059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25" name="Oval 94"/>
            <p:cNvSpPr/>
            <p:nvPr/>
          </p:nvSpPr>
          <p:spPr>
            <a:xfrm>
              <a:off x="37" y="4059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26" name="Oval 95"/>
            <p:cNvSpPr/>
            <p:nvPr/>
          </p:nvSpPr>
          <p:spPr>
            <a:xfrm>
              <a:off x="1217" y="4059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27" name="Oval 96"/>
            <p:cNvSpPr/>
            <p:nvPr/>
          </p:nvSpPr>
          <p:spPr>
            <a:xfrm>
              <a:off x="922" y="4059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28" name="Oval 97"/>
            <p:cNvSpPr/>
            <p:nvPr/>
          </p:nvSpPr>
          <p:spPr>
            <a:xfrm>
              <a:off x="1254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29" name="Oval 98"/>
            <p:cNvSpPr/>
            <p:nvPr/>
          </p:nvSpPr>
          <p:spPr>
            <a:xfrm>
              <a:off x="961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30" name="Oval 99"/>
            <p:cNvSpPr/>
            <p:nvPr/>
          </p:nvSpPr>
          <p:spPr>
            <a:xfrm>
              <a:off x="664" y="1631"/>
              <a:ext cx="71" cy="71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31" name="Oval 100"/>
            <p:cNvSpPr/>
            <p:nvPr/>
          </p:nvSpPr>
          <p:spPr>
            <a:xfrm>
              <a:off x="663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32" name="Oval 101"/>
            <p:cNvSpPr/>
            <p:nvPr/>
          </p:nvSpPr>
          <p:spPr>
            <a:xfrm>
              <a:off x="367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33" name="Oval 102"/>
            <p:cNvSpPr/>
            <p:nvPr/>
          </p:nvSpPr>
          <p:spPr>
            <a:xfrm>
              <a:off x="74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34" name="Oval 103"/>
            <p:cNvSpPr/>
            <p:nvPr/>
          </p:nvSpPr>
          <p:spPr>
            <a:xfrm>
              <a:off x="1254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35" name="Oval 104"/>
            <p:cNvSpPr/>
            <p:nvPr/>
          </p:nvSpPr>
          <p:spPr>
            <a:xfrm>
              <a:off x="961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36" name="Oval 105"/>
            <p:cNvSpPr/>
            <p:nvPr/>
          </p:nvSpPr>
          <p:spPr>
            <a:xfrm>
              <a:off x="663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37" name="Oval 106"/>
            <p:cNvSpPr/>
            <p:nvPr/>
          </p:nvSpPr>
          <p:spPr>
            <a:xfrm>
              <a:off x="367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38" name="Oval 107"/>
            <p:cNvSpPr/>
            <p:nvPr/>
          </p:nvSpPr>
          <p:spPr>
            <a:xfrm>
              <a:off x="74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39" name="Oval 108"/>
            <p:cNvSpPr/>
            <p:nvPr/>
          </p:nvSpPr>
          <p:spPr>
            <a:xfrm>
              <a:off x="1254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40" name="Oval 109"/>
            <p:cNvSpPr/>
            <p:nvPr/>
          </p:nvSpPr>
          <p:spPr>
            <a:xfrm>
              <a:off x="961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41" name="Oval 110"/>
            <p:cNvSpPr/>
            <p:nvPr/>
          </p:nvSpPr>
          <p:spPr>
            <a:xfrm>
              <a:off x="664" y="2259"/>
              <a:ext cx="71" cy="71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42" name="Oval 111"/>
            <p:cNvSpPr/>
            <p:nvPr/>
          </p:nvSpPr>
          <p:spPr>
            <a:xfrm>
              <a:off x="663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43" name="Oval 112"/>
            <p:cNvSpPr/>
            <p:nvPr/>
          </p:nvSpPr>
          <p:spPr>
            <a:xfrm>
              <a:off x="367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44144" name="Oval 113"/>
            <p:cNvSpPr/>
            <p:nvPr/>
          </p:nvSpPr>
          <p:spPr>
            <a:xfrm>
              <a:off x="74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</p:grpSp>
      <p:sp>
        <p:nvSpPr>
          <p:cNvPr id="23666" name="Text Box 114"/>
          <p:cNvSpPr txBox="1">
            <a:spLocks noChangeArrowheads="1"/>
          </p:cNvSpPr>
          <p:nvPr/>
        </p:nvSpPr>
        <p:spPr bwMode="auto">
          <a:xfrm>
            <a:off x="2376488" y="2205038"/>
            <a:ext cx="5256213" cy="62865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ulim" pitchFamily="34" charset="-127"/>
                <a:ea typeface="宋体" panose="02010600030101010101" pitchFamily="2" charset="-122"/>
                <a:cs typeface="Tahoma" panose="020B0604030504040204" pitchFamily="34" charset="0"/>
              </a:rPr>
              <a:t>3.3 if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ulim" pitchFamily="34" charset="-127"/>
                <a:ea typeface="宋体" panose="02010600030101010101" pitchFamily="2" charset="-122"/>
                <a:cs typeface="Tahoma" panose="020B0604030504040204" pitchFamily="34" charset="0"/>
              </a:rPr>
              <a:t>语句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ulim" pitchFamily="34" charset="-127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wedg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53975"/>
            <a:ext cx="9072563" cy="114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if</a:t>
            </a: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语句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5059" name="AutoShape 17"/>
          <p:cNvSpPr/>
          <p:nvPr/>
        </p:nvSpPr>
        <p:spPr>
          <a:xfrm>
            <a:off x="196850" y="1222375"/>
            <a:ext cx="1077913" cy="576263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wrap="none" lIns="0" tIns="0" rIns="0" bIns="0" anchor="ctr" anchorCtr="0"/>
          <a:p>
            <a:pPr algn="ctr" eaLnBrk="1" latinLnBrk="1" hangingPunct="1"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30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语法</a:t>
            </a:r>
            <a:r>
              <a:rPr lang="ko-KR" altLang="en-US" sz="3200" b="1" dirty="0">
                <a:solidFill>
                  <a:srgbClr val="FFFFFF"/>
                </a:solidFill>
                <a:latin typeface="Tahoma" panose="020B0604030504040204" pitchFamily="34" charset="0"/>
              </a:rPr>
              <a:t> </a:t>
            </a:r>
            <a:endParaRPr lang="ko-KR" altLang="en-US" sz="32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45060" name="AutoShape 36"/>
          <p:cNvSpPr/>
          <p:nvPr/>
        </p:nvSpPr>
        <p:spPr>
          <a:xfrm>
            <a:off x="287338" y="2133600"/>
            <a:ext cx="4465637" cy="15113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FBFBBB">
                  <a:alpha val="89998"/>
                </a:srgbClr>
              </a:gs>
            </a:gsLst>
            <a:lin ang="0" scaled="1"/>
            <a:tileRect/>
          </a:gradFill>
          <a:ln w="952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lIns="36000" tIns="36000" rIns="36000" bIns="36000"/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if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（表达式）</a:t>
            </a:r>
            <a:endParaRPr lang="zh-CN" altLang="en-US" sz="2800" b="1" dirty="0">
              <a:latin typeface="Gulim" pitchFamily="34" charset="-127"/>
              <a:ea typeface="宋体" panose="02010600030101010101" pitchFamily="2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    语句；</a:t>
            </a:r>
            <a:endParaRPr lang="zh-CN" altLang="en-US" sz="2800" b="1" dirty="0"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24581" name="AutoShape 36"/>
          <p:cNvSpPr/>
          <p:nvPr/>
        </p:nvSpPr>
        <p:spPr>
          <a:xfrm>
            <a:off x="287338" y="4005263"/>
            <a:ext cx="4465637" cy="22304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FBFBBB">
                  <a:alpha val="89998"/>
                </a:srgbClr>
              </a:gs>
            </a:gsLst>
            <a:lin ang="0" scaled="1"/>
            <a:tileRect/>
          </a:gradFill>
          <a:ln w="952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lIns="36000" tIns="36000" rIns="36000" bIns="36000"/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if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（表达式）</a:t>
            </a:r>
            <a:endParaRPr lang="zh-CN" altLang="en-US" sz="2800" b="1" dirty="0">
              <a:latin typeface="Gulim" pitchFamily="34" charset="-127"/>
              <a:ea typeface="宋体" panose="02010600030101010101" pitchFamily="2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{</a:t>
            </a:r>
            <a:endParaRPr lang="en-US" altLang="zh-CN" sz="2800" b="1" dirty="0">
              <a:latin typeface="Gulim" pitchFamily="34" charset="-127"/>
              <a:ea typeface="宋体" panose="02010600030101010101" pitchFamily="2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     语句；</a:t>
            </a:r>
            <a:endParaRPr lang="zh-CN" altLang="en-US" sz="2800" b="1" dirty="0">
              <a:latin typeface="Gulim" pitchFamily="34" charset="-127"/>
              <a:ea typeface="宋体" panose="02010600030101010101" pitchFamily="2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}</a:t>
            </a:r>
            <a:endParaRPr lang="en-US" altLang="zh-CN" sz="2800" b="1" dirty="0"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24582" name="AutoShape 35"/>
          <p:cNvSpPr/>
          <p:nvPr/>
        </p:nvSpPr>
        <p:spPr>
          <a:xfrm>
            <a:off x="5256213" y="1989138"/>
            <a:ext cx="4176712" cy="43005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FBFBBB">
                  <a:alpha val="89998"/>
                </a:srgbClr>
              </a:gs>
            </a:gsLst>
            <a:lin ang="0" scaled="1"/>
            <a:tileRect/>
          </a:gradFill>
          <a:ln w="952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anchor="ctr" anchorCtr="0"/>
          <a:p>
            <a:pPr algn="ctr" eaLnBrk="1" latinLnBrk="1" hangingPunct="1">
              <a:buFont typeface="Wingdings" panose="05000000000000000000" pitchFamily="2" charset="2"/>
            </a:pPr>
            <a:endParaRPr lang="zh-CN" altLang="en-US" sz="1800" dirty="0"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24583" name="AutoShape 17"/>
          <p:cNvSpPr/>
          <p:nvPr/>
        </p:nvSpPr>
        <p:spPr>
          <a:xfrm>
            <a:off x="5186363" y="1196975"/>
            <a:ext cx="1438275" cy="576263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wrap="none" lIns="0" tIns="0" rIns="0" bIns="0" anchor="ctr" anchorCtr="0"/>
          <a:p>
            <a:pPr algn="ctr" eaLnBrk="1" latinLnBrk="1" hangingPunct="1"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30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流程图</a:t>
            </a:r>
            <a:r>
              <a:rPr lang="ko-KR" altLang="en-US" sz="3200" b="1" dirty="0">
                <a:solidFill>
                  <a:srgbClr val="FFFFFF"/>
                </a:solidFill>
                <a:latin typeface="Tahoma" panose="020B0604030504040204" pitchFamily="34" charset="0"/>
              </a:rPr>
              <a:t> </a:t>
            </a:r>
            <a:endParaRPr lang="ko-KR" altLang="en-US" sz="32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24584" name="AutoShape 8"/>
          <p:cNvSpPr/>
          <p:nvPr/>
        </p:nvSpPr>
        <p:spPr>
          <a:xfrm>
            <a:off x="6194425" y="2708275"/>
            <a:ext cx="1905000" cy="838200"/>
          </a:xfrm>
          <a:prstGeom prst="flowChartDecision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表达式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5" name="AutoShape 9"/>
          <p:cNvSpPr/>
          <p:nvPr/>
        </p:nvSpPr>
        <p:spPr>
          <a:xfrm>
            <a:off x="6727825" y="4003675"/>
            <a:ext cx="914400" cy="4572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语句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6" name="Line 10"/>
          <p:cNvSpPr/>
          <p:nvPr/>
        </p:nvSpPr>
        <p:spPr>
          <a:xfrm>
            <a:off x="7146925" y="354647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587" name="Text Box 11"/>
          <p:cNvSpPr txBox="1"/>
          <p:nvPr/>
        </p:nvSpPr>
        <p:spPr>
          <a:xfrm>
            <a:off x="8328025" y="2708275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假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8" name="Text Box 12"/>
          <p:cNvSpPr txBox="1"/>
          <p:nvPr/>
        </p:nvSpPr>
        <p:spPr>
          <a:xfrm>
            <a:off x="6575425" y="3470275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真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9" name="Line 13"/>
          <p:cNvSpPr/>
          <p:nvPr/>
        </p:nvSpPr>
        <p:spPr>
          <a:xfrm>
            <a:off x="7183438" y="4460875"/>
            <a:ext cx="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590" name="Line 14"/>
          <p:cNvSpPr/>
          <p:nvPr/>
        </p:nvSpPr>
        <p:spPr>
          <a:xfrm>
            <a:off x="8785225" y="3140075"/>
            <a:ext cx="0" cy="1778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91" name="Line 15"/>
          <p:cNvSpPr/>
          <p:nvPr/>
        </p:nvSpPr>
        <p:spPr>
          <a:xfrm flipH="1">
            <a:off x="7183438" y="4905375"/>
            <a:ext cx="16017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592" name="Line 16"/>
          <p:cNvSpPr/>
          <p:nvPr/>
        </p:nvSpPr>
        <p:spPr>
          <a:xfrm>
            <a:off x="7146925" y="2293938"/>
            <a:ext cx="0" cy="41433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med" len="sm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</p:sp>
      <p:sp>
        <p:nvSpPr>
          <p:cNvPr id="24593" name="Line 17"/>
          <p:cNvSpPr/>
          <p:nvPr/>
        </p:nvSpPr>
        <p:spPr>
          <a:xfrm>
            <a:off x="8099425" y="3140075"/>
            <a:ext cx="6858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</p:sp>
      <p:sp>
        <p:nvSpPr>
          <p:cNvPr id="24594" name="AutoShape 18"/>
          <p:cNvSpPr/>
          <p:nvPr/>
        </p:nvSpPr>
        <p:spPr>
          <a:xfrm>
            <a:off x="2646363" y="4989513"/>
            <a:ext cx="2016125" cy="1066800"/>
          </a:xfrm>
          <a:prstGeom prst="wedgeRoundRectCallout">
            <a:avLst>
              <a:gd name="adj1" fmla="val -86852"/>
              <a:gd name="adj2" fmla="val -14583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lIns="0" tIns="0" rIns="0" bIns="0" anchor="ctr" anchorCtr="0"/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400" dirty="0">
                <a:latin typeface="Gulim" pitchFamily="34" charset="-127"/>
              </a:rPr>
              <a:t>多于一个语句，构成复合语句，加</a:t>
            </a:r>
            <a:r>
              <a:rPr lang="en-US" altLang="zh-CN" sz="2400" dirty="0">
                <a:latin typeface="Gulim" pitchFamily="34" charset="-127"/>
              </a:rPr>
              <a:t>{}</a:t>
            </a:r>
            <a:endParaRPr lang="en-US" altLang="zh-CN" sz="2400" dirty="0">
              <a:latin typeface="Gulim" pitchFamily="34" charset="-127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1100" fill="hold"/>
                                        <p:tgtEl>
                                          <p:spTgt spid="24581">
                                            <p:txEl>
                                              <p:charRg st="8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1500" fill="hold"/>
                                        <p:tgtEl>
                                          <p:spTgt spid="24581">
                                            <p:txEl>
                                              <p:charRg st="19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 bldLvl="0" animBg="1"/>
      <p:bldP spid="24583" grpId="0" bldLvl="0" animBg="1"/>
      <p:bldP spid="24584" grpId="0" bldLvl="0" animBg="1"/>
      <p:bldP spid="24585" grpId="0" bldLvl="0" animBg="1"/>
      <p:bldP spid="24587" grpId="0" bldLvl="0"/>
      <p:bldP spid="24588" grpId="0" bldLvl="0"/>
      <p:bldP spid="24594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6050" y="125413"/>
            <a:ext cx="9072563" cy="114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if</a:t>
            </a: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语句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7107" name="AutoShape 17"/>
          <p:cNvSpPr/>
          <p:nvPr/>
        </p:nvSpPr>
        <p:spPr>
          <a:xfrm>
            <a:off x="287338" y="1417638"/>
            <a:ext cx="1079500" cy="576262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wrap="none" lIns="0" tIns="0" rIns="0" bIns="0" anchor="ctr" anchorCtr="0"/>
          <a:p>
            <a:pPr algn="ctr" eaLnBrk="1" latinLnBrk="1" hangingPunct="1"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30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语义</a:t>
            </a:r>
            <a:r>
              <a:rPr lang="ko-KR" altLang="en-US" sz="3200" b="1" dirty="0">
                <a:solidFill>
                  <a:srgbClr val="FFFFFF"/>
                </a:solidFill>
                <a:latin typeface="Tahoma" panose="020B0604030504040204" pitchFamily="34" charset="0"/>
              </a:rPr>
              <a:t> </a:t>
            </a:r>
            <a:endParaRPr lang="ko-KR" altLang="en-US" sz="32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25604" name="AutoShape 36"/>
          <p:cNvSpPr>
            <a:spLocks noChangeArrowheads="1"/>
          </p:cNvSpPr>
          <p:nvPr/>
        </p:nvSpPr>
        <p:spPr bwMode="auto">
          <a:xfrm>
            <a:off x="430213" y="2286000"/>
            <a:ext cx="8570913" cy="78263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FBFBBB">
                  <a:alpha val="89999"/>
                </a:srgbClr>
              </a:gs>
            </a:gsLst>
            <a:lin ang="0" scaled="1"/>
          </a:gradFill>
          <a:ln w="9525" cmpd="sng">
            <a:solidFill>
              <a:srgbClr val="C0C0C0"/>
            </a:solidFill>
            <a:rou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 lIns="36000" tIns="36000" rIns="36000" bIns="3600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ulim" pitchFamily="34" charset="-127"/>
                <a:ea typeface="宋体" panose="02010600030101010101" pitchFamily="2" charset="-122"/>
                <a:cs typeface="Tahoma" panose="020B0604030504040204" pitchFamily="34" charset="0"/>
              </a:rPr>
              <a:t>当且仅当表达式为真时，执行语句（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ulim" pitchFamily="34" charset="-127"/>
                <a:ea typeface="宋体" panose="02010600030101010101" pitchFamily="2" charset="-122"/>
                <a:cs typeface="Tahoma" panose="020B0604030504040204" pitchFamily="34" charset="0"/>
              </a:rPr>
              <a:t>复合语句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ulim" pitchFamily="34" charset="-127"/>
                <a:ea typeface="宋体" panose="02010600030101010101" pitchFamily="2" charset="-122"/>
                <a:cs typeface="Tahoma" panose="020B0604030504040204" pitchFamily="34" charset="0"/>
              </a:rPr>
              <a:t>）。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ulim" pitchFamily="34" charset="-127"/>
              <a:ea typeface="宋体" panose="02010600030101010101" pitchFamily="2" charset="-122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•"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wedg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53975"/>
            <a:ext cx="9072563" cy="114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if</a:t>
            </a:r>
            <a:r>
              <a:rPr kumimoji="0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j-cs"/>
              </a:rPr>
              <a:t>…</a:t>
            </a:r>
            <a:r>
              <a:rPr kumimoji="0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else</a:t>
            </a: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语句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8675" name="AutoShape 17"/>
          <p:cNvSpPr/>
          <p:nvPr/>
        </p:nvSpPr>
        <p:spPr>
          <a:xfrm>
            <a:off x="146050" y="1196975"/>
            <a:ext cx="1077913" cy="576263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wrap="none" lIns="0" tIns="0" rIns="0" bIns="0" anchor="ctr" anchorCtr="0"/>
          <a:p>
            <a:pPr algn="ctr" eaLnBrk="1" latinLnBrk="1" hangingPunct="1"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30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语法</a:t>
            </a:r>
            <a:r>
              <a:rPr lang="ko-KR" altLang="en-US" sz="3200" b="1" dirty="0">
                <a:solidFill>
                  <a:srgbClr val="FFFFFF"/>
                </a:solidFill>
                <a:latin typeface="Tahoma" panose="020B0604030504040204" pitchFamily="34" charset="0"/>
              </a:rPr>
              <a:t> </a:t>
            </a:r>
            <a:endParaRPr lang="ko-KR" altLang="en-US" sz="32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28676" name="AutoShape 36"/>
          <p:cNvSpPr/>
          <p:nvPr/>
        </p:nvSpPr>
        <p:spPr>
          <a:xfrm>
            <a:off x="287338" y="1989138"/>
            <a:ext cx="4176712" cy="302418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FBFBBB">
                  <a:alpha val="89998"/>
                </a:srgbClr>
              </a:gs>
            </a:gsLst>
            <a:lin ang="0" scaled="1"/>
            <a:tileRect/>
          </a:gradFill>
          <a:ln w="952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lIns="0" tIns="0" rIns="0" bIns="0"/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if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（表达式）</a:t>
            </a:r>
            <a:endParaRPr lang="zh-CN" altLang="en-US" sz="2800" b="1" dirty="0">
              <a:latin typeface="Gulim" pitchFamily="34" charset="-127"/>
              <a:ea typeface="宋体" panose="02010600030101010101" pitchFamily="2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    语句</a:t>
            </a: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；</a:t>
            </a:r>
            <a:endParaRPr lang="zh-CN" altLang="en-US" sz="2800" b="1" dirty="0">
              <a:latin typeface="Gulim" pitchFamily="34" charset="-127"/>
              <a:ea typeface="宋体" panose="02010600030101010101" pitchFamily="2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else</a:t>
            </a:r>
            <a:endParaRPr lang="en-US" altLang="zh-CN" sz="2800" b="1" dirty="0">
              <a:latin typeface="Gulim" pitchFamily="34" charset="-127"/>
              <a:ea typeface="宋体" panose="02010600030101010101" pitchFamily="2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语句</a:t>
            </a: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；</a:t>
            </a:r>
            <a:endParaRPr lang="zh-CN" altLang="en-US" sz="2800" b="1" dirty="0"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28677" name="AutoShape 35"/>
          <p:cNvSpPr/>
          <p:nvPr/>
        </p:nvSpPr>
        <p:spPr>
          <a:xfrm>
            <a:off x="5327650" y="2008188"/>
            <a:ext cx="4176713" cy="30051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FBFBBB">
                  <a:alpha val="89998"/>
                </a:srgbClr>
              </a:gs>
            </a:gsLst>
            <a:lin ang="0" scaled="1"/>
            <a:tileRect/>
          </a:gradFill>
          <a:ln w="952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anchor="ctr" anchorCtr="0"/>
          <a:p>
            <a:pPr algn="ctr" eaLnBrk="1" latinLnBrk="1" hangingPunct="1">
              <a:buFont typeface="Wingdings" panose="05000000000000000000" pitchFamily="2" charset="2"/>
            </a:pPr>
            <a:endParaRPr lang="zh-CN" altLang="en-US" sz="1800" dirty="0"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28678" name="AutoShape 17"/>
          <p:cNvSpPr/>
          <p:nvPr/>
        </p:nvSpPr>
        <p:spPr>
          <a:xfrm>
            <a:off x="5186363" y="1196975"/>
            <a:ext cx="1438275" cy="576263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wrap="none" lIns="0" tIns="0" rIns="0" bIns="0" anchor="ctr" anchorCtr="0"/>
          <a:p>
            <a:pPr algn="ctr" eaLnBrk="1" latinLnBrk="1" hangingPunct="1"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30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流程图</a:t>
            </a:r>
            <a:r>
              <a:rPr lang="ko-KR" altLang="en-US" sz="3200" b="1" dirty="0">
                <a:solidFill>
                  <a:srgbClr val="FFFFFF"/>
                </a:solidFill>
                <a:latin typeface="Tahoma" panose="020B0604030504040204" pitchFamily="34" charset="0"/>
              </a:rPr>
              <a:t> </a:t>
            </a:r>
            <a:endParaRPr lang="ko-KR" altLang="en-US" sz="32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6164263" y="2041525"/>
            <a:ext cx="3124200" cy="2971800"/>
            <a:chOff x="0" y="0"/>
            <a:chExt cx="1968" cy="1872"/>
          </a:xfrm>
        </p:grpSpPr>
        <p:sp>
          <p:nvSpPr>
            <p:cNvPr id="48139" name="AutoShape 8"/>
            <p:cNvSpPr/>
            <p:nvPr/>
          </p:nvSpPr>
          <p:spPr>
            <a:xfrm>
              <a:off x="0" y="288"/>
              <a:ext cx="1200" cy="528"/>
            </a:xfrm>
            <a:prstGeom prst="flowChartDecision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>
                <a:buFont typeface="Wingdings" panose="05000000000000000000" pitchFamily="2" charset="2"/>
              </a:pPr>
              <a:r>
                <a: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rPr>
                <a:t>表达式</a:t>
              </a: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40" name="Line 9"/>
            <p:cNvSpPr/>
            <p:nvPr/>
          </p:nvSpPr>
          <p:spPr>
            <a:xfrm>
              <a:off x="600" y="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41" name="AutoShape 10"/>
            <p:cNvSpPr/>
            <p:nvPr/>
          </p:nvSpPr>
          <p:spPr>
            <a:xfrm>
              <a:off x="1392" y="1104"/>
              <a:ext cx="576" cy="288"/>
            </a:xfrm>
            <a:prstGeom prst="flowChartProcess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>
                <a:buFont typeface="Wingdings" panose="05000000000000000000" pitchFamily="2" charset="2"/>
              </a:pPr>
              <a:r>
                <a: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rPr>
                <a:t>语句</a:t>
              </a:r>
              <a:r>
                <a:rPr lang="en-US" altLang="zh-CN" sz="2400" dirty="0"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42" name="AutoShape 11"/>
            <p:cNvSpPr/>
            <p:nvPr/>
          </p:nvSpPr>
          <p:spPr>
            <a:xfrm>
              <a:off x="336" y="1104"/>
              <a:ext cx="576" cy="288"/>
            </a:xfrm>
            <a:prstGeom prst="flowChartProcess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>
                <a:buFont typeface="Wingdings" panose="05000000000000000000" pitchFamily="2" charset="2"/>
              </a:pPr>
              <a:r>
                <a: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rPr>
                <a:t>语句</a:t>
              </a:r>
              <a:r>
                <a:rPr lang="en-US" altLang="zh-CN" sz="2400" dirty="0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43" name="Line 12"/>
            <p:cNvSpPr/>
            <p:nvPr/>
          </p:nvSpPr>
          <p:spPr>
            <a:xfrm>
              <a:off x="600" y="816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44" name="Line 13"/>
            <p:cNvSpPr/>
            <p:nvPr/>
          </p:nvSpPr>
          <p:spPr>
            <a:xfrm>
              <a:off x="1200" y="568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45" name="Line 14"/>
            <p:cNvSpPr/>
            <p:nvPr/>
          </p:nvSpPr>
          <p:spPr>
            <a:xfrm>
              <a:off x="1632" y="576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46" name="Text Box 15"/>
            <p:cNvSpPr txBox="1"/>
            <p:nvPr/>
          </p:nvSpPr>
          <p:spPr>
            <a:xfrm>
              <a:off x="1344" y="288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</a:pPr>
              <a:r>
                <a:rPr lang="zh-CN" altLang="en-US" sz="2400" b="1" dirty="0">
                  <a:latin typeface="Arial" panose="020B0604020202020204" pitchFamily="34" charset="0"/>
                  <a:ea typeface="宋体" panose="02010600030101010101" pitchFamily="2" charset="-122"/>
                </a:rPr>
                <a:t>假</a:t>
              </a:r>
              <a:endPara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47" name="Text Box 16"/>
            <p:cNvSpPr txBox="1"/>
            <p:nvPr/>
          </p:nvSpPr>
          <p:spPr>
            <a:xfrm>
              <a:off x="240" y="768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</a:pPr>
              <a:r>
                <a:rPr lang="zh-CN" altLang="en-US" sz="2400" b="1" dirty="0">
                  <a:latin typeface="Arial" panose="020B0604020202020204" pitchFamily="34" charset="0"/>
                  <a:ea typeface="宋体" panose="02010600030101010101" pitchFamily="2" charset="-122"/>
                </a:rPr>
                <a:t>真</a:t>
              </a:r>
              <a:endPara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48" name="Line 17"/>
            <p:cNvSpPr/>
            <p:nvPr/>
          </p:nvSpPr>
          <p:spPr>
            <a:xfrm>
              <a:off x="624" y="1392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49" name="Line 18"/>
            <p:cNvSpPr/>
            <p:nvPr/>
          </p:nvSpPr>
          <p:spPr>
            <a:xfrm>
              <a:off x="1632" y="139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0" name="Line 19"/>
            <p:cNvSpPr/>
            <p:nvPr/>
          </p:nvSpPr>
          <p:spPr>
            <a:xfrm flipH="1">
              <a:off x="624" y="1672"/>
              <a:ext cx="10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8692" name="AutoShape 17"/>
          <p:cNvSpPr/>
          <p:nvPr/>
        </p:nvSpPr>
        <p:spPr>
          <a:xfrm>
            <a:off x="287338" y="5522913"/>
            <a:ext cx="1079500" cy="576262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wrap="none" lIns="0" tIns="0" rIns="0" bIns="0" anchor="ctr" anchorCtr="0"/>
          <a:p>
            <a:pPr algn="ctr" eaLnBrk="1" latinLnBrk="1" hangingPunct="1"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30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语义</a:t>
            </a:r>
            <a:r>
              <a:rPr lang="ko-KR" altLang="en-US" sz="3200" b="1" dirty="0">
                <a:solidFill>
                  <a:srgbClr val="FFFFFF"/>
                </a:solidFill>
                <a:latin typeface="Tahoma" panose="020B0604030504040204" pitchFamily="34" charset="0"/>
              </a:rPr>
              <a:t> </a:t>
            </a:r>
            <a:endParaRPr lang="ko-KR" altLang="en-US" sz="32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28693" name="AutoShape 36"/>
          <p:cNvSpPr>
            <a:spLocks noChangeArrowheads="1"/>
          </p:cNvSpPr>
          <p:nvPr/>
        </p:nvSpPr>
        <p:spPr bwMode="auto">
          <a:xfrm>
            <a:off x="1584325" y="5526088"/>
            <a:ext cx="7994650" cy="57308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FBFBBB">
                  <a:alpha val="89999"/>
                </a:srgbClr>
              </a:gs>
            </a:gsLst>
            <a:lin ang="0" scaled="1"/>
          </a:gradFill>
          <a:ln w="9525" cmpd="sng">
            <a:solidFill>
              <a:srgbClr val="C0C0C0"/>
            </a:solidFill>
            <a:rou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 lIns="36000" tIns="36000" rIns="36000" bIns="3600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ulim" pitchFamily="34" charset="-127"/>
                <a:ea typeface="宋体" panose="02010600030101010101" pitchFamily="2" charset="-122"/>
                <a:cs typeface="Tahoma" panose="020B0604030504040204" pitchFamily="34" charset="0"/>
              </a:rPr>
              <a:t>若表达式为真，执行语句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ulim" pitchFamily="34" charset="-127"/>
                <a:ea typeface="宋体" panose="02010600030101010101" pitchFamily="2" charset="-122"/>
                <a:cs typeface="Tahoma" panose="020B0604030504040204" pitchFamily="34" charset="0"/>
              </a:rPr>
              <a:t>1;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ulim" pitchFamily="34" charset="-127"/>
                <a:ea typeface="宋体" panose="02010600030101010101" pitchFamily="2" charset="-122"/>
                <a:cs typeface="Tahoma" panose="020B0604030504040204" pitchFamily="34" charset="0"/>
              </a:rPr>
              <a:t>否则，执行语句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ulim" pitchFamily="34" charset="-127"/>
                <a:ea typeface="宋体" panose="02010600030101010101" pitchFamily="2" charset="-122"/>
                <a:cs typeface="Tahoma" panose="020B0604030504040204" pitchFamily="34" charset="0"/>
              </a:rPr>
              <a:t>2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ulim" pitchFamily="34" charset="-127"/>
                <a:ea typeface="宋体" panose="02010600030101010101" pitchFamily="2" charset="-122"/>
                <a:cs typeface="Tahoma" panose="020B0604030504040204" pitchFamily="34" charset="0"/>
              </a:rPr>
              <a:t>。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ulim" pitchFamily="34" charset="-127"/>
              <a:ea typeface="宋体" panose="02010600030101010101" pitchFamily="2" charset="-122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•"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22" name="思想气泡: 云 21"/>
          <p:cNvSpPr/>
          <p:nvPr/>
        </p:nvSpPr>
        <p:spPr>
          <a:xfrm>
            <a:off x="1871663" y="912813"/>
            <a:ext cx="2857500" cy="860425"/>
          </a:xfrm>
          <a:prstGeom prst="cloudCallout">
            <a:avLst>
              <a:gd name="adj1" fmla="val -41204"/>
              <a:gd name="adj2" fmla="val 92250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outerShdw dist="53882" dir="13499999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 anchor="ctr" anchorCtr="0"/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400" dirty="0">
                <a:latin typeface="Gulim" pitchFamily="34" charset="-127"/>
                <a:cs typeface="Tahoma" panose="020B0604030504040204" pitchFamily="34" charset="0"/>
              </a:rPr>
              <a:t>求两个数的最大值</a:t>
            </a:r>
            <a:endParaRPr lang="zh-CN" altLang="en-US" sz="2400" dirty="0">
              <a:latin typeface="Gulim" pitchFamily="34" charset="-127"/>
              <a:ea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animBg="1"/>
      <p:bldP spid="28676" grpId="0" animBg="1"/>
      <p:bldP spid="28677" grpId="0" animBg="1"/>
      <p:bldP spid="28678" grpId="0" animBg="1"/>
      <p:bldP spid="28692" grpId="0" animBg="1"/>
      <p:bldP spid="28693" grpId="0" animBg="1"/>
      <p:bldP spid="2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Text Box 5"/>
          <p:cNvSpPr txBox="1"/>
          <p:nvPr/>
        </p:nvSpPr>
        <p:spPr>
          <a:xfrm>
            <a:off x="3636963" y="74613"/>
            <a:ext cx="3079750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en-US" altLang="zh-CN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</a:t>
            </a: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语句嵌套</a:t>
            </a:r>
            <a:r>
              <a:rPr lang="ko-KR" altLang="en-US" sz="2200" b="1" dirty="0">
                <a:solidFill>
                  <a:schemeClr val="bg1"/>
                </a:solidFill>
                <a:latin typeface="HY헤드라인M" pitchFamily="2" charset="-127"/>
                <a:ea typeface="HY헤드라인M" pitchFamily="2" charset="-127"/>
              </a:rPr>
              <a:t> </a:t>
            </a:r>
            <a:endParaRPr lang="ko-KR" altLang="en-US" sz="2200" b="1" dirty="0">
              <a:solidFill>
                <a:schemeClr val="bg1"/>
              </a:solidFill>
              <a:latin typeface="HY헤드라인M" pitchFamily="2" charset="-127"/>
              <a:ea typeface="HY헤드라인M" pitchFamily="2" charset="-127"/>
            </a:endParaRPr>
          </a:p>
        </p:txBody>
      </p:sp>
      <p:sp>
        <p:nvSpPr>
          <p:cNvPr id="49155" name="Text Box 3"/>
          <p:cNvSpPr txBox="1"/>
          <p:nvPr/>
        </p:nvSpPr>
        <p:spPr>
          <a:xfrm>
            <a:off x="144463" y="1125538"/>
            <a:ext cx="9648825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if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if…else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中的语句也可以是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if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if…else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语句，形成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if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语句嵌套。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6" name="AutoShape 17"/>
          <p:cNvSpPr/>
          <p:nvPr/>
        </p:nvSpPr>
        <p:spPr>
          <a:xfrm>
            <a:off x="269875" y="2335213"/>
            <a:ext cx="1962150" cy="576262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wrap="none" lIns="0" tIns="0" rIns="0" bIns="0" anchor="ctr" anchorCtr="0"/>
          <a:p>
            <a:pPr algn="ctr" eaLnBrk="1" latinLnBrk="1" hangingPunct="1"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30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嵌套形式一</a:t>
            </a:r>
            <a:endParaRPr lang="ko-KR" altLang="en-US" sz="32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49157" name="AutoShape 36"/>
          <p:cNvSpPr/>
          <p:nvPr/>
        </p:nvSpPr>
        <p:spPr>
          <a:xfrm>
            <a:off x="1017588" y="3068638"/>
            <a:ext cx="3302000" cy="36004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FBFBBB">
                  <a:alpha val="89998"/>
                </a:srgbClr>
              </a:gs>
            </a:gsLst>
            <a:lin ang="0" scaled="1"/>
            <a:tileRect/>
          </a:gradFill>
          <a:ln w="952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lIns="36000" tIns="36000" rIns="36000" bIns="36000"/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if ( </a:t>
            </a:r>
            <a:r>
              <a:rPr lang="zh-CN" altLang="en-US" sz="2800" b="1" dirty="0">
                <a:latin typeface="Gulim" pitchFamily="34" charset="-127"/>
              </a:rPr>
              <a:t>表达式 </a:t>
            </a:r>
            <a:r>
              <a:rPr lang="en-US" altLang="zh-CN" sz="2800" b="1" dirty="0">
                <a:latin typeface="Gulim" pitchFamily="34" charset="-127"/>
              </a:rPr>
              <a:t>)</a:t>
            </a:r>
            <a:endParaRPr lang="en-US" altLang="zh-CN" sz="2800" b="1" dirty="0">
              <a:latin typeface="Gulim" pitchFamily="34" charset="-127"/>
            </a:endParaRPr>
          </a:p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latin typeface="Gulim" pitchFamily="34" charset="-127"/>
              </a:rPr>
              <a:t>语句</a:t>
            </a:r>
            <a:r>
              <a:rPr lang="en-US" altLang="zh-CN" sz="2800" b="1" dirty="0">
                <a:latin typeface="Gulim" pitchFamily="34" charset="-127"/>
              </a:rPr>
              <a:t>1;</a:t>
            </a:r>
            <a:endParaRPr lang="en-US" altLang="zh-CN" sz="2800" b="1" dirty="0">
              <a:latin typeface="Gulim" pitchFamily="34" charset="-127"/>
            </a:endParaRPr>
          </a:p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else</a:t>
            </a:r>
            <a:endParaRPr lang="en-US" altLang="zh-CN" sz="2800" b="1" dirty="0">
              <a:latin typeface="Gulim" pitchFamily="34" charset="-127"/>
            </a:endParaRPr>
          </a:p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    </a:t>
            </a:r>
            <a:r>
              <a:rPr lang="zh-CN" altLang="en-US" sz="2800" b="1" dirty="0">
                <a:solidFill>
                  <a:srgbClr val="FF0000"/>
                </a:solidFill>
                <a:latin typeface="Gulim" pitchFamily="34" charset="-127"/>
              </a:rPr>
              <a:t>语句</a:t>
            </a:r>
            <a:r>
              <a:rPr lang="en-US" altLang="zh-CN" sz="2800" b="1" dirty="0">
                <a:solidFill>
                  <a:srgbClr val="FF0000"/>
                </a:solidFill>
                <a:latin typeface="Gulim" pitchFamily="34" charset="-127"/>
              </a:rPr>
              <a:t>2;</a:t>
            </a:r>
            <a:r>
              <a:rPr lang="en-US" altLang="zh-CN" b="1" dirty="0">
                <a:solidFill>
                  <a:srgbClr val="FF0000"/>
                </a:solidFill>
                <a:latin typeface="Gulim" pitchFamily="34" charset="-127"/>
              </a:rPr>
              <a:t> </a:t>
            </a:r>
            <a:endParaRPr lang="en-US" altLang="zh-CN" b="1" dirty="0">
              <a:solidFill>
                <a:srgbClr val="FF0000"/>
              </a:solidFill>
              <a:latin typeface="Gulim" pitchFamily="34" charset="-127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</a:pPr>
            <a:endParaRPr lang="en-US" altLang="zh-CN" sz="2800" b="1" dirty="0">
              <a:solidFill>
                <a:srgbClr val="FF0000"/>
              </a:solidFill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49158" name="AutoShape 36"/>
          <p:cNvSpPr/>
          <p:nvPr/>
        </p:nvSpPr>
        <p:spPr>
          <a:xfrm>
            <a:off x="5338763" y="3068638"/>
            <a:ext cx="3302000" cy="36004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FBFBBB">
                  <a:alpha val="89998"/>
                </a:srgbClr>
              </a:gs>
            </a:gsLst>
            <a:lin ang="0" scaled="1"/>
            <a:tileRect/>
          </a:gradFill>
          <a:ln w="952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lIns="36000" tIns="36000" rIns="36000" bIns="36000"/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if ( </a:t>
            </a:r>
            <a:r>
              <a:rPr lang="zh-CN" altLang="en-US" sz="2800" b="1" dirty="0">
                <a:latin typeface="Gulim" pitchFamily="34" charset="-127"/>
              </a:rPr>
              <a:t>表达式</a:t>
            </a:r>
            <a:r>
              <a:rPr lang="en-US" altLang="zh-CN" sz="2800" b="1" dirty="0">
                <a:latin typeface="Gulim" pitchFamily="34" charset="-127"/>
              </a:rPr>
              <a:t>1 )</a:t>
            </a:r>
            <a:endParaRPr lang="en-US" altLang="zh-CN" sz="2800" b="1" dirty="0">
              <a:latin typeface="Gulim" pitchFamily="34" charset="-127"/>
            </a:endParaRPr>
          </a:p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      </a:t>
            </a:r>
            <a:r>
              <a:rPr lang="zh-CN" altLang="en-US" sz="2800" b="1" dirty="0">
                <a:latin typeface="Gulim" pitchFamily="34" charset="-127"/>
              </a:rPr>
              <a:t>语句</a:t>
            </a:r>
            <a:r>
              <a:rPr lang="en-US" altLang="zh-CN" sz="2800" b="1" dirty="0">
                <a:latin typeface="Gulim" pitchFamily="34" charset="-127"/>
              </a:rPr>
              <a:t>1;</a:t>
            </a:r>
            <a:endParaRPr lang="en-US" altLang="zh-CN" sz="2800" b="1" dirty="0">
              <a:latin typeface="Gulim" pitchFamily="34" charset="-127"/>
            </a:endParaRPr>
          </a:p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else  if (</a:t>
            </a:r>
            <a:r>
              <a:rPr lang="zh-CN" altLang="en-US" sz="2800" b="1" dirty="0">
                <a:latin typeface="Gulim" pitchFamily="34" charset="-127"/>
              </a:rPr>
              <a:t>表达式</a:t>
            </a:r>
            <a:r>
              <a:rPr lang="en-US" altLang="zh-CN" sz="2800" b="1" dirty="0">
                <a:latin typeface="Gulim" pitchFamily="34" charset="-127"/>
              </a:rPr>
              <a:t>2</a:t>
            </a:r>
            <a:r>
              <a:rPr lang="zh-CN" altLang="en-US" sz="2800" b="1" dirty="0">
                <a:latin typeface="Gulim" pitchFamily="34" charset="-127"/>
              </a:rPr>
              <a:t>）  </a:t>
            </a:r>
            <a:endParaRPr lang="zh-CN" altLang="en-US" sz="2800" b="1" dirty="0">
              <a:latin typeface="Gulim" pitchFamily="34" charset="-127"/>
            </a:endParaRPr>
          </a:p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b="1" dirty="0">
                <a:latin typeface="Gulim" pitchFamily="34" charset="-127"/>
              </a:rPr>
              <a:t>      语句</a:t>
            </a:r>
            <a:r>
              <a:rPr lang="en-US" altLang="zh-CN" sz="2800" b="1" dirty="0">
                <a:latin typeface="Gulim" pitchFamily="34" charset="-127"/>
              </a:rPr>
              <a:t>2</a:t>
            </a:r>
            <a:endParaRPr lang="en-US" altLang="zh-CN" sz="2800" b="1" dirty="0">
              <a:latin typeface="Gulim" pitchFamily="34" charset="-127"/>
            </a:endParaRPr>
          </a:p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……</a:t>
            </a:r>
            <a:endParaRPr lang="en-US" altLang="zh-CN" sz="2800" b="1" dirty="0">
              <a:latin typeface="Gulim" pitchFamily="34" charset="-127"/>
            </a:endParaRPr>
          </a:p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else</a:t>
            </a:r>
            <a:endParaRPr lang="en-US" altLang="zh-CN" sz="2800" b="1" dirty="0">
              <a:latin typeface="Gulim" pitchFamily="34" charset="-127"/>
            </a:endParaRPr>
          </a:p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      </a:t>
            </a:r>
            <a:r>
              <a:rPr lang="zh-CN" altLang="en-US" sz="2800" b="1" dirty="0">
                <a:latin typeface="Gulim" pitchFamily="34" charset="-127"/>
              </a:rPr>
              <a:t>语句</a:t>
            </a:r>
            <a:r>
              <a:rPr lang="en-US" altLang="zh-CN" sz="2800" b="1" dirty="0">
                <a:latin typeface="Gulim" pitchFamily="34" charset="-127"/>
              </a:rPr>
              <a:t>n</a:t>
            </a:r>
            <a:endParaRPr lang="en-US" altLang="zh-CN" sz="2800" b="1" dirty="0">
              <a:latin typeface="Gulim" pitchFamily="34" charset="-127"/>
            </a:endParaRPr>
          </a:p>
          <a:p>
            <a:pPr eaLnBrk="1" hangingPunct="1">
              <a:buFont typeface="Wingdings" panose="05000000000000000000" pitchFamily="2" charset="2"/>
            </a:pPr>
            <a:endParaRPr lang="en-US" altLang="zh-CN" sz="2800" b="1" dirty="0"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2" name="思想气泡: 云 1"/>
          <p:cNvSpPr/>
          <p:nvPr/>
        </p:nvSpPr>
        <p:spPr>
          <a:xfrm>
            <a:off x="4679950" y="1773238"/>
            <a:ext cx="4464050" cy="1008062"/>
          </a:xfrm>
          <a:prstGeom prst="cloudCallout">
            <a:avLst>
              <a:gd name="adj1" fmla="val 10616"/>
              <a:gd name="adj2" fmla="val 105838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outerShdw dist="53882" dir="13499999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 anchor="ctr" anchorCtr="0"/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400" dirty="0">
                <a:latin typeface="Gulim" pitchFamily="34" charset="-127"/>
                <a:cs typeface="Tahoma" panose="020B0604030504040204" pitchFamily="34" charset="0"/>
              </a:rPr>
              <a:t>成绩等级判断</a:t>
            </a:r>
            <a:r>
              <a:rPr lang="en-US" altLang="zh-CN" sz="2400" dirty="0">
                <a:latin typeface="Gulim" pitchFamily="34" charset="-127"/>
                <a:cs typeface="Tahoma" panose="020B0604030504040204" pitchFamily="34" charset="0"/>
              </a:rPr>
              <a:t>A</a:t>
            </a:r>
            <a:r>
              <a:rPr lang="zh-CN" altLang="en-US" sz="2400" dirty="0">
                <a:latin typeface="Gulim" pitchFamily="34" charset="-127"/>
                <a:cs typeface="Tahoma" panose="020B0604030504040204" pitchFamily="34" charset="0"/>
              </a:rPr>
              <a:t>，</a:t>
            </a:r>
            <a:r>
              <a:rPr lang="en-US" altLang="zh-CN" sz="2400" dirty="0">
                <a:latin typeface="Gulim" pitchFamily="34" charset="-127"/>
                <a:cs typeface="Tahoma" panose="020B0604030504040204" pitchFamily="34" charset="0"/>
              </a:rPr>
              <a:t>B</a:t>
            </a:r>
            <a:r>
              <a:rPr lang="zh-CN" altLang="en-US" sz="2400" dirty="0">
                <a:latin typeface="Gulim" pitchFamily="34" charset="-127"/>
                <a:cs typeface="Tahoma" panose="020B0604030504040204" pitchFamily="34" charset="0"/>
              </a:rPr>
              <a:t>，</a:t>
            </a:r>
            <a:r>
              <a:rPr lang="en-US" altLang="zh-CN" sz="2400" dirty="0">
                <a:latin typeface="Gulim" pitchFamily="34" charset="-127"/>
                <a:cs typeface="Tahoma" panose="020B0604030504040204" pitchFamily="34" charset="0"/>
              </a:rPr>
              <a:t>C</a:t>
            </a:r>
            <a:r>
              <a:rPr lang="zh-CN" altLang="en-US" sz="2400" dirty="0">
                <a:latin typeface="Gulim" pitchFamily="34" charset="-127"/>
                <a:cs typeface="Tahoma" panose="020B0604030504040204" pitchFamily="34" charset="0"/>
              </a:rPr>
              <a:t>，</a:t>
            </a:r>
            <a:r>
              <a:rPr lang="en-US" altLang="zh-CN" sz="2400" dirty="0">
                <a:latin typeface="Gulim" pitchFamily="34" charset="-127"/>
                <a:cs typeface="Tahoma" panose="020B0604030504040204" pitchFamily="34" charset="0"/>
              </a:rPr>
              <a:t>D</a:t>
            </a:r>
            <a:r>
              <a:rPr lang="zh-CN" altLang="en-US" sz="2400" dirty="0">
                <a:latin typeface="Gulim" pitchFamily="34" charset="-127"/>
                <a:cs typeface="Tahoma" panose="020B0604030504040204" pitchFamily="34" charset="0"/>
              </a:rPr>
              <a:t>，</a:t>
            </a:r>
            <a:r>
              <a:rPr lang="en-US" altLang="zh-CN" sz="2400" dirty="0">
                <a:latin typeface="Gulim" pitchFamily="34" charset="-127"/>
                <a:cs typeface="Tahoma" panose="020B0604030504040204" pitchFamily="34" charset="0"/>
              </a:rPr>
              <a:t>F</a:t>
            </a:r>
            <a:endParaRPr lang="zh-CN" altLang="en-US" sz="2400" dirty="0">
              <a:latin typeface="Gulim" pitchFamily="34" charset="-127"/>
              <a:ea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Text Box 5"/>
          <p:cNvSpPr txBox="1"/>
          <p:nvPr/>
        </p:nvSpPr>
        <p:spPr>
          <a:xfrm>
            <a:off x="3636963" y="74613"/>
            <a:ext cx="3079750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en-US" altLang="zh-CN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</a:t>
            </a: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语句嵌套</a:t>
            </a:r>
            <a:r>
              <a:rPr lang="ko-KR" altLang="en-US" sz="2200" b="1" dirty="0">
                <a:solidFill>
                  <a:schemeClr val="bg1"/>
                </a:solidFill>
                <a:latin typeface="HY헤드라인M" pitchFamily="2" charset="-127"/>
                <a:ea typeface="HY헤드라인M" pitchFamily="2" charset="-127"/>
              </a:rPr>
              <a:t> </a:t>
            </a:r>
            <a:endParaRPr lang="ko-KR" altLang="en-US" sz="2200" b="1" dirty="0">
              <a:solidFill>
                <a:schemeClr val="bg1"/>
              </a:solidFill>
              <a:latin typeface="HY헤드라인M" pitchFamily="2" charset="-127"/>
              <a:ea typeface="HY헤드라인M" pitchFamily="2" charset="-127"/>
            </a:endParaRPr>
          </a:p>
        </p:txBody>
      </p:sp>
      <p:sp>
        <p:nvSpPr>
          <p:cNvPr id="50179" name="AutoShape 17"/>
          <p:cNvSpPr/>
          <p:nvPr/>
        </p:nvSpPr>
        <p:spPr>
          <a:xfrm>
            <a:off x="144463" y="1135063"/>
            <a:ext cx="1727200" cy="576262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wrap="none" lIns="0" tIns="0" rIns="0" bIns="0" anchor="ctr" anchorCtr="0"/>
          <a:p>
            <a:pPr algn="ctr" eaLnBrk="1" latinLnBrk="1" hangingPunct="1"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30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流程图</a:t>
            </a:r>
            <a:endParaRPr lang="ko-KR" altLang="en-US" sz="32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50180" name="AutoShape 36"/>
          <p:cNvSpPr/>
          <p:nvPr/>
        </p:nvSpPr>
        <p:spPr>
          <a:xfrm>
            <a:off x="2519363" y="1458913"/>
            <a:ext cx="5256212" cy="441801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FBFBBB">
                  <a:alpha val="89998"/>
                </a:srgbClr>
              </a:gs>
            </a:gsLst>
            <a:lin ang="0" scaled="1"/>
            <a:tileRect/>
          </a:gradFill>
          <a:ln w="952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lIns="36000" tIns="36000" rIns="36000" bIns="36000"/>
          <a:p>
            <a:pPr eaLnBrk="1" hangingPunct="1">
              <a:lnSpc>
                <a:spcPct val="110000"/>
              </a:lnSpc>
              <a:buFont typeface="Wingdings" panose="05000000000000000000" pitchFamily="2" charset="2"/>
            </a:pPr>
            <a:endParaRPr lang="en-US" altLang="zh-CN" sz="2800" b="1" dirty="0">
              <a:solidFill>
                <a:srgbClr val="FF0000"/>
              </a:solidFill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50181" name="Line 5"/>
          <p:cNvSpPr/>
          <p:nvPr/>
        </p:nvSpPr>
        <p:spPr>
          <a:xfrm>
            <a:off x="3614738" y="1528763"/>
            <a:ext cx="0" cy="3571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182" name="Line 6"/>
          <p:cNvSpPr/>
          <p:nvPr/>
        </p:nvSpPr>
        <p:spPr>
          <a:xfrm>
            <a:off x="3627438" y="2546350"/>
            <a:ext cx="0" cy="5953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183" name="Line 7"/>
          <p:cNvSpPr/>
          <p:nvPr/>
        </p:nvSpPr>
        <p:spPr>
          <a:xfrm>
            <a:off x="5360988" y="3578225"/>
            <a:ext cx="0" cy="4984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184" name="AutoShape 8"/>
          <p:cNvSpPr/>
          <p:nvPr/>
        </p:nvSpPr>
        <p:spPr>
          <a:xfrm>
            <a:off x="2655888" y="1866900"/>
            <a:ext cx="1941512" cy="654050"/>
          </a:xfrm>
          <a:prstGeom prst="flowChartDecision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表达式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5" name="AutoShape 9"/>
          <p:cNvSpPr/>
          <p:nvPr/>
        </p:nvSpPr>
        <p:spPr>
          <a:xfrm>
            <a:off x="4918075" y="4076700"/>
            <a:ext cx="931863" cy="35718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语句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6" name="AutoShape 10"/>
          <p:cNvSpPr/>
          <p:nvPr/>
        </p:nvSpPr>
        <p:spPr>
          <a:xfrm>
            <a:off x="3148013" y="3148013"/>
            <a:ext cx="931862" cy="357187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语句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7" name="Line 11"/>
          <p:cNvSpPr/>
          <p:nvPr/>
        </p:nvSpPr>
        <p:spPr>
          <a:xfrm>
            <a:off x="4618038" y="2178050"/>
            <a:ext cx="7000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88" name="Line 12"/>
          <p:cNvSpPr/>
          <p:nvPr/>
        </p:nvSpPr>
        <p:spPr>
          <a:xfrm>
            <a:off x="5330825" y="2178050"/>
            <a:ext cx="30163" cy="7461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189" name="Text Box 13"/>
          <p:cNvSpPr txBox="1"/>
          <p:nvPr/>
        </p:nvSpPr>
        <p:spPr>
          <a:xfrm>
            <a:off x="5383213" y="2241550"/>
            <a:ext cx="4667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假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90" name="Text Box 14"/>
          <p:cNvSpPr txBox="1"/>
          <p:nvPr/>
        </p:nvSpPr>
        <p:spPr>
          <a:xfrm>
            <a:off x="3654425" y="2546350"/>
            <a:ext cx="4667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真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91" name="AutoShape 15"/>
          <p:cNvSpPr/>
          <p:nvPr/>
        </p:nvSpPr>
        <p:spPr>
          <a:xfrm>
            <a:off x="4403725" y="2924175"/>
            <a:ext cx="1941513" cy="654050"/>
          </a:xfrm>
          <a:prstGeom prst="flowChartDecision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表达式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92" name="AutoShape 16"/>
          <p:cNvSpPr/>
          <p:nvPr/>
        </p:nvSpPr>
        <p:spPr>
          <a:xfrm>
            <a:off x="6496050" y="4076700"/>
            <a:ext cx="931863" cy="357188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语句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93" name="Line 17"/>
          <p:cNvSpPr/>
          <p:nvPr/>
        </p:nvSpPr>
        <p:spPr>
          <a:xfrm flipH="1">
            <a:off x="6962775" y="3228975"/>
            <a:ext cx="4763" cy="7905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194" name="Line 18"/>
          <p:cNvSpPr/>
          <p:nvPr/>
        </p:nvSpPr>
        <p:spPr>
          <a:xfrm>
            <a:off x="6370638" y="3228975"/>
            <a:ext cx="5969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95" name="Text Box 19"/>
          <p:cNvSpPr txBox="1"/>
          <p:nvPr/>
        </p:nvSpPr>
        <p:spPr>
          <a:xfrm>
            <a:off x="5345113" y="3562350"/>
            <a:ext cx="4667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真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96" name="Line 20"/>
          <p:cNvSpPr/>
          <p:nvPr/>
        </p:nvSpPr>
        <p:spPr>
          <a:xfrm>
            <a:off x="3614738" y="3505200"/>
            <a:ext cx="12700" cy="16589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97" name="Line 21"/>
          <p:cNvSpPr/>
          <p:nvPr/>
        </p:nvSpPr>
        <p:spPr>
          <a:xfrm>
            <a:off x="5378450" y="4433888"/>
            <a:ext cx="0" cy="11795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198" name="Line 22"/>
          <p:cNvSpPr/>
          <p:nvPr/>
        </p:nvSpPr>
        <p:spPr>
          <a:xfrm>
            <a:off x="3627438" y="5164138"/>
            <a:ext cx="17335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99" name="Line 23"/>
          <p:cNvSpPr/>
          <p:nvPr/>
        </p:nvSpPr>
        <p:spPr>
          <a:xfrm>
            <a:off x="5383213" y="5164138"/>
            <a:ext cx="15843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200" name="Text Box 24"/>
          <p:cNvSpPr txBox="1"/>
          <p:nvPr/>
        </p:nvSpPr>
        <p:spPr>
          <a:xfrm>
            <a:off x="7077075" y="3371850"/>
            <a:ext cx="4667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假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201" name="Line 25"/>
          <p:cNvSpPr/>
          <p:nvPr/>
        </p:nvSpPr>
        <p:spPr>
          <a:xfrm>
            <a:off x="6967538" y="4433888"/>
            <a:ext cx="0" cy="7302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</p:sp>
      <p:sp>
        <p:nvSpPr>
          <p:cNvPr id="50202" name="AutoShape 26"/>
          <p:cNvSpPr/>
          <p:nvPr/>
        </p:nvSpPr>
        <p:spPr>
          <a:xfrm>
            <a:off x="5330825" y="5138738"/>
            <a:ext cx="82550" cy="69850"/>
          </a:xfrm>
          <a:prstGeom prst="flowChartConnector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anchor="ctr" anchorCtr="0"/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endParaRPr lang="zh-CN" altLang="en-US" dirty="0">
              <a:latin typeface="Gulim" pitchFamily="34" charset="-127"/>
            </a:endParaRPr>
          </a:p>
        </p:txBody>
      </p:sp>
      <p:sp>
        <p:nvSpPr>
          <p:cNvPr id="8219" name="Text Box 27"/>
          <p:cNvSpPr txBox="1"/>
          <p:nvPr/>
        </p:nvSpPr>
        <p:spPr>
          <a:xfrm>
            <a:off x="360363" y="6165850"/>
            <a:ext cx="5053012" cy="38417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注：</a:t>
            </a:r>
            <a:r>
              <a:rPr lang="zh-CN" altLang="en-US" sz="24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以</a:t>
            </a:r>
            <a:r>
              <a:rPr lang="en-US" altLang="zh-CN" sz="24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if</a:t>
            </a:r>
            <a:r>
              <a:rPr lang="en-US" altLang="zh-CN" sz="2400" b="1" dirty="0">
                <a:latin typeface="Arial" panose="020B0604020202020204" pitchFamily="34" charset="0"/>
                <a:ea typeface="华文隶书" panose="02010800040101010101" pitchFamily="2" charset="-122"/>
              </a:rPr>
              <a:t>…</a:t>
            </a:r>
            <a:r>
              <a:rPr lang="en-US" altLang="zh-CN" sz="24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else if</a:t>
            </a:r>
            <a:r>
              <a:rPr lang="en-US" altLang="zh-CN" sz="2400" b="1" dirty="0">
                <a:latin typeface="Arial" panose="020B0604020202020204" pitchFamily="34" charset="0"/>
                <a:ea typeface="华文隶书" panose="02010800040101010101" pitchFamily="2" charset="-122"/>
              </a:rPr>
              <a:t>…</a:t>
            </a:r>
            <a:r>
              <a:rPr lang="en-US" altLang="zh-CN" sz="24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else</a:t>
            </a:r>
            <a:r>
              <a:rPr lang="zh-CN" altLang="en-US" sz="24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为例。</a:t>
            </a:r>
            <a:endParaRPr lang="zh-CN" altLang="en-US" sz="2400" b="1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Text Box 5"/>
          <p:cNvSpPr txBox="1"/>
          <p:nvPr/>
        </p:nvSpPr>
        <p:spPr>
          <a:xfrm>
            <a:off x="3636963" y="74613"/>
            <a:ext cx="3079750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en-US" altLang="zh-CN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</a:t>
            </a: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语句嵌套</a:t>
            </a:r>
            <a:r>
              <a:rPr lang="ko-KR" altLang="en-US" sz="2200" b="1" dirty="0">
                <a:solidFill>
                  <a:schemeClr val="bg1"/>
                </a:solidFill>
                <a:latin typeface="HY헤드라인M" pitchFamily="2" charset="-127"/>
                <a:ea typeface="HY헤드라인M" pitchFamily="2" charset="-127"/>
              </a:rPr>
              <a:t> </a:t>
            </a:r>
            <a:endParaRPr lang="ko-KR" altLang="en-US" sz="2200" b="1" dirty="0">
              <a:solidFill>
                <a:schemeClr val="bg1"/>
              </a:solidFill>
              <a:latin typeface="HY헤드라인M" pitchFamily="2" charset="-127"/>
              <a:ea typeface="HY헤드라인M" pitchFamily="2" charset="-127"/>
            </a:endParaRPr>
          </a:p>
        </p:txBody>
      </p:sp>
      <p:sp>
        <p:nvSpPr>
          <p:cNvPr id="51203" name="AutoShape 17"/>
          <p:cNvSpPr/>
          <p:nvPr/>
        </p:nvSpPr>
        <p:spPr>
          <a:xfrm>
            <a:off x="215900" y="1135063"/>
            <a:ext cx="2232025" cy="576262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wrap="none" lIns="0" tIns="0" rIns="0" bIns="0" anchor="ctr" anchorCtr="0"/>
          <a:p>
            <a:pPr algn="ctr" eaLnBrk="1" latinLnBrk="1" hangingPunct="1"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30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嵌套形式二</a:t>
            </a:r>
            <a:endParaRPr lang="zh-CN" altLang="en-US" sz="32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51204" name="AutoShape 36"/>
          <p:cNvSpPr/>
          <p:nvPr/>
        </p:nvSpPr>
        <p:spPr>
          <a:xfrm>
            <a:off x="1079500" y="2060575"/>
            <a:ext cx="3302000" cy="36004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FBFBBB">
                  <a:alpha val="89998"/>
                </a:srgbClr>
              </a:gs>
            </a:gsLst>
            <a:lin ang="0" scaled="1"/>
            <a:tileRect/>
          </a:gradFill>
          <a:ln w="952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lIns="36000" tIns="36000" rIns="36000" bIns="36000"/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if ( </a:t>
            </a:r>
            <a:r>
              <a:rPr lang="zh-CN" altLang="en-US" sz="2800" b="1" dirty="0">
                <a:latin typeface="Gulim" pitchFamily="34" charset="-127"/>
              </a:rPr>
              <a:t>表达式 </a:t>
            </a:r>
            <a:r>
              <a:rPr lang="en-US" altLang="zh-CN" sz="2800" b="1" dirty="0">
                <a:latin typeface="Gulim" pitchFamily="34" charset="-127"/>
              </a:rPr>
              <a:t>)</a:t>
            </a:r>
            <a:endParaRPr lang="en-US" altLang="zh-CN" sz="2800" b="1" dirty="0">
              <a:latin typeface="Gulim" pitchFamily="34" charset="-127"/>
            </a:endParaRPr>
          </a:p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solidFill>
                  <a:srgbClr val="FF0000"/>
                </a:solidFill>
                <a:latin typeface="Gulim" pitchFamily="34" charset="-127"/>
              </a:rPr>
              <a:t>语句</a:t>
            </a:r>
            <a:r>
              <a:rPr lang="en-US" altLang="zh-CN" sz="2800" b="1" dirty="0">
                <a:solidFill>
                  <a:srgbClr val="FF0000"/>
                </a:solidFill>
                <a:latin typeface="Gulim" pitchFamily="34" charset="-127"/>
              </a:rPr>
              <a:t>1;</a:t>
            </a:r>
            <a:endParaRPr lang="en-US" altLang="zh-CN" sz="2800" b="1" dirty="0">
              <a:solidFill>
                <a:srgbClr val="FF0000"/>
              </a:solidFill>
              <a:latin typeface="Gulim" pitchFamily="34" charset="-127"/>
            </a:endParaRPr>
          </a:p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else</a:t>
            </a:r>
            <a:endParaRPr lang="en-US" altLang="zh-CN" sz="2800" b="1" dirty="0">
              <a:latin typeface="Gulim" pitchFamily="34" charset="-127"/>
            </a:endParaRPr>
          </a:p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    </a:t>
            </a:r>
            <a:r>
              <a:rPr lang="zh-CN" altLang="en-US" sz="2800" b="1" dirty="0">
                <a:latin typeface="Gulim" pitchFamily="34" charset="-127"/>
              </a:rPr>
              <a:t>语句</a:t>
            </a:r>
            <a:r>
              <a:rPr lang="en-US" altLang="zh-CN" sz="2800" b="1" dirty="0">
                <a:latin typeface="Gulim" pitchFamily="34" charset="-127"/>
              </a:rPr>
              <a:t>2;</a:t>
            </a:r>
            <a:r>
              <a:rPr lang="en-US" altLang="zh-CN" b="1" dirty="0">
                <a:solidFill>
                  <a:srgbClr val="FF0000"/>
                </a:solidFill>
                <a:latin typeface="Gulim" pitchFamily="34" charset="-127"/>
              </a:rPr>
              <a:t> </a:t>
            </a:r>
            <a:endParaRPr lang="en-US" altLang="zh-CN" b="1" dirty="0">
              <a:solidFill>
                <a:srgbClr val="FF0000"/>
              </a:solidFill>
              <a:latin typeface="Gulim" pitchFamily="34" charset="-127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</a:pPr>
            <a:endParaRPr lang="en-US" altLang="zh-CN" sz="2800" b="1" dirty="0">
              <a:solidFill>
                <a:srgbClr val="FF0000"/>
              </a:solidFill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51205" name="AutoShape 36"/>
          <p:cNvSpPr/>
          <p:nvPr/>
        </p:nvSpPr>
        <p:spPr>
          <a:xfrm>
            <a:off x="5400675" y="2060575"/>
            <a:ext cx="3455988" cy="36004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FBFBBB">
                  <a:alpha val="89998"/>
                </a:srgbClr>
              </a:gs>
            </a:gsLst>
            <a:lin ang="0" scaled="1"/>
            <a:tileRect/>
          </a:gradFill>
          <a:ln w="952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lIns="36000" tIns="36000" rIns="36000" bIns="36000"/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if ( </a:t>
            </a:r>
            <a:r>
              <a:rPr lang="zh-CN" altLang="en-US" sz="2800" b="1" dirty="0">
                <a:latin typeface="Gulim" pitchFamily="34" charset="-127"/>
              </a:rPr>
              <a:t>表达式</a:t>
            </a:r>
            <a:r>
              <a:rPr lang="en-US" altLang="zh-CN" sz="2800" b="1" dirty="0">
                <a:latin typeface="Gulim" pitchFamily="34" charset="-127"/>
              </a:rPr>
              <a:t>1 )</a:t>
            </a:r>
            <a:endParaRPr lang="en-US" altLang="zh-CN" sz="2800" b="1" dirty="0">
              <a:latin typeface="Gulim" pitchFamily="34" charset="-127"/>
            </a:endParaRPr>
          </a:p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      </a:t>
            </a:r>
            <a:r>
              <a:rPr lang="en-US" altLang="zh-CN" sz="2800" b="1" dirty="0">
                <a:solidFill>
                  <a:srgbClr val="FF0000"/>
                </a:solidFill>
                <a:latin typeface="Gulim" pitchFamily="34" charset="-127"/>
              </a:rPr>
              <a:t>if ( </a:t>
            </a:r>
            <a:r>
              <a:rPr lang="zh-CN" altLang="en-US" sz="2800" b="1" dirty="0">
                <a:solidFill>
                  <a:srgbClr val="FF0000"/>
                </a:solidFill>
                <a:latin typeface="Gulim" pitchFamily="34" charset="-127"/>
              </a:rPr>
              <a:t>表达式</a:t>
            </a:r>
            <a:r>
              <a:rPr lang="en-US" altLang="zh-CN" sz="2800" b="1" dirty="0">
                <a:solidFill>
                  <a:srgbClr val="FF0000"/>
                </a:solidFill>
                <a:latin typeface="Gulim" pitchFamily="34" charset="-127"/>
              </a:rPr>
              <a:t>2 )</a:t>
            </a:r>
            <a:endParaRPr lang="en-US" altLang="zh-CN" sz="2800" b="1" dirty="0">
              <a:solidFill>
                <a:srgbClr val="FF0000"/>
              </a:solidFill>
              <a:latin typeface="Gulim" pitchFamily="34" charset="-127"/>
            </a:endParaRPr>
          </a:p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FF0000"/>
                </a:solidFill>
                <a:latin typeface="Gulim" pitchFamily="34" charset="-127"/>
              </a:rPr>
              <a:t>          </a:t>
            </a:r>
            <a:r>
              <a:rPr lang="zh-CN" altLang="en-US" sz="2800" b="1" dirty="0">
                <a:solidFill>
                  <a:srgbClr val="FF0000"/>
                </a:solidFill>
                <a:latin typeface="Gulim" pitchFamily="34" charset="-127"/>
              </a:rPr>
              <a:t>语句</a:t>
            </a:r>
            <a:r>
              <a:rPr lang="en-US" altLang="zh-CN" sz="2800" b="1" dirty="0">
                <a:solidFill>
                  <a:srgbClr val="FF0000"/>
                </a:solidFill>
                <a:latin typeface="Gulim" pitchFamily="34" charset="-127"/>
              </a:rPr>
              <a:t>1;</a:t>
            </a:r>
            <a:endParaRPr lang="en-US" altLang="zh-CN" sz="2800" b="1" dirty="0">
              <a:solidFill>
                <a:srgbClr val="FF0000"/>
              </a:solidFill>
              <a:latin typeface="Gulim" pitchFamily="34" charset="-127"/>
            </a:endParaRPr>
          </a:p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FF0000"/>
                </a:solidFill>
                <a:latin typeface="Gulim" pitchFamily="34" charset="-127"/>
              </a:rPr>
              <a:t>      else    </a:t>
            </a:r>
            <a:endParaRPr lang="en-US" altLang="zh-CN" sz="2800" b="1" dirty="0">
              <a:solidFill>
                <a:srgbClr val="FF0000"/>
              </a:solidFill>
              <a:latin typeface="Gulim" pitchFamily="34" charset="-127"/>
            </a:endParaRPr>
          </a:p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FF0000"/>
                </a:solidFill>
                <a:latin typeface="Gulim" pitchFamily="34" charset="-127"/>
              </a:rPr>
              <a:t>           </a:t>
            </a:r>
            <a:r>
              <a:rPr lang="zh-CN" altLang="en-US" sz="2800" b="1" dirty="0">
                <a:solidFill>
                  <a:srgbClr val="FF0000"/>
                </a:solidFill>
                <a:latin typeface="Gulim" pitchFamily="34" charset="-127"/>
              </a:rPr>
              <a:t>语句</a:t>
            </a:r>
            <a:r>
              <a:rPr lang="en-US" altLang="zh-CN" sz="2800" b="1" dirty="0">
                <a:solidFill>
                  <a:srgbClr val="FF0000"/>
                </a:solidFill>
                <a:latin typeface="Gulim" pitchFamily="34" charset="-127"/>
              </a:rPr>
              <a:t>2;</a:t>
            </a:r>
            <a:endParaRPr lang="en-US" altLang="zh-CN" sz="2800" b="1" dirty="0">
              <a:solidFill>
                <a:srgbClr val="FF0000"/>
              </a:solidFill>
              <a:latin typeface="Gulim" pitchFamily="34" charset="-127"/>
            </a:endParaRPr>
          </a:p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 else</a:t>
            </a:r>
            <a:endParaRPr lang="en-US" altLang="zh-CN" sz="2800" b="1" dirty="0">
              <a:latin typeface="Gulim" pitchFamily="34" charset="-127"/>
            </a:endParaRPr>
          </a:p>
          <a:p>
            <a:pPr eaLnBrk="1" latin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     </a:t>
            </a:r>
            <a:r>
              <a:rPr lang="zh-CN" altLang="en-US" sz="2800" b="1" dirty="0">
                <a:latin typeface="Gulim" pitchFamily="34" charset="-127"/>
              </a:rPr>
              <a:t>语句</a:t>
            </a:r>
            <a:r>
              <a:rPr lang="en-US" altLang="zh-CN" sz="2800" b="1" dirty="0">
                <a:latin typeface="Gulim" pitchFamily="34" charset="-127"/>
              </a:rPr>
              <a:t>3</a:t>
            </a:r>
            <a:r>
              <a:rPr lang="en-US" altLang="zh-CN" sz="2800" b="1" i="1" dirty="0">
                <a:latin typeface="Gulim" pitchFamily="34" charset="-127"/>
              </a:rPr>
              <a:t>;</a:t>
            </a:r>
            <a:endParaRPr lang="en-US" altLang="zh-CN" sz="2800" b="1" dirty="0">
              <a:latin typeface="Gulim" pitchFamily="34" charset="-127"/>
            </a:endParaRPr>
          </a:p>
          <a:p>
            <a:pPr eaLnBrk="1" hangingPunct="1">
              <a:buFont typeface="Wingdings" panose="05000000000000000000" pitchFamily="2" charset="2"/>
            </a:pPr>
            <a:endParaRPr lang="en-US" altLang="zh-CN" sz="2800" b="1" dirty="0"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6" name="思想气泡: 云 5"/>
          <p:cNvSpPr/>
          <p:nvPr/>
        </p:nvSpPr>
        <p:spPr>
          <a:xfrm>
            <a:off x="5586413" y="504825"/>
            <a:ext cx="4464050" cy="1008063"/>
          </a:xfrm>
          <a:prstGeom prst="cloudCallout">
            <a:avLst>
              <a:gd name="adj1" fmla="val -42181"/>
              <a:gd name="adj2" fmla="val 141111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outerShdw dist="53882" dir="13499999" algn="ctr" rotWithShape="0">
              <a:schemeClr val="bg2">
                <a:alpha val="50000"/>
              </a:schemeClr>
            </a:outerShdw>
          </a:effectLst>
        </p:spPr>
        <p:txBody>
          <a:bodyPr wrap="none" lIns="0" tIns="0" rIns="0" bIns="0" anchor="ctr" anchorCtr="0"/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400" dirty="0">
                <a:latin typeface="Gulim" pitchFamily="34" charset="-127"/>
                <a:cs typeface="Tahoma" panose="020B0604030504040204" pitchFamily="34" charset="0"/>
              </a:rPr>
              <a:t>构成三角形，判断类型。</a:t>
            </a:r>
            <a:endParaRPr lang="zh-CN" altLang="en-US" sz="2400" dirty="0">
              <a:latin typeface="Gulim" pitchFamily="34" charset="-127"/>
              <a:ea typeface="Tahoma" panose="020B0604030504040204" pitchFamily="34" charset="0"/>
            </a:endParaRPr>
          </a:p>
        </p:txBody>
      </p:sp>
      <p:sp>
        <p:nvSpPr>
          <p:cNvPr id="7" name="思想气泡: 云 6"/>
          <p:cNvSpPr/>
          <p:nvPr/>
        </p:nvSpPr>
        <p:spPr>
          <a:xfrm>
            <a:off x="5545138" y="404813"/>
            <a:ext cx="4465637" cy="1377950"/>
          </a:xfrm>
          <a:prstGeom prst="cloudCallout">
            <a:avLst>
              <a:gd name="adj1" fmla="val -42181"/>
              <a:gd name="adj2" fmla="val 141111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outerShdw dist="53882" dir="13499999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 anchor="ctr" anchorCtr="0"/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400" dirty="0">
                <a:latin typeface="Gulim" pitchFamily="34" charset="-127"/>
                <a:cs typeface="Tahoma" panose="020B0604030504040204" pitchFamily="34" charset="0"/>
              </a:rPr>
              <a:t>改变语句顺序，可减少</a:t>
            </a:r>
            <a:r>
              <a:rPr lang="en-US" altLang="zh-CN" sz="2400" dirty="0">
                <a:latin typeface="Gulim" pitchFamily="34" charset="-127"/>
                <a:cs typeface="Tahoma" panose="020B0604030504040204" pitchFamily="34" charset="0"/>
              </a:rPr>
              <a:t>if</a:t>
            </a:r>
            <a:r>
              <a:rPr lang="zh-CN" altLang="en-US" sz="2400" dirty="0">
                <a:latin typeface="Gulim" pitchFamily="34" charset="-127"/>
                <a:cs typeface="Tahoma" panose="020B0604030504040204" pitchFamily="34" charset="0"/>
              </a:rPr>
              <a:t>层次。非三角形，否则判等，否则等腰</a:t>
            </a:r>
            <a:r>
              <a:rPr lang="en-US" altLang="zh-CN" sz="2400" dirty="0">
                <a:latin typeface="Gulim" pitchFamily="34" charset="-127"/>
                <a:ea typeface="Tahoma" panose="020B0604030504040204" pitchFamily="34" charset="0"/>
              </a:rPr>
              <a:t>…</a:t>
            </a:r>
            <a:endParaRPr lang="zh-CN" altLang="en-US" sz="2400" dirty="0">
              <a:latin typeface="Gulim" pitchFamily="34" charset="-127"/>
              <a:ea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Text Box 5"/>
          <p:cNvSpPr txBox="1"/>
          <p:nvPr/>
        </p:nvSpPr>
        <p:spPr>
          <a:xfrm>
            <a:off x="3636963" y="74613"/>
            <a:ext cx="3079750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en-US" altLang="zh-CN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</a:t>
            </a: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语句嵌套</a:t>
            </a:r>
            <a:r>
              <a:rPr lang="ko-KR" altLang="en-US" sz="2200" b="1" dirty="0">
                <a:solidFill>
                  <a:schemeClr val="bg1"/>
                </a:solidFill>
                <a:latin typeface="HY헤드라인M" pitchFamily="2" charset="-127"/>
                <a:ea typeface="HY헤드라인M" pitchFamily="2" charset="-127"/>
              </a:rPr>
              <a:t> </a:t>
            </a:r>
            <a:endParaRPr lang="ko-KR" altLang="en-US" sz="2200" b="1" dirty="0">
              <a:solidFill>
                <a:schemeClr val="bg1"/>
              </a:solidFill>
              <a:latin typeface="HY헤드라인M" pitchFamily="2" charset="-127"/>
              <a:ea typeface="HY헤드라인M" pitchFamily="2" charset="-127"/>
            </a:endParaRPr>
          </a:p>
        </p:txBody>
      </p:sp>
      <p:sp>
        <p:nvSpPr>
          <p:cNvPr id="52227" name="AutoShape 17"/>
          <p:cNvSpPr/>
          <p:nvPr/>
        </p:nvSpPr>
        <p:spPr>
          <a:xfrm>
            <a:off x="215900" y="1268413"/>
            <a:ext cx="1800225" cy="576262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wrap="none" lIns="0" tIns="0" rIns="0" bIns="0" anchor="ctr" anchorCtr="0"/>
          <a:p>
            <a:pPr algn="ctr" eaLnBrk="1" latinLnBrk="1" hangingPunct="1"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30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流程图</a:t>
            </a:r>
            <a:endParaRPr lang="ko-KR" altLang="en-US" sz="32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grpSp>
        <p:nvGrpSpPr>
          <p:cNvPr id="52228" name="Group 4"/>
          <p:cNvGrpSpPr/>
          <p:nvPr/>
        </p:nvGrpSpPr>
        <p:grpSpPr>
          <a:xfrm>
            <a:off x="2592388" y="1412875"/>
            <a:ext cx="4032250" cy="4418013"/>
            <a:chOff x="0" y="0"/>
            <a:chExt cx="2540" cy="2783"/>
          </a:xfrm>
        </p:grpSpPr>
        <p:sp>
          <p:nvSpPr>
            <p:cNvPr id="52230" name="AutoShape 36"/>
            <p:cNvSpPr/>
            <p:nvPr/>
          </p:nvSpPr>
          <p:spPr>
            <a:xfrm>
              <a:off x="0" y="0"/>
              <a:ext cx="2540" cy="2783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FBFBBB">
                    <a:alpha val="89998"/>
                  </a:srgbClr>
                </a:gs>
              </a:gsLst>
              <a:lin ang="0" scaled="1"/>
              <a:tileRect/>
            </a:gradFill>
            <a:ln w="952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  <a:effectLst>
              <a:prstShdw prst="shdw13" dist="53882" dir="13499999">
                <a:schemeClr val="bg2">
                  <a:alpha val="50000"/>
                </a:schemeClr>
              </a:prstShdw>
            </a:effectLst>
          </p:spPr>
          <p:txBody>
            <a:bodyPr wrap="none" lIns="36000" tIns="36000" rIns="36000" bIns="36000"/>
            <a:p>
              <a:pPr eaLnBrk="1" hangingPunct="1">
                <a:lnSpc>
                  <a:spcPct val="110000"/>
                </a:lnSpc>
                <a:buFont typeface="Wingdings" panose="05000000000000000000" pitchFamily="2" charset="2"/>
              </a:pPr>
              <a:endParaRPr lang="en-US" altLang="zh-CN" sz="2800" b="1" dirty="0">
                <a:solidFill>
                  <a:srgbClr val="FF0000"/>
                </a:solidFill>
                <a:latin typeface="Gulim" pitchFamily="34" charset="-127"/>
                <a:ea typeface="宋体" panose="02010600030101010101" pitchFamily="2" charset="-122"/>
              </a:endParaRPr>
            </a:p>
          </p:txBody>
        </p:sp>
        <p:grpSp>
          <p:nvGrpSpPr>
            <p:cNvPr id="52231" name="Group 6"/>
            <p:cNvGrpSpPr/>
            <p:nvPr/>
          </p:nvGrpSpPr>
          <p:grpSpPr>
            <a:xfrm>
              <a:off x="90" y="107"/>
              <a:ext cx="2270" cy="2585"/>
              <a:chOff x="0" y="0"/>
              <a:chExt cx="2588" cy="3311"/>
            </a:xfrm>
          </p:grpSpPr>
          <p:grpSp>
            <p:nvGrpSpPr>
              <p:cNvPr id="52232" name="Group 7"/>
              <p:cNvGrpSpPr/>
              <p:nvPr/>
            </p:nvGrpSpPr>
            <p:grpSpPr>
              <a:xfrm>
                <a:off x="330" y="807"/>
                <a:ext cx="924" cy="1271"/>
                <a:chOff x="0" y="0"/>
                <a:chExt cx="924" cy="1271"/>
              </a:xfrm>
            </p:grpSpPr>
            <p:sp>
              <p:nvSpPr>
                <p:cNvPr id="52252" name="Line 8"/>
                <p:cNvSpPr/>
                <p:nvPr/>
              </p:nvSpPr>
              <p:spPr>
                <a:xfrm>
                  <a:off x="900" y="0"/>
                  <a:ext cx="0" cy="28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52253" name="Line 9"/>
                <p:cNvSpPr/>
                <p:nvPr/>
              </p:nvSpPr>
              <p:spPr>
                <a:xfrm>
                  <a:off x="924" y="791"/>
                  <a:ext cx="0" cy="48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52254" name="Line 10"/>
                <p:cNvSpPr/>
                <p:nvPr/>
              </p:nvSpPr>
              <p:spPr>
                <a:xfrm>
                  <a:off x="0" y="545"/>
                  <a:ext cx="18" cy="71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52233" name="Group 11"/>
              <p:cNvGrpSpPr/>
              <p:nvPr/>
            </p:nvGrpSpPr>
            <p:grpSpPr>
              <a:xfrm>
                <a:off x="0" y="0"/>
                <a:ext cx="2588" cy="3311"/>
                <a:chOff x="0" y="0"/>
                <a:chExt cx="2588" cy="3311"/>
              </a:xfrm>
            </p:grpSpPr>
            <p:sp>
              <p:nvSpPr>
                <p:cNvPr id="52234" name="AutoShape 12"/>
                <p:cNvSpPr/>
                <p:nvPr/>
              </p:nvSpPr>
              <p:spPr>
                <a:xfrm>
                  <a:off x="633" y="288"/>
                  <a:ext cx="1200" cy="528"/>
                </a:xfrm>
                <a:prstGeom prst="flowChartDecision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 eaLnBrk="1" hangingPunct="1">
                    <a:buFont typeface="Wingdings" panose="05000000000000000000" pitchFamily="2" charset="2"/>
                  </a:pPr>
                  <a:r>
                    <a:rPr lang="zh-CN" altLang="en-US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表达式</a:t>
                  </a:r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235" name="Line 13"/>
                <p:cNvSpPr/>
                <p:nvPr/>
              </p:nvSpPr>
              <p:spPr>
                <a:xfrm>
                  <a:off x="1233" y="0"/>
                  <a:ext cx="0" cy="28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52236" name="AutoShape 14"/>
                <p:cNvSpPr/>
                <p:nvPr/>
              </p:nvSpPr>
              <p:spPr>
                <a:xfrm>
                  <a:off x="61" y="2087"/>
                  <a:ext cx="576" cy="288"/>
                </a:xfrm>
                <a:prstGeom prst="flowChartProcess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 eaLnBrk="1" hangingPunct="1">
                    <a:buFont typeface="Wingdings" panose="05000000000000000000" pitchFamily="2" charset="2"/>
                  </a:pPr>
                  <a:r>
                    <a:rPr lang="zh-CN" altLang="en-US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语句</a:t>
                  </a:r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237" name="AutoShape 15"/>
                <p:cNvSpPr/>
                <p:nvPr/>
              </p:nvSpPr>
              <p:spPr>
                <a:xfrm>
                  <a:off x="968" y="2087"/>
                  <a:ext cx="576" cy="288"/>
                </a:xfrm>
                <a:prstGeom prst="flowChartProcess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 eaLnBrk="1" hangingPunct="1">
                    <a:buFont typeface="Wingdings" panose="05000000000000000000" pitchFamily="2" charset="2"/>
                  </a:pPr>
                  <a:r>
                    <a:rPr lang="zh-CN" altLang="en-US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语句</a:t>
                  </a:r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238" name="Line 16"/>
                <p:cNvSpPr/>
                <p:nvPr/>
              </p:nvSpPr>
              <p:spPr>
                <a:xfrm>
                  <a:off x="1833" y="568"/>
                  <a:ext cx="43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239" name="Line 17"/>
                <p:cNvSpPr/>
                <p:nvPr/>
              </p:nvSpPr>
              <p:spPr>
                <a:xfrm>
                  <a:off x="2265" y="576"/>
                  <a:ext cx="19" cy="603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52240" name="Text Box 18"/>
                <p:cNvSpPr txBox="1"/>
                <p:nvPr/>
              </p:nvSpPr>
              <p:spPr>
                <a:xfrm>
                  <a:off x="2284" y="681"/>
                  <a:ext cx="288" cy="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</a:pPr>
                  <a:r>
                    <a:rPr lang="zh-CN" altLang="en-US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假</a:t>
                  </a:r>
                  <a:endParaRPr lang="zh-CN" altLang="en-US" sz="2400" b="1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241" name="Text Box 19"/>
                <p:cNvSpPr txBox="1"/>
                <p:nvPr/>
              </p:nvSpPr>
              <p:spPr>
                <a:xfrm>
                  <a:off x="878" y="816"/>
                  <a:ext cx="288" cy="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</a:pPr>
                  <a:r>
                    <a:rPr lang="zh-CN" altLang="en-US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真</a:t>
                  </a:r>
                  <a:endParaRPr lang="zh-CN" altLang="en-US" sz="2400" b="1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242" name="AutoShape 20"/>
                <p:cNvSpPr/>
                <p:nvPr/>
              </p:nvSpPr>
              <p:spPr>
                <a:xfrm>
                  <a:off x="651" y="1089"/>
                  <a:ext cx="1200" cy="528"/>
                </a:xfrm>
                <a:prstGeom prst="flowChartDecision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 eaLnBrk="1" hangingPunct="1">
                    <a:buFont typeface="Wingdings" panose="05000000000000000000" pitchFamily="2" charset="2"/>
                  </a:pPr>
                  <a:r>
                    <a:rPr lang="zh-CN" altLang="en-US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表达式</a:t>
                  </a:r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243" name="AutoShape 21"/>
                <p:cNvSpPr/>
                <p:nvPr/>
              </p:nvSpPr>
              <p:spPr>
                <a:xfrm>
                  <a:off x="2012" y="1179"/>
                  <a:ext cx="576" cy="288"/>
                </a:xfrm>
                <a:prstGeom prst="flowChartProcess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 eaLnBrk="1" hangingPunct="1">
                    <a:buFont typeface="Wingdings" panose="05000000000000000000" pitchFamily="2" charset="2"/>
                  </a:pPr>
                  <a:r>
                    <a:rPr lang="zh-CN" altLang="en-US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语句</a:t>
                  </a:r>
                  <a:r>
                    <a:rPr lang="en-US" altLang="zh-CN" sz="2400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3</a:t>
                  </a:r>
                  <a:endPara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244" name="Line 22"/>
                <p:cNvSpPr/>
                <p:nvPr/>
              </p:nvSpPr>
              <p:spPr>
                <a:xfrm>
                  <a:off x="2284" y="1460"/>
                  <a:ext cx="0" cy="1443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245" name="Text Box 23"/>
                <p:cNvSpPr txBox="1"/>
                <p:nvPr/>
              </p:nvSpPr>
              <p:spPr>
                <a:xfrm>
                  <a:off x="0" y="1525"/>
                  <a:ext cx="288" cy="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</a:pPr>
                  <a:r>
                    <a:rPr lang="zh-CN" altLang="en-US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假</a:t>
                  </a:r>
                  <a:endParaRPr lang="zh-CN" altLang="en-US" sz="2400" b="1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246" name="Line 24"/>
                <p:cNvSpPr/>
                <p:nvPr/>
              </p:nvSpPr>
              <p:spPr>
                <a:xfrm>
                  <a:off x="333" y="1351"/>
                  <a:ext cx="31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247" name="Text Box 25"/>
                <p:cNvSpPr txBox="1"/>
                <p:nvPr/>
              </p:nvSpPr>
              <p:spPr>
                <a:xfrm>
                  <a:off x="953" y="1707"/>
                  <a:ext cx="288" cy="3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eaLnBrk="1" hangingPunct="1">
                    <a:spcBef>
                      <a:spcPct val="50000"/>
                    </a:spcBef>
                    <a:buFont typeface="Wingdings" panose="05000000000000000000" pitchFamily="2" charset="2"/>
                  </a:pPr>
                  <a:r>
                    <a:rPr lang="zh-CN" altLang="en-US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真</a:t>
                  </a:r>
                  <a:endParaRPr lang="zh-CN" altLang="en-US" sz="2400" b="1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248" name="Line 26"/>
                <p:cNvSpPr/>
                <p:nvPr/>
              </p:nvSpPr>
              <p:spPr>
                <a:xfrm>
                  <a:off x="333" y="2404"/>
                  <a:ext cx="0" cy="5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249" name="Line 27"/>
                <p:cNvSpPr/>
                <p:nvPr/>
              </p:nvSpPr>
              <p:spPr>
                <a:xfrm>
                  <a:off x="1241" y="2359"/>
                  <a:ext cx="0" cy="95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52250" name="Line 28"/>
                <p:cNvSpPr/>
                <p:nvPr/>
              </p:nvSpPr>
              <p:spPr>
                <a:xfrm>
                  <a:off x="333" y="2948"/>
                  <a:ext cx="90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52251" name="Line 29"/>
                <p:cNvSpPr/>
                <p:nvPr/>
              </p:nvSpPr>
              <p:spPr>
                <a:xfrm>
                  <a:off x="1241" y="2903"/>
                  <a:ext cx="1043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triangle" w="med" len="med"/>
                  <a:tailEnd type="none" w="med" len="med"/>
                </a:ln>
              </p:spPr>
            </p:sp>
          </p:grpSp>
        </p:grpSp>
      </p:grpSp>
      <p:sp>
        <p:nvSpPr>
          <p:cNvPr id="52229" name="Text Box 30"/>
          <p:cNvSpPr txBox="1"/>
          <p:nvPr/>
        </p:nvSpPr>
        <p:spPr>
          <a:xfrm>
            <a:off x="431800" y="6140450"/>
            <a:ext cx="8353425" cy="38417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注：</a:t>
            </a:r>
            <a:r>
              <a:rPr lang="en-US" altLang="zh-CN" sz="24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if</a:t>
            </a:r>
            <a:r>
              <a:rPr lang="zh-CN" altLang="en-US" sz="24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语句嵌套形式多样，根据实际需要进行组合。</a:t>
            </a:r>
            <a:endParaRPr lang="zh-CN" altLang="en-US" sz="2400" b="1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masterClrMapping/>
  </p:clrMapOvr>
  <p:transition spd="med">
    <p:wedg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Text Box 5"/>
          <p:cNvSpPr txBox="1"/>
          <p:nvPr/>
        </p:nvSpPr>
        <p:spPr>
          <a:xfrm>
            <a:off x="4460875" y="74613"/>
            <a:ext cx="1416050" cy="7699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zh-CN" altLang="en-US" sz="4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</a:t>
            </a:r>
            <a:r>
              <a:rPr lang="ko-KR" altLang="en-US" sz="2200" b="1" dirty="0">
                <a:solidFill>
                  <a:schemeClr val="bg1"/>
                </a:solidFill>
                <a:latin typeface="HY헤드라인M" pitchFamily="2" charset="-127"/>
                <a:ea typeface="HY헤드라인M" pitchFamily="2" charset="-127"/>
              </a:rPr>
              <a:t> </a:t>
            </a:r>
            <a:endParaRPr lang="ko-KR" altLang="en-US" sz="2200" b="1" dirty="0">
              <a:solidFill>
                <a:schemeClr val="bg1"/>
              </a:solidFill>
              <a:latin typeface="HY헤드라인M" pitchFamily="2" charset="-127"/>
              <a:ea typeface="HY헤드라인M" pitchFamily="2" charset="-127"/>
            </a:endParaRPr>
          </a:p>
        </p:txBody>
      </p:sp>
      <p:sp>
        <p:nvSpPr>
          <p:cNvPr id="53251" name="Text Box 3"/>
          <p:cNvSpPr txBox="1"/>
          <p:nvPr/>
        </p:nvSpPr>
        <p:spPr>
          <a:xfrm>
            <a:off x="73025" y="1244600"/>
            <a:ext cx="9504363" cy="433388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编程：键入一字符，若是</a:t>
            </a: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’b’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，则响铃。</a:t>
            </a:r>
            <a:endParaRPr lang="zh-CN" altLang="en-US" sz="2800" dirty="0"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53252" name="Text Box 4"/>
          <p:cNvSpPr txBox="1"/>
          <p:nvPr/>
        </p:nvSpPr>
        <p:spPr>
          <a:xfrm>
            <a:off x="7704138" y="5905500"/>
            <a:ext cx="2376487" cy="38417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FF0000"/>
                </a:solidFill>
                <a:latin typeface="Gulim" pitchFamily="34" charset="-127"/>
              </a:rPr>
              <a:t>exp3_2.cpp</a:t>
            </a:r>
            <a:endParaRPr lang="en-US" altLang="zh-CN" sz="2400" b="1" dirty="0">
              <a:solidFill>
                <a:srgbClr val="FF0000"/>
              </a:solidFill>
              <a:latin typeface="Gulim" pitchFamily="34" charset="-127"/>
            </a:endParaRPr>
          </a:p>
        </p:txBody>
      </p:sp>
      <p:sp>
        <p:nvSpPr>
          <p:cNvPr id="26629" name="Text Box 5"/>
          <p:cNvSpPr txBox="1"/>
          <p:nvPr/>
        </p:nvSpPr>
        <p:spPr>
          <a:xfrm>
            <a:off x="425450" y="2714625"/>
            <a:ext cx="9294813" cy="278765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400" b="1" dirty="0">
                <a:latin typeface="Gulim" pitchFamily="34" charset="-127"/>
              </a:rPr>
              <a:t>字符输入：</a:t>
            </a:r>
            <a:endParaRPr lang="en-US" altLang="zh-CN" sz="2400" b="1" dirty="0">
              <a:latin typeface="Gulim" pitchFamily="34" charset="-127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400" b="1" dirty="0">
                <a:latin typeface="Gulim" pitchFamily="34" charset="-127"/>
              </a:rPr>
              <a:t>char		ch;</a:t>
            </a:r>
            <a:endParaRPr lang="en-US" altLang="zh-CN" sz="2400" b="1" dirty="0">
              <a:latin typeface="Gulim" pitchFamily="34" charset="-127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400" b="1" dirty="0">
                <a:latin typeface="Gulim" pitchFamily="34" charset="-127"/>
              </a:rPr>
              <a:t>1)  ch = getche();     #include &lt;conio.h&gt;    //</a:t>
            </a:r>
            <a:r>
              <a:rPr lang="zh-CN" altLang="en-US" sz="2400" b="1" dirty="0">
                <a:latin typeface="Gulim" pitchFamily="34" charset="-127"/>
              </a:rPr>
              <a:t>输入字符</a:t>
            </a:r>
            <a:r>
              <a:rPr lang="en-US" altLang="zh-CN" sz="2400" b="1" dirty="0">
                <a:latin typeface="Gulim" pitchFamily="34" charset="-127"/>
              </a:rPr>
              <a:t>ch</a:t>
            </a:r>
            <a:endParaRPr lang="en-US" altLang="zh-CN" sz="2400" b="1" dirty="0">
              <a:latin typeface="Gulim" pitchFamily="34" charset="-127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400" b="1" dirty="0">
                <a:latin typeface="Gulim" pitchFamily="34" charset="-127"/>
              </a:rPr>
              <a:t>2)  ch = getchar();    #include &lt;stdio.h&gt;     //</a:t>
            </a:r>
            <a:r>
              <a:rPr lang="zh-CN" altLang="en-US" sz="2400" b="1" dirty="0">
                <a:latin typeface="Gulim" pitchFamily="34" charset="-127"/>
              </a:rPr>
              <a:t>输入字符</a:t>
            </a:r>
            <a:r>
              <a:rPr lang="en-US" altLang="zh-CN" sz="2400" b="1" dirty="0">
                <a:latin typeface="Gulim" pitchFamily="34" charset="-127"/>
              </a:rPr>
              <a:t>ch </a:t>
            </a:r>
            <a:endParaRPr lang="en-US" altLang="zh-CN" sz="2400" b="1" dirty="0">
              <a:latin typeface="Gulim" pitchFamily="34" charset="-127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</a:pPr>
            <a:r>
              <a:rPr lang="en-US" altLang="zh-CN" sz="2400" b="1" dirty="0">
                <a:latin typeface="Gulim" pitchFamily="34" charset="-127"/>
              </a:rPr>
              <a:t>3</a:t>
            </a:r>
            <a:r>
              <a:rPr lang="zh-CN" altLang="en-US" sz="2400" b="1" dirty="0">
                <a:latin typeface="Gulim" pitchFamily="34" charset="-127"/>
              </a:rPr>
              <a:t>）</a:t>
            </a:r>
            <a:r>
              <a:rPr lang="en-US" altLang="zh-CN" sz="2400" b="1" dirty="0">
                <a:latin typeface="Gulim" pitchFamily="34" charset="-127"/>
              </a:rPr>
              <a:t>ch = getch();       #include &lt;conio.h&gt;    //</a:t>
            </a:r>
            <a:r>
              <a:rPr lang="zh-CN" altLang="en-US" sz="2400" b="1" dirty="0">
                <a:latin typeface="Gulim" pitchFamily="34" charset="-127"/>
              </a:rPr>
              <a:t>输入字符</a:t>
            </a:r>
            <a:r>
              <a:rPr lang="en-US" altLang="zh-CN" sz="2400" b="1" dirty="0">
                <a:latin typeface="Gulim" pitchFamily="34" charset="-127"/>
              </a:rPr>
              <a:t>ch</a:t>
            </a:r>
            <a:endParaRPr lang="en-US" altLang="zh-CN" sz="2400" b="1" dirty="0">
              <a:latin typeface="Gulim" pitchFamily="34" charset="-127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400" b="1" dirty="0">
                <a:latin typeface="Gulim" pitchFamily="34" charset="-127"/>
              </a:rPr>
              <a:t>4)  putchar(ch);       //</a:t>
            </a:r>
            <a:r>
              <a:rPr lang="zh-CN" altLang="en-US" sz="2400" b="1" dirty="0">
                <a:latin typeface="Gulim" pitchFamily="34" charset="-127"/>
              </a:rPr>
              <a:t>输出字符</a:t>
            </a:r>
            <a:endParaRPr lang="en-US" altLang="zh-CN" sz="2400" b="1" dirty="0">
              <a:latin typeface="Gulim" pitchFamily="34" charset="-127"/>
            </a:endParaRPr>
          </a:p>
        </p:txBody>
      </p:sp>
      <p:sp>
        <p:nvSpPr>
          <p:cNvPr id="2" name="思想气泡: 云 1"/>
          <p:cNvSpPr/>
          <p:nvPr/>
        </p:nvSpPr>
        <p:spPr>
          <a:xfrm>
            <a:off x="3546475" y="1849438"/>
            <a:ext cx="2555875" cy="1333500"/>
          </a:xfrm>
          <a:prstGeom prst="cloudCallout">
            <a:avLst>
              <a:gd name="adj1" fmla="val -72273"/>
              <a:gd name="adj2" fmla="val 85194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outerShdw dist="53882" dir="13499999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 anchor="ctr" anchorCtr="0"/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333333"/>
                </a:solidFill>
                <a:latin typeface="Arial" panose="020B0604020202020204" pitchFamily="34" charset="0"/>
              </a:rPr>
              <a:t>输入后立即从控制台读字符</a:t>
            </a:r>
            <a:endParaRPr lang="zh-CN" altLang="en-US" sz="2400" dirty="0">
              <a:latin typeface="Gulim" pitchFamily="34" charset="-127"/>
              <a:ea typeface="Tahoma" panose="020B0604030504040204" pitchFamily="34" charset="0"/>
            </a:endParaRPr>
          </a:p>
        </p:txBody>
      </p:sp>
      <p:sp>
        <p:nvSpPr>
          <p:cNvPr id="31751" name="思想气泡: 云 2"/>
          <p:cNvSpPr/>
          <p:nvPr/>
        </p:nvSpPr>
        <p:spPr>
          <a:xfrm>
            <a:off x="4032250" y="4075113"/>
            <a:ext cx="2555875" cy="1333500"/>
          </a:xfrm>
          <a:prstGeom prst="cloudCallout">
            <a:avLst>
              <a:gd name="adj1" fmla="val -91509"/>
              <a:gd name="adj2" fmla="val -18519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outerShdw dist="53882" dir="13499999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 anchor="ctr" anchorCtr="0"/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333333"/>
                </a:solidFill>
                <a:latin typeface="Arial" panose="020B0604020202020204" pitchFamily="34" charset="0"/>
              </a:rPr>
              <a:t>输入后放入缓冲区，回车后读入</a:t>
            </a:r>
            <a:endParaRPr lang="zh-CN" altLang="en-US" sz="2400" dirty="0">
              <a:latin typeface="Gulim" pitchFamily="34" charset="-127"/>
              <a:ea typeface="Tahoma" panose="020B0604030504040204" pitchFamily="34" charset="0"/>
            </a:endParaRPr>
          </a:p>
        </p:txBody>
      </p:sp>
      <p:sp>
        <p:nvSpPr>
          <p:cNvPr id="8" name="思想气泡: 云 2"/>
          <p:cNvSpPr/>
          <p:nvPr/>
        </p:nvSpPr>
        <p:spPr>
          <a:xfrm>
            <a:off x="3546475" y="4572000"/>
            <a:ext cx="2555875" cy="1333500"/>
          </a:xfrm>
          <a:prstGeom prst="cloudCallout">
            <a:avLst>
              <a:gd name="adj1" fmla="val -91509"/>
              <a:gd name="adj2" fmla="val -18519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outerShdw dist="53882" dir="13499999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 anchor="ctr" anchorCtr="0"/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333333"/>
                </a:solidFill>
                <a:latin typeface="Arial" panose="020B0604020202020204" pitchFamily="34" charset="0"/>
              </a:rPr>
              <a:t>输入后立即从控制台读字符，但不回显。</a:t>
            </a:r>
            <a:endParaRPr lang="zh-CN" altLang="en-US" sz="2400" dirty="0">
              <a:latin typeface="Gulim" pitchFamily="34" charset="-127"/>
              <a:ea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  <p:bldP spid="2" grpId="0" animBg="1"/>
      <p:bldP spid="2" grpId="1" animBg="1"/>
      <p:bldP spid="31751" grpId="0" animBg="1"/>
      <p:bldP spid="31751" grpId="1" animBg="1"/>
      <p:bldP spid="8" grpId="0" animBg="1"/>
      <p:bldP spid="8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endParaRPr lang="zh-CN" altLang="en-US" dirty="0"/>
          </a:p>
        </p:txBody>
      </p:sp>
      <p:sp>
        <p:nvSpPr>
          <p:cNvPr id="44035" name="内容占位符 2"/>
          <p:cNvSpPr>
            <a:spLocks noGrp="1" noChangeArrowheads="1"/>
          </p:cNvSpPr>
          <p:nvPr>
            <p:ph idx="1"/>
          </p:nvPr>
        </p:nvSpPr>
        <p:spPr bwMode="auto">
          <a:xfrm>
            <a:off x="31750" y="857250"/>
            <a:ext cx="9072562" cy="4525963"/>
          </a:xfrm>
          <a:noFill/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#include &lt;</a:t>
            </a:r>
            <a:r>
              <a:rPr kumimoji="0" lang="en-US" altLang="zh-CN" sz="3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stdio.h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main()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   char </a:t>
            </a:r>
            <a:r>
              <a:rPr kumimoji="0" lang="en-US" altLang="zh-CN" sz="3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ch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3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("pls input the b key to hear a bell.\n");  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3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ch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= </a:t>
            </a:r>
            <a:r>
              <a:rPr kumimoji="0" lang="en-US" altLang="zh-CN" sz="3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getchar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();       //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输入存入缓冲区，按回车读入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//</a:t>
            </a:r>
            <a:r>
              <a:rPr kumimoji="0" lang="en-US" altLang="zh-CN" sz="3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scanf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("%c",&amp;</a:t>
            </a:r>
            <a:r>
              <a:rPr kumimoji="0" lang="en-US" altLang="zh-CN" sz="3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ch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        //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同上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//</a:t>
            </a:r>
            <a:r>
              <a:rPr kumimoji="0" lang="en-US" altLang="zh-CN" sz="3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ch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= </a:t>
            </a:r>
            <a:r>
              <a:rPr kumimoji="0" lang="en-US" altLang="zh-CN" sz="3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getche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();          //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输入后立即读入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if(</a:t>
            </a:r>
            <a:r>
              <a:rPr kumimoji="0" lang="en-US" altLang="zh-CN" sz="3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ch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=='b')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kumimoji="0" lang="en-US" altLang="zh-CN" sz="3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\a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");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return 0;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}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Text Box 5"/>
          <p:cNvSpPr txBox="1"/>
          <p:nvPr/>
        </p:nvSpPr>
        <p:spPr>
          <a:xfrm>
            <a:off x="4460875" y="74613"/>
            <a:ext cx="1416050" cy="7699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思考</a:t>
            </a:r>
            <a:r>
              <a:rPr lang="ko-KR" altLang="en-US" sz="2200" b="1" dirty="0">
                <a:solidFill>
                  <a:schemeClr val="bg1"/>
                </a:solidFill>
                <a:latin typeface="HY헤드라인M" pitchFamily="2" charset="-127"/>
                <a:ea typeface="HY헤드라인M" pitchFamily="2" charset="-127"/>
              </a:rPr>
              <a:t> </a:t>
            </a:r>
            <a:endParaRPr lang="ko-KR" altLang="en-US" sz="2200" b="1" dirty="0">
              <a:solidFill>
                <a:schemeClr val="bg1"/>
              </a:solidFill>
              <a:latin typeface="HY헤드라인M" pitchFamily="2" charset="-127"/>
              <a:ea typeface="HY헤드라인M" pitchFamily="2" charset="-127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575" y="3933825"/>
            <a:ext cx="9836272" cy="224676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514350" marR="0" indent="-514350" defTabSz="914400">
              <a:buClrTx/>
              <a:buSzTx/>
              <a:buFontTx/>
              <a:buAutoNum type="arabicParenR"/>
              <a:defRPr/>
            </a:pPr>
            <a:r>
              <a:rPr kumimoji="0" lang="en-US" altLang="zh-CN" sz="2800" kern="1200" cap="none" spc="0" normalizeH="0" baseline="0" noProof="0" dirty="0">
                <a:latin typeface="Gulim" pitchFamily="34" charset="-127"/>
                <a:ea typeface="Gulim" pitchFamily="34" charset="-127"/>
                <a:cs typeface="+mn-cs"/>
              </a:rPr>
              <a:t>windows</a:t>
            </a:r>
            <a:r>
              <a:rPr kumimoji="0" lang="zh-CN" altLang="en-US" sz="2800" kern="1200" cap="none" spc="0" normalizeH="0" baseline="0" noProof="0" dirty="0">
                <a:latin typeface="Gulim" pitchFamily="34" charset="-127"/>
                <a:ea typeface="Gulim" pitchFamily="34" charset="-127"/>
                <a:cs typeface="+mn-cs"/>
              </a:rPr>
              <a:t>平台下</a:t>
            </a:r>
            <a:r>
              <a:rPr kumimoji="0" lang="en-US" altLang="zh-CN" sz="2800" kern="1200" cap="none" spc="0" normalizeH="0" baseline="0" noProof="0" dirty="0">
                <a:highlight>
                  <a:srgbClr val="FFFF00"/>
                </a:highlight>
                <a:latin typeface="Gulim" pitchFamily="34" charset="-127"/>
                <a:ea typeface="Gulim" pitchFamily="34" charset="-127"/>
                <a:cs typeface="+mn-cs"/>
              </a:rPr>
              <a:t>ENTER</a:t>
            </a:r>
            <a:r>
              <a:rPr kumimoji="0" lang="zh-CN" altLang="en-US" sz="2800" kern="1200" cap="none" spc="0" normalizeH="0" baseline="0" noProof="0" dirty="0">
                <a:latin typeface="Gulim" pitchFamily="34" charset="-127"/>
                <a:ea typeface="Gulim" pitchFamily="34" charset="-127"/>
                <a:cs typeface="+mn-cs"/>
              </a:rPr>
              <a:t>键会产生两个 </a:t>
            </a:r>
            <a:r>
              <a:rPr kumimoji="0" lang="zh-CN" altLang="en-US" sz="2800" kern="1200" cap="none" spc="0" normalizeH="0" baseline="0" noProof="0" dirty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转义字符  </a:t>
            </a:r>
            <a:r>
              <a:rPr kumimoji="0" lang="en-US" altLang="zh-CN" sz="2800" kern="1200" cap="none" spc="0" normalizeH="0" baseline="0" noProof="0" dirty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\r\n</a:t>
            </a:r>
            <a:r>
              <a:rPr kumimoji="0" lang="zh-CN" altLang="en-US" sz="2800" kern="1200" cap="none" spc="0" normalizeH="0" baseline="0" noProof="0" dirty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，</a:t>
            </a:r>
            <a:r>
              <a:rPr kumimoji="0" lang="zh-CN" altLang="en-US" sz="2800" kern="1200" cap="none" spc="0" normalizeH="0" baseline="0" noProof="0" dirty="0">
                <a:latin typeface="Gulim" pitchFamily="34" charset="-127"/>
                <a:ea typeface="Gulim" pitchFamily="34" charset="-127"/>
                <a:cs typeface="+mn-cs"/>
              </a:rPr>
              <a:t>因</a:t>
            </a:r>
            <a:endParaRPr kumimoji="0" lang="en-US" altLang="zh-CN" sz="2800" kern="1200" cap="none" spc="0" normalizeH="0" baseline="0" noProof="0" dirty="0">
              <a:latin typeface="Gulim" pitchFamily="34" charset="-127"/>
              <a:ea typeface="Gulim" pitchFamily="34" charset="-127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latin typeface="Gulim" pitchFamily="34" charset="-127"/>
                <a:ea typeface="Gulim" pitchFamily="34" charset="-127"/>
                <a:cs typeface="+mn-cs"/>
              </a:rPr>
              <a:t>    </a:t>
            </a:r>
            <a:r>
              <a:rPr kumimoji="0" lang="zh-CN" altLang="en-US" sz="2800" kern="1200" cap="none" spc="0" normalizeH="0" baseline="0" noProof="0" dirty="0">
                <a:latin typeface="Gulim" pitchFamily="34" charset="-127"/>
                <a:ea typeface="Gulim" pitchFamily="34" charset="-127"/>
                <a:cs typeface="+mn-cs"/>
              </a:rPr>
              <a:t>此</a:t>
            </a:r>
            <a:r>
              <a:rPr kumimoji="0" lang="en-US" altLang="zh-CN" sz="2800" kern="1200" cap="none" spc="0" normalizeH="0" baseline="0" noProof="0" dirty="0" err="1">
                <a:solidFill>
                  <a:srgbClr val="FF0000"/>
                </a:solidFill>
                <a:latin typeface="Gulim" pitchFamily="34" charset="-127"/>
                <a:ea typeface="Gulim" pitchFamily="34" charset="-127"/>
                <a:cs typeface="+mn-cs"/>
              </a:rPr>
              <a:t>getch</a:t>
            </a:r>
            <a:r>
              <a:rPr kumimoji="0" lang="zh-CN" altLang="en-US" sz="2800" kern="1200" cap="none" spc="0" normalizeH="0" baseline="0" noProof="0" dirty="0">
                <a:latin typeface="Gulim" pitchFamily="34" charset="-127"/>
                <a:ea typeface="Gulim" pitchFamily="34" charset="-127"/>
                <a:cs typeface="+mn-cs"/>
              </a:rPr>
              <a:t>返回</a:t>
            </a:r>
            <a:r>
              <a:rPr kumimoji="0" lang="en-US" altLang="zh-CN" sz="2800" kern="1200" cap="none" spc="0" normalizeH="0" baseline="0" noProof="0" dirty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13(\r)</a:t>
            </a:r>
            <a:r>
              <a:rPr kumimoji="0" lang="zh-CN" altLang="en-US" sz="2800" kern="1200" cap="none" spc="0" normalizeH="0" baseline="0" noProof="0" dirty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。　　</a:t>
            </a:r>
            <a:endParaRPr kumimoji="0" lang="en-US" altLang="zh-CN" sz="2800" kern="1200" cap="none" spc="0" normalizeH="0" baseline="0" noProof="0" dirty="0">
              <a:latin typeface="Times New Roman" panose="02020603050405020304" pitchFamily="18" charset="0"/>
              <a:ea typeface="Gulim" pitchFamily="34" charset="-127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latin typeface="Gulim" pitchFamily="34" charset="-127"/>
                <a:ea typeface="Gulim" pitchFamily="34" charset="-127"/>
                <a:cs typeface="+mn-cs"/>
              </a:rPr>
              <a:t>2) </a:t>
            </a:r>
            <a:r>
              <a:rPr kumimoji="0" lang="en-US" altLang="zh-CN" sz="2800" kern="1200" cap="none" spc="0" normalizeH="0" baseline="0" noProof="0" dirty="0" err="1">
                <a:latin typeface="Gulim" pitchFamily="34" charset="-127"/>
                <a:ea typeface="Gulim" pitchFamily="34" charset="-127"/>
                <a:cs typeface="+mn-cs"/>
              </a:rPr>
              <a:t>unix</a:t>
            </a:r>
            <a:r>
              <a:rPr kumimoji="0" lang="zh-CN" altLang="en-US" sz="2800" kern="1200" cap="none" spc="0" normalizeH="0" baseline="0" noProof="0" dirty="0">
                <a:latin typeface="Gulim" pitchFamily="34" charset="-127"/>
                <a:ea typeface="Gulim" pitchFamily="34" charset="-127"/>
                <a:cs typeface="+mn-cs"/>
              </a:rPr>
              <a:t>、 </a:t>
            </a:r>
            <a:r>
              <a:rPr kumimoji="0" lang="en-US" altLang="zh-CN" sz="2800" kern="1200" cap="none" spc="0" normalizeH="0" baseline="0" noProof="0" dirty="0" err="1">
                <a:latin typeface="Gulim" pitchFamily="34" charset="-127"/>
                <a:ea typeface="Gulim" pitchFamily="34" charset="-127"/>
                <a:cs typeface="+mn-cs"/>
              </a:rPr>
              <a:t>linux</a:t>
            </a:r>
            <a:r>
              <a:rPr kumimoji="0" lang="zh-CN" altLang="en-US" sz="2800" kern="1200" cap="none" spc="0" normalizeH="0" baseline="0" noProof="0" dirty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系统中</a:t>
            </a:r>
            <a:r>
              <a:rPr kumimoji="0" lang="en-US" altLang="zh-CN" sz="2800" kern="1200" cap="none" spc="0" normalizeH="0" baseline="0" noProof="0" dirty="0">
                <a:highlight>
                  <a:srgbClr val="FFFF00"/>
                </a:highlight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ENTER</a:t>
            </a:r>
            <a:r>
              <a:rPr kumimoji="0" lang="zh-CN" altLang="en-US" sz="2800" kern="1200" cap="none" spc="0" normalizeH="0" baseline="0" noProof="0" dirty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键只产生 </a:t>
            </a:r>
            <a:r>
              <a:rPr kumimoji="0" lang="en-US" altLang="zh-CN" sz="2800" kern="1200" cap="none" spc="0" normalizeH="0" baseline="0" noProof="0" dirty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\n </a:t>
            </a:r>
            <a:r>
              <a:rPr kumimoji="0" lang="zh-CN" altLang="en-US" sz="2800" kern="1200" cap="none" spc="0" normalizeH="0" baseline="0" noProof="0" dirty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，因此</a:t>
            </a:r>
            <a:r>
              <a:rPr kumimoji="0" lang="en-US" altLang="zh-CN" sz="2800" kern="1200" cap="none" spc="0" normalizeH="0" baseline="0" noProof="0" dirty="0" err="1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getch</a:t>
            </a:r>
            <a:r>
              <a:rPr kumimoji="0" lang="zh-CN" altLang="en-US" sz="2800" kern="1200" cap="none" spc="0" normalizeH="0" baseline="0" noProof="0" dirty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返回</a:t>
            </a:r>
            <a:endParaRPr kumimoji="0" lang="en-US" altLang="zh-CN" sz="2800" kern="1200" cap="none" spc="0" normalizeH="0" baseline="0" noProof="0" dirty="0">
              <a:latin typeface="Times New Roman" panose="02020603050405020304" pitchFamily="18" charset="0"/>
              <a:ea typeface="Gulim" pitchFamily="34" charset="-127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     10(\n)</a:t>
            </a:r>
            <a:r>
              <a:rPr kumimoji="0" lang="zh-CN" altLang="en-US" sz="2800" kern="1200" cap="none" spc="0" normalizeH="0" baseline="0" noProof="0" dirty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。　　</a:t>
            </a:r>
            <a:endParaRPr kumimoji="0" lang="en-US" altLang="zh-CN" sz="2800" kern="1200" cap="none" spc="0" normalizeH="0" baseline="0" noProof="0" dirty="0">
              <a:latin typeface="Times New Roman" panose="02020603050405020304" pitchFamily="18" charset="0"/>
              <a:ea typeface="Gulim" pitchFamily="34" charset="-127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latin typeface="Gulim" pitchFamily="34" charset="-127"/>
                <a:ea typeface="Gulim" pitchFamily="34" charset="-127"/>
                <a:cs typeface="+mn-cs"/>
              </a:rPr>
              <a:t>3) MAC OS</a:t>
            </a:r>
            <a:r>
              <a:rPr kumimoji="0" lang="zh-CN" altLang="en-US" sz="2800" kern="1200" cap="none" spc="0" normalizeH="0" baseline="0" noProof="0" dirty="0">
                <a:latin typeface="Gulim" pitchFamily="34" charset="-127"/>
                <a:ea typeface="Gulim" pitchFamily="34" charset="-127"/>
                <a:cs typeface="+mn-cs"/>
              </a:rPr>
              <a:t>中</a:t>
            </a:r>
            <a:r>
              <a:rPr kumimoji="0" lang="en-US" altLang="zh-CN" sz="2800" kern="1200" cap="none" spc="0" normalizeH="0" baseline="0" noProof="0" dirty="0">
                <a:highlight>
                  <a:srgbClr val="FFFF00"/>
                </a:highlight>
                <a:latin typeface="Gulim" pitchFamily="34" charset="-127"/>
                <a:ea typeface="Gulim" pitchFamily="34" charset="-127"/>
                <a:cs typeface="+mn-cs"/>
              </a:rPr>
              <a:t>ENTER</a:t>
            </a:r>
            <a:r>
              <a:rPr kumimoji="0" lang="zh-CN" altLang="en-US" sz="2800" kern="1200" cap="none" spc="0" normalizeH="0" baseline="0" noProof="0" dirty="0">
                <a:latin typeface="Gulim" pitchFamily="34" charset="-127"/>
                <a:ea typeface="Gulim" pitchFamily="34" charset="-127"/>
                <a:cs typeface="+mn-cs"/>
              </a:rPr>
              <a:t>键将</a:t>
            </a:r>
            <a:r>
              <a:rPr kumimoji="0" lang="zh-CN" altLang="en-US" sz="2800" kern="1200" cap="none" spc="0" normalizeH="0" baseline="0" noProof="0" dirty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产生 </a:t>
            </a:r>
            <a:r>
              <a:rPr kumimoji="0" lang="en-US" altLang="zh-CN" sz="2800" kern="1200" cap="none" spc="0" normalizeH="0" baseline="0" noProof="0" dirty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\r </a:t>
            </a:r>
            <a:r>
              <a:rPr kumimoji="0" lang="zh-CN" altLang="en-US" sz="2800" kern="1200" cap="none" spc="0" normalizeH="0" baseline="0" noProof="0" dirty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，因此</a:t>
            </a:r>
            <a:r>
              <a:rPr kumimoji="0" lang="en-US" altLang="zh-CN" sz="2800" kern="1200" cap="none" spc="0" normalizeH="0" baseline="0" noProof="0" dirty="0" err="1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getch</a:t>
            </a:r>
            <a:r>
              <a:rPr kumimoji="0" lang="zh-CN" altLang="en-US" sz="2800" kern="1200" cap="none" spc="0" normalizeH="0" baseline="0" noProof="0" dirty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返回</a:t>
            </a:r>
            <a:r>
              <a:rPr kumimoji="0" lang="en-US" altLang="zh-CN" sz="2800" kern="1200" cap="none" spc="0" normalizeH="0" baseline="0" noProof="0" dirty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13(\r)</a:t>
            </a:r>
            <a:r>
              <a:rPr kumimoji="0" lang="zh-CN" altLang="en-US" sz="2800" kern="1200" cap="none" spc="0" normalizeH="0" baseline="0" noProof="0" dirty="0"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。</a:t>
            </a:r>
            <a:endParaRPr kumimoji="0" lang="zh-CN" altLang="en-US" sz="2800" kern="1200" cap="none" spc="0" normalizeH="0" baseline="0" noProof="0" dirty="0">
              <a:latin typeface="Times New Roman" panose="02020603050405020304" pitchFamily="18" charset="0"/>
              <a:ea typeface="Gulim" pitchFamily="34" charset="-127"/>
              <a:cs typeface="Times New Roman" panose="02020603050405020304" pitchFamily="18" charset="0"/>
            </a:endParaRPr>
          </a:p>
        </p:txBody>
      </p:sp>
      <p:sp>
        <p:nvSpPr>
          <p:cNvPr id="56324" name="文本框 10"/>
          <p:cNvSpPr txBox="1"/>
          <p:nvPr/>
        </p:nvSpPr>
        <p:spPr>
          <a:xfrm>
            <a:off x="58738" y="1182688"/>
            <a:ext cx="9648825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如果学了循环，如何实现密码输入。即输入不回显输入字符，显示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******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600450" y="2447925"/>
            <a:ext cx="5934075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dirty="0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</a:rPr>
              <a:t>((ch = </a:t>
            </a:r>
            <a:r>
              <a:rPr lang="en-US" altLang="zh-CN" sz="2800" dirty="0">
                <a:solidFill>
                  <a:srgbClr val="795E26"/>
                </a:solidFill>
                <a:latin typeface="Consolas" panose="020B0609020204030204" pitchFamily="49" charset="0"/>
              </a:rPr>
              <a:t>getch</a:t>
            </a:r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</a:rPr>
              <a:t>())!=</a:t>
            </a:r>
            <a:r>
              <a:rPr lang="en-US" altLang="zh-CN" sz="28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2800" dirty="0">
                <a:solidFill>
                  <a:srgbClr val="EE0000"/>
                </a:solidFill>
                <a:latin typeface="Consolas" panose="020B0609020204030204" pitchFamily="49" charset="0"/>
              </a:rPr>
              <a:t>\r</a:t>
            </a:r>
            <a:r>
              <a:rPr lang="en-US" altLang="zh-CN" sz="28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2800" dirty="0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800" dirty="0">
                <a:solidFill>
                  <a:srgbClr val="A31515"/>
                </a:solidFill>
                <a:latin typeface="Consolas" panose="020B0609020204030204" pitchFamily="49" charset="0"/>
              </a:rPr>
              <a:t>"*"</a:t>
            </a:r>
            <a:r>
              <a:rPr lang="en-US" altLang="zh-CN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sz="2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53975"/>
            <a:ext cx="9072563" cy="114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空语句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8371" name="Text Box 3"/>
          <p:cNvSpPr txBox="1"/>
          <p:nvPr/>
        </p:nvSpPr>
        <p:spPr>
          <a:xfrm>
            <a:off x="73025" y="1195388"/>
            <a:ext cx="9504363" cy="433387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A50021"/>
                </a:solidFill>
                <a:latin typeface="Gulim" pitchFamily="34" charset="-127"/>
                <a:ea typeface="宋体" panose="02010600030101010101" pitchFamily="2" charset="-122"/>
              </a:rPr>
              <a:t>例：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写出程序运行结果。</a:t>
            </a:r>
            <a:endParaRPr lang="zh-CN" altLang="en-US" sz="2800" dirty="0"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865188" y="1766888"/>
            <a:ext cx="8496300" cy="4094162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#include &lt;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stdio.h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&gt;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#include &lt;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conio.h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&gt;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int main()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{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("pls input the b key to hear a bell.\n");   //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提示信息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char	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ch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ch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 =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getche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();                   //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输入一个字符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if(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ch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 == 'b')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;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             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	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("\a");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    return 0;           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}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287338" y="5805488"/>
            <a:ext cx="2016125" cy="576262"/>
            <a:chOff x="0" y="0"/>
            <a:chExt cx="1270" cy="363"/>
          </a:xfrm>
        </p:grpSpPr>
        <p:sp>
          <p:nvSpPr>
            <p:cNvPr id="58375" name="AutoShape 17"/>
            <p:cNvSpPr/>
            <p:nvPr/>
          </p:nvSpPr>
          <p:spPr>
            <a:xfrm>
              <a:off x="0" y="0"/>
              <a:ext cx="817" cy="363"/>
            </a:xfrm>
            <a:prstGeom prst="roundRect">
              <a:avLst>
                <a:gd name="adj" fmla="val 50000"/>
              </a:avLst>
            </a:prstGeom>
            <a:solidFill>
              <a:srgbClr val="000099"/>
            </a:solidFill>
            <a:ln w="9525">
              <a:noFill/>
            </a:ln>
            <a:effectLst>
              <a:outerShdw dist="35921" dir="2699999" algn="ctr" rotWithShape="0">
                <a:schemeClr val="bg1"/>
              </a:outerShdw>
            </a:effectLst>
          </p:spPr>
          <p:txBody>
            <a:bodyPr wrap="none" lIns="0" tIns="0" rIns="0" bIns="0" anchor="ctr" anchorCtr="0"/>
            <a:p>
              <a:pPr algn="ctr" eaLnBrk="1" latinLnBrk="1" hangingPunct="1">
                <a:buClr>
                  <a:srgbClr val="FF0000"/>
                </a:buClr>
                <a:buFont typeface="Wingdings" panose="05000000000000000000" pitchFamily="2" charset="2"/>
              </a:pPr>
              <a:r>
                <a:rPr lang="zh-CN" altLang="en-US" sz="3000" b="1" dirty="0">
                  <a:solidFill>
                    <a:srgbClr val="FFFF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空语句</a:t>
              </a:r>
              <a:r>
                <a:rPr lang="ko-KR" altLang="en-US" sz="3200" b="1" dirty="0">
                  <a:solidFill>
                    <a:srgbClr val="FFFFFF"/>
                  </a:solidFill>
                  <a:latin typeface="Tahoma" panose="020B0604030504040204" pitchFamily="34" charset="0"/>
                </a:rPr>
                <a:t> </a:t>
              </a:r>
              <a:endParaRPr lang="ko-KR" altLang="en-US" sz="3200" b="1" dirty="0">
                <a:solidFill>
                  <a:srgbClr val="FFFF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8376" name="AutoShape 36"/>
            <p:cNvSpPr/>
            <p:nvPr/>
          </p:nvSpPr>
          <p:spPr>
            <a:xfrm>
              <a:off x="953" y="0"/>
              <a:ext cx="317" cy="363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FBFBBB">
                    <a:alpha val="89998"/>
                  </a:srgbClr>
                </a:gs>
              </a:gsLst>
              <a:lin ang="0" scaled="1"/>
              <a:tileRect/>
            </a:gradFill>
            <a:ln w="952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  <a:effectLst>
              <a:prstShdw prst="shdw13" dist="53882" dir="13499999">
                <a:schemeClr val="bg2">
                  <a:alpha val="50000"/>
                </a:schemeClr>
              </a:prstShdw>
            </a:effectLst>
          </p:spPr>
          <p:txBody>
            <a:bodyPr wrap="none" lIns="36000" tIns="36000" rIns="36000" bIns="36000"/>
            <a:p>
              <a:pPr eaLnBrk="1" latinLnBrk="1" hangingPunct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anose="05000000000000000000" pitchFamily="2" charset="2"/>
              </a:pPr>
              <a:r>
                <a:rPr lang="zh-CN" altLang="en-US" sz="2800" b="1" dirty="0">
                  <a:latin typeface="Gulim" pitchFamily="34" charset="-127"/>
                  <a:ea typeface="宋体" panose="02010600030101010101" pitchFamily="2" charset="-122"/>
                </a:rPr>
                <a:t>；</a:t>
              </a:r>
              <a:endParaRPr lang="zh-CN" altLang="en-US" sz="2800" b="1" dirty="0">
                <a:latin typeface="Gulim" pitchFamily="34" charset="-127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8"/>
          <p:cNvGrpSpPr/>
          <p:nvPr/>
        </p:nvGrpSpPr>
        <p:grpSpPr bwMode="auto">
          <a:xfrm>
            <a:off x="2303463" y="4149725"/>
            <a:ext cx="6553200" cy="1655763"/>
            <a:chOff x="0" y="0"/>
            <a:chExt cx="4128" cy="1043"/>
          </a:xfrm>
          <a:solidFill>
            <a:srgbClr val="FFFF00"/>
          </a:solidFill>
        </p:grpSpPr>
        <p:sp>
          <p:nvSpPr>
            <p:cNvPr id="45063" name="AutoShape 9"/>
            <p:cNvSpPr>
              <a:spLocks noChangeArrowheads="1"/>
            </p:cNvSpPr>
            <p:nvPr/>
          </p:nvSpPr>
          <p:spPr bwMode="auto">
            <a:xfrm>
              <a:off x="998" y="0"/>
              <a:ext cx="3130" cy="1043"/>
            </a:xfrm>
            <a:prstGeom prst="wedgeRoundRectCallout">
              <a:avLst>
                <a:gd name="adj1" fmla="val -56264"/>
                <a:gd name="adj2" fmla="val 12606"/>
                <a:gd name="adj3" fmla="val 16667"/>
              </a:avLst>
            </a:prstGeom>
            <a:grpFill/>
            <a:ln w="12700">
              <a:solidFill>
                <a:srgbClr val="FFFF00"/>
              </a:solidFill>
              <a:miter lim="800000"/>
            </a:ln>
            <a:effectLst>
              <a:prstShdw prst="shdw13" dist="53882" dir="13500000">
                <a:schemeClr val="bg2">
                  <a:alpha val="50000"/>
                </a:schemeClr>
              </a:prstShdw>
            </a:effectLst>
          </p:spPr>
          <p:txBody>
            <a:bodyPr lIns="0" tIns="0" rIns="0" bIns="0" anchor="ctr"/>
            <a:lstStyle>
              <a:lvl1pPr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隶书" panose="02010800040101010101" pitchFamily="2" charset="-122"/>
                  <a:ea typeface="华文隶书" panose="02010800040101010101" pitchFamily="2" charset="-122"/>
                  <a:cs typeface="+mn-cs"/>
                </a:rPr>
                <a:t>if(</a:t>
              </a:r>
              <a:r>
                <a:rPr kumimoji="0" lang="en-US" altLang="zh-CN" sz="2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隶书" panose="02010800040101010101" pitchFamily="2" charset="-122"/>
                  <a:ea typeface="华文隶书" panose="02010800040101010101" pitchFamily="2" charset="-122"/>
                  <a:cs typeface="+mn-cs"/>
                </a:rPr>
                <a:t>ch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隶书" panose="02010800040101010101" pitchFamily="2" charset="-122"/>
                  <a:ea typeface="华文隶书" panose="02010800040101010101" pitchFamily="2" charset="-122"/>
                  <a:cs typeface="+mn-cs"/>
                </a:rPr>
                <a:t> == 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ulim" pitchFamily="34" charset="-127"/>
                  <a:ea typeface="华文隶书" panose="02010800040101010101" pitchFamily="2" charset="-122"/>
                  <a:cs typeface="+mn-cs"/>
                </a:rPr>
                <a:t>‘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隶书" panose="02010800040101010101" pitchFamily="2" charset="-122"/>
                  <a:ea typeface="华文隶书" panose="02010800040101010101" pitchFamily="2" charset="-122"/>
                  <a:cs typeface="+mn-cs"/>
                </a:rPr>
                <a:t>b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ulim" pitchFamily="34" charset="-127"/>
                  <a:ea typeface="华文隶书" panose="02010800040101010101" pitchFamily="2" charset="-122"/>
                  <a:cs typeface="+mn-cs"/>
                </a:rPr>
                <a:t>’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隶书" panose="02010800040101010101" pitchFamily="2" charset="-122"/>
                  <a:ea typeface="华文隶书" panose="02010800040101010101" pitchFamily="2" charset="-122"/>
                  <a:cs typeface="+mn-cs"/>
                </a:rPr>
                <a:t>) 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隶书" panose="02010800040101010101" pitchFamily="2" charset="-122"/>
                  <a:ea typeface="华文隶书" panose="02010800040101010101" pitchFamily="2" charset="-122"/>
                  <a:cs typeface="+mn-cs"/>
                </a:rPr>
                <a:t>     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隶书" panose="02010800040101010101" pitchFamily="2" charset="-122"/>
                  <a:ea typeface="华文隶书" panose="02010800040101010101" pitchFamily="2" charset="-122"/>
                  <a:cs typeface="+mn-cs"/>
                </a:rPr>
                <a:t>;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隶书" panose="02010800040101010101" pitchFamily="2" charset="-122"/>
                  <a:ea typeface="华文隶书" panose="02010800040101010101" pitchFamily="2" charset="-122"/>
                  <a:cs typeface="+mn-cs"/>
                </a:rPr>
                <a:t>printf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隶书" panose="02010800040101010101" pitchFamily="2" charset="-122"/>
                  <a:ea typeface="华文隶书" panose="02010800040101010101" pitchFamily="2" charset="-122"/>
                  <a:cs typeface="+mn-cs"/>
                </a:rPr>
                <a:t>(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ulim" pitchFamily="34" charset="-127"/>
                  <a:ea typeface="华文隶书" panose="02010800040101010101" pitchFamily="2" charset="-122"/>
                  <a:cs typeface="+mn-cs"/>
                </a:rPr>
                <a:t>”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隶书" panose="02010800040101010101" pitchFamily="2" charset="-122"/>
                  <a:ea typeface="华文隶书" panose="02010800040101010101" pitchFamily="2" charset="-122"/>
                  <a:cs typeface="+mn-cs"/>
                </a:rPr>
                <a:t>\a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隶书" panose="02010800040101010101" pitchFamily="2" charset="-122"/>
                  <a:ea typeface="华文隶书" panose="02010800040101010101" pitchFamily="2" charset="-122"/>
                  <a:cs typeface="+mn-cs"/>
                </a:rPr>
                <a:t>“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ulim" pitchFamily="34" charset="-127"/>
                  <a:ea typeface="华文隶书" panose="02010800040101010101" pitchFamily="2" charset="-122"/>
                  <a:cs typeface="+mn-cs"/>
                </a:rPr>
                <a:t>)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隶书" panose="02010800040101010101" pitchFamily="2" charset="-122"/>
                  <a:ea typeface="华文隶书" panose="02010800040101010101" pitchFamily="2" charset="-122"/>
                  <a:cs typeface="+mn-cs"/>
                </a:rPr>
                <a:t>;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隶书" panose="02010800040101010101" pitchFamily="2" charset="-122"/>
                  <a:ea typeface="华文隶书" panose="02010800040101010101" pitchFamily="2" charset="-122"/>
                  <a:cs typeface="+mn-cs"/>
                </a:rPr>
                <a:t> //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隶书" panose="02010800040101010101" pitchFamily="2" charset="-122"/>
                  <a:ea typeface="华文隶书" panose="02010800040101010101" pitchFamily="2" charset="-122"/>
                  <a:cs typeface="+mn-cs"/>
                </a:rPr>
                <a:t>不管输入何字符，都会响铃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endParaRPr>
            </a:p>
          </p:txBody>
        </p:sp>
        <p:sp>
          <p:nvSpPr>
            <p:cNvPr id="45064" name="Line 10"/>
            <p:cNvSpPr>
              <a:spLocks noChangeShapeType="1"/>
            </p:cNvSpPr>
            <p:nvPr/>
          </p:nvSpPr>
          <p:spPr bwMode="auto">
            <a:xfrm>
              <a:off x="0" y="635"/>
              <a:ext cx="771" cy="0"/>
            </a:xfrm>
            <a:prstGeom prst="line">
              <a:avLst/>
            </a:prstGeom>
            <a:grpFill/>
            <a:ln w="12700">
              <a:solidFill>
                <a:srgbClr val="FFFF00"/>
              </a:solidFill>
              <a:round/>
            </a:ln>
            <a:effectLst>
              <a:prstShdw prst="shdw13" dist="53882" dir="13500000">
                <a:schemeClr val="bg2">
                  <a:alpha val="50000"/>
                </a:schemeClr>
              </a:prstShdw>
            </a:effectLst>
          </p:spPr>
          <p:txBody>
            <a:bodyPr wrap="none" lIns="0" tIns="0" rIns="0" bIns="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Text Box 5"/>
          <p:cNvSpPr txBox="1"/>
          <p:nvPr/>
        </p:nvSpPr>
        <p:spPr>
          <a:xfrm>
            <a:off x="4460875" y="74613"/>
            <a:ext cx="1416050" cy="7699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zh-CN" altLang="en-US" sz="4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</a:t>
            </a:r>
            <a:r>
              <a:rPr lang="ko-KR" altLang="en-US" sz="2200" b="1" dirty="0">
                <a:solidFill>
                  <a:srgbClr val="FF0000"/>
                </a:solidFill>
                <a:latin typeface="HY헤드라인M" pitchFamily="2" charset="-127"/>
                <a:ea typeface="HY헤드라인M" pitchFamily="2" charset="-127"/>
              </a:rPr>
              <a:t> </a:t>
            </a:r>
            <a:endParaRPr lang="ko-KR" altLang="en-US" sz="2200" b="1" dirty="0">
              <a:solidFill>
                <a:srgbClr val="FF0000"/>
              </a:solidFill>
              <a:latin typeface="HY헤드라인M" pitchFamily="2" charset="-127"/>
              <a:ea typeface="HY헤드라인M" pitchFamily="2" charset="-127"/>
            </a:endParaRPr>
          </a:p>
        </p:txBody>
      </p:sp>
      <p:sp>
        <p:nvSpPr>
          <p:cNvPr id="59395" name="Text Box 3"/>
          <p:cNvSpPr txBox="1"/>
          <p:nvPr/>
        </p:nvSpPr>
        <p:spPr>
          <a:xfrm>
            <a:off x="52388" y="1146175"/>
            <a:ext cx="9504362" cy="48260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3200" b="1" dirty="0">
                <a:latin typeface="Gulim" pitchFamily="34" charset="-127"/>
                <a:ea typeface="宋体" panose="02010600030101010101" pitchFamily="2" charset="-122"/>
              </a:rPr>
              <a:t> 编程：输入数</a:t>
            </a:r>
            <a:r>
              <a:rPr lang="en-US" altLang="zh-CN" sz="3200" b="1" dirty="0">
                <a:latin typeface="Gulim" pitchFamily="34" charset="-127"/>
                <a:ea typeface="宋体" panose="02010600030101010101" pitchFamily="2" charset="-122"/>
              </a:rPr>
              <a:t>a</a:t>
            </a:r>
            <a:r>
              <a:rPr lang="zh-CN" altLang="en-US" sz="3200" b="1" dirty="0">
                <a:latin typeface="Gulim" pitchFamily="34" charset="-127"/>
                <a:ea typeface="宋体" panose="02010600030101010101" pitchFamily="2" charset="-122"/>
              </a:rPr>
              <a:t>、</a:t>
            </a:r>
            <a:r>
              <a:rPr lang="en-US" altLang="zh-CN" sz="3200" b="1" dirty="0">
                <a:latin typeface="Gulim" pitchFamily="34" charset="-127"/>
                <a:ea typeface="宋体" panose="02010600030101010101" pitchFamily="2" charset="-122"/>
              </a:rPr>
              <a:t>b</a:t>
            </a:r>
            <a:r>
              <a:rPr lang="zh-CN" altLang="en-US" sz="3200" b="1" dirty="0">
                <a:latin typeface="Gulim" pitchFamily="34" charset="-127"/>
                <a:ea typeface="宋体" panose="02010600030101010101" pitchFamily="2" charset="-122"/>
              </a:rPr>
              <a:t>，输出最大值。</a:t>
            </a:r>
            <a:endParaRPr lang="zh-CN" altLang="en-US" sz="3200" b="1" dirty="0"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59396" name="Text Box 4"/>
          <p:cNvSpPr txBox="1"/>
          <p:nvPr/>
        </p:nvSpPr>
        <p:spPr>
          <a:xfrm>
            <a:off x="7704138" y="5905500"/>
            <a:ext cx="2376487" cy="38417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FF0000"/>
                </a:solidFill>
                <a:latin typeface="Gulim" pitchFamily="34" charset="-127"/>
              </a:rPr>
              <a:t>exp3_3.cpp</a:t>
            </a:r>
            <a:endParaRPr lang="en-US" altLang="zh-CN" sz="2400" b="1" dirty="0">
              <a:solidFill>
                <a:srgbClr val="FF0000"/>
              </a:solidFill>
              <a:latin typeface="Gulim" pitchFamily="34" charset="-127"/>
            </a:endParaRPr>
          </a:p>
        </p:txBody>
      </p:sp>
    </p:spTree>
  </p:cSld>
  <p:clrMapOvr>
    <a:masterClrMapping/>
  </p:clrMapOvr>
  <p:transition spd="med">
    <p:wedg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4825" y="1417638"/>
            <a:ext cx="9072563" cy="4525962"/>
          </a:xfrm>
          <a:noFill/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#include &lt;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stdio.h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main()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int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a,b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("input two integers:");   //input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scanf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("%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d%d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",&amp;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a,&amp;b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if(a&gt;=b)                     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//compute and output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("max(%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d,%d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 = %d\n",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a,b,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else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("max(%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d,%d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 = %d\n",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a,b,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return 0;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Text Box 5"/>
          <p:cNvSpPr txBox="1"/>
          <p:nvPr/>
        </p:nvSpPr>
        <p:spPr>
          <a:xfrm>
            <a:off x="3636963" y="74613"/>
            <a:ext cx="3070225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条件运算符</a:t>
            </a:r>
            <a:r>
              <a:rPr lang="ko-KR" altLang="en-US" sz="2200" b="1" dirty="0">
                <a:solidFill>
                  <a:schemeClr val="bg1"/>
                </a:solidFill>
                <a:latin typeface="HY헤드라인M" pitchFamily="2" charset="-127"/>
                <a:ea typeface="宋体" panose="02010600030101010101" pitchFamily="2" charset="-122"/>
              </a:rPr>
              <a:t> </a:t>
            </a:r>
            <a:endParaRPr lang="ko-KR" altLang="en-US" sz="2200" b="1" dirty="0">
              <a:solidFill>
                <a:schemeClr val="bg1"/>
              </a:solidFill>
              <a:latin typeface="HY헤드라인M" pitchFamily="2" charset="-127"/>
              <a:ea typeface="宋体" panose="02010600030101010101" pitchFamily="2" charset="-122"/>
            </a:endParaRPr>
          </a:p>
        </p:txBody>
      </p:sp>
      <p:sp>
        <p:nvSpPr>
          <p:cNvPr id="61443" name="AutoShape 17"/>
          <p:cNvSpPr/>
          <p:nvPr/>
        </p:nvSpPr>
        <p:spPr>
          <a:xfrm>
            <a:off x="288925" y="1196975"/>
            <a:ext cx="1079500" cy="576263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wrap="none" lIns="0" tIns="0" rIns="0" bIns="0" anchor="ctr" anchorCtr="0"/>
          <a:p>
            <a:pPr algn="ctr" eaLnBrk="1" latinLnBrk="1" hangingPunct="1"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30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语法</a:t>
            </a:r>
            <a:r>
              <a:rPr lang="ko-KR" altLang="en-US" sz="3200" b="1" dirty="0">
                <a:solidFill>
                  <a:srgbClr val="FFFFFF"/>
                </a:solidFill>
                <a:latin typeface="Tahoma" panose="020B0604030504040204" pitchFamily="34" charset="0"/>
              </a:rPr>
              <a:t> </a:t>
            </a:r>
            <a:endParaRPr lang="ko-KR" altLang="en-US" sz="32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61444" name="AutoShape 36"/>
          <p:cNvSpPr/>
          <p:nvPr/>
        </p:nvSpPr>
        <p:spPr>
          <a:xfrm>
            <a:off x="431800" y="2060575"/>
            <a:ext cx="4752975" cy="57626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FBFBBB">
                  <a:alpha val="89998"/>
                </a:srgbClr>
              </a:gs>
            </a:gsLst>
            <a:lin ang="0" scaled="1"/>
            <a:tileRect/>
          </a:gradFill>
          <a:ln w="952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lIns="36000" tIns="36000" rIns="36000" bIns="36000"/>
          <a:p>
            <a:pPr eaLnBrk="1" hangingPunct="1">
              <a:spcBef>
                <a:spcPct val="20000"/>
              </a:spcBef>
              <a:buFont typeface="Wingdings" panose="05000000000000000000" pitchFamily="2" charset="2"/>
            </a:pP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表达式</a:t>
            </a: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？表达式</a:t>
            </a: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：表达式</a:t>
            </a: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3</a:t>
            </a:r>
            <a:endParaRPr lang="en-US" altLang="zh-CN" sz="2800" b="1" dirty="0"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61445" name="AutoShape 17"/>
          <p:cNvSpPr/>
          <p:nvPr/>
        </p:nvSpPr>
        <p:spPr>
          <a:xfrm>
            <a:off x="360363" y="3068638"/>
            <a:ext cx="1079500" cy="576262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 w="9525">
            <a:noFill/>
          </a:ln>
          <a:effectLst>
            <a:outerShdw dist="35921" dir="2699999" algn="ctr" rotWithShape="0">
              <a:schemeClr val="bg1"/>
            </a:outerShdw>
          </a:effectLst>
        </p:spPr>
        <p:txBody>
          <a:bodyPr wrap="none" lIns="0" tIns="0" rIns="0" bIns="0" anchor="ctr" anchorCtr="0"/>
          <a:p>
            <a:pPr algn="ctr" eaLnBrk="1" latinLnBrk="1" hangingPunct="1"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30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语义</a:t>
            </a:r>
            <a:r>
              <a:rPr lang="ko-KR" altLang="en-US" sz="3200" b="1" dirty="0">
                <a:solidFill>
                  <a:srgbClr val="FFFFFF"/>
                </a:solidFill>
                <a:latin typeface="Tahoma" panose="020B0604030504040204" pitchFamily="34" charset="0"/>
              </a:rPr>
              <a:t> </a:t>
            </a:r>
            <a:endParaRPr lang="ko-KR" altLang="en-US" sz="32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61446" name="AutoShape 36"/>
          <p:cNvSpPr/>
          <p:nvPr/>
        </p:nvSpPr>
        <p:spPr>
          <a:xfrm>
            <a:off x="503238" y="4076700"/>
            <a:ext cx="8353425" cy="108108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FBFBBB">
                  <a:alpha val="89998"/>
                </a:srgbClr>
              </a:gs>
            </a:gsLst>
            <a:lin ang="0" scaled="1"/>
            <a:tileRect/>
          </a:gradFill>
          <a:ln w="952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lIns="36000" tIns="36000" rIns="36000" bIns="36000"/>
          <a:p>
            <a:pPr eaLnBrk="1" hangingPunct="1">
              <a:spcBef>
                <a:spcPct val="20000"/>
              </a:spcBef>
              <a:buFont typeface="Wingdings" panose="05000000000000000000" pitchFamily="2" charset="2"/>
            </a:pP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计算表达式</a:t>
            </a: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1,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若为真，则计算表达式</a:t>
            </a: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，作为结果值，</a:t>
            </a:r>
            <a:endParaRPr lang="zh-CN" altLang="en-US" sz="2800" b="1" dirty="0">
              <a:latin typeface="Gulim" pitchFamily="34" charset="-127"/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</a:pP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否则计算表达式</a:t>
            </a: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，作为结果值。</a:t>
            </a:r>
            <a:endParaRPr lang="en-US" altLang="zh-CN" sz="2800" b="1" dirty="0"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61447" name="Text Box 7"/>
          <p:cNvSpPr txBox="1"/>
          <p:nvPr/>
        </p:nvSpPr>
        <p:spPr>
          <a:xfrm>
            <a:off x="503238" y="5661025"/>
            <a:ext cx="8353425" cy="40322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注：</a:t>
            </a:r>
            <a:r>
              <a:rPr lang="en-US" altLang="zh-CN" sz="2400" b="1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C++</a:t>
            </a:r>
            <a:r>
              <a:rPr lang="zh-CN" altLang="en-US" sz="2400" b="1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中唯一一个三目运算符，</a:t>
            </a:r>
            <a:r>
              <a:rPr lang="en-US" altLang="zh-CN" sz="2400" b="1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if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…</a:t>
            </a:r>
            <a:r>
              <a:rPr lang="en-US" altLang="zh-CN" sz="2400" b="1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else</a:t>
            </a:r>
            <a:r>
              <a:rPr lang="zh-CN" altLang="en-US" sz="2400" b="1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语句的替代。</a:t>
            </a:r>
            <a:endParaRPr lang="zh-CN" altLang="en-US" sz="2400" b="1" dirty="0">
              <a:solidFill>
                <a:srgbClr val="FF000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masterClrMapping/>
  </p:clrMapOvr>
  <p:transition spd="med">
    <p:wedg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Text Box 5"/>
          <p:cNvSpPr txBox="1"/>
          <p:nvPr/>
        </p:nvSpPr>
        <p:spPr>
          <a:xfrm>
            <a:off x="4470400" y="74613"/>
            <a:ext cx="1397000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</a:t>
            </a:r>
            <a:r>
              <a:rPr lang="ko-KR" altLang="en-US" sz="2200" b="1" dirty="0">
                <a:solidFill>
                  <a:schemeClr val="bg1"/>
                </a:solidFill>
                <a:latin typeface="HY헤드라인M" pitchFamily="2" charset="-127"/>
                <a:ea typeface="HY헤드라인M" pitchFamily="2" charset="-127"/>
              </a:rPr>
              <a:t> </a:t>
            </a:r>
            <a:endParaRPr lang="ko-KR" altLang="en-US" sz="2200" b="1" dirty="0">
              <a:solidFill>
                <a:schemeClr val="bg1"/>
              </a:solidFill>
              <a:latin typeface="HY헤드라인M" pitchFamily="2" charset="-127"/>
              <a:ea typeface="HY헤드라인M" pitchFamily="2" charset="-127"/>
            </a:endParaRPr>
          </a:p>
        </p:txBody>
      </p:sp>
      <p:sp>
        <p:nvSpPr>
          <p:cNvPr id="62467" name="Text Box 3"/>
          <p:cNvSpPr txBox="1"/>
          <p:nvPr/>
        </p:nvSpPr>
        <p:spPr>
          <a:xfrm>
            <a:off x="52388" y="1146175"/>
            <a:ext cx="9504362" cy="433388"/>
          </a:xfrm>
          <a:prstGeom prst="rect">
            <a:avLst/>
          </a:prstGeom>
          <a:solidFill>
            <a:schemeClr val="accent2"/>
          </a:solidFill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A50021"/>
                </a:solidFill>
                <a:latin typeface="Gulim" pitchFamily="34" charset="-127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用</a:t>
            </a:r>
            <a:r>
              <a:rPr lang="zh-CN" altLang="en-US" sz="2800" b="1" dirty="0">
                <a:solidFill>
                  <a:srgbClr val="FF0000"/>
                </a:solidFill>
                <a:latin typeface="Gulim" pitchFamily="34" charset="-127"/>
                <a:ea typeface="宋体" panose="02010600030101010101" pitchFamily="2" charset="-122"/>
              </a:rPr>
              <a:t>条件运算符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改写</a:t>
            </a: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exp3_3.cpp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。</a:t>
            </a:r>
            <a:endParaRPr lang="zh-CN" altLang="en-US" sz="3200" b="1" dirty="0"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360363" y="2349500"/>
            <a:ext cx="3063875" cy="519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max =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a&gt;=b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?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: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469" name="Text Box 5"/>
          <p:cNvSpPr txBox="1"/>
          <p:nvPr/>
        </p:nvSpPr>
        <p:spPr>
          <a:xfrm>
            <a:off x="7704138" y="5905500"/>
            <a:ext cx="2376487" cy="38417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FF0000"/>
                </a:solidFill>
                <a:latin typeface="Gulim" pitchFamily="34" charset="-127"/>
              </a:rPr>
              <a:t>exp3_4.cpp</a:t>
            </a:r>
            <a:endParaRPr lang="en-US" altLang="zh-CN" sz="2400" b="1" dirty="0">
              <a:solidFill>
                <a:srgbClr val="FF0000"/>
              </a:solidFill>
              <a:latin typeface="Gulim" pitchFamily="34" charset="-127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776" y="1052736"/>
            <a:ext cx="9072563" cy="4525963"/>
          </a:xfrm>
          <a:noFill/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#include &lt;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stdio.h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main()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int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a,b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("input two integers:");   //input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scanf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("%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d%d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",&amp;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a,&amp;b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//compute and output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maxab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= a&gt;=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b?a:b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("max(%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d,%d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 = %d",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a,b,maxab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//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("max(%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d,%d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 = %d\n",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a,b,a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&gt;=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b?a:b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   //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或者直接输出结果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return 0;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Text Box 5"/>
          <p:cNvSpPr txBox="1"/>
          <p:nvPr/>
        </p:nvSpPr>
        <p:spPr>
          <a:xfrm>
            <a:off x="4470400" y="74613"/>
            <a:ext cx="1397000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</a:t>
            </a:r>
            <a:r>
              <a:rPr lang="ko-KR" altLang="en-US" sz="2200" b="1" dirty="0">
                <a:solidFill>
                  <a:schemeClr val="bg1"/>
                </a:solidFill>
                <a:latin typeface="HY헤드라인M" pitchFamily="2" charset="-127"/>
                <a:ea typeface="HY헤드라인M" pitchFamily="2" charset="-127"/>
              </a:rPr>
              <a:t> </a:t>
            </a:r>
            <a:endParaRPr lang="ko-KR" altLang="en-US" sz="2200" b="1" dirty="0">
              <a:solidFill>
                <a:schemeClr val="bg1"/>
              </a:solidFill>
              <a:latin typeface="HY헤드라인M" pitchFamily="2" charset="-127"/>
              <a:ea typeface="HY헤드라인M" pitchFamily="2" charset="-127"/>
            </a:endParaRPr>
          </a:p>
        </p:txBody>
      </p:sp>
      <p:sp>
        <p:nvSpPr>
          <p:cNvPr id="64515" name="Text Box 3"/>
          <p:cNvSpPr txBox="1"/>
          <p:nvPr/>
        </p:nvSpPr>
        <p:spPr>
          <a:xfrm>
            <a:off x="71438" y="1196975"/>
            <a:ext cx="9504362" cy="433388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A50021"/>
                </a:solidFill>
                <a:latin typeface="Gulim" pitchFamily="34" charset="-127"/>
                <a:ea typeface="宋体" panose="02010600030101010101" pitchFamily="2" charset="-122"/>
              </a:rPr>
              <a:t>例：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写出下列程序的运行结果。</a:t>
            </a:r>
            <a:endParaRPr lang="zh-CN" altLang="en-US" sz="3200" b="1" dirty="0"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612775" y="1916113"/>
            <a:ext cx="9467850" cy="353943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#include &lt;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stdio.h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int main()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{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    int		x = 10, y = 20;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printf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("%d %s %d\n", x, x &gt; y ? " great than ":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x==y? "equal to": "less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than",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y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);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    return 0;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}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3960813" y="5013325"/>
            <a:ext cx="5614987" cy="1190625"/>
            <a:chOff x="0" y="0"/>
            <a:chExt cx="3537" cy="750"/>
          </a:xfrm>
        </p:grpSpPr>
        <p:sp>
          <p:nvSpPr>
            <p:cNvPr id="64520" name="Line 6"/>
            <p:cNvSpPr/>
            <p:nvPr/>
          </p:nvSpPr>
          <p:spPr>
            <a:xfrm>
              <a:off x="0" y="0"/>
              <a:ext cx="353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>
              <a:prstShdw prst="shdw13" dist="53882" dir="13499999">
                <a:schemeClr val="bg2">
                  <a:alpha val="50000"/>
                </a:schemeClr>
              </a:prstShdw>
            </a:effectLst>
          </p:spPr>
        </p:sp>
        <p:sp>
          <p:nvSpPr>
            <p:cNvPr id="64521" name="AutoShape 7"/>
            <p:cNvSpPr/>
            <p:nvPr/>
          </p:nvSpPr>
          <p:spPr>
            <a:xfrm>
              <a:off x="1043" y="317"/>
              <a:ext cx="1179" cy="433"/>
            </a:xfrm>
            <a:prstGeom prst="wedgeRoundRectCallout">
              <a:avLst>
                <a:gd name="adj1" fmla="val 16500"/>
                <a:gd name="adj2" fmla="val -120477"/>
                <a:gd name="adj3" fmla="val 16667"/>
              </a:avLst>
            </a:prstGeom>
            <a:solidFill>
              <a:srgbClr val="FFFF00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ffectLst>
              <a:prstShdw prst="shdw13" dist="53882" dir="13499999">
                <a:schemeClr val="bg2">
                  <a:alpha val="50000"/>
                </a:schemeClr>
              </a:prstShdw>
            </a:effectLst>
          </p:spPr>
          <p:txBody>
            <a:bodyPr lIns="0" tIns="0" rIns="0" bIns="0" anchor="ctr" anchorCtr="0"/>
            <a:p>
              <a:pPr algn="ctr" eaLnBrk="1" latinLnBrk="1" hangingPunct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anose="05000000000000000000" pitchFamily="2" charset="2"/>
              </a:pPr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条件运算符可嵌套</a:t>
              </a:r>
              <a:endPara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0" name="AutoShape 7"/>
          <p:cNvSpPr/>
          <p:nvPr/>
        </p:nvSpPr>
        <p:spPr>
          <a:xfrm>
            <a:off x="4154488" y="2797175"/>
            <a:ext cx="2038350" cy="647700"/>
          </a:xfrm>
          <a:prstGeom prst="wedgeRoundRectCallout">
            <a:avLst>
              <a:gd name="adj1" fmla="val -105602"/>
              <a:gd name="adj2" fmla="val 179167"/>
              <a:gd name="adj3" fmla="val 16667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lIns="0" tIns="0" rIns="0" bIns="0" anchor="ctr" anchorCtr="0"/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%s: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字符串的占位符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AutoShape 7"/>
          <p:cNvSpPr/>
          <p:nvPr/>
        </p:nvSpPr>
        <p:spPr>
          <a:xfrm>
            <a:off x="6516688" y="3167063"/>
            <a:ext cx="3348037" cy="1035050"/>
          </a:xfrm>
          <a:prstGeom prst="wedgeRoundRectCallout">
            <a:avLst>
              <a:gd name="adj1" fmla="val -75884"/>
              <a:gd name="adj2" fmla="val 98139"/>
              <a:gd name="adj3" fmla="val 16667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lIns="0" tIns="0" rIns="0" bIns="0" anchor="ctr" anchorCtr="0"/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字符串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字符序列，用双引号表示。后续讲，这里重点是嵌套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autoUpdateAnimBg="0"/>
      <p:bldP spid="10" grpId="0" animBg="1"/>
      <p:bldP spid="1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215900" y="1196975"/>
            <a:ext cx="9072563" cy="38163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•"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year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若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year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是闰年，输出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year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是闰年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否则，输出非闰年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                         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                                    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39" name="Text Box 5"/>
          <p:cNvSpPr txBox="1"/>
          <p:nvPr/>
        </p:nvSpPr>
        <p:spPr>
          <a:xfrm>
            <a:off x="4470400" y="74613"/>
            <a:ext cx="1397000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</a:t>
            </a:r>
            <a:r>
              <a:rPr lang="ko-KR" altLang="en-US" sz="2200" b="1" dirty="0">
                <a:solidFill>
                  <a:schemeClr val="bg1"/>
                </a:solidFill>
                <a:latin typeface="HY헤드라인M" pitchFamily="2" charset="-127"/>
                <a:ea typeface="HY헤드라인M" pitchFamily="2" charset="-127"/>
              </a:rPr>
              <a:t> </a:t>
            </a:r>
            <a:endParaRPr lang="ko-KR" altLang="en-US" sz="2200" b="1" dirty="0">
              <a:solidFill>
                <a:schemeClr val="bg1"/>
              </a:solidFill>
              <a:latin typeface="HY헤드라인M" pitchFamily="2" charset="-127"/>
              <a:ea typeface="HY헤드라인M" pitchFamily="2" charset="-127"/>
            </a:endParaRPr>
          </a:p>
        </p:txBody>
      </p:sp>
      <p:sp>
        <p:nvSpPr>
          <p:cNvPr id="65540" name="Text Box 4"/>
          <p:cNvSpPr txBox="1"/>
          <p:nvPr/>
        </p:nvSpPr>
        <p:spPr>
          <a:xfrm>
            <a:off x="7704138" y="5905500"/>
            <a:ext cx="2376487" cy="38417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FF0000"/>
                </a:solidFill>
                <a:latin typeface="Gulim" pitchFamily="34" charset="-127"/>
              </a:rPr>
              <a:t>exp3_5.cpp</a:t>
            </a:r>
            <a:endParaRPr lang="en-US" altLang="zh-CN" sz="2400" b="1" dirty="0">
              <a:solidFill>
                <a:srgbClr val="FF0000"/>
              </a:solidFill>
              <a:latin typeface="Gulim" pitchFamily="34" charset="-127"/>
            </a:endParaRPr>
          </a:p>
        </p:txBody>
      </p:sp>
    </p:spTree>
  </p:cSld>
  <p:clrMapOvr>
    <a:masterClrMapping/>
  </p:clrMapOvr>
  <p:transition spd="med">
    <p:wedg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706437"/>
          </a:xfrm>
          <a:noFill/>
          <a:ln>
            <a:noFill/>
          </a:ln>
        </p:spPr>
        <p:txBody>
          <a:bodyPr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9792" y="1166018"/>
            <a:ext cx="9072563" cy="4525963"/>
          </a:xfrm>
          <a:noFill/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#include &lt;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stdio.h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main()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int year;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("pls input year(&gt;0):");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scanf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("%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d",&amp;year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(!(year%400) || (!(year%4) &amp;&amp; year%100))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("%d is a leap year\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n",year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else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("%d is not a leap year\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n",year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return 0;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2"/>
          <p:cNvSpPr>
            <a:spLocks noGrp="1"/>
          </p:cNvSpPr>
          <p:nvPr>
            <p:ph idx="1"/>
          </p:nvPr>
        </p:nvSpPr>
        <p:spPr>
          <a:xfrm>
            <a:off x="185738" y="1268413"/>
            <a:ext cx="9678987" cy="3529012"/>
          </a:xfrm>
          <a:noFill/>
          <a:ln>
            <a:noFill/>
          </a:ln>
        </p:spPr>
        <p:txBody>
          <a:bodyPr/>
          <a:p>
            <a:pPr>
              <a:lnSpc>
                <a:spcPct val="90000"/>
              </a:lnSpc>
              <a:buNone/>
            </a:pPr>
            <a:r>
              <a:rPr lang="zh-CN" altLang="en-US" dirty="0"/>
              <a:t> 输入三个数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，若构成三角形，则按如下公式求</a:t>
            </a:r>
            <a:endParaRPr lang="zh-CN" altLang="en-US" dirty="0"/>
          </a:p>
          <a:p>
            <a:pPr>
              <a:lnSpc>
                <a:spcPct val="90000"/>
              </a:lnSpc>
              <a:buNone/>
            </a:pPr>
            <a:r>
              <a:rPr lang="zh-CN" altLang="en-US" dirty="0"/>
              <a:t>  三角形面积</a:t>
            </a:r>
            <a:r>
              <a:rPr lang="en-US" altLang="zh-CN" dirty="0"/>
              <a:t>: </a:t>
            </a:r>
            <a:endParaRPr lang="en-US" altLang="zh-CN" dirty="0"/>
          </a:p>
          <a:p>
            <a:pPr>
              <a:lnSpc>
                <a:spcPct val="90000"/>
              </a:lnSpc>
              <a:buNone/>
            </a:pPr>
            <a:endParaRPr lang="en-US" altLang="zh-CN" dirty="0"/>
          </a:p>
          <a:p>
            <a:pPr>
              <a:lnSpc>
                <a:spcPct val="90000"/>
              </a:lnSpc>
              <a:buNone/>
            </a:pPr>
            <a:r>
              <a:rPr lang="en-US" altLang="zh-CN" dirty="0"/>
              <a:t>  A =  √ s ( s – a )( s – b )( s – c )</a:t>
            </a:r>
            <a:endParaRPr lang="en-US" altLang="zh-CN" dirty="0"/>
          </a:p>
          <a:p>
            <a:pPr>
              <a:lnSpc>
                <a:spcPct val="90000"/>
              </a:lnSpc>
              <a:buNone/>
            </a:pPr>
            <a:r>
              <a:rPr lang="en-US" altLang="zh-CN" dirty="0"/>
              <a:t>  s  =  ( a + b + c ) / 2</a:t>
            </a:r>
            <a:endParaRPr lang="en-US" altLang="zh-CN" dirty="0"/>
          </a:p>
          <a:p>
            <a:pPr>
              <a:lnSpc>
                <a:spcPct val="90000"/>
              </a:lnSpc>
              <a:buNone/>
            </a:pPr>
            <a:endParaRPr lang="en-US" altLang="zh-CN" dirty="0"/>
          </a:p>
          <a:p>
            <a:pPr>
              <a:lnSpc>
                <a:spcPct val="90000"/>
              </a:lnSpc>
              <a:buNone/>
            </a:pPr>
            <a:r>
              <a:rPr lang="en-US" altLang="zh-CN" dirty="0"/>
              <a:t>                                               </a:t>
            </a:r>
            <a:endParaRPr lang="en-US" altLang="zh-CN" dirty="0"/>
          </a:p>
        </p:txBody>
      </p:sp>
      <p:sp>
        <p:nvSpPr>
          <p:cNvPr id="67587" name="Line 3"/>
          <p:cNvSpPr/>
          <p:nvPr/>
        </p:nvSpPr>
        <p:spPr>
          <a:xfrm>
            <a:off x="1655763" y="2852738"/>
            <a:ext cx="45243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88" name="Text Box 5"/>
          <p:cNvSpPr txBox="1"/>
          <p:nvPr/>
        </p:nvSpPr>
        <p:spPr>
          <a:xfrm>
            <a:off x="4470400" y="74613"/>
            <a:ext cx="1397000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</a:t>
            </a:r>
            <a:r>
              <a:rPr lang="ko-KR" altLang="en-US" sz="2200" b="1" dirty="0">
                <a:solidFill>
                  <a:schemeClr val="bg1"/>
                </a:solidFill>
                <a:latin typeface="HY헤드라인M" pitchFamily="2" charset="-127"/>
                <a:ea typeface="HY헤드라인M" pitchFamily="2" charset="-127"/>
              </a:rPr>
              <a:t> </a:t>
            </a:r>
            <a:endParaRPr lang="ko-KR" altLang="en-US" sz="2200" b="1" dirty="0">
              <a:solidFill>
                <a:schemeClr val="bg1"/>
              </a:solidFill>
              <a:latin typeface="HY헤드라인M" pitchFamily="2" charset="-127"/>
              <a:ea typeface="HY헤드라인M" pitchFamily="2" charset="-127"/>
            </a:endParaRPr>
          </a:p>
        </p:txBody>
      </p:sp>
      <p:sp>
        <p:nvSpPr>
          <p:cNvPr id="67589" name="Text Box 5"/>
          <p:cNvSpPr txBox="1"/>
          <p:nvPr/>
        </p:nvSpPr>
        <p:spPr>
          <a:xfrm>
            <a:off x="7704138" y="5905500"/>
            <a:ext cx="2376487" cy="38417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FF0000"/>
                </a:solidFill>
                <a:latin typeface="Gulim" pitchFamily="34" charset="-127"/>
              </a:rPr>
              <a:t>exp3_6.cpp</a:t>
            </a:r>
            <a:endParaRPr lang="en-US" altLang="zh-CN" sz="2400" b="1" dirty="0">
              <a:solidFill>
                <a:srgbClr val="FF0000"/>
              </a:solidFill>
              <a:latin typeface="Gulim" pitchFamily="34" charset="-127"/>
            </a:endParaRPr>
          </a:p>
        </p:txBody>
      </p:sp>
    </p:spTree>
  </p:cSld>
  <p:clrMapOvr>
    <a:masterClrMapping/>
  </p:clrMapOvr>
  <p:transition spd="med">
    <p:wedg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776" y="980728"/>
            <a:ext cx="9072563" cy="4525963"/>
          </a:xfrm>
          <a:noFill/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#include &lt;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stdio.h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#include &lt;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math.h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main()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int e1,e2,e3;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double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s,area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("input three numbers:");  //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输入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scanf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("%d%d%d",&amp;e1,&amp;e2,&amp;e3);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(e1+e2&gt;e3 &amp;&amp; e1+e3&gt;e2 &amp;&amp; e2+e3&gt;e1)   //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判断条件，注意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多语句加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{}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CECFF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   s = (e1+e2+e3)/2.0;                   //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CECFF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计算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CCECFF"/>
              </a:highligh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CECFF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CECFF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area = sqrt(s*(s-e1)*(s-e2)*(s-e3));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CCECFF"/>
              </a:highligh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CECFF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CECFF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CECFF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("area = %.2lf\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CECFF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n",area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CECFF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CCECFF"/>
              </a:highligh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CECFF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}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CCECFF"/>
              </a:highligh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else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("non triangle\n");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return 0;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}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Text Box 5"/>
          <p:cNvSpPr txBox="1"/>
          <p:nvPr/>
        </p:nvSpPr>
        <p:spPr>
          <a:xfrm>
            <a:off x="4470400" y="74613"/>
            <a:ext cx="1397000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</a:t>
            </a:r>
            <a:r>
              <a:rPr lang="ko-KR" altLang="en-US" sz="2200" b="1" dirty="0">
                <a:solidFill>
                  <a:schemeClr val="bg1"/>
                </a:solidFill>
                <a:latin typeface="HY헤드라인M" pitchFamily="2" charset="-127"/>
                <a:ea typeface="HY헤드라인M" pitchFamily="2" charset="-127"/>
              </a:rPr>
              <a:t> </a:t>
            </a:r>
            <a:endParaRPr lang="ko-KR" altLang="en-US" sz="2200" b="1" dirty="0">
              <a:solidFill>
                <a:schemeClr val="bg1"/>
              </a:solidFill>
              <a:latin typeface="HY헤드라인M" pitchFamily="2" charset="-127"/>
              <a:ea typeface="HY헤드라인M" pitchFamily="2" charset="-127"/>
            </a:endParaRPr>
          </a:p>
        </p:txBody>
      </p:sp>
      <p:sp>
        <p:nvSpPr>
          <p:cNvPr id="55299" name="Text Box 3"/>
          <p:cNvSpPr txBox="1">
            <a:spLocks noChangeArrowheads="1"/>
          </p:cNvSpPr>
          <p:nvPr/>
        </p:nvSpPr>
        <p:spPr bwMode="auto">
          <a:xfrm>
            <a:off x="71438" y="1071563"/>
            <a:ext cx="9791699" cy="94615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判断输入数据的符号属性。输入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x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，打印出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-1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，分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别对应负数、零、正数。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多分支）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6" name="Text Box 4"/>
          <p:cNvSpPr txBox="1"/>
          <p:nvPr/>
        </p:nvSpPr>
        <p:spPr>
          <a:xfrm>
            <a:off x="7389813" y="5927725"/>
            <a:ext cx="24733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exc3_7.cpp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edg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 useBgFill="1">
        <p:nvSpPr>
          <p:cNvPr id="70658" name="AutoShape 2">
            <a:hlinkClick r:id="rId1" action="ppaction://program"/>
          </p:cNvPr>
          <p:cNvSpPr/>
          <p:nvPr/>
        </p:nvSpPr>
        <p:spPr>
          <a:xfrm>
            <a:off x="468313" y="5907088"/>
            <a:ext cx="344487" cy="365125"/>
          </a:xfrm>
          <a:prstGeom prst="actionButtonDocument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§"/>
              <a:defRPr sz="3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«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92557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0659" name="Text Box 3"/>
          <p:cNvSpPr txBox="1"/>
          <p:nvPr/>
        </p:nvSpPr>
        <p:spPr>
          <a:xfrm>
            <a:off x="773113" y="231775"/>
            <a:ext cx="375761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§"/>
              <a:defRPr sz="3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«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92557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220011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220011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800" b="1" dirty="0">
                <a:solidFill>
                  <a:srgbClr val="220011"/>
                </a:solidFill>
                <a:latin typeface="楷体_GB2312" pitchFamily="49" charset="-122"/>
                <a:ea typeface="楷体_GB2312" pitchFamily="49" charset="-122"/>
              </a:rPr>
              <a:t>三个整数降序排序</a:t>
            </a:r>
            <a:endParaRPr lang="zh-CN" altLang="en-US" sz="2800" b="1" dirty="0">
              <a:solidFill>
                <a:srgbClr val="22001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050925" y="2416175"/>
            <a:ext cx="1182688" cy="2911475"/>
            <a:chOff x="9" y="0"/>
            <a:chExt cx="745" cy="1834"/>
          </a:xfrm>
        </p:grpSpPr>
        <p:grpSp>
          <p:nvGrpSpPr>
            <p:cNvPr id="70716" name="Group 5"/>
            <p:cNvGrpSpPr/>
            <p:nvPr/>
          </p:nvGrpSpPr>
          <p:grpSpPr>
            <a:xfrm>
              <a:off x="54" y="0"/>
              <a:ext cx="583" cy="592"/>
              <a:chOff x="9" y="0"/>
              <a:chExt cx="583" cy="592"/>
            </a:xfrm>
          </p:grpSpPr>
          <p:sp>
            <p:nvSpPr>
              <p:cNvPr id="70723" name="Line 6"/>
              <p:cNvSpPr/>
              <p:nvPr/>
            </p:nvSpPr>
            <p:spPr>
              <a:xfrm>
                <a:off x="265" y="0"/>
                <a:ext cx="0" cy="271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0724" name="Rectangle 7"/>
              <p:cNvSpPr/>
              <p:nvPr/>
            </p:nvSpPr>
            <p:spPr>
              <a:xfrm>
                <a:off x="9" y="300"/>
                <a:ext cx="583" cy="292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§"/>
                  <a:defRPr sz="3200" kern="120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Font typeface="Wingdings" panose="05000000000000000000" pitchFamily="2" charset="2"/>
                  <a:buChar char="«"/>
                  <a:defRPr sz="2800" kern="120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92557"/>
                  </a:buClr>
                  <a:buFont typeface="Wingdings" panose="05000000000000000000" pitchFamily="2" charset="2"/>
                  <a:buChar char="v"/>
                  <a:defRPr sz="2400" kern="120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sz="2000" kern="120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u"/>
                  <a:defRPr sz="2000" kern="120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660033"/>
                    </a:solidFill>
                    <a:latin typeface="Arial" panose="020B0604020202020204" pitchFamily="34" charset="0"/>
                  </a:rPr>
                  <a:t>Input </a:t>
                </a:r>
                <a:endParaRPr lang="en-US" altLang="zh-CN" sz="2400" b="1" dirty="0">
                  <a:solidFill>
                    <a:srgbClr val="660033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70717" name="Group 8"/>
            <p:cNvGrpSpPr/>
            <p:nvPr/>
          </p:nvGrpSpPr>
          <p:grpSpPr>
            <a:xfrm>
              <a:off x="86" y="631"/>
              <a:ext cx="552" cy="592"/>
              <a:chOff x="9" y="0"/>
              <a:chExt cx="552" cy="592"/>
            </a:xfrm>
          </p:grpSpPr>
          <p:sp>
            <p:nvSpPr>
              <p:cNvPr id="70721" name="Line 9"/>
              <p:cNvSpPr/>
              <p:nvPr/>
            </p:nvSpPr>
            <p:spPr>
              <a:xfrm>
                <a:off x="251" y="0"/>
                <a:ext cx="0" cy="271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0722" name="Rectangle 10"/>
              <p:cNvSpPr/>
              <p:nvPr/>
            </p:nvSpPr>
            <p:spPr>
              <a:xfrm>
                <a:off x="9" y="300"/>
                <a:ext cx="552" cy="292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§"/>
                  <a:defRPr sz="3200" kern="120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Font typeface="Wingdings" panose="05000000000000000000" pitchFamily="2" charset="2"/>
                  <a:buChar char="«"/>
                  <a:defRPr sz="2800" kern="120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92557"/>
                  </a:buClr>
                  <a:buFont typeface="Wingdings" panose="05000000000000000000" pitchFamily="2" charset="2"/>
                  <a:buChar char="v"/>
                  <a:defRPr sz="2400" kern="120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sz="2000" kern="120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u"/>
                  <a:defRPr sz="2000" kern="120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660033"/>
                    </a:solidFill>
                    <a:latin typeface="Arial" panose="020B0604020202020204" pitchFamily="34" charset="0"/>
                  </a:rPr>
                  <a:t> Sort </a:t>
                </a:r>
                <a:endParaRPr lang="en-US" altLang="zh-CN" sz="2400" b="1" dirty="0">
                  <a:solidFill>
                    <a:srgbClr val="660033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70718" name="Group 11"/>
            <p:cNvGrpSpPr/>
            <p:nvPr/>
          </p:nvGrpSpPr>
          <p:grpSpPr>
            <a:xfrm>
              <a:off x="9" y="1242"/>
              <a:ext cx="745" cy="592"/>
              <a:chOff x="9" y="0"/>
              <a:chExt cx="745" cy="592"/>
            </a:xfrm>
          </p:grpSpPr>
          <p:sp>
            <p:nvSpPr>
              <p:cNvPr id="70719" name="Line 12"/>
              <p:cNvSpPr/>
              <p:nvPr/>
            </p:nvSpPr>
            <p:spPr>
              <a:xfrm>
                <a:off x="344" y="0"/>
                <a:ext cx="0" cy="271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0720" name="Rectangle 13"/>
              <p:cNvSpPr/>
              <p:nvPr/>
            </p:nvSpPr>
            <p:spPr>
              <a:xfrm>
                <a:off x="9" y="300"/>
                <a:ext cx="745" cy="292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§"/>
                  <a:defRPr sz="3200" kern="120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Font typeface="Wingdings" panose="05000000000000000000" pitchFamily="2" charset="2"/>
                  <a:buChar char="«"/>
                  <a:defRPr sz="2800" kern="120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92557"/>
                  </a:buClr>
                  <a:buFont typeface="Wingdings" panose="05000000000000000000" pitchFamily="2" charset="2"/>
                  <a:buChar char="v"/>
                  <a:defRPr sz="2400" kern="120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sz="2000" kern="120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u"/>
                  <a:defRPr sz="2000" kern="120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660033"/>
                    </a:solidFill>
                    <a:latin typeface="Arial" panose="020B0604020202020204" pitchFamily="34" charset="0"/>
                  </a:rPr>
                  <a:t>Output </a:t>
                </a:r>
                <a:endParaRPr lang="en-US" altLang="zh-CN" sz="2400" b="1" dirty="0">
                  <a:solidFill>
                    <a:srgbClr val="66003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8" name="Group 14"/>
          <p:cNvGrpSpPr/>
          <p:nvPr/>
        </p:nvGrpSpPr>
        <p:grpSpPr>
          <a:xfrm>
            <a:off x="3357563" y="938213"/>
            <a:ext cx="2946400" cy="5205412"/>
            <a:chOff x="0" y="0"/>
            <a:chExt cx="1856" cy="3279"/>
          </a:xfrm>
        </p:grpSpPr>
        <p:sp>
          <p:nvSpPr>
            <p:cNvPr id="70686" name="Text Box 15"/>
            <p:cNvSpPr txBox="1"/>
            <p:nvPr/>
          </p:nvSpPr>
          <p:spPr>
            <a:xfrm>
              <a:off x="60" y="0"/>
              <a:ext cx="1094" cy="292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46800" rIns="90000" bIns="46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§"/>
                <a:defRPr sz="32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Font typeface="Wingdings" panose="05000000000000000000" pitchFamily="2" charset="2"/>
                <a:buChar char="«"/>
                <a:defRPr sz="28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92557"/>
                </a:buClr>
                <a:buFont typeface="Wingdings" panose="05000000000000000000" pitchFamily="2" charset="2"/>
                <a:buChar char="v"/>
                <a:defRPr sz="24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u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220011"/>
                  </a:solidFill>
                  <a:latin typeface="Arial" panose="020B0604020202020204" pitchFamily="34" charset="0"/>
                </a:rPr>
                <a:t>Sort :</a:t>
              </a:r>
              <a:endPara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687" name="AutoShape 16"/>
            <p:cNvSpPr/>
            <p:nvPr/>
          </p:nvSpPr>
          <p:spPr>
            <a:xfrm>
              <a:off x="11" y="643"/>
              <a:ext cx="967" cy="367"/>
            </a:xfrm>
            <a:prstGeom prst="flowChartDecision">
              <a:avLst/>
            </a:prstGeom>
            <a:solidFill>
              <a:srgbClr val="FFFFFF"/>
            </a:solidFill>
            <a:ln w="381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§"/>
                <a:defRPr sz="32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Font typeface="Wingdings" panose="05000000000000000000" pitchFamily="2" charset="2"/>
                <a:buChar char="«"/>
                <a:defRPr sz="28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92557"/>
                </a:buClr>
                <a:buFont typeface="Wingdings" panose="05000000000000000000" pitchFamily="2" charset="2"/>
                <a:buChar char="v"/>
                <a:defRPr sz="24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u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22001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a&lt;b</a:t>
              </a:r>
              <a:endParaRPr lang="en-US" altLang="zh-CN" sz="40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688" name="Text Box 17"/>
            <p:cNvSpPr txBox="1"/>
            <p:nvPr/>
          </p:nvSpPr>
          <p:spPr>
            <a:xfrm>
              <a:off x="869" y="1031"/>
              <a:ext cx="957" cy="25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§"/>
                <a:defRPr sz="32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Font typeface="Wingdings" panose="05000000000000000000" pitchFamily="2" charset="2"/>
                <a:buChar char="«"/>
                <a:defRPr sz="28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92557"/>
                </a:buClr>
                <a:buFont typeface="Wingdings" panose="05000000000000000000" pitchFamily="2" charset="2"/>
                <a:buChar char="v"/>
                <a:defRPr sz="24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u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rgbClr val="22001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r>
                <a:rPr lang="en-US" altLang="zh-CN" sz="2000" b="1" dirty="0">
                  <a:solidFill>
                    <a:srgbClr val="22001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</a:t>
              </a:r>
              <a:r>
                <a:rPr lang="en-US" altLang="zh-CN" sz="2000" b="1" dirty="0">
                  <a:solidFill>
                    <a:srgbClr val="22001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4000" b="1" u="sng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689" name="Text Box 18"/>
            <p:cNvSpPr txBox="1"/>
            <p:nvPr/>
          </p:nvSpPr>
          <p:spPr>
            <a:xfrm>
              <a:off x="226" y="979"/>
              <a:ext cx="2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§"/>
                <a:defRPr sz="32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Font typeface="Wingdings" panose="05000000000000000000" pitchFamily="2" charset="2"/>
                <a:buChar char="«"/>
                <a:defRPr sz="28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92557"/>
                </a:buClr>
                <a:buFont typeface="Wingdings" panose="05000000000000000000" pitchFamily="2" charset="2"/>
                <a:buChar char="v"/>
                <a:defRPr sz="24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u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22001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F</a:t>
              </a:r>
              <a:endParaRPr lang="en-US" altLang="zh-CN" sz="40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690" name="Text Box 19"/>
            <p:cNvSpPr txBox="1"/>
            <p:nvPr/>
          </p:nvSpPr>
          <p:spPr>
            <a:xfrm>
              <a:off x="1025" y="594"/>
              <a:ext cx="2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§"/>
                <a:defRPr sz="32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Font typeface="Wingdings" panose="05000000000000000000" pitchFamily="2" charset="2"/>
                <a:buChar char="«"/>
                <a:defRPr sz="28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92557"/>
                </a:buClr>
                <a:buFont typeface="Wingdings" panose="05000000000000000000" pitchFamily="2" charset="2"/>
                <a:buChar char="v"/>
                <a:defRPr sz="24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u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22001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</a:t>
              </a:r>
              <a:endParaRPr lang="en-US" altLang="zh-CN" sz="40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691" name="AutoShape 20"/>
            <p:cNvSpPr/>
            <p:nvPr/>
          </p:nvSpPr>
          <p:spPr>
            <a:xfrm>
              <a:off x="0" y="1521"/>
              <a:ext cx="967" cy="367"/>
            </a:xfrm>
            <a:prstGeom prst="flowChartDecision">
              <a:avLst/>
            </a:prstGeom>
            <a:solidFill>
              <a:srgbClr val="FFFFFF"/>
            </a:solidFill>
            <a:ln w="381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§"/>
                <a:defRPr sz="32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Font typeface="Wingdings" panose="05000000000000000000" pitchFamily="2" charset="2"/>
                <a:buChar char="«"/>
                <a:defRPr sz="28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92557"/>
                </a:buClr>
                <a:buFont typeface="Wingdings" panose="05000000000000000000" pitchFamily="2" charset="2"/>
                <a:buChar char="v"/>
                <a:defRPr sz="24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u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22001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a&lt;c</a:t>
              </a:r>
              <a:endParaRPr lang="en-US" altLang="zh-CN" sz="40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692" name="Text Box 21"/>
            <p:cNvSpPr txBox="1"/>
            <p:nvPr/>
          </p:nvSpPr>
          <p:spPr>
            <a:xfrm>
              <a:off x="888" y="1889"/>
              <a:ext cx="957" cy="291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§"/>
                <a:defRPr sz="32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Font typeface="Wingdings" panose="05000000000000000000" pitchFamily="2" charset="2"/>
                <a:buChar char="«"/>
                <a:defRPr sz="28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92557"/>
                </a:buClr>
                <a:buFont typeface="Wingdings" panose="05000000000000000000" pitchFamily="2" charset="2"/>
                <a:buChar char="v"/>
                <a:defRPr sz="24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u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rgbClr val="22001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 </a:t>
              </a:r>
              <a:r>
                <a:rPr lang="en-US" altLang="zh-CN" sz="2400" b="1" dirty="0">
                  <a:solidFill>
                    <a:srgbClr val="22001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</a:t>
              </a:r>
              <a:r>
                <a:rPr lang="en-US" altLang="zh-CN" sz="2000" dirty="0">
                  <a:solidFill>
                    <a:srgbClr val="220011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zh-CN" sz="2000" b="1" dirty="0">
                  <a:solidFill>
                    <a:srgbClr val="22001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0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693" name="Text Box 22"/>
            <p:cNvSpPr txBox="1"/>
            <p:nvPr/>
          </p:nvSpPr>
          <p:spPr>
            <a:xfrm>
              <a:off x="245" y="1856"/>
              <a:ext cx="2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§"/>
                <a:defRPr sz="32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Font typeface="Wingdings" panose="05000000000000000000" pitchFamily="2" charset="2"/>
                <a:buChar char="«"/>
                <a:defRPr sz="28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92557"/>
                </a:buClr>
                <a:buFont typeface="Wingdings" panose="05000000000000000000" pitchFamily="2" charset="2"/>
                <a:buChar char="v"/>
                <a:defRPr sz="24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u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22001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F</a:t>
              </a:r>
              <a:endParaRPr lang="en-US" altLang="zh-CN" sz="40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694" name="Text Box 23"/>
            <p:cNvSpPr txBox="1"/>
            <p:nvPr/>
          </p:nvSpPr>
          <p:spPr>
            <a:xfrm>
              <a:off x="1044" y="1471"/>
              <a:ext cx="2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§"/>
                <a:defRPr sz="32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Font typeface="Wingdings" panose="05000000000000000000" pitchFamily="2" charset="2"/>
                <a:buChar char="«"/>
                <a:defRPr sz="28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92557"/>
                </a:buClr>
                <a:buFont typeface="Wingdings" panose="05000000000000000000" pitchFamily="2" charset="2"/>
                <a:buChar char="v"/>
                <a:defRPr sz="24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u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22001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</a:t>
              </a:r>
              <a:endParaRPr lang="en-US" altLang="zh-CN" sz="40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695" name="AutoShape 24"/>
            <p:cNvSpPr/>
            <p:nvPr/>
          </p:nvSpPr>
          <p:spPr>
            <a:xfrm>
              <a:off x="11" y="2399"/>
              <a:ext cx="967" cy="367"/>
            </a:xfrm>
            <a:prstGeom prst="flowChartDecision">
              <a:avLst/>
            </a:prstGeom>
            <a:solidFill>
              <a:srgbClr val="FFFFFF"/>
            </a:solidFill>
            <a:ln w="381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§"/>
                <a:defRPr sz="32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Font typeface="Wingdings" panose="05000000000000000000" pitchFamily="2" charset="2"/>
                <a:buChar char="«"/>
                <a:defRPr sz="28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92557"/>
                </a:buClr>
                <a:buFont typeface="Wingdings" panose="05000000000000000000" pitchFamily="2" charset="2"/>
                <a:buChar char="v"/>
                <a:defRPr sz="24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u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22001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b&lt;c</a:t>
              </a:r>
              <a:endParaRPr lang="en-US" altLang="zh-CN" sz="40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696" name="Text Box 25"/>
            <p:cNvSpPr txBox="1"/>
            <p:nvPr/>
          </p:nvSpPr>
          <p:spPr>
            <a:xfrm>
              <a:off x="899" y="2767"/>
              <a:ext cx="957" cy="291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§"/>
                <a:defRPr sz="32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Font typeface="Wingdings" panose="05000000000000000000" pitchFamily="2" charset="2"/>
                <a:buChar char="«"/>
                <a:defRPr sz="28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92557"/>
                </a:buClr>
                <a:buFont typeface="Wingdings" panose="05000000000000000000" pitchFamily="2" charset="2"/>
                <a:buChar char="v"/>
                <a:defRPr sz="24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u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rgbClr val="22001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 </a:t>
              </a:r>
              <a:r>
                <a:rPr lang="en-US" altLang="zh-CN" sz="2400" b="1" dirty="0">
                  <a:solidFill>
                    <a:srgbClr val="220011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</a:t>
              </a:r>
              <a:r>
                <a:rPr lang="en-US" altLang="zh-CN" sz="2400" dirty="0">
                  <a:solidFill>
                    <a:srgbClr val="220011"/>
                  </a:solidFill>
                </a:rPr>
                <a:t> </a:t>
              </a:r>
              <a:r>
                <a:rPr lang="en-US" altLang="zh-CN" sz="2000" b="1" dirty="0">
                  <a:solidFill>
                    <a:srgbClr val="22001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0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697" name="Text Box 26"/>
            <p:cNvSpPr txBox="1"/>
            <p:nvPr/>
          </p:nvSpPr>
          <p:spPr>
            <a:xfrm>
              <a:off x="256" y="2734"/>
              <a:ext cx="2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§"/>
                <a:defRPr sz="32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Font typeface="Wingdings" panose="05000000000000000000" pitchFamily="2" charset="2"/>
                <a:buChar char="«"/>
                <a:defRPr sz="28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92557"/>
                </a:buClr>
                <a:buFont typeface="Wingdings" panose="05000000000000000000" pitchFamily="2" charset="2"/>
                <a:buChar char="v"/>
                <a:defRPr sz="24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u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22001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F</a:t>
              </a:r>
              <a:endParaRPr lang="en-US" altLang="zh-CN" sz="40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698" name="Text Box 27"/>
            <p:cNvSpPr txBox="1"/>
            <p:nvPr/>
          </p:nvSpPr>
          <p:spPr>
            <a:xfrm>
              <a:off x="1055" y="2349"/>
              <a:ext cx="2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§"/>
                <a:defRPr sz="32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Font typeface="Wingdings" panose="05000000000000000000" pitchFamily="2" charset="2"/>
                <a:buChar char="«"/>
                <a:defRPr sz="28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92557"/>
                </a:buClr>
                <a:buFont typeface="Wingdings" panose="05000000000000000000" pitchFamily="2" charset="2"/>
                <a:buChar char="v"/>
                <a:defRPr sz="24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u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22001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</a:t>
              </a:r>
              <a:endParaRPr lang="en-US" altLang="zh-CN" sz="40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70699" name="Group 28"/>
            <p:cNvGrpSpPr/>
            <p:nvPr/>
          </p:nvGrpSpPr>
          <p:grpSpPr>
            <a:xfrm>
              <a:off x="482" y="355"/>
              <a:ext cx="903" cy="2924"/>
              <a:chOff x="0" y="0"/>
              <a:chExt cx="903" cy="2924"/>
            </a:xfrm>
          </p:grpSpPr>
          <p:sp>
            <p:nvSpPr>
              <p:cNvPr id="70700" name="Line 29"/>
              <p:cNvSpPr/>
              <p:nvPr/>
            </p:nvSpPr>
            <p:spPr>
              <a:xfrm>
                <a:off x="34" y="0"/>
                <a:ext cx="0" cy="30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0701" name="Line 30"/>
              <p:cNvSpPr/>
              <p:nvPr/>
            </p:nvSpPr>
            <p:spPr>
              <a:xfrm flipH="1">
                <a:off x="0" y="672"/>
                <a:ext cx="1" cy="497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0702" name="Line 31"/>
              <p:cNvSpPr/>
              <p:nvPr/>
            </p:nvSpPr>
            <p:spPr>
              <a:xfrm>
                <a:off x="489" y="480"/>
                <a:ext cx="38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0703" name="Line 32"/>
              <p:cNvSpPr/>
              <p:nvPr/>
            </p:nvSpPr>
            <p:spPr>
              <a:xfrm>
                <a:off x="873" y="480"/>
                <a:ext cx="0" cy="192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0704" name="Line 33"/>
              <p:cNvSpPr/>
              <p:nvPr/>
            </p:nvSpPr>
            <p:spPr>
              <a:xfrm>
                <a:off x="862" y="934"/>
                <a:ext cx="0" cy="171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0705" name="Line 34"/>
              <p:cNvSpPr/>
              <p:nvPr/>
            </p:nvSpPr>
            <p:spPr>
              <a:xfrm flipH="1">
                <a:off x="2" y="1082"/>
                <a:ext cx="8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0706" name="Line 35"/>
              <p:cNvSpPr/>
              <p:nvPr/>
            </p:nvSpPr>
            <p:spPr>
              <a:xfrm flipH="1">
                <a:off x="19" y="1549"/>
                <a:ext cx="1" cy="497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0707" name="Line 36"/>
              <p:cNvSpPr/>
              <p:nvPr/>
            </p:nvSpPr>
            <p:spPr>
              <a:xfrm>
                <a:off x="508" y="1357"/>
                <a:ext cx="38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0708" name="Line 37"/>
              <p:cNvSpPr/>
              <p:nvPr/>
            </p:nvSpPr>
            <p:spPr>
              <a:xfrm>
                <a:off x="892" y="1357"/>
                <a:ext cx="0" cy="192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0709" name="Line 38"/>
              <p:cNvSpPr/>
              <p:nvPr/>
            </p:nvSpPr>
            <p:spPr>
              <a:xfrm>
                <a:off x="881" y="1811"/>
                <a:ext cx="0" cy="171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0710" name="Line 39"/>
              <p:cNvSpPr/>
              <p:nvPr/>
            </p:nvSpPr>
            <p:spPr>
              <a:xfrm flipH="1">
                <a:off x="21" y="1959"/>
                <a:ext cx="8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0711" name="Line 40"/>
              <p:cNvSpPr/>
              <p:nvPr/>
            </p:nvSpPr>
            <p:spPr>
              <a:xfrm flipH="1">
                <a:off x="30" y="2427"/>
                <a:ext cx="1" cy="497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0712" name="Line 41"/>
              <p:cNvSpPr/>
              <p:nvPr/>
            </p:nvSpPr>
            <p:spPr>
              <a:xfrm>
                <a:off x="519" y="2235"/>
                <a:ext cx="38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0713" name="Line 42"/>
              <p:cNvSpPr/>
              <p:nvPr/>
            </p:nvSpPr>
            <p:spPr>
              <a:xfrm>
                <a:off x="903" y="2235"/>
                <a:ext cx="0" cy="192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0714" name="Line 43"/>
              <p:cNvSpPr/>
              <p:nvPr/>
            </p:nvSpPr>
            <p:spPr>
              <a:xfrm>
                <a:off x="892" y="2689"/>
                <a:ext cx="0" cy="171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0715" name="Line 44"/>
              <p:cNvSpPr/>
              <p:nvPr/>
            </p:nvSpPr>
            <p:spPr>
              <a:xfrm flipH="1">
                <a:off x="32" y="2837"/>
                <a:ext cx="8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sp>
        <p:nvSpPr>
          <p:cNvPr id="28717" name="AutoShape 45"/>
          <p:cNvSpPr/>
          <p:nvPr/>
        </p:nvSpPr>
        <p:spPr>
          <a:xfrm>
            <a:off x="2174875" y="3641725"/>
            <a:ext cx="712788" cy="871538"/>
          </a:xfrm>
          <a:prstGeom prst="rightArrow">
            <a:avLst>
              <a:gd name="adj1" fmla="val 50000"/>
              <a:gd name="adj2" fmla="val 65643"/>
            </a:avLst>
          </a:prstGeom>
          <a:solidFill>
            <a:srgbClr val="33CC33"/>
          </a:solidFill>
          <a:ln w="3810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§"/>
              <a:defRPr sz="3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«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92557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  <a:spcBef>
                <a:spcPct val="50000"/>
              </a:spcBef>
              <a:buNone/>
            </a:pPr>
            <a:endParaRPr lang="zh-CN" altLang="en-US" sz="2800" b="1" dirty="0">
              <a:solidFill>
                <a:srgbClr val="660033"/>
              </a:solidFill>
              <a:ea typeface="宋体" panose="02010600030101010101" pitchFamily="2" charset="-122"/>
            </a:endParaRPr>
          </a:p>
        </p:txBody>
      </p:sp>
      <p:sp>
        <p:nvSpPr>
          <p:cNvPr id="28718" name="AutoShape 46"/>
          <p:cNvSpPr/>
          <p:nvPr/>
        </p:nvSpPr>
        <p:spPr>
          <a:xfrm>
            <a:off x="6127750" y="2308225"/>
            <a:ext cx="712788" cy="871538"/>
          </a:xfrm>
          <a:prstGeom prst="rightArrow">
            <a:avLst>
              <a:gd name="adj1" fmla="val 50000"/>
              <a:gd name="adj2" fmla="val 65643"/>
            </a:avLst>
          </a:prstGeom>
          <a:solidFill>
            <a:srgbClr val="33CC33"/>
          </a:solidFill>
          <a:ln w="3810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§"/>
              <a:defRPr sz="3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«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92557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  <a:spcBef>
                <a:spcPct val="50000"/>
              </a:spcBef>
              <a:buNone/>
            </a:pPr>
            <a:endParaRPr lang="zh-CN" altLang="en-US" sz="2800" b="1" dirty="0">
              <a:solidFill>
                <a:srgbClr val="660033"/>
              </a:solidFill>
              <a:ea typeface="宋体" panose="02010600030101010101" pitchFamily="2" charset="-122"/>
            </a:endParaRPr>
          </a:p>
        </p:txBody>
      </p:sp>
      <p:grpSp>
        <p:nvGrpSpPr>
          <p:cNvPr id="20" name="Group 47"/>
          <p:cNvGrpSpPr/>
          <p:nvPr/>
        </p:nvGrpSpPr>
        <p:grpSpPr>
          <a:xfrm>
            <a:off x="6473825" y="1520825"/>
            <a:ext cx="2308225" cy="3130550"/>
            <a:chOff x="0" y="0"/>
            <a:chExt cx="1102" cy="1972"/>
          </a:xfrm>
        </p:grpSpPr>
        <p:sp>
          <p:nvSpPr>
            <p:cNvPr id="70679" name="Text Box 48"/>
            <p:cNvSpPr txBox="1"/>
            <p:nvPr/>
          </p:nvSpPr>
          <p:spPr>
            <a:xfrm>
              <a:off x="0" y="0"/>
              <a:ext cx="1102" cy="2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46800" rIns="90000" bIns="46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§"/>
                <a:defRPr sz="32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Font typeface="Wingdings" panose="05000000000000000000" pitchFamily="2" charset="2"/>
                <a:buChar char="«"/>
                <a:defRPr sz="28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92557"/>
                </a:buClr>
                <a:buFont typeface="Wingdings" panose="05000000000000000000" pitchFamily="2" charset="2"/>
                <a:buChar char="v"/>
                <a:defRPr sz="24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u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660033"/>
                  </a:solidFill>
                  <a:latin typeface="Arial" panose="020B0604020202020204" pitchFamily="34" charset="0"/>
                </a:rPr>
                <a:t>Exchange </a:t>
              </a:r>
              <a:endPara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680" name="Line 49"/>
            <p:cNvSpPr/>
            <p:nvPr/>
          </p:nvSpPr>
          <p:spPr>
            <a:xfrm>
              <a:off x="568" y="320"/>
              <a:ext cx="0" cy="263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81" name="Rectangle 50"/>
            <p:cNvSpPr/>
            <p:nvPr/>
          </p:nvSpPr>
          <p:spPr>
            <a:xfrm>
              <a:off x="236" y="577"/>
              <a:ext cx="712" cy="2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§"/>
                <a:defRPr sz="32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Font typeface="Wingdings" panose="05000000000000000000" pitchFamily="2" charset="2"/>
                <a:buChar char="«"/>
                <a:defRPr sz="28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92557"/>
                </a:buClr>
                <a:buFont typeface="Wingdings" panose="05000000000000000000" pitchFamily="2" charset="2"/>
                <a:buChar char="v"/>
                <a:defRPr sz="24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u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660033"/>
                  </a:solidFill>
                  <a:latin typeface="Arial" panose="020B0604020202020204" pitchFamily="34" charset="0"/>
                </a:rPr>
                <a:t> a  </a:t>
              </a:r>
              <a:r>
                <a:rPr lang="en-US" altLang="zh-CN" sz="2400" b="1" dirty="0">
                  <a:solidFill>
                    <a:srgbClr val="660033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</a:t>
              </a:r>
              <a:r>
                <a:rPr lang="en-US" altLang="zh-CN" sz="2400" b="1" dirty="0">
                  <a:solidFill>
                    <a:srgbClr val="660033"/>
                  </a:solidFill>
                  <a:latin typeface="Arial" panose="020B0604020202020204" pitchFamily="34" charset="0"/>
                </a:rPr>
                <a:t>  t</a:t>
              </a:r>
              <a:endPara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682" name="Line 51"/>
            <p:cNvSpPr/>
            <p:nvPr/>
          </p:nvSpPr>
          <p:spPr>
            <a:xfrm>
              <a:off x="555" y="866"/>
              <a:ext cx="0" cy="263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83" name="Rectangle 52"/>
            <p:cNvSpPr/>
            <p:nvPr/>
          </p:nvSpPr>
          <p:spPr>
            <a:xfrm>
              <a:off x="223" y="1123"/>
              <a:ext cx="712" cy="2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§"/>
                <a:defRPr sz="32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Font typeface="Wingdings" panose="05000000000000000000" pitchFamily="2" charset="2"/>
                <a:buChar char="«"/>
                <a:defRPr sz="28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92557"/>
                </a:buClr>
                <a:buFont typeface="Wingdings" panose="05000000000000000000" pitchFamily="2" charset="2"/>
                <a:buChar char="v"/>
                <a:defRPr sz="24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u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660033"/>
                  </a:solidFill>
                  <a:latin typeface="Arial" panose="020B0604020202020204" pitchFamily="34" charset="0"/>
                </a:rPr>
                <a:t> b </a:t>
              </a:r>
              <a:r>
                <a:rPr lang="en-US" altLang="zh-CN" sz="2400" b="1" dirty="0">
                  <a:solidFill>
                    <a:srgbClr val="660033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</a:t>
              </a:r>
              <a:r>
                <a:rPr lang="en-US" altLang="zh-CN" sz="2400" b="1" dirty="0">
                  <a:solidFill>
                    <a:srgbClr val="660033"/>
                  </a:solidFill>
                  <a:latin typeface="Arial" panose="020B0604020202020204" pitchFamily="34" charset="0"/>
                </a:rPr>
                <a:t> a</a:t>
              </a:r>
              <a:endPara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684" name="Line 53"/>
            <p:cNvSpPr/>
            <p:nvPr/>
          </p:nvSpPr>
          <p:spPr>
            <a:xfrm>
              <a:off x="579" y="1423"/>
              <a:ext cx="0" cy="263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85" name="Rectangle 54"/>
            <p:cNvSpPr/>
            <p:nvPr/>
          </p:nvSpPr>
          <p:spPr>
            <a:xfrm>
              <a:off x="247" y="1680"/>
              <a:ext cx="712" cy="292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§"/>
                <a:defRPr sz="32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Font typeface="Wingdings" panose="05000000000000000000" pitchFamily="2" charset="2"/>
                <a:buChar char="«"/>
                <a:defRPr sz="28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92557"/>
                </a:buClr>
                <a:buFont typeface="Wingdings" panose="05000000000000000000" pitchFamily="2" charset="2"/>
                <a:buChar char="v"/>
                <a:defRPr sz="24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l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u"/>
                <a:defRPr sz="2000" kern="120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660033"/>
                  </a:solidFill>
                  <a:latin typeface="Arial" panose="020B0604020202020204" pitchFamily="34" charset="0"/>
                </a:rPr>
                <a:t> t </a:t>
              </a:r>
              <a:r>
                <a:rPr lang="en-US" altLang="zh-CN" sz="2400" b="1" dirty="0">
                  <a:solidFill>
                    <a:srgbClr val="660033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</a:t>
              </a:r>
              <a:r>
                <a:rPr lang="en-US" altLang="zh-CN" sz="2400" b="1" dirty="0">
                  <a:solidFill>
                    <a:srgbClr val="660033"/>
                  </a:solidFill>
                  <a:latin typeface="Arial" panose="020B0604020202020204" pitchFamily="34" charset="0"/>
                </a:rPr>
                <a:t> b</a:t>
              </a:r>
              <a:endPara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8727" name="Text Box 56"/>
          <p:cNvSpPr txBox="1"/>
          <p:nvPr/>
        </p:nvSpPr>
        <p:spPr>
          <a:xfrm>
            <a:off x="2097088" y="6161088"/>
            <a:ext cx="4445000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§"/>
              <a:defRPr sz="3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«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92557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Exchange the liquid in bottles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28728" name="AutoShape 57">
            <a:hlinkClick r:id="" action="ppaction://noaction" highlightClick="1">
              <a:snd r:embed="rId2" name="CAMERA.WAV"/>
            </a:hlinkClick>
          </p:cNvPr>
          <p:cNvSpPr>
            <a:spLocks noChangeArrowheads="1"/>
          </p:cNvSpPr>
          <p:nvPr/>
        </p:nvSpPr>
        <p:spPr bwMode="auto">
          <a:xfrm>
            <a:off x="7796213" y="6357938"/>
            <a:ext cx="1004888" cy="342900"/>
          </a:xfrm>
          <a:prstGeom prst="actionButtonBlank">
            <a:avLst/>
          </a:prstGeom>
          <a:gradFill rotWithShape="0">
            <a:gsLst>
              <a:gs pos="0">
                <a:srgbClr val="FF99FF"/>
              </a:gs>
              <a:gs pos="50000">
                <a:schemeClr val="bg1"/>
              </a:gs>
              <a:gs pos="100000">
                <a:srgbClr val="FF99FF"/>
              </a:gs>
            </a:gsLst>
            <a:lin ang="5400000" scaled="1"/>
          </a:gradFill>
          <a:ln w="6350" cap="sq">
            <a:solidFill>
              <a:schemeClr val="bg2"/>
            </a:solidFill>
            <a:miter lim="800000"/>
          </a:ln>
        </p:spPr>
        <p:txBody>
          <a:bodyPr wrap="none" lIns="10800" tIns="18000" rIns="10800" bIns="18000" anchor="ctr">
            <a:spAutoFit/>
          </a:bodyPr>
          <a:lstStyle>
            <a:lvl1pPr eaLnBrk="0" hangingPunct="0">
              <a:defRPr sz="240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Display 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66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29" name="Text Box 58"/>
          <p:cNvSpPr txBox="1"/>
          <p:nvPr/>
        </p:nvSpPr>
        <p:spPr>
          <a:xfrm>
            <a:off x="773113" y="738188"/>
            <a:ext cx="381000" cy="1565275"/>
          </a:xfrm>
          <a:prstGeom prst="rect">
            <a:avLst/>
          </a:prstGeom>
          <a:solidFill>
            <a:schemeClr val="bg2"/>
          </a:solidFill>
          <a:ln w="12700" cap="sq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§"/>
              <a:defRPr sz="3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«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92557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FFCC"/>
                </a:solidFill>
                <a:ea typeface="宋体" panose="02010600030101010101" pitchFamily="2" charset="-122"/>
              </a:rPr>
              <a:t>6</a:t>
            </a:r>
            <a:endParaRPr lang="en-US" altLang="zh-CN" sz="2400" b="1" dirty="0">
              <a:solidFill>
                <a:srgbClr val="FFFFCC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FFCC"/>
                </a:solidFill>
                <a:ea typeface="宋体" panose="02010600030101010101" pitchFamily="2" charset="-122"/>
              </a:rPr>
              <a:t>3</a:t>
            </a:r>
            <a:endParaRPr lang="en-US" altLang="zh-CN" sz="2400" b="1" dirty="0">
              <a:solidFill>
                <a:srgbClr val="FFFFCC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FFCC"/>
                </a:solidFill>
                <a:ea typeface="宋体" panose="02010600030101010101" pitchFamily="2" charset="-122"/>
              </a:rPr>
              <a:t>9</a:t>
            </a:r>
            <a:endParaRPr lang="en-US" altLang="zh-CN" sz="2400" b="1" dirty="0">
              <a:solidFill>
                <a:srgbClr val="FFFFCC"/>
              </a:solidFill>
              <a:ea typeface="宋体" panose="02010600030101010101" pitchFamily="2" charset="-122"/>
            </a:endParaRPr>
          </a:p>
        </p:txBody>
      </p:sp>
      <p:sp>
        <p:nvSpPr>
          <p:cNvPr id="28730" name="Text Box 59"/>
          <p:cNvSpPr txBox="1"/>
          <p:nvPr/>
        </p:nvSpPr>
        <p:spPr>
          <a:xfrm>
            <a:off x="1611313" y="766763"/>
            <a:ext cx="381000" cy="1565275"/>
          </a:xfrm>
          <a:prstGeom prst="rect">
            <a:avLst/>
          </a:prstGeom>
          <a:solidFill>
            <a:schemeClr val="bg2"/>
          </a:solidFill>
          <a:ln w="12700" cap="sq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§"/>
              <a:defRPr sz="3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«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92557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FFCC"/>
                </a:solidFill>
                <a:ea typeface="宋体" panose="02010600030101010101" pitchFamily="2" charset="-122"/>
              </a:rPr>
              <a:t>6</a:t>
            </a:r>
            <a:endParaRPr lang="en-US" altLang="zh-CN" sz="2400" b="1" dirty="0">
              <a:solidFill>
                <a:srgbClr val="FFFFCC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FFCC"/>
                </a:solidFill>
                <a:ea typeface="宋体" panose="02010600030101010101" pitchFamily="2" charset="-122"/>
              </a:rPr>
              <a:t>3</a:t>
            </a:r>
            <a:endParaRPr lang="en-US" altLang="zh-CN" sz="2400" b="1" dirty="0">
              <a:solidFill>
                <a:srgbClr val="FFFFCC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FFCC"/>
                </a:solidFill>
                <a:ea typeface="宋体" panose="02010600030101010101" pitchFamily="2" charset="-122"/>
              </a:rPr>
              <a:t>9 </a:t>
            </a:r>
            <a:endParaRPr lang="en-US" altLang="zh-CN" sz="2400" b="1" dirty="0">
              <a:solidFill>
                <a:srgbClr val="FFFFCC"/>
              </a:solidFill>
              <a:ea typeface="宋体" panose="02010600030101010101" pitchFamily="2" charset="-122"/>
            </a:endParaRPr>
          </a:p>
        </p:txBody>
      </p:sp>
      <p:sp>
        <p:nvSpPr>
          <p:cNvPr id="28731" name="Text Box 60"/>
          <p:cNvSpPr txBox="1"/>
          <p:nvPr/>
        </p:nvSpPr>
        <p:spPr>
          <a:xfrm>
            <a:off x="2436813" y="766763"/>
            <a:ext cx="381000" cy="1565275"/>
          </a:xfrm>
          <a:prstGeom prst="rect">
            <a:avLst/>
          </a:prstGeom>
          <a:solidFill>
            <a:schemeClr val="bg2"/>
          </a:solidFill>
          <a:ln w="12700" cap="sq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§"/>
              <a:defRPr sz="3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«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92557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FFCC"/>
                </a:solidFill>
                <a:ea typeface="宋体" panose="02010600030101010101" pitchFamily="2" charset="-122"/>
              </a:rPr>
              <a:t>9</a:t>
            </a:r>
            <a:endParaRPr lang="en-US" altLang="zh-CN" sz="2400" b="1" dirty="0">
              <a:solidFill>
                <a:srgbClr val="FFFFCC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FFCC"/>
                </a:solidFill>
                <a:ea typeface="宋体" panose="02010600030101010101" pitchFamily="2" charset="-122"/>
              </a:rPr>
              <a:t>3</a:t>
            </a:r>
            <a:endParaRPr lang="en-US" altLang="zh-CN" sz="2400" b="1" dirty="0">
              <a:solidFill>
                <a:srgbClr val="FFFFCC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FFCC"/>
                </a:solidFill>
                <a:ea typeface="宋体" panose="02010600030101010101" pitchFamily="2" charset="-122"/>
              </a:rPr>
              <a:t>6</a:t>
            </a:r>
            <a:endParaRPr lang="en-US" altLang="zh-CN" sz="2400" b="1" dirty="0">
              <a:solidFill>
                <a:srgbClr val="FFFFCC"/>
              </a:solidFill>
              <a:ea typeface="宋体" panose="02010600030101010101" pitchFamily="2" charset="-122"/>
            </a:endParaRPr>
          </a:p>
        </p:txBody>
      </p:sp>
      <p:sp>
        <p:nvSpPr>
          <p:cNvPr id="28732" name="AutoShape 61"/>
          <p:cNvSpPr/>
          <p:nvPr/>
        </p:nvSpPr>
        <p:spPr>
          <a:xfrm>
            <a:off x="1382713" y="1071563"/>
            <a:ext cx="228600" cy="1066800"/>
          </a:xfrm>
          <a:prstGeom prst="leftBracket">
            <a:avLst>
              <a:gd name="adj" fmla="val 38888"/>
            </a:avLst>
          </a:prstGeom>
          <a:noFill/>
          <a:ln w="28575" cap="sq" cmpd="sng">
            <a:solidFill>
              <a:schemeClr val="bg2"/>
            </a:solidFill>
            <a:prstDash val="solid"/>
            <a:headEnd type="stealth" w="sm" len="sm"/>
            <a:tailEnd type="stealth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§"/>
              <a:defRPr sz="3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«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92557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rgbClr val="220011"/>
              </a:solidFill>
            </a:endParaRPr>
          </a:p>
        </p:txBody>
      </p:sp>
      <p:sp>
        <p:nvSpPr>
          <p:cNvPr id="28733" name="AutoShape 62"/>
          <p:cNvSpPr/>
          <p:nvPr/>
        </p:nvSpPr>
        <p:spPr>
          <a:xfrm>
            <a:off x="544513" y="931863"/>
            <a:ext cx="228600" cy="685800"/>
          </a:xfrm>
          <a:prstGeom prst="leftBracket">
            <a:avLst>
              <a:gd name="adj" fmla="val 25000"/>
            </a:avLst>
          </a:prstGeom>
          <a:noFill/>
          <a:ln w="28575" cap="sq" cmpd="sng">
            <a:solidFill>
              <a:schemeClr val="bg2"/>
            </a:solidFill>
            <a:prstDash val="solid"/>
            <a:headEnd type="stealth" w="sm" len="sm"/>
            <a:tailEnd type="stealth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§"/>
              <a:defRPr sz="3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«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92557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734" name="AutoShape 63"/>
          <p:cNvSpPr/>
          <p:nvPr/>
        </p:nvSpPr>
        <p:spPr>
          <a:xfrm>
            <a:off x="2132013" y="1528763"/>
            <a:ext cx="228600" cy="685800"/>
          </a:xfrm>
          <a:prstGeom prst="leftBracket">
            <a:avLst>
              <a:gd name="adj" fmla="val 25000"/>
            </a:avLst>
          </a:prstGeom>
          <a:noFill/>
          <a:ln w="28575" cap="sq" cmpd="sng">
            <a:solidFill>
              <a:schemeClr val="bg2"/>
            </a:solidFill>
            <a:prstDash val="solid"/>
            <a:headEnd type="stealth" w="sm" len="sm"/>
            <a:tailEnd type="stealth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§"/>
              <a:defRPr sz="3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«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92557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735" name="Text Box 64"/>
          <p:cNvSpPr txBox="1"/>
          <p:nvPr/>
        </p:nvSpPr>
        <p:spPr>
          <a:xfrm>
            <a:off x="2986088" y="762000"/>
            <a:ext cx="381000" cy="1565275"/>
          </a:xfrm>
          <a:prstGeom prst="rect">
            <a:avLst/>
          </a:prstGeom>
          <a:solidFill>
            <a:schemeClr val="bg2"/>
          </a:solidFill>
          <a:ln w="12700" cap="sq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§"/>
              <a:defRPr sz="3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«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92557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FFCC"/>
                </a:solidFill>
                <a:ea typeface="宋体" panose="02010600030101010101" pitchFamily="2" charset="-122"/>
              </a:rPr>
              <a:t>9</a:t>
            </a:r>
            <a:endParaRPr lang="en-US" altLang="zh-CN" sz="2400" b="1" dirty="0">
              <a:solidFill>
                <a:srgbClr val="FFFFCC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FFCC"/>
                </a:solidFill>
                <a:ea typeface="宋体" panose="02010600030101010101" pitchFamily="2" charset="-122"/>
              </a:rPr>
              <a:t>6</a:t>
            </a:r>
            <a:endParaRPr lang="en-US" altLang="zh-CN" sz="2400" b="1" dirty="0">
              <a:solidFill>
                <a:srgbClr val="FFFFCC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FFCC"/>
                </a:solidFill>
                <a:ea typeface="宋体" panose="02010600030101010101" pitchFamily="2" charset="-122"/>
              </a:rPr>
              <a:t>3</a:t>
            </a:r>
            <a:endParaRPr lang="en-US" altLang="zh-CN" sz="2400" b="1" dirty="0">
              <a:solidFill>
                <a:srgbClr val="FFFFCC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8736" name="Object 65">
            <a:hlinkClick r:id="" action="ppaction://noaction"/>
          </p:cNvPr>
          <p:cNvGraphicFramePr>
            <a:graphicFrameLocks noChangeAspect="1"/>
          </p:cNvGraphicFramePr>
          <p:nvPr/>
        </p:nvGraphicFramePr>
        <p:xfrm>
          <a:off x="9083675" y="5853113"/>
          <a:ext cx="52863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1729105" imgH="3253105" progId="MS_ClipArt_Gallery.5">
                  <p:embed/>
                </p:oleObj>
              </mc:Choice>
              <mc:Fallback>
                <p:oleObj name="" r:id="rId3" imgW="1729105" imgH="3253105" progId="MS_ClipArt_Gallery.5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83675" y="5853113"/>
                        <a:ext cx="528638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37" name="Text Box 55"/>
          <p:cNvSpPr txBox="1"/>
          <p:nvPr/>
        </p:nvSpPr>
        <p:spPr>
          <a:xfrm>
            <a:off x="3221038" y="760413"/>
            <a:ext cx="6391275" cy="5095875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§"/>
              <a:defRPr sz="3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«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92557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660033"/>
                </a:solidFill>
              </a:rPr>
              <a:t>#include &lt;stdio.h&gt;</a:t>
            </a:r>
            <a:endParaRPr lang="en-US" altLang="zh-CN" sz="2400" b="1" dirty="0">
              <a:solidFill>
                <a:srgbClr val="660033"/>
              </a:solidFill>
            </a:endParaRPr>
          </a:p>
          <a:p>
            <a:pPr marL="0" lvl="0" indent="0">
              <a:spcBef>
                <a:spcPts val="400"/>
              </a:spcBef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main()</a:t>
            </a: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76" name="AutoShape 66">
            <a:hlinkClick r:id="rId5" action="ppaction://program"/>
          </p:cNvPr>
          <p:cNvSpPr/>
          <p:nvPr/>
        </p:nvSpPr>
        <p:spPr>
          <a:xfrm>
            <a:off x="871538" y="5900738"/>
            <a:ext cx="304800" cy="377825"/>
          </a:xfrm>
          <a:prstGeom prst="actionButtonDocumen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§"/>
              <a:defRPr sz="3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«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92557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739" name="Text Box 68"/>
          <p:cNvSpPr txBox="1"/>
          <p:nvPr/>
        </p:nvSpPr>
        <p:spPr>
          <a:xfrm>
            <a:off x="3192463" y="762000"/>
            <a:ext cx="6391275" cy="5095875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§"/>
              <a:defRPr sz="3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«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92557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660033"/>
                </a:solidFill>
              </a:rPr>
              <a:t>#include &lt;stdio.h&gt;</a:t>
            </a:r>
            <a:endParaRPr lang="en-US" altLang="zh-CN" sz="2400" b="1" dirty="0">
              <a:solidFill>
                <a:srgbClr val="660033"/>
              </a:solidFill>
            </a:endParaRPr>
          </a:p>
          <a:p>
            <a:pPr marL="0" lvl="0" indent="0">
              <a:spcBef>
                <a:spcPts val="400"/>
              </a:spcBef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main()</a:t>
            </a: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400"/>
              </a:spcBef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740" name="Text Box 67"/>
          <p:cNvSpPr txBox="1"/>
          <p:nvPr/>
        </p:nvSpPr>
        <p:spPr>
          <a:xfrm>
            <a:off x="3557588" y="1676400"/>
            <a:ext cx="5567362" cy="38433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§"/>
              <a:defRPr sz="3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«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92557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int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t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;</a:t>
            </a:r>
            <a:endParaRPr lang="en-US" altLang="zh-CN" sz="2800" b="1" dirty="0">
              <a:solidFill>
                <a:srgbClr val="660033"/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9C004E"/>
                </a:solidFill>
                <a:latin typeface="Arial" panose="020B0604020202020204" pitchFamily="34" charset="0"/>
              </a:rPr>
              <a:t>scanf(“%d %d %d”, &amp;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b="1" dirty="0">
                <a:solidFill>
                  <a:srgbClr val="9C004E"/>
                </a:solidFill>
                <a:latin typeface="Arial" panose="020B0604020202020204" pitchFamily="34" charset="0"/>
              </a:rPr>
              <a:t>, &amp;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800" b="1" dirty="0">
                <a:solidFill>
                  <a:srgbClr val="9C004E"/>
                </a:solidFill>
                <a:latin typeface="Arial" panose="020B0604020202020204" pitchFamily="34" charset="0"/>
              </a:rPr>
              <a:t>, &amp;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800" b="1" dirty="0">
                <a:solidFill>
                  <a:srgbClr val="9C004E"/>
                </a:solidFill>
                <a:latin typeface="Arial" panose="020B0604020202020204" pitchFamily="34" charset="0"/>
              </a:rPr>
              <a:t>);</a:t>
            </a:r>
            <a:endParaRPr lang="en-US" altLang="zh-CN" sz="2800" b="1" dirty="0">
              <a:solidFill>
                <a:srgbClr val="660033"/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2800" b="1" dirty="0">
                <a:solidFill>
                  <a:srgbClr val="220011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b="1" dirty="0">
                <a:solidFill>
                  <a:srgbClr val="220011"/>
                </a:solidFill>
                <a:latin typeface="Arial" panose="020B0604020202020204" pitchFamily="34" charset="0"/>
              </a:rPr>
              <a:t>&lt;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800" b="1" dirty="0">
                <a:solidFill>
                  <a:srgbClr val="220011"/>
                </a:solidFill>
                <a:latin typeface="Arial" panose="020B0604020202020204" pitchFamily="34" charset="0"/>
              </a:rPr>
              <a:t>)</a:t>
            </a:r>
            <a:endParaRPr lang="en-US" altLang="zh-CN" sz="2800" b="1" dirty="0">
              <a:solidFill>
                <a:srgbClr val="220011"/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4617CB"/>
                </a:solidFill>
                <a:latin typeface="Arial" panose="020B0604020202020204" pitchFamily="34" charset="0"/>
              </a:rPr>
              <a:t>{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t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=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; 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=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; 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=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t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; </a:t>
            </a:r>
            <a:r>
              <a:rPr lang="en-US" altLang="zh-CN" sz="2800" b="1" dirty="0">
                <a:solidFill>
                  <a:srgbClr val="4617CB"/>
                </a:solidFill>
                <a:latin typeface="Arial" panose="020B0604020202020204" pitchFamily="34" charset="0"/>
              </a:rPr>
              <a:t>}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       /*a</a:t>
            </a:r>
            <a:r>
              <a:rPr lang="zh-CN" altLang="en-US" sz="2800" b="1" dirty="0">
                <a:solidFill>
                  <a:srgbClr val="660033"/>
                </a:solidFill>
                <a:latin typeface="Arial" panose="020B0604020202020204" pitchFamily="34" charset="0"/>
              </a:rPr>
              <a:t>与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b</a:t>
            </a:r>
            <a:r>
              <a:rPr lang="zh-CN" altLang="en-US" sz="2800" b="1" dirty="0">
                <a:solidFill>
                  <a:srgbClr val="660033"/>
                </a:solidFill>
                <a:latin typeface="Arial" panose="020B0604020202020204" pitchFamily="34" charset="0"/>
              </a:rPr>
              <a:t>交换*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/</a:t>
            </a:r>
            <a:endParaRPr lang="en-US" altLang="zh-CN" sz="2800" b="1" dirty="0">
              <a:solidFill>
                <a:srgbClr val="660033"/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2800" b="1" dirty="0">
                <a:solidFill>
                  <a:srgbClr val="220011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b="1" dirty="0">
                <a:solidFill>
                  <a:srgbClr val="220011"/>
                </a:solidFill>
                <a:latin typeface="Arial" panose="020B0604020202020204" pitchFamily="34" charset="0"/>
              </a:rPr>
              <a:t>&lt;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800" b="1" dirty="0">
                <a:solidFill>
                  <a:srgbClr val="220011"/>
                </a:solidFill>
                <a:latin typeface="Arial" panose="020B0604020202020204" pitchFamily="34" charset="0"/>
              </a:rPr>
              <a:t>)</a:t>
            </a:r>
            <a:endParaRPr lang="en-US" altLang="zh-CN" sz="2800" b="1" dirty="0">
              <a:solidFill>
                <a:srgbClr val="220011"/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4617CB"/>
                </a:solidFill>
                <a:latin typeface="Arial" panose="020B0604020202020204" pitchFamily="34" charset="0"/>
              </a:rPr>
              <a:t>{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t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=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; 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=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; 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=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t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; </a:t>
            </a:r>
            <a:r>
              <a:rPr lang="en-US" altLang="zh-CN" sz="2800" b="1" dirty="0">
                <a:solidFill>
                  <a:srgbClr val="4617CB"/>
                </a:solidFill>
                <a:latin typeface="Arial" panose="020B0604020202020204" pitchFamily="34" charset="0"/>
              </a:rPr>
              <a:t>}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       /*a</a:t>
            </a:r>
            <a:r>
              <a:rPr lang="zh-CN" altLang="en-US" sz="2800" b="1" dirty="0">
                <a:solidFill>
                  <a:srgbClr val="660033"/>
                </a:solidFill>
                <a:latin typeface="Arial" panose="020B0604020202020204" pitchFamily="34" charset="0"/>
              </a:rPr>
              <a:t>与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c</a:t>
            </a:r>
            <a:r>
              <a:rPr lang="zh-CN" altLang="en-US" sz="2800" b="1" dirty="0">
                <a:solidFill>
                  <a:srgbClr val="660033"/>
                </a:solidFill>
                <a:latin typeface="Arial" panose="020B0604020202020204" pitchFamily="34" charset="0"/>
              </a:rPr>
              <a:t>交换*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/</a:t>
            </a:r>
            <a:endParaRPr lang="en-US" altLang="zh-CN" sz="2800" b="1" dirty="0">
              <a:solidFill>
                <a:srgbClr val="660033"/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2800" b="1" dirty="0">
                <a:solidFill>
                  <a:srgbClr val="220011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800" b="1" dirty="0">
                <a:solidFill>
                  <a:srgbClr val="220011"/>
                </a:solidFill>
                <a:latin typeface="Arial" panose="020B0604020202020204" pitchFamily="34" charset="0"/>
              </a:rPr>
              <a:t>&lt;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800" b="1" dirty="0">
                <a:solidFill>
                  <a:srgbClr val="220011"/>
                </a:solidFill>
                <a:latin typeface="Arial" panose="020B0604020202020204" pitchFamily="34" charset="0"/>
              </a:rPr>
              <a:t>)</a:t>
            </a:r>
            <a:endParaRPr lang="en-US" altLang="zh-CN" sz="2800" b="1" dirty="0">
              <a:solidFill>
                <a:srgbClr val="220011"/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4617CB"/>
                </a:solidFill>
                <a:latin typeface="Arial" panose="020B0604020202020204" pitchFamily="34" charset="0"/>
              </a:rPr>
              <a:t>{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t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=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; 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=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; 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=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t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; </a:t>
            </a:r>
            <a:r>
              <a:rPr lang="en-US" altLang="zh-CN" sz="2800" b="1" dirty="0">
                <a:solidFill>
                  <a:srgbClr val="4617CB"/>
                </a:solidFill>
                <a:latin typeface="Arial" panose="020B0604020202020204" pitchFamily="34" charset="0"/>
              </a:rPr>
              <a:t>}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       /*b</a:t>
            </a:r>
            <a:r>
              <a:rPr lang="zh-CN" altLang="en-US" sz="2800" b="1" dirty="0">
                <a:solidFill>
                  <a:srgbClr val="660033"/>
                </a:solidFill>
                <a:latin typeface="Arial" panose="020B0604020202020204" pitchFamily="34" charset="0"/>
              </a:rPr>
              <a:t>与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c</a:t>
            </a:r>
            <a:r>
              <a:rPr lang="zh-CN" altLang="en-US" sz="2800" b="1" dirty="0">
                <a:solidFill>
                  <a:srgbClr val="660033"/>
                </a:solidFill>
                <a:latin typeface="Arial" panose="020B0604020202020204" pitchFamily="34" charset="0"/>
              </a:rPr>
              <a:t>交换*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</a:rPr>
              <a:t>/</a:t>
            </a:r>
            <a:endParaRPr lang="en-US" altLang="zh-CN" sz="2800" b="1" dirty="0">
              <a:solidFill>
                <a:srgbClr val="660033"/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0099"/>
                </a:solidFill>
                <a:latin typeface="Arial" panose="020B0604020202020204" pitchFamily="34" charset="0"/>
              </a:rPr>
              <a:t>printf(“%d,%d,%d\n”,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b="1" dirty="0">
                <a:solidFill>
                  <a:srgbClr val="CC00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800" b="1" dirty="0">
                <a:solidFill>
                  <a:srgbClr val="CC00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800" b="1" dirty="0">
                <a:solidFill>
                  <a:srgbClr val="CC0099"/>
                </a:solidFill>
                <a:latin typeface="Arial" panose="020B0604020202020204" pitchFamily="34" charset="0"/>
              </a:rPr>
              <a:t>);</a:t>
            </a:r>
            <a:endParaRPr lang="en-US" altLang="zh-CN" sz="2800" dirty="0">
              <a:solidFill>
                <a:srgbClr val="660033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287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87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7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287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8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8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287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8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7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7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287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8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8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8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8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7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28727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7" dur="500"/>
                                        <p:tgtEl>
                                          <p:spTgt spid="287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0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2" dur="80"/>
                                        <p:tgtEl>
                                          <p:spTgt spid="28740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3" dur="80"/>
                                        <p:tgtEl>
                                          <p:spTgt spid="28740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80"/>
                                        <p:tgtEl>
                                          <p:spTgt spid="28740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0">
                                            <p:txEl>
                                              <p:charRg st="16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9" dur="80"/>
                                        <p:tgtEl>
                                          <p:spTgt spid="28740">
                                            <p:txEl>
                                              <p:charRg st="16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0" dur="80"/>
                                        <p:tgtEl>
                                          <p:spTgt spid="28740">
                                            <p:txEl>
                                              <p:charRg st="16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80"/>
                                        <p:tgtEl>
                                          <p:spTgt spid="28740">
                                            <p:txEl>
                                              <p:charRg st="16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0">
                                            <p:txEl>
                                              <p:charRg st="47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6" dur="80"/>
                                        <p:tgtEl>
                                          <p:spTgt spid="28740">
                                            <p:txEl>
                                              <p:charRg st="47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7" dur="80"/>
                                        <p:tgtEl>
                                          <p:spTgt spid="28740">
                                            <p:txEl>
                                              <p:charRg st="47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80"/>
                                        <p:tgtEl>
                                          <p:spTgt spid="28740">
                                            <p:txEl>
                                              <p:charRg st="47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0">
                                            <p:txEl>
                                              <p:charRg st="55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3" dur="80"/>
                                        <p:tgtEl>
                                          <p:spTgt spid="28740">
                                            <p:txEl>
                                              <p:charRg st="55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4" dur="80"/>
                                        <p:tgtEl>
                                          <p:spTgt spid="28740">
                                            <p:txEl>
                                              <p:charRg st="55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5" dur="80"/>
                                        <p:tgtEl>
                                          <p:spTgt spid="28740">
                                            <p:txEl>
                                              <p:charRg st="55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0">
                                            <p:txEl>
                                              <p:charRg st="92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0" dur="80"/>
                                        <p:tgtEl>
                                          <p:spTgt spid="28740">
                                            <p:txEl>
                                              <p:charRg st="92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1" dur="80"/>
                                        <p:tgtEl>
                                          <p:spTgt spid="28740">
                                            <p:txEl>
                                              <p:charRg st="92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80"/>
                                        <p:tgtEl>
                                          <p:spTgt spid="28740">
                                            <p:txEl>
                                              <p:charRg st="92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0">
                                            <p:txEl>
                                              <p:charRg st="100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7" dur="80"/>
                                        <p:tgtEl>
                                          <p:spTgt spid="28740">
                                            <p:txEl>
                                              <p:charRg st="100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8" dur="80"/>
                                        <p:tgtEl>
                                          <p:spTgt spid="28740">
                                            <p:txEl>
                                              <p:charRg st="100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80"/>
                                        <p:tgtEl>
                                          <p:spTgt spid="28740">
                                            <p:txEl>
                                              <p:charRg st="100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0">
                                            <p:txEl>
                                              <p:charRg st="137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4" dur="80"/>
                                        <p:tgtEl>
                                          <p:spTgt spid="28740">
                                            <p:txEl>
                                              <p:charRg st="137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5" dur="80"/>
                                        <p:tgtEl>
                                          <p:spTgt spid="28740">
                                            <p:txEl>
                                              <p:charRg st="137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80"/>
                                        <p:tgtEl>
                                          <p:spTgt spid="28740">
                                            <p:txEl>
                                              <p:charRg st="137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0">
                                            <p:txEl>
                                              <p:charRg st="145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1" dur="80"/>
                                        <p:tgtEl>
                                          <p:spTgt spid="28740">
                                            <p:txEl>
                                              <p:charRg st="145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2" dur="80"/>
                                        <p:tgtEl>
                                          <p:spTgt spid="28740">
                                            <p:txEl>
                                              <p:charRg st="145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3" dur="80"/>
                                        <p:tgtEl>
                                          <p:spTgt spid="28740">
                                            <p:txEl>
                                              <p:charRg st="145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0">
                                            <p:txEl>
                                              <p:charRg st="182" end="2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8" dur="80"/>
                                        <p:tgtEl>
                                          <p:spTgt spid="28740">
                                            <p:txEl>
                                              <p:charRg st="182" end="2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9" dur="80"/>
                                        <p:tgtEl>
                                          <p:spTgt spid="28740">
                                            <p:txEl>
                                              <p:charRg st="182" end="2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0" dur="80"/>
                                        <p:tgtEl>
                                          <p:spTgt spid="28740">
                                            <p:txEl>
                                              <p:charRg st="182" end="2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2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0" dur="500"/>
                                        <p:tgtEl>
                                          <p:spTgt spid="287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17" grpId="0" animBg="1"/>
      <p:bldP spid="28718" grpId="0" animBg="1"/>
      <p:bldP spid="28727" grpId="0" build="p"/>
      <p:bldP spid="28729" grpId="0" animBg="1"/>
      <p:bldP spid="28730" grpId="0" animBg="1"/>
      <p:bldP spid="28731" grpId="0" animBg="1"/>
      <p:bldP spid="28732" grpId="0" animBg="1"/>
      <p:bldP spid="28733" grpId="0" animBg="1"/>
      <p:bldP spid="28734" grpId="0" animBg="1"/>
      <p:bldP spid="28735" grpId="0" animBg="1"/>
      <p:bldP spid="28737" grpId="0" animBg="1"/>
      <p:bldP spid="28739" grpId="0" animBg="1"/>
      <p:bldP spid="28740" grpId="0" build="p"/>
    </p:bldLst>
  </p:timing>
</p:sld>
</file>

<file path=ppt/theme/theme1.xml><?xml version="1.0" encoding="utf-8"?>
<a:theme xmlns:a="http://schemas.openxmlformats.org/drawingml/2006/main" name="4_색종이 상자">
  <a:themeElements>
    <a:clrScheme name="4_색종이 상자 1">
      <a:dk1>
        <a:srgbClr val="000000"/>
      </a:dk1>
      <a:lt1>
        <a:srgbClr val="FFFFFF"/>
      </a:lt1>
      <a:dk2>
        <a:srgbClr val="CC6600"/>
      </a:dk2>
      <a:lt2>
        <a:srgbClr val="F5B363"/>
      </a:lt2>
      <a:accent1>
        <a:srgbClr val="EB933B"/>
      </a:accent1>
      <a:accent2>
        <a:srgbClr val="F3C917"/>
      </a:accent2>
      <a:accent3>
        <a:srgbClr val="FFFFFF"/>
      </a:accent3>
      <a:accent4>
        <a:srgbClr val="000000"/>
      </a:accent4>
      <a:accent5>
        <a:srgbClr val="F3C8AF"/>
      </a:accent5>
      <a:accent6>
        <a:srgbClr val="DCB614"/>
      </a:accent6>
      <a:hlink>
        <a:srgbClr val="BB9321"/>
      </a:hlink>
      <a:folHlink>
        <a:srgbClr val="F1E785"/>
      </a:folHlink>
    </a:clrScheme>
    <a:fontScheme name="4_색종이 상자">
      <a:majorFont>
        <a:latin typeface="Gulim"/>
        <a:ea typeface="Gulim"/>
        <a:cs typeface=""/>
      </a:majorFont>
      <a:minorFont>
        <a:latin typeface="Gulim"/>
        <a:ea typeface="Guli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  <a:cs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  <a:cs typeface="Tahoma" panose="020B0604030504040204" pitchFamily="34" charset="0"/>
          </a:defRPr>
        </a:defPPr>
      </a:lstStyle>
    </a:lnDef>
  </a:objectDefaults>
  <a:extraClrSchemeLst>
    <a:extraClrScheme>
      <a:clrScheme name="4_색종이 상자 1">
        <a:dk1>
          <a:srgbClr val="000000"/>
        </a:dk1>
        <a:lt1>
          <a:srgbClr val="FFFFFF"/>
        </a:lt1>
        <a:dk2>
          <a:srgbClr val="CC6600"/>
        </a:dk2>
        <a:lt2>
          <a:srgbClr val="F5B363"/>
        </a:lt2>
        <a:accent1>
          <a:srgbClr val="EB933B"/>
        </a:accent1>
        <a:accent2>
          <a:srgbClr val="F3C917"/>
        </a:accent2>
        <a:accent3>
          <a:srgbClr val="FFFFFF"/>
        </a:accent3>
        <a:accent4>
          <a:srgbClr val="000000"/>
        </a:accent4>
        <a:accent5>
          <a:srgbClr val="F3C8AF"/>
        </a:accent5>
        <a:accent6>
          <a:srgbClr val="DCB614"/>
        </a:accent6>
        <a:hlink>
          <a:srgbClr val="BB9321"/>
        </a:hlink>
        <a:folHlink>
          <a:srgbClr val="F1E7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2">
        <a:dk1>
          <a:srgbClr val="000000"/>
        </a:dk1>
        <a:lt1>
          <a:srgbClr val="FFFFFF"/>
        </a:lt1>
        <a:dk2>
          <a:srgbClr val="7EA93F"/>
        </a:dk2>
        <a:lt2>
          <a:srgbClr val="C1D078"/>
        </a:lt2>
        <a:accent1>
          <a:srgbClr val="A3BC5E"/>
        </a:accent1>
        <a:accent2>
          <a:srgbClr val="DEA866"/>
        </a:accent2>
        <a:accent3>
          <a:srgbClr val="FFFFFF"/>
        </a:accent3>
        <a:accent4>
          <a:srgbClr val="000000"/>
        </a:accent4>
        <a:accent5>
          <a:srgbClr val="CEDAB6"/>
        </a:accent5>
        <a:accent6>
          <a:srgbClr val="C9985C"/>
        </a:accent6>
        <a:hlink>
          <a:srgbClr val="B65A22"/>
        </a:hlink>
        <a:folHlink>
          <a:srgbClr val="EACB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3">
        <a:dk1>
          <a:srgbClr val="000000"/>
        </a:dk1>
        <a:lt1>
          <a:srgbClr val="FFFFFF"/>
        </a:lt1>
        <a:dk2>
          <a:srgbClr val="D56755"/>
        </a:dk2>
        <a:lt2>
          <a:srgbClr val="F6C6C6"/>
        </a:lt2>
        <a:accent1>
          <a:srgbClr val="EC9780"/>
        </a:accent1>
        <a:accent2>
          <a:srgbClr val="ECA958"/>
        </a:accent2>
        <a:accent3>
          <a:srgbClr val="FFFFFF"/>
        </a:accent3>
        <a:accent4>
          <a:srgbClr val="000000"/>
        </a:accent4>
        <a:accent5>
          <a:srgbClr val="F4C9C0"/>
        </a:accent5>
        <a:accent6>
          <a:srgbClr val="D6994F"/>
        </a:accent6>
        <a:hlink>
          <a:srgbClr val="D97131"/>
        </a:hlink>
        <a:folHlink>
          <a:srgbClr val="F7CD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4">
        <a:dk1>
          <a:srgbClr val="000000"/>
        </a:dk1>
        <a:lt1>
          <a:srgbClr val="FFFFFF"/>
        </a:lt1>
        <a:dk2>
          <a:srgbClr val="990000"/>
        </a:dk2>
        <a:lt2>
          <a:srgbClr val="FDBDBB"/>
        </a:lt2>
        <a:accent1>
          <a:srgbClr val="DC4E4E"/>
        </a:accent1>
        <a:accent2>
          <a:srgbClr val="5984EF"/>
        </a:accent2>
        <a:accent3>
          <a:srgbClr val="FFFFFF"/>
        </a:accent3>
        <a:accent4>
          <a:srgbClr val="000000"/>
        </a:accent4>
        <a:accent5>
          <a:srgbClr val="EBB2B2"/>
        </a:accent5>
        <a:accent6>
          <a:srgbClr val="5077D9"/>
        </a:accent6>
        <a:hlink>
          <a:srgbClr val="1E44AE"/>
        </a:hlink>
        <a:folHlink>
          <a:srgbClr val="BDD5E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5">
        <a:dk1>
          <a:srgbClr val="000000"/>
        </a:dk1>
        <a:lt1>
          <a:srgbClr val="FFFFFF"/>
        </a:lt1>
        <a:dk2>
          <a:srgbClr val="1475A6"/>
        </a:dk2>
        <a:lt2>
          <a:srgbClr val="B9D4F7"/>
        </a:lt2>
        <a:accent1>
          <a:srgbClr val="69B0D7"/>
        </a:accent1>
        <a:accent2>
          <a:srgbClr val="51C5BF"/>
        </a:accent2>
        <a:accent3>
          <a:srgbClr val="FFFFFF"/>
        </a:accent3>
        <a:accent4>
          <a:srgbClr val="000000"/>
        </a:accent4>
        <a:accent5>
          <a:srgbClr val="B9D4E8"/>
        </a:accent5>
        <a:accent6>
          <a:srgbClr val="49B2AD"/>
        </a:accent6>
        <a:hlink>
          <a:srgbClr val="2F8C93"/>
        </a:hlink>
        <a:folHlink>
          <a:srgbClr val="9BE7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6">
        <a:dk1>
          <a:srgbClr val="000000"/>
        </a:dk1>
        <a:lt1>
          <a:srgbClr val="FFFFFF"/>
        </a:lt1>
        <a:dk2>
          <a:srgbClr val="A60000"/>
        </a:dk2>
        <a:lt2>
          <a:srgbClr val="FDC4C3"/>
        </a:lt2>
        <a:accent1>
          <a:srgbClr val="DB664F"/>
        </a:accent1>
        <a:accent2>
          <a:srgbClr val="76BAD2"/>
        </a:accent2>
        <a:accent3>
          <a:srgbClr val="FFFFFF"/>
        </a:accent3>
        <a:accent4>
          <a:srgbClr val="000000"/>
        </a:accent4>
        <a:accent5>
          <a:srgbClr val="EAB8B2"/>
        </a:accent5>
        <a:accent6>
          <a:srgbClr val="6AA8BE"/>
        </a:accent6>
        <a:hlink>
          <a:srgbClr val="30789C"/>
        </a:hlink>
        <a:folHlink>
          <a:srgbClr val="BCDA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7">
        <a:dk1>
          <a:srgbClr val="000000"/>
        </a:dk1>
        <a:lt1>
          <a:srgbClr val="FFFFFF"/>
        </a:lt1>
        <a:dk2>
          <a:srgbClr val="B57901"/>
        </a:dk2>
        <a:lt2>
          <a:srgbClr val="FFE149"/>
        </a:lt2>
        <a:accent1>
          <a:srgbClr val="F3BF01"/>
        </a:accent1>
        <a:accent2>
          <a:srgbClr val="F37C0F"/>
        </a:accent2>
        <a:accent3>
          <a:srgbClr val="FFFFFF"/>
        </a:accent3>
        <a:accent4>
          <a:srgbClr val="000000"/>
        </a:accent4>
        <a:accent5>
          <a:srgbClr val="F8DCAA"/>
        </a:accent5>
        <a:accent6>
          <a:srgbClr val="DC700C"/>
        </a:accent6>
        <a:hlink>
          <a:srgbClr val="C35219"/>
        </a:hlink>
        <a:folHlink>
          <a:srgbClr val="EEC1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8">
        <a:dk1>
          <a:srgbClr val="000000"/>
        </a:dk1>
        <a:lt1>
          <a:srgbClr val="FFFFFF"/>
        </a:lt1>
        <a:dk2>
          <a:srgbClr val="777777"/>
        </a:dk2>
        <a:lt2>
          <a:srgbClr val="DDDDDD"/>
        </a:lt2>
        <a:accent1>
          <a:srgbClr val="B2B2B2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색종이 상자">
  <a:themeElements>
    <a:clrScheme name="5_색종이 상자 1">
      <a:dk1>
        <a:srgbClr val="000000"/>
      </a:dk1>
      <a:lt1>
        <a:srgbClr val="FFFFFF"/>
      </a:lt1>
      <a:dk2>
        <a:srgbClr val="CC6600"/>
      </a:dk2>
      <a:lt2>
        <a:srgbClr val="F5B363"/>
      </a:lt2>
      <a:accent1>
        <a:srgbClr val="EB933B"/>
      </a:accent1>
      <a:accent2>
        <a:srgbClr val="F3C917"/>
      </a:accent2>
      <a:accent3>
        <a:srgbClr val="FFFFFF"/>
      </a:accent3>
      <a:accent4>
        <a:srgbClr val="000000"/>
      </a:accent4>
      <a:accent5>
        <a:srgbClr val="F3C8AF"/>
      </a:accent5>
      <a:accent6>
        <a:srgbClr val="DCB614"/>
      </a:accent6>
      <a:hlink>
        <a:srgbClr val="BB9321"/>
      </a:hlink>
      <a:folHlink>
        <a:srgbClr val="F1E785"/>
      </a:folHlink>
    </a:clrScheme>
    <a:fontScheme name="5_색종이 상자">
      <a:majorFont>
        <a:latin typeface="Gulim"/>
        <a:ea typeface="Gulim"/>
        <a:cs typeface=""/>
      </a:majorFont>
      <a:minorFont>
        <a:latin typeface="Gulim"/>
        <a:ea typeface="Guli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  <a:cs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  <a:cs typeface="Tahoma" panose="020B0604030504040204" pitchFamily="34" charset="0"/>
          </a:defRPr>
        </a:defPPr>
      </a:lstStyle>
    </a:lnDef>
  </a:objectDefaults>
  <a:extraClrSchemeLst>
    <a:extraClrScheme>
      <a:clrScheme name="5_색종이 상자 1">
        <a:dk1>
          <a:srgbClr val="000000"/>
        </a:dk1>
        <a:lt1>
          <a:srgbClr val="FFFFFF"/>
        </a:lt1>
        <a:dk2>
          <a:srgbClr val="CC6600"/>
        </a:dk2>
        <a:lt2>
          <a:srgbClr val="F5B363"/>
        </a:lt2>
        <a:accent1>
          <a:srgbClr val="EB933B"/>
        </a:accent1>
        <a:accent2>
          <a:srgbClr val="F3C917"/>
        </a:accent2>
        <a:accent3>
          <a:srgbClr val="FFFFFF"/>
        </a:accent3>
        <a:accent4>
          <a:srgbClr val="000000"/>
        </a:accent4>
        <a:accent5>
          <a:srgbClr val="F3C8AF"/>
        </a:accent5>
        <a:accent6>
          <a:srgbClr val="DCB614"/>
        </a:accent6>
        <a:hlink>
          <a:srgbClr val="BB9321"/>
        </a:hlink>
        <a:folHlink>
          <a:srgbClr val="F1E7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2">
        <a:dk1>
          <a:srgbClr val="000000"/>
        </a:dk1>
        <a:lt1>
          <a:srgbClr val="FFFFFF"/>
        </a:lt1>
        <a:dk2>
          <a:srgbClr val="7EA93F"/>
        </a:dk2>
        <a:lt2>
          <a:srgbClr val="C1D078"/>
        </a:lt2>
        <a:accent1>
          <a:srgbClr val="A3BC5E"/>
        </a:accent1>
        <a:accent2>
          <a:srgbClr val="DEA866"/>
        </a:accent2>
        <a:accent3>
          <a:srgbClr val="FFFFFF"/>
        </a:accent3>
        <a:accent4>
          <a:srgbClr val="000000"/>
        </a:accent4>
        <a:accent5>
          <a:srgbClr val="CEDAB6"/>
        </a:accent5>
        <a:accent6>
          <a:srgbClr val="C9985C"/>
        </a:accent6>
        <a:hlink>
          <a:srgbClr val="B65A22"/>
        </a:hlink>
        <a:folHlink>
          <a:srgbClr val="EACB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3">
        <a:dk1>
          <a:srgbClr val="000000"/>
        </a:dk1>
        <a:lt1>
          <a:srgbClr val="FFFFFF"/>
        </a:lt1>
        <a:dk2>
          <a:srgbClr val="D56755"/>
        </a:dk2>
        <a:lt2>
          <a:srgbClr val="F6C6C6"/>
        </a:lt2>
        <a:accent1>
          <a:srgbClr val="EC9780"/>
        </a:accent1>
        <a:accent2>
          <a:srgbClr val="ECA958"/>
        </a:accent2>
        <a:accent3>
          <a:srgbClr val="FFFFFF"/>
        </a:accent3>
        <a:accent4>
          <a:srgbClr val="000000"/>
        </a:accent4>
        <a:accent5>
          <a:srgbClr val="F4C9C0"/>
        </a:accent5>
        <a:accent6>
          <a:srgbClr val="D6994F"/>
        </a:accent6>
        <a:hlink>
          <a:srgbClr val="D97131"/>
        </a:hlink>
        <a:folHlink>
          <a:srgbClr val="F7CD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4">
        <a:dk1>
          <a:srgbClr val="000000"/>
        </a:dk1>
        <a:lt1>
          <a:srgbClr val="FFFFFF"/>
        </a:lt1>
        <a:dk2>
          <a:srgbClr val="990000"/>
        </a:dk2>
        <a:lt2>
          <a:srgbClr val="FDBDBB"/>
        </a:lt2>
        <a:accent1>
          <a:srgbClr val="DC4E4E"/>
        </a:accent1>
        <a:accent2>
          <a:srgbClr val="5984EF"/>
        </a:accent2>
        <a:accent3>
          <a:srgbClr val="FFFFFF"/>
        </a:accent3>
        <a:accent4>
          <a:srgbClr val="000000"/>
        </a:accent4>
        <a:accent5>
          <a:srgbClr val="EBB2B2"/>
        </a:accent5>
        <a:accent6>
          <a:srgbClr val="5077D9"/>
        </a:accent6>
        <a:hlink>
          <a:srgbClr val="1E44AE"/>
        </a:hlink>
        <a:folHlink>
          <a:srgbClr val="BDD5E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5">
        <a:dk1>
          <a:srgbClr val="000000"/>
        </a:dk1>
        <a:lt1>
          <a:srgbClr val="FFFFFF"/>
        </a:lt1>
        <a:dk2>
          <a:srgbClr val="1475A6"/>
        </a:dk2>
        <a:lt2>
          <a:srgbClr val="B9D4F7"/>
        </a:lt2>
        <a:accent1>
          <a:srgbClr val="69B0D7"/>
        </a:accent1>
        <a:accent2>
          <a:srgbClr val="51C5BF"/>
        </a:accent2>
        <a:accent3>
          <a:srgbClr val="FFFFFF"/>
        </a:accent3>
        <a:accent4>
          <a:srgbClr val="000000"/>
        </a:accent4>
        <a:accent5>
          <a:srgbClr val="B9D4E8"/>
        </a:accent5>
        <a:accent6>
          <a:srgbClr val="49B2AD"/>
        </a:accent6>
        <a:hlink>
          <a:srgbClr val="2F8C93"/>
        </a:hlink>
        <a:folHlink>
          <a:srgbClr val="9BE7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6">
        <a:dk1>
          <a:srgbClr val="000000"/>
        </a:dk1>
        <a:lt1>
          <a:srgbClr val="FFFFFF"/>
        </a:lt1>
        <a:dk2>
          <a:srgbClr val="A60000"/>
        </a:dk2>
        <a:lt2>
          <a:srgbClr val="FDC4C3"/>
        </a:lt2>
        <a:accent1>
          <a:srgbClr val="DB664F"/>
        </a:accent1>
        <a:accent2>
          <a:srgbClr val="76BAD2"/>
        </a:accent2>
        <a:accent3>
          <a:srgbClr val="FFFFFF"/>
        </a:accent3>
        <a:accent4>
          <a:srgbClr val="000000"/>
        </a:accent4>
        <a:accent5>
          <a:srgbClr val="EAB8B2"/>
        </a:accent5>
        <a:accent6>
          <a:srgbClr val="6AA8BE"/>
        </a:accent6>
        <a:hlink>
          <a:srgbClr val="30789C"/>
        </a:hlink>
        <a:folHlink>
          <a:srgbClr val="BCDA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7">
        <a:dk1>
          <a:srgbClr val="000000"/>
        </a:dk1>
        <a:lt1>
          <a:srgbClr val="FFFFFF"/>
        </a:lt1>
        <a:dk2>
          <a:srgbClr val="B57901"/>
        </a:dk2>
        <a:lt2>
          <a:srgbClr val="FFE149"/>
        </a:lt2>
        <a:accent1>
          <a:srgbClr val="F3BF01"/>
        </a:accent1>
        <a:accent2>
          <a:srgbClr val="F37C0F"/>
        </a:accent2>
        <a:accent3>
          <a:srgbClr val="FFFFFF"/>
        </a:accent3>
        <a:accent4>
          <a:srgbClr val="000000"/>
        </a:accent4>
        <a:accent5>
          <a:srgbClr val="F8DCAA"/>
        </a:accent5>
        <a:accent6>
          <a:srgbClr val="DC700C"/>
        </a:accent6>
        <a:hlink>
          <a:srgbClr val="C35219"/>
        </a:hlink>
        <a:folHlink>
          <a:srgbClr val="EEC1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8">
        <a:dk1>
          <a:srgbClr val="000000"/>
        </a:dk1>
        <a:lt1>
          <a:srgbClr val="FFFFFF"/>
        </a:lt1>
        <a:dk2>
          <a:srgbClr val="777777"/>
        </a:dk2>
        <a:lt2>
          <a:srgbClr val="DDDDDD"/>
        </a:lt2>
        <a:accent1>
          <a:srgbClr val="B2B2B2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aidai">
  <a:themeElements>
    <a:clrScheme name="caidai 1">
      <a:dk1>
        <a:srgbClr val="220011"/>
      </a:dk1>
      <a:lt1>
        <a:srgbClr val="FFFFCC"/>
      </a:lt1>
      <a:dk2>
        <a:srgbClr val="660033"/>
      </a:dk2>
      <a:lt2>
        <a:srgbClr val="FFCC00"/>
      </a:lt2>
      <a:accent1>
        <a:srgbClr val="CC0099"/>
      </a:accent1>
      <a:accent2>
        <a:srgbClr val="56002B"/>
      </a:accent2>
      <a:accent3>
        <a:srgbClr val="B8AAAD"/>
      </a:accent3>
      <a:accent4>
        <a:srgbClr val="DADAAE"/>
      </a:accent4>
      <a:accent5>
        <a:srgbClr val="E2AACA"/>
      </a:accent5>
      <a:accent6>
        <a:srgbClr val="4D0026"/>
      </a:accent6>
      <a:hlink>
        <a:srgbClr val="9C004E"/>
      </a:hlink>
      <a:folHlink>
        <a:srgbClr val="FF6600"/>
      </a:folHlink>
    </a:clrScheme>
    <a:fontScheme name="caidai">
      <a:majorFont>
        <a:latin typeface="Times New Roman"/>
        <a:ea typeface="隶书"/>
        <a:cs typeface=""/>
      </a:majorFont>
      <a:minorFont>
        <a:latin typeface="Times New Roman"/>
        <a:ea typeface="隶书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bg2"/>
          </a:solidFill>
          <a:prstDash val="sysDot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bg2"/>
          </a:solidFill>
          <a:prstDash val="sysDot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aidai 1">
        <a:dk1>
          <a:srgbClr val="220011"/>
        </a:dk1>
        <a:lt1>
          <a:srgbClr val="FFFFCC"/>
        </a:lt1>
        <a:dk2>
          <a:srgbClr val="660033"/>
        </a:dk2>
        <a:lt2>
          <a:srgbClr val="FFCC00"/>
        </a:lt2>
        <a:accent1>
          <a:srgbClr val="CC0099"/>
        </a:accent1>
        <a:accent2>
          <a:srgbClr val="56002B"/>
        </a:accent2>
        <a:accent3>
          <a:srgbClr val="B8AAAD"/>
        </a:accent3>
        <a:accent4>
          <a:srgbClr val="DADAAE"/>
        </a:accent4>
        <a:accent5>
          <a:srgbClr val="E2AACA"/>
        </a:accent5>
        <a:accent6>
          <a:srgbClr val="4D0026"/>
        </a:accent6>
        <a:hlink>
          <a:srgbClr val="9C004E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idai 2">
        <a:dk1>
          <a:srgbClr val="000F1E"/>
        </a:dk1>
        <a:lt1>
          <a:srgbClr val="FFFFFF"/>
        </a:lt1>
        <a:dk2>
          <a:srgbClr val="003366"/>
        </a:dk2>
        <a:lt2>
          <a:srgbClr val="33CCCC"/>
        </a:lt2>
        <a:accent1>
          <a:srgbClr val="006699"/>
        </a:accent1>
        <a:accent2>
          <a:srgbClr val="003366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2D5C"/>
        </a:accent6>
        <a:hlink>
          <a:srgbClr val="0099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idai 3">
        <a:dk1>
          <a:srgbClr val="002F2E"/>
        </a:dk1>
        <a:lt1>
          <a:srgbClr val="FFFFFF"/>
        </a:lt1>
        <a:dk2>
          <a:srgbClr val="008080"/>
        </a:dk2>
        <a:lt2>
          <a:srgbClr val="66FFCC"/>
        </a:lt2>
        <a:accent1>
          <a:srgbClr val="0099CC"/>
        </a:accent1>
        <a:accent2>
          <a:srgbClr val="005250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4948"/>
        </a:accent6>
        <a:hlink>
          <a:srgbClr val="00CC99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idai 4">
        <a:dk1>
          <a:srgbClr val="000022"/>
        </a:dk1>
        <a:lt1>
          <a:srgbClr val="FFFFFF"/>
        </a:lt1>
        <a:dk2>
          <a:srgbClr val="000066"/>
        </a:dk2>
        <a:lt2>
          <a:srgbClr val="FFCC00"/>
        </a:lt2>
        <a:accent1>
          <a:srgbClr val="666699"/>
        </a:accent1>
        <a:accent2>
          <a:srgbClr val="000048"/>
        </a:accent2>
        <a:accent3>
          <a:srgbClr val="AAAAB8"/>
        </a:accent3>
        <a:accent4>
          <a:srgbClr val="DADADA"/>
        </a:accent4>
        <a:accent5>
          <a:srgbClr val="B8B8CA"/>
        </a:accent5>
        <a:accent6>
          <a:srgbClr val="000040"/>
        </a:accent6>
        <a:hlink>
          <a:srgbClr val="9999FF"/>
        </a:hlink>
        <a:folHlink>
          <a:srgbClr val="00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idai 5">
        <a:dk1>
          <a:srgbClr val="663300"/>
        </a:dk1>
        <a:lt1>
          <a:srgbClr val="FFFFFF"/>
        </a:lt1>
        <a:dk2>
          <a:srgbClr val="000000"/>
        </a:dk2>
        <a:lt2>
          <a:srgbClr val="FFFF99"/>
        </a:lt2>
        <a:accent1>
          <a:srgbClr val="FFCC66"/>
        </a:accent1>
        <a:accent2>
          <a:srgbClr val="FFFFCC"/>
        </a:accent2>
        <a:accent3>
          <a:srgbClr val="FFFFFF"/>
        </a:accent3>
        <a:accent4>
          <a:srgbClr val="562A00"/>
        </a:accent4>
        <a:accent5>
          <a:srgbClr val="FFE2B8"/>
        </a:accent5>
        <a:accent6>
          <a:srgbClr val="E7E7B9"/>
        </a:accent6>
        <a:hlink>
          <a:srgbClr val="FFCC00"/>
        </a:hlink>
        <a:folHlink>
          <a:srgbClr val="FF7C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idai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4D4D4D"/>
        </a:hlink>
        <a:folHlink>
          <a:srgbClr val="8686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8535</Words>
  <Application>WPS 演示</Application>
  <PresentationFormat/>
  <Paragraphs>822</Paragraphs>
  <Slides>56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56</vt:i4>
      </vt:variant>
    </vt:vector>
  </HeadingPairs>
  <TitlesOfParts>
    <vt:vector size="82" baseType="lpstr">
      <vt:lpstr>Arial</vt:lpstr>
      <vt:lpstr>宋体</vt:lpstr>
      <vt:lpstr>Wingdings</vt:lpstr>
      <vt:lpstr>Gulim</vt:lpstr>
      <vt:lpstr>Malgun Gothic</vt:lpstr>
      <vt:lpstr>Times New Roman</vt:lpstr>
      <vt:lpstr>隶书</vt:lpstr>
      <vt:lpstr>Tahoma</vt:lpstr>
      <vt:lpstr>HY헤드라인M</vt:lpstr>
      <vt:lpstr>华文隶书</vt:lpstr>
      <vt:lpstr>黑体</vt:lpstr>
      <vt:lpstr>-apple-system</vt:lpstr>
      <vt:lpstr>Segoe Print</vt:lpstr>
      <vt:lpstr>KaTeX_Main</vt:lpstr>
      <vt:lpstr>Consolas</vt:lpstr>
      <vt:lpstr>楷体_GB2312</vt:lpstr>
      <vt:lpstr>新宋体</vt:lpstr>
      <vt:lpstr>Symbol</vt:lpstr>
      <vt:lpstr>微软雅黑</vt:lpstr>
      <vt:lpstr>Arial Unicode MS</vt:lpstr>
      <vt:lpstr>4_색종이 상자</vt:lpstr>
      <vt:lpstr>5_색종이 상자</vt:lpstr>
      <vt:lpstr>caidai</vt:lpstr>
      <vt:lpstr>Equation.3</vt:lpstr>
      <vt:lpstr>Equation.3</vt:lpstr>
      <vt:lpstr>MS_ClipArt_Gallery.5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hc</dc:creator>
  <cp:lastModifiedBy>恪守本心</cp:lastModifiedBy>
  <cp:revision>230</cp:revision>
  <dcterms:created xsi:type="dcterms:W3CDTF">2023-11-01T05:06:06Z</dcterms:created>
  <dcterms:modified xsi:type="dcterms:W3CDTF">2023-11-01T05:07:02Z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8C58CC4B66244BA48AFF8AC0A186F7E0_13</vt:lpwstr>
  </property>
  <property fmtid="{D5CDD505-2E9C-101B-9397-08002B2CF9AE}" pid="3" name="KSOProductBuildVer">
    <vt:lpwstr>2052-12.1.0.15712</vt:lpwstr>
  </property>
</Properties>
</file>