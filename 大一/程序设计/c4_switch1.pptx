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0" r:id="rId3"/>
    <p:sldMasterId id="2147483672" r:id="rId4"/>
  </p:sldMasterIdLst>
  <p:notesMasterIdLst>
    <p:notesMasterId r:id="rId7"/>
  </p:notesMasterIdLst>
  <p:sldIdLst>
    <p:sldId id="2390" r:id="rId5"/>
    <p:sldId id="2498" r:id="rId6"/>
    <p:sldId id="2504" r:id="rId8"/>
    <p:sldId id="2496" r:id="rId9"/>
    <p:sldId id="385" r:id="rId10"/>
    <p:sldId id="2497" r:id="rId11"/>
    <p:sldId id="2511" r:id="rId12"/>
    <p:sldId id="2499" r:id="rId13"/>
    <p:sldId id="2500" r:id="rId14"/>
    <p:sldId id="413" r:id="rId15"/>
    <p:sldId id="293" r:id="rId16"/>
    <p:sldId id="333" r:id="rId17"/>
    <p:sldId id="2510" r:id="rId18"/>
    <p:sldId id="2501" r:id="rId19"/>
    <p:sldId id="2512" r:id="rId20"/>
    <p:sldId id="2505" r:id="rId21"/>
    <p:sldId id="2506" r:id="rId22"/>
  </p:sldIdLst>
  <p:sldSz cx="10080625" cy="6858000"/>
  <p:notesSz cx="6669405" cy="9928225"/>
  <p:defaultTextStyle>
    <a:defPPr>
      <a:defRPr lang="ko-KR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3" pos="181" userDrawn="1">
          <p15:clr>
            <a:srgbClr val="A4A3A4"/>
          </p15:clr>
        </p15:guide>
        <p15:guide id="4" pos="6169" userDrawn="1">
          <p15:clr>
            <a:srgbClr val="A4A3A4"/>
          </p15:clr>
        </p15:guide>
        <p15:guide id="5" pos="3175" userDrawn="1">
          <p15:clr>
            <a:srgbClr val="A4A3A4"/>
          </p15:clr>
        </p15:guide>
        <p15:guide id="6" pos="1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0000"/>
    <a:srgbClr val="55AF84"/>
    <a:srgbClr val="B2B2B2"/>
    <a:srgbClr val="EAEAEA"/>
    <a:srgbClr val="C0C0C0"/>
    <a:srgbClr val="969696"/>
    <a:srgbClr val="FF0000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620"/>
    <p:restoredTop sz="68724"/>
  </p:normalViewPr>
  <p:slideViewPr>
    <p:cSldViewPr snapToObjects="1" showGuides="1">
      <p:cViewPr varScale="1">
        <p:scale>
          <a:sx n="77" d="100"/>
          <a:sy n="77" d="100"/>
        </p:scale>
        <p:origin x="-2346" y="-90"/>
      </p:cViewPr>
      <p:guideLst>
        <p:guide orient="horz" pos="3884"/>
        <p:guide orient="horz" pos="1071"/>
        <p:guide pos="181"/>
        <p:guide pos="6169"/>
        <p:guide pos="3175"/>
        <p:guide pos="1096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1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r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r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21508" name="Rectangle 4"/>
          <p:cNvSpPr>
            <a:spLocks noGrp="1"/>
          </p:cNvSpPr>
          <p:nvPr>
            <p:ph type="sldImg" idx="2"/>
          </p:nvPr>
        </p:nvSpPr>
        <p:spPr>
          <a:xfrm>
            <a:off x="606425" y="746125"/>
            <a:ext cx="5464175" cy="3719513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0588" y="4714875"/>
            <a:ext cx="4887913" cy="4467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마스터 텍스트 스타일을 편집합니다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둘째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셋째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넷째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다섯째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31338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t" anchorCtr="0"/>
          <a:p>
            <a:pPr lvl="0" eaLnBrk="1" hangingPunct="1">
              <a:lnSpc>
                <a:spcPct val="85000"/>
              </a:lnSpc>
              <a:spcBef>
                <a:spcPct val="0"/>
              </a:spcBef>
            </a:pPr>
            <a:r>
              <a:rPr lang="zh-CN" altLang="en-US" sz="3200" b="1" dirty="0">
                <a:ea typeface="隶书" panose="02010509060101010101" pitchFamily="49" charset="-122"/>
              </a:rPr>
              <a:t>习题</a:t>
            </a:r>
            <a:r>
              <a:rPr lang="en-US" altLang="zh-CN" sz="3200" b="1" dirty="0">
                <a:ea typeface="隶书" panose="02010509060101010101" pitchFamily="49" charset="-122"/>
              </a:rPr>
              <a:t>5-6:</a:t>
            </a:r>
            <a:r>
              <a:rPr lang="zh-CN" altLang="en-US" sz="3200" b="1" dirty="0">
                <a:ea typeface="隶书" panose="02010509060101010101" pitchFamily="49" charset="-122"/>
              </a:rPr>
              <a:t>判别学生成绩的等级</a:t>
            </a:r>
            <a:r>
              <a:rPr lang="en-US" altLang="zh-CN" sz="3200" b="1" dirty="0">
                <a:ea typeface="隶书" panose="02010509060101010101" pitchFamily="49" charset="-122"/>
              </a:rPr>
              <a:t>:    </a:t>
            </a:r>
            <a:endParaRPr lang="en-US" altLang="zh-CN" sz="3200" b="1" dirty="0">
              <a:ea typeface="隶书" panose="02010509060101010101" pitchFamily="49" charset="-122"/>
            </a:endParaRPr>
          </a:p>
          <a:p>
            <a:pPr lvl="0"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zh-CN" sz="3200" b="1" dirty="0">
                <a:ea typeface="隶书" panose="02010509060101010101" pitchFamily="49" charset="-122"/>
              </a:rPr>
              <a:t>   </a:t>
            </a:r>
            <a:r>
              <a:rPr lang="zh-CN" altLang="en-US" sz="3200" b="1" dirty="0">
                <a:ea typeface="隶书" panose="02010509060101010101" pitchFamily="49" charset="-122"/>
              </a:rPr>
              <a:t>小于</a:t>
            </a:r>
            <a:r>
              <a:rPr lang="en-US" altLang="zh-CN" sz="3200" b="1" dirty="0">
                <a:ea typeface="隶书" panose="02010509060101010101" pitchFamily="49" charset="-122"/>
              </a:rPr>
              <a:t>60</a:t>
            </a:r>
            <a:r>
              <a:rPr lang="zh-CN" altLang="en-US" sz="3200" b="1" dirty="0">
                <a:ea typeface="隶书" panose="02010509060101010101" pitchFamily="49" charset="-122"/>
              </a:rPr>
              <a:t>分</a:t>
            </a:r>
            <a:r>
              <a:rPr lang="en-US" altLang="zh-CN" sz="3200" b="1" dirty="0">
                <a:ea typeface="隶书" panose="02010509060101010101" pitchFamily="49" charset="-122"/>
              </a:rPr>
              <a:t>,E</a:t>
            </a:r>
            <a:r>
              <a:rPr lang="zh-CN" altLang="en-US" sz="3200" b="1" dirty="0">
                <a:ea typeface="隶书" panose="02010509060101010101" pitchFamily="49" charset="-122"/>
              </a:rPr>
              <a:t>级</a:t>
            </a:r>
            <a:r>
              <a:rPr lang="en-US" altLang="zh-CN" sz="3200" b="1" dirty="0">
                <a:ea typeface="隶书" panose="02010509060101010101" pitchFamily="49" charset="-122"/>
              </a:rPr>
              <a:t>;</a:t>
            </a:r>
            <a:endParaRPr lang="en-US" altLang="zh-CN" sz="3200" b="1" dirty="0">
              <a:ea typeface="隶书" panose="02010509060101010101" pitchFamily="49" charset="-122"/>
            </a:endParaRPr>
          </a:p>
          <a:p>
            <a:pPr lvl="0"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zh-CN" sz="3200" b="1" dirty="0">
                <a:ea typeface="隶书" panose="02010509060101010101" pitchFamily="49" charset="-122"/>
              </a:rPr>
              <a:t>   </a:t>
            </a:r>
            <a:r>
              <a:rPr lang="zh-CN" altLang="en-US" sz="3200" b="1" dirty="0">
                <a:ea typeface="隶书" panose="02010509060101010101" pitchFamily="49" charset="-122"/>
              </a:rPr>
              <a:t>小于</a:t>
            </a:r>
            <a:r>
              <a:rPr lang="en-US" altLang="zh-CN" sz="3200" b="1" dirty="0">
                <a:ea typeface="隶书" panose="02010509060101010101" pitchFamily="49" charset="-122"/>
              </a:rPr>
              <a:t>70</a:t>
            </a:r>
            <a:r>
              <a:rPr lang="zh-CN" altLang="en-US" sz="3200" b="1" dirty="0">
                <a:ea typeface="隶书" panose="02010509060101010101" pitchFamily="49" charset="-122"/>
              </a:rPr>
              <a:t>分</a:t>
            </a:r>
            <a:r>
              <a:rPr lang="en-US" altLang="zh-CN" sz="3200" b="1" dirty="0">
                <a:ea typeface="隶书" panose="02010509060101010101" pitchFamily="49" charset="-122"/>
              </a:rPr>
              <a:t>,D</a:t>
            </a:r>
            <a:r>
              <a:rPr lang="zh-CN" altLang="en-US" sz="3200" b="1" dirty="0">
                <a:ea typeface="隶书" panose="02010509060101010101" pitchFamily="49" charset="-122"/>
              </a:rPr>
              <a:t>级</a:t>
            </a:r>
            <a:r>
              <a:rPr lang="en-US" altLang="zh-CN" sz="3200" b="1" dirty="0">
                <a:ea typeface="隶书" panose="02010509060101010101" pitchFamily="49" charset="-122"/>
              </a:rPr>
              <a:t>;</a:t>
            </a:r>
            <a:endParaRPr lang="en-US" altLang="zh-CN" sz="3200" b="1" dirty="0">
              <a:ea typeface="隶书" panose="02010509060101010101" pitchFamily="49" charset="-122"/>
            </a:endParaRPr>
          </a:p>
          <a:p>
            <a:pPr lvl="0"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zh-CN" sz="3200" b="1" dirty="0">
                <a:ea typeface="隶书" panose="02010509060101010101" pitchFamily="49" charset="-122"/>
              </a:rPr>
              <a:t>   </a:t>
            </a:r>
            <a:r>
              <a:rPr lang="zh-CN" altLang="en-US" sz="3200" b="1" dirty="0">
                <a:ea typeface="隶书" panose="02010509060101010101" pitchFamily="49" charset="-122"/>
              </a:rPr>
              <a:t>小于</a:t>
            </a:r>
            <a:r>
              <a:rPr lang="en-US" altLang="zh-CN" sz="3200" b="1" dirty="0">
                <a:ea typeface="隶书" panose="02010509060101010101" pitchFamily="49" charset="-122"/>
              </a:rPr>
              <a:t>80</a:t>
            </a:r>
            <a:r>
              <a:rPr lang="zh-CN" altLang="en-US" sz="3200" b="1" dirty="0">
                <a:ea typeface="隶书" panose="02010509060101010101" pitchFamily="49" charset="-122"/>
              </a:rPr>
              <a:t>分</a:t>
            </a:r>
            <a:r>
              <a:rPr lang="en-US" altLang="zh-CN" sz="3200" b="1" dirty="0">
                <a:ea typeface="隶书" panose="02010509060101010101" pitchFamily="49" charset="-122"/>
              </a:rPr>
              <a:t>,C</a:t>
            </a:r>
            <a:r>
              <a:rPr lang="zh-CN" altLang="en-US" sz="3200" b="1" dirty="0">
                <a:ea typeface="隶书" panose="02010509060101010101" pitchFamily="49" charset="-122"/>
              </a:rPr>
              <a:t>级</a:t>
            </a:r>
            <a:r>
              <a:rPr lang="en-US" altLang="zh-CN" sz="3200" b="1" dirty="0">
                <a:ea typeface="隶书" panose="02010509060101010101" pitchFamily="49" charset="-122"/>
              </a:rPr>
              <a:t>;</a:t>
            </a:r>
            <a:endParaRPr lang="en-US" altLang="zh-CN" sz="3200" b="1" dirty="0">
              <a:ea typeface="隶书" panose="02010509060101010101" pitchFamily="49" charset="-122"/>
            </a:endParaRPr>
          </a:p>
          <a:p>
            <a:pPr lvl="0"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zh-CN" sz="3200" b="1" dirty="0">
                <a:ea typeface="隶书" panose="02010509060101010101" pitchFamily="49" charset="-122"/>
              </a:rPr>
              <a:t>   </a:t>
            </a:r>
            <a:r>
              <a:rPr lang="zh-CN" altLang="en-US" sz="3200" b="1" dirty="0">
                <a:ea typeface="隶书" panose="02010509060101010101" pitchFamily="49" charset="-122"/>
              </a:rPr>
              <a:t>小于</a:t>
            </a:r>
            <a:r>
              <a:rPr lang="en-US" altLang="zh-CN" sz="3200" b="1" dirty="0">
                <a:ea typeface="隶书" panose="02010509060101010101" pitchFamily="49" charset="-122"/>
              </a:rPr>
              <a:t>90</a:t>
            </a:r>
            <a:r>
              <a:rPr lang="zh-CN" altLang="en-US" sz="3200" b="1" dirty="0">
                <a:ea typeface="隶书" panose="02010509060101010101" pitchFamily="49" charset="-122"/>
              </a:rPr>
              <a:t>分</a:t>
            </a:r>
            <a:r>
              <a:rPr lang="en-US" altLang="zh-CN" sz="3200" b="1" dirty="0">
                <a:ea typeface="隶书" panose="02010509060101010101" pitchFamily="49" charset="-122"/>
              </a:rPr>
              <a:t>,B</a:t>
            </a:r>
            <a:r>
              <a:rPr lang="zh-CN" altLang="en-US" sz="3200" b="1" dirty="0">
                <a:ea typeface="隶书" panose="02010509060101010101" pitchFamily="49" charset="-122"/>
              </a:rPr>
              <a:t>级</a:t>
            </a:r>
            <a:r>
              <a:rPr lang="en-US" altLang="zh-CN" sz="3200" b="1" dirty="0">
                <a:ea typeface="隶书" panose="02010509060101010101" pitchFamily="49" charset="-122"/>
              </a:rPr>
              <a:t>;</a:t>
            </a:r>
            <a:endParaRPr lang="en-US" altLang="zh-CN" sz="3200" b="1" dirty="0">
              <a:ea typeface="隶书" panose="02010509060101010101" pitchFamily="49" charset="-122"/>
            </a:endParaRPr>
          </a:p>
          <a:p>
            <a:pPr lvl="0"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zh-CN" sz="3200" b="1" dirty="0">
                <a:ea typeface="隶书" panose="02010509060101010101" pitchFamily="49" charset="-122"/>
              </a:rPr>
              <a:t>   </a:t>
            </a:r>
            <a:r>
              <a:rPr lang="zh-CN" altLang="en-US" sz="3200" b="1" dirty="0">
                <a:ea typeface="隶书" panose="02010509060101010101" pitchFamily="49" charset="-122"/>
              </a:rPr>
              <a:t>小于</a:t>
            </a:r>
            <a:r>
              <a:rPr lang="en-US" altLang="zh-CN" sz="3200" b="1" dirty="0">
                <a:ea typeface="隶书" panose="02010509060101010101" pitchFamily="49" charset="-122"/>
              </a:rPr>
              <a:t>100</a:t>
            </a:r>
            <a:r>
              <a:rPr lang="zh-CN" altLang="en-US" sz="3200" b="1" dirty="0">
                <a:ea typeface="隶书" panose="02010509060101010101" pitchFamily="49" charset="-122"/>
              </a:rPr>
              <a:t>分</a:t>
            </a:r>
            <a:r>
              <a:rPr lang="en-US" altLang="zh-CN" sz="3200" b="1" dirty="0">
                <a:ea typeface="隶书" panose="02010509060101010101" pitchFamily="49" charset="-122"/>
              </a:rPr>
              <a:t>,A</a:t>
            </a:r>
            <a:r>
              <a:rPr lang="zh-CN" altLang="en-US" sz="3200" b="1" dirty="0">
                <a:ea typeface="隶书" panose="02010509060101010101" pitchFamily="49" charset="-122"/>
              </a:rPr>
              <a:t>级</a:t>
            </a:r>
            <a:r>
              <a:rPr lang="en-US" altLang="zh-CN" sz="3200" b="1" dirty="0">
                <a:ea typeface="隶书" panose="02010509060101010101" pitchFamily="49" charset="-122"/>
              </a:rPr>
              <a:t>;</a:t>
            </a:r>
            <a:endParaRPr lang="en-US" altLang="zh-CN" sz="2400" b="1" dirty="0">
              <a:ea typeface="隶书" panose="02010509060101010101" pitchFamily="49" charset="-122"/>
            </a:endParaRPr>
          </a:p>
          <a:p>
            <a:pPr lvl="0" eaLnBrk="1" hangingPunct="1"/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en-US" altLang="zh-CN" dirty="0"/>
              <a:t>5) </a:t>
            </a:r>
            <a:r>
              <a:rPr lang="zh-CN" altLang="en-US" dirty="0"/>
              <a:t>不能是浮点数</a:t>
            </a:r>
            <a:endParaRPr lang="en-US" altLang="zh-CN" dirty="0"/>
          </a:p>
          <a:p>
            <a:pPr lvl="0"/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en-US" altLang="zh-CN" dirty="0"/>
              <a:t>7</a:t>
            </a:r>
            <a:r>
              <a:rPr lang="zh-CN" altLang="en-US" dirty="0"/>
              <a:t>）不能含变量</a:t>
            </a:r>
            <a:endParaRPr lang="en-US" altLang="zh-CN" dirty="0"/>
          </a:p>
          <a:p>
            <a:pPr lvl="0"/>
            <a:r>
              <a:rPr lang="en-US" altLang="zh-CN" dirty="0"/>
              <a:t>8</a:t>
            </a:r>
            <a:r>
              <a:rPr lang="zh-CN" altLang="en-US" dirty="0"/>
              <a:t>）可以范围。</a:t>
            </a:r>
            <a:r>
              <a:rPr lang="en-US" altLang="zh-CN" dirty="0"/>
              <a:t>dev,cb,oj</a:t>
            </a:r>
            <a:r>
              <a:rPr lang="zh-CN" altLang="en-US" dirty="0"/>
              <a:t>支持。</a:t>
            </a:r>
            <a:r>
              <a:rPr lang="en-US" altLang="zh-CN" dirty="0"/>
              <a:t>Vs2019,vscode</a:t>
            </a:r>
            <a:r>
              <a:rPr lang="zh-CN" altLang="en-US" dirty="0"/>
              <a:t>不支持。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45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650" y="2130425"/>
            <a:ext cx="8569325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2888" y="3886200"/>
            <a:ext cx="7056437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925" y="4406900"/>
            <a:ext cx="8567738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6925" y="2906713"/>
            <a:ext cx="8567738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459288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6513" y="1600200"/>
            <a:ext cx="44608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4825" y="1535113"/>
            <a:ext cx="44529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4825" y="2174875"/>
            <a:ext cx="44529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21275" y="1535113"/>
            <a:ext cx="445611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21275" y="2174875"/>
            <a:ext cx="445611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3050"/>
            <a:ext cx="331628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1763" y="273050"/>
            <a:ext cx="5635625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4825" y="1435100"/>
            <a:ext cx="331628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6438" y="4800600"/>
            <a:ext cx="6048375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76438" y="612775"/>
            <a:ext cx="6048375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76438" y="5367338"/>
            <a:ext cx="6048375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10438" y="274638"/>
            <a:ext cx="226695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274638"/>
            <a:ext cx="665321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650" y="2130425"/>
            <a:ext cx="8569325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2888" y="3886200"/>
            <a:ext cx="7056437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925" y="4406900"/>
            <a:ext cx="8567738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6925" y="2906713"/>
            <a:ext cx="8567738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459288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6513" y="1600200"/>
            <a:ext cx="44608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4825" y="1535113"/>
            <a:ext cx="44529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4825" y="2174875"/>
            <a:ext cx="44529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21275" y="1535113"/>
            <a:ext cx="445611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21275" y="2174875"/>
            <a:ext cx="445611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edg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3050"/>
            <a:ext cx="331628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1763" y="273050"/>
            <a:ext cx="5635625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4825" y="1435100"/>
            <a:ext cx="331628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6438" y="4800600"/>
            <a:ext cx="6048375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76438" y="612775"/>
            <a:ext cx="6048375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76438" y="5367338"/>
            <a:ext cx="6048375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10438" y="274638"/>
            <a:ext cx="226695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274638"/>
            <a:ext cx="665321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122363"/>
            <a:ext cx="756046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602038"/>
            <a:ext cx="756046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709739"/>
            <a:ext cx="8694539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4589464"/>
            <a:ext cx="8694539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6047" y="1981200"/>
            <a:ext cx="420026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4318" y="1981200"/>
            <a:ext cx="420026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794" y="365126"/>
            <a:ext cx="8694539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794" y="1681163"/>
            <a:ext cx="426501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794" y="2505075"/>
            <a:ext cx="4265014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7" y="1681163"/>
            <a:ext cx="42860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7" y="2505075"/>
            <a:ext cx="42860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794" y="457200"/>
            <a:ext cx="325170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016" y="987426"/>
            <a:ext cx="510331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794" y="2057400"/>
            <a:ext cx="325170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794" y="457200"/>
            <a:ext cx="325170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6016" y="987426"/>
            <a:ext cx="5103316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794" y="2057400"/>
            <a:ext cx="325170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2445" y="609600"/>
            <a:ext cx="2142133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6047" y="609600"/>
            <a:ext cx="6258388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6047" y="609600"/>
            <a:ext cx="8568531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6047" y="1981200"/>
            <a:ext cx="420026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4318" y="1981200"/>
            <a:ext cx="420026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4.jpe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3074" name="Picture 2" descr="subbar"/>
          <p:cNvPicPr>
            <a:picLocks noChangeAspect="1"/>
          </p:cNvPicPr>
          <p:nvPr userDrawn="1"/>
        </p:nvPicPr>
        <p:blipFill>
          <a:blip r:embed="rId12"/>
          <a:srcRect l="189" r="267"/>
          <a:stretch>
            <a:fillRect/>
          </a:stretch>
        </p:blipFill>
        <p:spPr>
          <a:xfrm>
            <a:off x="0" y="-6350"/>
            <a:ext cx="10080625" cy="1058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0" y="1020763"/>
            <a:ext cx="10080625" cy="0"/>
          </a:xfrm>
          <a:prstGeom prst="line">
            <a:avLst/>
          </a:prstGeom>
          <a:noFill/>
          <a:ln w="28575">
            <a:solidFill>
              <a:srgbClr val="236485"/>
            </a:solidFill>
            <a:round/>
          </a:ln>
          <a:effectLst>
            <a:outerShdw dist="35921" dir="2700000" algn="ctr" rotWithShape="0">
              <a:srgbClr val="90C060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0" y="6608763"/>
            <a:ext cx="287338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46038" rIns="0" bIns="46038" anchor="ctr"/>
          <a:p>
            <a:pPr lvl="0" algn="ctr">
              <a:lnSpc>
                <a:spcPct val="130000"/>
              </a:lnSpc>
              <a:buFont typeface="Wingdings" panose="05000000000000000000" pitchFamily="2" charset="2"/>
            </a:pPr>
            <a:fld id="{9A0DB2DC-4C9A-4742-B13C-FB6460FD3503}" type="slidenum">
              <a:rPr lang="en-GB" altLang="en-US" sz="900" i="1" dirty="0">
                <a:solidFill>
                  <a:srgbClr val="000066"/>
                </a:solidFill>
                <a:latin typeface="Tahoma" panose="020B0604030504040204" pitchFamily="34" charset="0"/>
              </a:rPr>
            </a:fld>
            <a:r>
              <a:rPr lang="en-GB" altLang="en-US" sz="900" i="1" dirty="0">
                <a:solidFill>
                  <a:srgbClr val="000066"/>
                </a:solidFill>
                <a:latin typeface="Tahoma" panose="020B0604030504040204" pitchFamily="34" charset="0"/>
              </a:rPr>
              <a:t> </a:t>
            </a:r>
            <a:endParaRPr lang="ko-KR" altLang="en-US" sz="900" i="1" dirty="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pic>
        <p:nvPicPr>
          <p:cNvPr id="3077" name="Picture 6" descr="그림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8125" y="6715125"/>
            <a:ext cx="9077325" cy="841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edge/>
  </p:transition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5pPr>
      <a:lvl6pPr marL="4572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9144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3716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18288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447675" indent="-44767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400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+mn-ea"/>
        </a:defRPr>
      </a:lvl2pPr>
      <a:lvl3pPr marL="1294130" indent="-40322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200">
          <a:solidFill>
            <a:schemeClr val="tx1"/>
          </a:solidFill>
          <a:latin typeface="+mn-lt"/>
          <a:ea typeface="+mn-ea"/>
        </a:defRPr>
      </a:lvl3pPr>
      <a:lvl4pPr marL="1681480" indent="-3860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273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098" name="Picture 12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4343400"/>
            <a:ext cx="10080625" cy="2528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Picture 121" descr="Untitled-5 copy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0080625" cy="26892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100" name="Group 4"/>
          <p:cNvGrpSpPr/>
          <p:nvPr userDrawn="1"/>
        </p:nvGrpSpPr>
        <p:grpSpPr>
          <a:xfrm>
            <a:off x="3509963" y="1300163"/>
            <a:ext cx="5761037" cy="912812"/>
            <a:chOff x="0" y="0"/>
            <a:chExt cx="3629" cy="575"/>
          </a:xfrm>
        </p:grpSpPr>
        <p:sp>
          <p:nvSpPr>
            <p:cNvPr id="2055" name="Oval 10"/>
            <p:cNvSpPr>
              <a:spLocks noChangeArrowheads="1"/>
            </p:cNvSpPr>
            <p:nvPr/>
          </p:nvSpPr>
          <p:spPr bwMode="auto">
            <a:xfrm>
              <a:off x="0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6" name="Oval 11"/>
            <p:cNvSpPr>
              <a:spLocks noChangeArrowheads="1"/>
            </p:cNvSpPr>
            <p:nvPr/>
          </p:nvSpPr>
          <p:spPr bwMode="auto">
            <a:xfrm>
              <a:off x="117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7" name="Oval 12"/>
            <p:cNvSpPr>
              <a:spLocks noChangeArrowheads="1"/>
            </p:cNvSpPr>
            <p:nvPr/>
          </p:nvSpPr>
          <p:spPr bwMode="auto">
            <a:xfrm>
              <a:off x="234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8" name="Oval 13"/>
            <p:cNvSpPr>
              <a:spLocks noChangeArrowheads="1"/>
            </p:cNvSpPr>
            <p:nvPr/>
          </p:nvSpPr>
          <p:spPr bwMode="auto">
            <a:xfrm>
              <a:off x="351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9" name="Oval 14"/>
            <p:cNvSpPr>
              <a:spLocks noChangeArrowheads="1"/>
            </p:cNvSpPr>
            <p:nvPr/>
          </p:nvSpPr>
          <p:spPr bwMode="auto">
            <a:xfrm>
              <a:off x="467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0" name="Oval 15"/>
            <p:cNvSpPr>
              <a:spLocks noChangeArrowheads="1"/>
            </p:cNvSpPr>
            <p:nvPr/>
          </p:nvSpPr>
          <p:spPr bwMode="auto">
            <a:xfrm>
              <a:off x="584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1" name="Oval 16"/>
            <p:cNvSpPr>
              <a:spLocks noChangeArrowheads="1"/>
            </p:cNvSpPr>
            <p:nvPr/>
          </p:nvSpPr>
          <p:spPr bwMode="auto">
            <a:xfrm>
              <a:off x="709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2" name="Oval 17"/>
            <p:cNvSpPr>
              <a:spLocks noChangeArrowheads="1"/>
            </p:cNvSpPr>
            <p:nvPr/>
          </p:nvSpPr>
          <p:spPr bwMode="auto">
            <a:xfrm>
              <a:off x="826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3" name="Oval 18"/>
            <p:cNvSpPr>
              <a:spLocks noChangeArrowheads="1"/>
            </p:cNvSpPr>
            <p:nvPr/>
          </p:nvSpPr>
          <p:spPr bwMode="auto">
            <a:xfrm>
              <a:off x="943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4" name="Oval 19"/>
            <p:cNvSpPr>
              <a:spLocks noChangeArrowheads="1"/>
            </p:cNvSpPr>
            <p:nvPr/>
          </p:nvSpPr>
          <p:spPr bwMode="auto">
            <a:xfrm>
              <a:off x="1059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5" name="Oval 20"/>
            <p:cNvSpPr>
              <a:spLocks noChangeArrowheads="1"/>
            </p:cNvSpPr>
            <p:nvPr/>
          </p:nvSpPr>
          <p:spPr bwMode="auto">
            <a:xfrm>
              <a:off x="1176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6" name="Oval 21"/>
            <p:cNvSpPr>
              <a:spLocks noChangeArrowheads="1"/>
            </p:cNvSpPr>
            <p:nvPr/>
          </p:nvSpPr>
          <p:spPr bwMode="auto">
            <a:xfrm>
              <a:off x="1293" y="0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7" name="Oval 22"/>
            <p:cNvSpPr>
              <a:spLocks noChangeArrowheads="1"/>
            </p:cNvSpPr>
            <p:nvPr/>
          </p:nvSpPr>
          <p:spPr bwMode="auto">
            <a:xfrm>
              <a:off x="1418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8" name="Oval 23"/>
            <p:cNvSpPr>
              <a:spLocks noChangeArrowheads="1"/>
            </p:cNvSpPr>
            <p:nvPr/>
          </p:nvSpPr>
          <p:spPr bwMode="auto">
            <a:xfrm>
              <a:off x="1534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9" name="Oval 24"/>
            <p:cNvSpPr>
              <a:spLocks noChangeArrowheads="1"/>
            </p:cNvSpPr>
            <p:nvPr/>
          </p:nvSpPr>
          <p:spPr bwMode="auto">
            <a:xfrm>
              <a:off x="1651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0" name="Oval 25"/>
            <p:cNvSpPr>
              <a:spLocks noChangeArrowheads="1"/>
            </p:cNvSpPr>
            <p:nvPr/>
          </p:nvSpPr>
          <p:spPr bwMode="auto">
            <a:xfrm>
              <a:off x="1768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1" name="Oval 26"/>
            <p:cNvSpPr>
              <a:spLocks noChangeArrowheads="1"/>
            </p:cNvSpPr>
            <p:nvPr/>
          </p:nvSpPr>
          <p:spPr bwMode="auto">
            <a:xfrm>
              <a:off x="1885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2" name="Oval 27"/>
            <p:cNvSpPr>
              <a:spLocks noChangeArrowheads="1"/>
            </p:cNvSpPr>
            <p:nvPr/>
          </p:nvSpPr>
          <p:spPr bwMode="auto">
            <a:xfrm>
              <a:off x="2002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3" name="Oval 28"/>
            <p:cNvSpPr>
              <a:spLocks noChangeArrowheads="1"/>
            </p:cNvSpPr>
            <p:nvPr/>
          </p:nvSpPr>
          <p:spPr bwMode="auto">
            <a:xfrm>
              <a:off x="2126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4" name="Oval 29"/>
            <p:cNvSpPr>
              <a:spLocks noChangeArrowheads="1"/>
            </p:cNvSpPr>
            <p:nvPr/>
          </p:nvSpPr>
          <p:spPr bwMode="auto">
            <a:xfrm>
              <a:off x="2243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5" name="Oval 30"/>
            <p:cNvSpPr>
              <a:spLocks noChangeArrowheads="1"/>
            </p:cNvSpPr>
            <p:nvPr/>
          </p:nvSpPr>
          <p:spPr bwMode="auto">
            <a:xfrm>
              <a:off x="2360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6" name="Oval 31"/>
            <p:cNvSpPr>
              <a:spLocks noChangeArrowheads="1"/>
            </p:cNvSpPr>
            <p:nvPr/>
          </p:nvSpPr>
          <p:spPr bwMode="auto">
            <a:xfrm>
              <a:off x="2477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7" name="Oval 32"/>
            <p:cNvSpPr>
              <a:spLocks noChangeArrowheads="1"/>
            </p:cNvSpPr>
            <p:nvPr/>
          </p:nvSpPr>
          <p:spPr bwMode="auto">
            <a:xfrm>
              <a:off x="2594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8" name="Oval 33"/>
            <p:cNvSpPr>
              <a:spLocks noChangeArrowheads="1"/>
            </p:cNvSpPr>
            <p:nvPr/>
          </p:nvSpPr>
          <p:spPr bwMode="auto">
            <a:xfrm>
              <a:off x="2711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9" name="Oval 34"/>
            <p:cNvSpPr>
              <a:spLocks noChangeArrowheads="1"/>
            </p:cNvSpPr>
            <p:nvPr/>
          </p:nvSpPr>
          <p:spPr bwMode="auto">
            <a:xfrm>
              <a:off x="2835" y="7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0" name="Oval 35"/>
            <p:cNvSpPr>
              <a:spLocks noChangeArrowheads="1"/>
            </p:cNvSpPr>
            <p:nvPr/>
          </p:nvSpPr>
          <p:spPr bwMode="auto">
            <a:xfrm>
              <a:off x="2952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1" name="Oval 36"/>
            <p:cNvSpPr>
              <a:spLocks noChangeArrowheads="1"/>
            </p:cNvSpPr>
            <p:nvPr/>
          </p:nvSpPr>
          <p:spPr bwMode="auto">
            <a:xfrm>
              <a:off x="3069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2" name="Oval 37"/>
            <p:cNvSpPr>
              <a:spLocks noChangeArrowheads="1"/>
            </p:cNvSpPr>
            <p:nvPr/>
          </p:nvSpPr>
          <p:spPr bwMode="auto">
            <a:xfrm>
              <a:off x="3186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3" name="Oval 38"/>
            <p:cNvSpPr>
              <a:spLocks noChangeArrowheads="1"/>
            </p:cNvSpPr>
            <p:nvPr/>
          </p:nvSpPr>
          <p:spPr bwMode="auto">
            <a:xfrm>
              <a:off x="3303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4" name="Oval 39"/>
            <p:cNvSpPr>
              <a:spLocks noChangeArrowheads="1"/>
            </p:cNvSpPr>
            <p:nvPr/>
          </p:nvSpPr>
          <p:spPr bwMode="auto">
            <a:xfrm>
              <a:off x="0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5" name="Oval 40"/>
            <p:cNvSpPr>
              <a:spLocks noChangeArrowheads="1"/>
            </p:cNvSpPr>
            <p:nvPr/>
          </p:nvSpPr>
          <p:spPr bwMode="auto">
            <a:xfrm>
              <a:off x="117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6" name="Oval 41"/>
            <p:cNvSpPr>
              <a:spLocks noChangeArrowheads="1"/>
            </p:cNvSpPr>
            <p:nvPr/>
          </p:nvSpPr>
          <p:spPr bwMode="auto">
            <a:xfrm>
              <a:off x="234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7" name="Oval 42"/>
            <p:cNvSpPr>
              <a:spLocks noChangeArrowheads="1"/>
            </p:cNvSpPr>
            <p:nvPr/>
          </p:nvSpPr>
          <p:spPr bwMode="auto">
            <a:xfrm>
              <a:off x="351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8" name="Oval 43"/>
            <p:cNvSpPr>
              <a:spLocks noChangeArrowheads="1"/>
            </p:cNvSpPr>
            <p:nvPr/>
          </p:nvSpPr>
          <p:spPr bwMode="auto">
            <a:xfrm>
              <a:off x="467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9" name="Oval 44"/>
            <p:cNvSpPr>
              <a:spLocks noChangeArrowheads="1"/>
            </p:cNvSpPr>
            <p:nvPr/>
          </p:nvSpPr>
          <p:spPr bwMode="auto">
            <a:xfrm>
              <a:off x="584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0" name="Oval 45"/>
            <p:cNvSpPr>
              <a:spLocks noChangeArrowheads="1"/>
            </p:cNvSpPr>
            <p:nvPr/>
          </p:nvSpPr>
          <p:spPr bwMode="auto">
            <a:xfrm>
              <a:off x="709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1" name="Oval 46"/>
            <p:cNvSpPr>
              <a:spLocks noChangeArrowheads="1"/>
            </p:cNvSpPr>
            <p:nvPr/>
          </p:nvSpPr>
          <p:spPr bwMode="auto">
            <a:xfrm>
              <a:off x="826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2" name="Oval 47"/>
            <p:cNvSpPr>
              <a:spLocks noChangeArrowheads="1"/>
            </p:cNvSpPr>
            <p:nvPr/>
          </p:nvSpPr>
          <p:spPr bwMode="auto">
            <a:xfrm>
              <a:off x="943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3" name="Oval 48"/>
            <p:cNvSpPr>
              <a:spLocks noChangeArrowheads="1"/>
            </p:cNvSpPr>
            <p:nvPr/>
          </p:nvSpPr>
          <p:spPr bwMode="auto">
            <a:xfrm>
              <a:off x="1059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4" name="Oval 49"/>
            <p:cNvSpPr>
              <a:spLocks noChangeArrowheads="1"/>
            </p:cNvSpPr>
            <p:nvPr/>
          </p:nvSpPr>
          <p:spPr bwMode="auto">
            <a:xfrm>
              <a:off x="1176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5" name="Oval 50"/>
            <p:cNvSpPr>
              <a:spLocks noChangeArrowheads="1"/>
            </p:cNvSpPr>
            <p:nvPr/>
          </p:nvSpPr>
          <p:spPr bwMode="auto">
            <a:xfrm>
              <a:off x="1293" y="120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6" name="Oval 51"/>
            <p:cNvSpPr>
              <a:spLocks noChangeArrowheads="1"/>
            </p:cNvSpPr>
            <p:nvPr/>
          </p:nvSpPr>
          <p:spPr bwMode="auto">
            <a:xfrm>
              <a:off x="1418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7" name="Oval 52"/>
            <p:cNvSpPr>
              <a:spLocks noChangeArrowheads="1"/>
            </p:cNvSpPr>
            <p:nvPr/>
          </p:nvSpPr>
          <p:spPr bwMode="auto">
            <a:xfrm>
              <a:off x="1534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8" name="Oval 53"/>
            <p:cNvSpPr>
              <a:spLocks noChangeArrowheads="1"/>
            </p:cNvSpPr>
            <p:nvPr/>
          </p:nvSpPr>
          <p:spPr bwMode="auto">
            <a:xfrm>
              <a:off x="1651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9" name="Oval 54"/>
            <p:cNvSpPr>
              <a:spLocks noChangeArrowheads="1"/>
            </p:cNvSpPr>
            <p:nvPr/>
          </p:nvSpPr>
          <p:spPr bwMode="auto">
            <a:xfrm>
              <a:off x="1768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0" name="Oval 55"/>
            <p:cNvSpPr>
              <a:spLocks noChangeArrowheads="1"/>
            </p:cNvSpPr>
            <p:nvPr/>
          </p:nvSpPr>
          <p:spPr bwMode="auto">
            <a:xfrm>
              <a:off x="1885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1" name="Oval 56"/>
            <p:cNvSpPr>
              <a:spLocks noChangeArrowheads="1"/>
            </p:cNvSpPr>
            <p:nvPr/>
          </p:nvSpPr>
          <p:spPr bwMode="auto">
            <a:xfrm>
              <a:off x="2002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2" name="Oval 57"/>
            <p:cNvSpPr>
              <a:spLocks noChangeArrowheads="1"/>
            </p:cNvSpPr>
            <p:nvPr/>
          </p:nvSpPr>
          <p:spPr bwMode="auto">
            <a:xfrm>
              <a:off x="2126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3" name="Oval 58"/>
            <p:cNvSpPr>
              <a:spLocks noChangeArrowheads="1"/>
            </p:cNvSpPr>
            <p:nvPr/>
          </p:nvSpPr>
          <p:spPr bwMode="auto">
            <a:xfrm>
              <a:off x="2243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4" name="Oval 59"/>
            <p:cNvSpPr>
              <a:spLocks noChangeArrowheads="1"/>
            </p:cNvSpPr>
            <p:nvPr/>
          </p:nvSpPr>
          <p:spPr bwMode="auto">
            <a:xfrm>
              <a:off x="2360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5" name="Oval 60"/>
            <p:cNvSpPr>
              <a:spLocks noChangeArrowheads="1"/>
            </p:cNvSpPr>
            <p:nvPr/>
          </p:nvSpPr>
          <p:spPr bwMode="auto">
            <a:xfrm>
              <a:off x="2477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6" name="Oval 61"/>
            <p:cNvSpPr>
              <a:spLocks noChangeArrowheads="1"/>
            </p:cNvSpPr>
            <p:nvPr/>
          </p:nvSpPr>
          <p:spPr bwMode="auto">
            <a:xfrm>
              <a:off x="2594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7" name="Oval 62"/>
            <p:cNvSpPr>
              <a:spLocks noChangeArrowheads="1"/>
            </p:cNvSpPr>
            <p:nvPr/>
          </p:nvSpPr>
          <p:spPr bwMode="auto">
            <a:xfrm>
              <a:off x="2711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8" name="Oval 63"/>
            <p:cNvSpPr>
              <a:spLocks noChangeArrowheads="1"/>
            </p:cNvSpPr>
            <p:nvPr/>
          </p:nvSpPr>
          <p:spPr bwMode="auto">
            <a:xfrm>
              <a:off x="2835" y="127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9" name="Oval 64"/>
            <p:cNvSpPr>
              <a:spLocks noChangeArrowheads="1"/>
            </p:cNvSpPr>
            <p:nvPr/>
          </p:nvSpPr>
          <p:spPr bwMode="auto">
            <a:xfrm>
              <a:off x="2952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0" name="Oval 65"/>
            <p:cNvSpPr>
              <a:spLocks noChangeArrowheads="1"/>
            </p:cNvSpPr>
            <p:nvPr/>
          </p:nvSpPr>
          <p:spPr bwMode="auto">
            <a:xfrm>
              <a:off x="3069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1" name="Oval 66"/>
            <p:cNvSpPr>
              <a:spLocks noChangeArrowheads="1"/>
            </p:cNvSpPr>
            <p:nvPr/>
          </p:nvSpPr>
          <p:spPr bwMode="auto">
            <a:xfrm>
              <a:off x="3186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2" name="Oval 67"/>
            <p:cNvSpPr>
              <a:spLocks noChangeArrowheads="1"/>
            </p:cNvSpPr>
            <p:nvPr/>
          </p:nvSpPr>
          <p:spPr bwMode="auto">
            <a:xfrm>
              <a:off x="3303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3" name="Oval 68"/>
            <p:cNvSpPr>
              <a:spLocks noChangeArrowheads="1"/>
            </p:cNvSpPr>
            <p:nvPr/>
          </p:nvSpPr>
          <p:spPr bwMode="auto">
            <a:xfrm>
              <a:off x="234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4" name="Oval 69"/>
            <p:cNvSpPr>
              <a:spLocks noChangeArrowheads="1"/>
            </p:cNvSpPr>
            <p:nvPr/>
          </p:nvSpPr>
          <p:spPr bwMode="auto">
            <a:xfrm>
              <a:off x="351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5" name="Oval 70"/>
            <p:cNvSpPr>
              <a:spLocks noChangeArrowheads="1"/>
            </p:cNvSpPr>
            <p:nvPr/>
          </p:nvSpPr>
          <p:spPr bwMode="auto">
            <a:xfrm>
              <a:off x="467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6" name="Oval 71"/>
            <p:cNvSpPr>
              <a:spLocks noChangeArrowheads="1"/>
            </p:cNvSpPr>
            <p:nvPr/>
          </p:nvSpPr>
          <p:spPr bwMode="auto">
            <a:xfrm>
              <a:off x="584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7" name="Oval 72"/>
            <p:cNvSpPr>
              <a:spLocks noChangeArrowheads="1"/>
            </p:cNvSpPr>
            <p:nvPr/>
          </p:nvSpPr>
          <p:spPr bwMode="auto">
            <a:xfrm>
              <a:off x="701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8" name="Oval 73"/>
            <p:cNvSpPr>
              <a:spLocks noChangeArrowheads="1"/>
            </p:cNvSpPr>
            <p:nvPr/>
          </p:nvSpPr>
          <p:spPr bwMode="auto">
            <a:xfrm>
              <a:off x="818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9" name="Oval 74"/>
            <p:cNvSpPr>
              <a:spLocks noChangeArrowheads="1"/>
            </p:cNvSpPr>
            <p:nvPr/>
          </p:nvSpPr>
          <p:spPr bwMode="auto">
            <a:xfrm>
              <a:off x="943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0" name="Oval 75"/>
            <p:cNvSpPr>
              <a:spLocks noChangeArrowheads="1"/>
            </p:cNvSpPr>
            <p:nvPr/>
          </p:nvSpPr>
          <p:spPr bwMode="auto">
            <a:xfrm>
              <a:off x="1059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1" name="Oval 76"/>
            <p:cNvSpPr>
              <a:spLocks noChangeArrowheads="1"/>
            </p:cNvSpPr>
            <p:nvPr/>
          </p:nvSpPr>
          <p:spPr bwMode="auto">
            <a:xfrm>
              <a:off x="1176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2" name="Oval 77"/>
            <p:cNvSpPr>
              <a:spLocks noChangeArrowheads="1"/>
            </p:cNvSpPr>
            <p:nvPr/>
          </p:nvSpPr>
          <p:spPr bwMode="auto">
            <a:xfrm>
              <a:off x="1293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3" name="Oval 78"/>
            <p:cNvSpPr>
              <a:spLocks noChangeArrowheads="1"/>
            </p:cNvSpPr>
            <p:nvPr/>
          </p:nvSpPr>
          <p:spPr bwMode="auto">
            <a:xfrm>
              <a:off x="1410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4" name="Oval 79"/>
            <p:cNvSpPr>
              <a:spLocks noChangeArrowheads="1"/>
            </p:cNvSpPr>
            <p:nvPr/>
          </p:nvSpPr>
          <p:spPr bwMode="auto">
            <a:xfrm>
              <a:off x="1527" y="249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5" name="Oval 80"/>
            <p:cNvSpPr>
              <a:spLocks noChangeArrowheads="1"/>
            </p:cNvSpPr>
            <p:nvPr/>
          </p:nvSpPr>
          <p:spPr bwMode="auto">
            <a:xfrm>
              <a:off x="1651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6" name="Oval 81"/>
            <p:cNvSpPr>
              <a:spLocks noChangeArrowheads="1"/>
            </p:cNvSpPr>
            <p:nvPr/>
          </p:nvSpPr>
          <p:spPr bwMode="auto">
            <a:xfrm>
              <a:off x="1768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7" name="Oval 82"/>
            <p:cNvSpPr>
              <a:spLocks noChangeArrowheads="1"/>
            </p:cNvSpPr>
            <p:nvPr/>
          </p:nvSpPr>
          <p:spPr bwMode="auto">
            <a:xfrm>
              <a:off x="1885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8" name="Oval 83"/>
            <p:cNvSpPr>
              <a:spLocks noChangeArrowheads="1"/>
            </p:cNvSpPr>
            <p:nvPr/>
          </p:nvSpPr>
          <p:spPr bwMode="auto">
            <a:xfrm>
              <a:off x="2002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9" name="Oval 84"/>
            <p:cNvSpPr>
              <a:spLocks noChangeArrowheads="1"/>
            </p:cNvSpPr>
            <p:nvPr/>
          </p:nvSpPr>
          <p:spPr bwMode="auto">
            <a:xfrm>
              <a:off x="2119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0" name="Oval 85"/>
            <p:cNvSpPr>
              <a:spLocks noChangeArrowheads="1"/>
            </p:cNvSpPr>
            <p:nvPr/>
          </p:nvSpPr>
          <p:spPr bwMode="auto">
            <a:xfrm>
              <a:off x="2236" y="250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1" name="Oval 86"/>
            <p:cNvSpPr>
              <a:spLocks noChangeArrowheads="1"/>
            </p:cNvSpPr>
            <p:nvPr/>
          </p:nvSpPr>
          <p:spPr bwMode="auto">
            <a:xfrm>
              <a:off x="2360" y="255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2" name="Oval 87"/>
            <p:cNvSpPr>
              <a:spLocks noChangeArrowheads="1"/>
            </p:cNvSpPr>
            <p:nvPr/>
          </p:nvSpPr>
          <p:spPr bwMode="auto">
            <a:xfrm>
              <a:off x="2477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3" name="Oval 88"/>
            <p:cNvSpPr>
              <a:spLocks noChangeArrowheads="1"/>
            </p:cNvSpPr>
            <p:nvPr/>
          </p:nvSpPr>
          <p:spPr bwMode="auto">
            <a:xfrm>
              <a:off x="2594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4" name="Oval 89"/>
            <p:cNvSpPr>
              <a:spLocks noChangeArrowheads="1"/>
            </p:cNvSpPr>
            <p:nvPr/>
          </p:nvSpPr>
          <p:spPr bwMode="auto">
            <a:xfrm>
              <a:off x="2711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5" name="Oval 90"/>
            <p:cNvSpPr>
              <a:spLocks noChangeArrowheads="1"/>
            </p:cNvSpPr>
            <p:nvPr/>
          </p:nvSpPr>
          <p:spPr bwMode="auto">
            <a:xfrm>
              <a:off x="2828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6" name="Oval 91"/>
            <p:cNvSpPr>
              <a:spLocks noChangeArrowheads="1"/>
            </p:cNvSpPr>
            <p:nvPr/>
          </p:nvSpPr>
          <p:spPr bwMode="auto">
            <a:xfrm>
              <a:off x="2944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7" name="Oval 92"/>
            <p:cNvSpPr>
              <a:spLocks noChangeArrowheads="1"/>
            </p:cNvSpPr>
            <p:nvPr/>
          </p:nvSpPr>
          <p:spPr bwMode="auto">
            <a:xfrm>
              <a:off x="3069" y="256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8" name="Oval 93"/>
            <p:cNvSpPr>
              <a:spLocks noChangeArrowheads="1"/>
            </p:cNvSpPr>
            <p:nvPr/>
          </p:nvSpPr>
          <p:spPr bwMode="auto">
            <a:xfrm>
              <a:off x="3186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9" name="Oval 94"/>
            <p:cNvSpPr>
              <a:spLocks noChangeArrowheads="1"/>
            </p:cNvSpPr>
            <p:nvPr/>
          </p:nvSpPr>
          <p:spPr bwMode="auto">
            <a:xfrm>
              <a:off x="3303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0" name="Oval 95"/>
            <p:cNvSpPr>
              <a:spLocks noChangeArrowheads="1"/>
            </p:cNvSpPr>
            <p:nvPr/>
          </p:nvSpPr>
          <p:spPr bwMode="auto">
            <a:xfrm>
              <a:off x="3420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1" name="Oval 96"/>
            <p:cNvSpPr>
              <a:spLocks noChangeArrowheads="1"/>
            </p:cNvSpPr>
            <p:nvPr/>
          </p:nvSpPr>
          <p:spPr bwMode="auto">
            <a:xfrm>
              <a:off x="3536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2" name="Oval 97"/>
            <p:cNvSpPr>
              <a:spLocks noChangeArrowheads="1"/>
            </p:cNvSpPr>
            <p:nvPr/>
          </p:nvSpPr>
          <p:spPr bwMode="auto">
            <a:xfrm>
              <a:off x="476" y="371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3" name="Oval 98"/>
            <p:cNvSpPr>
              <a:spLocks noChangeArrowheads="1"/>
            </p:cNvSpPr>
            <p:nvPr/>
          </p:nvSpPr>
          <p:spPr bwMode="auto">
            <a:xfrm>
              <a:off x="593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4" name="Oval 99"/>
            <p:cNvSpPr>
              <a:spLocks noChangeArrowheads="1"/>
            </p:cNvSpPr>
            <p:nvPr/>
          </p:nvSpPr>
          <p:spPr bwMode="auto">
            <a:xfrm>
              <a:off x="710" y="370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5" name="Oval 100"/>
            <p:cNvSpPr>
              <a:spLocks noChangeArrowheads="1"/>
            </p:cNvSpPr>
            <p:nvPr/>
          </p:nvSpPr>
          <p:spPr bwMode="auto">
            <a:xfrm>
              <a:off x="827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6" name="Oval 101"/>
            <p:cNvSpPr>
              <a:spLocks noChangeArrowheads="1"/>
            </p:cNvSpPr>
            <p:nvPr/>
          </p:nvSpPr>
          <p:spPr bwMode="auto">
            <a:xfrm>
              <a:off x="944" y="369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7" name="Oval 102"/>
            <p:cNvSpPr>
              <a:spLocks noChangeArrowheads="1"/>
            </p:cNvSpPr>
            <p:nvPr/>
          </p:nvSpPr>
          <p:spPr bwMode="auto">
            <a:xfrm>
              <a:off x="1060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8" name="Oval 103"/>
            <p:cNvSpPr>
              <a:spLocks noChangeArrowheads="1"/>
            </p:cNvSpPr>
            <p:nvPr/>
          </p:nvSpPr>
          <p:spPr bwMode="auto">
            <a:xfrm>
              <a:off x="1185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9" name="Oval 104"/>
            <p:cNvSpPr>
              <a:spLocks noChangeArrowheads="1"/>
            </p:cNvSpPr>
            <p:nvPr/>
          </p:nvSpPr>
          <p:spPr bwMode="auto">
            <a:xfrm>
              <a:off x="1302" y="36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0" name="Oval 105"/>
            <p:cNvSpPr>
              <a:spLocks noChangeArrowheads="1"/>
            </p:cNvSpPr>
            <p:nvPr/>
          </p:nvSpPr>
          <p:spPr bwMode="auto">
            <a:xfrm>
              <a:off x="1419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1" name="Oval 106"/>
            <p:cNvSpPr>
              <a:spLocks noChangeArrowheads="1"/>
            </p:cNvSpPr>
            <p:nvPr/>
          </p:nvSpPr>
          <p:spPr bwMode="auto">
            <a:xfrm>
              <a:off x="1536" y="366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2" name="Oval 107"/>
            <p:cNvSpPr>
              <a:spLocks noChangeArrowheads="1"/>
            </p:cNvSpPr>
            <p:nvPr/>
          </p:nvSpPr>
          <p:spPr bwMode="auto">
            <a:xfrm>
              <a:off x="1652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3" name="Oval 108"/>
            <p:cNvSpPr>
              <a:spLocks noChangeArrowheads="1"/>
            </p:cNvSpPr>
            <p:nvPr/>
          </p:nvSpPr>
          <p:spPr bwMode="auto">
            <a:xfrm>
              <a:off x="1769" y="365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4" name="Oval 109"/>
            <p:cNvSpPr>
              <a:spLocks noChangeArrowheads="1"/>
            </p:cNvSpPr>
            <p:nvPr/>
          </p:nvSpPr>
          <p:spPr bwMode="auto">
            <a:xfrm>
              <a:off x="1894" y="370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5" name="Oval 110"/>
            <p:cNvSpPr>
              <a:spLocks noChangeArrowheads="1"/>
            </p:cNvSpPr>
            <p:nvPr/>
          </p:nvSpPr>
          <p:spPr bwMode="auto">
            <a:xfrm>
              <a:off x="2011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6" name="Oval 111"/>
            <p:cNvSpPr>
              <a:spLocks noChangeArrowheads="1"/>
            </p:cNvSpPr>
            <p:nvPr/>
          </p:nvSpPr>
          <p:spPr bwMode="auto">
            <a:xfrm>
              <a:off x="485" y="491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7" name="Oval 112"/>
            <p:cNvSpPr>
              <a:spLocks noChangeArrowheads="1"/>
            </p:cNvSpPr>
            <p:nvPr/>
          </p:nvSpPr>
          <p:spPr bwMode="auto">
            <a:xfrm>
              <a:off x="602" y="489"/>
              <a:ext cx="92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8" name="Oval 113"/>
            <p:cNvSpPr>
              <a:spLocks noChangeArrowheads="1"/>
            </p:cNvSpPr>
            <p:nvPr/>
          </p:nvSpPr>
          <p:spPr bwMode="auto">
            <a:xfrm>
              <a:off x="1060" y="486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9" name="Oval 114"/>
            <p:cNvSpPr>
              <a:spLocks noChangeArrowheads="1"/>
            </p:cNvSpPr>
            <p:nvPr/>
          </p:nvSpPr>
          <p:spPr bwMode="auto">
            <a:xfrm>
              <a:off x="1200" y="485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</p:grpSp>
      <p:sp>
        <p:nvSpPr>
          <p:cNvPr id="2053" name="Rectangle 116"/>
          <p:cNvSpPr>
            <a:spLocks noChangeArrowheads="1"/>
          </p:cNvSpPr>
          <p:nvPr/>
        </p:nvSpPr>
        <p:spPr bwMode="auto">
          <a:xfrm>
            <a:off x="2928938" y="4375150"/>
            <a:ext cx="4527550" cy="55562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헤드라인M" pitchFamily="2" charset="-127"/>
                <a:ea typeface="华文隶书" panose="02010800040101010101" pitchFamily="2" charset="-122"/>
                <a:cs typeface="+mn-cs"/>
              </a:rPr>
              <a:t>程序设计基础课程组</a:t>
            </a:r>
            <a:endParaRPr kumimoji="0" lang="zh-CN" altLang="en-US" sz="3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헤드라인M" pitchFamily="2" charset="-127"/>
              <a:ea typeface="华文隶书" panose="02010800040101010101" pitchFamily="2" charset="-122"/>
              <a:cs typeface="+mn-cs"/>
            </a:endParaRPr>
          </a:p>
        </p:txBody>
      </p:sp>
      <p:sp>
        <p:nvSpPr>
          <p:cNvPr id="2054" name="Text Box 111"/>
          <p:cNvSpPr txBox="1">
            <a:spLocks noChangeArrowheads="1"/>
          </p:cNvSpPr>
          <p:nvPr/>
        </p:nvSpPr>
        <p:spPr bwMode="auto">
          <a:xfrm>
            <a:off x="6461125" y="6453188"/>
            <a:ext cx="3548063" cy="3365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华文隶书" panose="02010800040101010101" pitchFamily="2" charset="-122"/>
                <a:cs typeface="+mn-cs"/>
              </a:rPr>
              <a:t>深圳大学计算机与软件学院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华文隶书" panose="020108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edge/>
  </p:transition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5pPr>
      <a:lvl6pPr marL="4572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9144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3716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18288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447675" indent="-44767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400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+mn-ea"/>
        </a:defRPr>
      </a:lvl2pPr>
      <a:lvl3pPr marL="1294130" indent="-40322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200">
          <a:solidFill>
            <a:schemeClr val="tx1"/>
          </a:solidFill>
          <a:latin typeface="+mn-lt"/>
          <a:ea typeface="+mn-ea"/>
        </a:defRPr>
      </a:lvl3pPr>
      <a:lvl4pPr marL="1681480" indent="-3860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273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10"/>
          <p:cNvSpPr>
            <a:spLocks noGrp="1"/>
          </p:cNvSpPr>
          <p:nvPr>
            <p:ph type="title"/>
          </p:nvPr>
        </p:nvSpPr>
        <p:spPr>
          <a:xfrm>
            <a:off x="755650" y="609600"/>
            <a:ext cx="8569325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23" name="Rectangle 11"/>
          <p:cNvSpPr>
            <a:spLocks noGrp="1"/>
          </p:cNvSpPr>
          <p:nvPr>
            <p:ph type="body" idx="1"/>
          </p:nvPr>
        </p:nvSpPr>
        <p:spPr>
          <a:xfrm>
            <a:off x="755650" y="1981200"/>
            <a:ext cx="8569325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§"/>
        <a:defRPr sz="3200" kern="1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«"/>
        <a:defRPr sz="28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92557"/>
        </a:buClr>
        <a:buFont typeface="Wingdings" panose="05000000000000000000" pitchFamily="2" charset="2"/>
        <a:buChar char="v"/>
        <a:defRPr sz="24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sz="20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u"/>
        <a:defRPr sz="20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9.xml"/><Relationship Id="rId4" Type="http://schemas.openxmlformats.org/officeDocument/2006/relationships/audio" Target="../media/audio1.wav"/><Relationship Id="rId3" Type="http://schemas.openxmlformats.org/officeDocument/2006/relationships/hyperlink" Target="file:///c:\Program%20Files\Microsoft%20Visual%20Studio\Common\MSDev98\Bin\MSDEV.EXE%20%20c:\fengyi\bkc\ch4_5_6.c" TargetMode="Externa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audio" Target="../media/audio1.wav"/><Relationship Id="rId2" Type="http://schemas.openxmlformats.org/officeDocument/2006/relationships/hyperlink" Target="file:///c:\Program%20Files\Microsoft%20Visual%20Studio\Common\MSDev98\Bin\MSDEV.EXE%20%20c:\fengyi\bkc\ch4_5s.c" TargetMode="External"/><Relationship Id="rId1" Type="http://schemas.openxmlformats.org/officeDocument/2006/relationships/hyperlink" Target="file:///e:\TC\TC.EXE%20%20%20e:\fengyi\bkc\ch4_5s.c" TargetMode="Externa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audio" Target="../media/audio1.wav"/><Relationship Id="rId2" Type="http://schemas.openxmlformats.org/officeDocument/2006/relationships/hyperlink" Target="file:///c:\Program%20Files\Microsoft%20Visual%20Studio\Common\MSDev98\Bin\MSDEV.EXE%20%20c:\fengyi\bkc\ch4_5.c" TargetMode="External"/><Relationship Id="rId1" Type="http://schemas.openxmlformats.org/officeDocument/2006/relationships/hyperlink" Target="file:///e:\TC\TC.EXE%20%20%20e:\fengyi\bkc\ch4_5.c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9.xml"/><Relationship Id="rId6" Type="http://schemas.openxmlformats.org/officeDocument/2006/relationships/audio" Target="../media/audio1.wav"/><Relationship Id="rId5" Type="http://schemas.openxmlformats.org/officeDocument/2006/relationships/image" Target="../media/image6.png"/><Relationship Id="rId4" Type="http://schemas.openxmlformats.org/officeDocument/2006/relationships/hyperlink" Target="file:///c:\Program%20Files\Microsoft%20Visual%20Studio\Common\MSDev98\Bin\MSDEV.EXE%20%20c:\fengyi\bkc\ch4_swi.c" TargetMode="External"/><Relationship Id="rId3" Type="http://schemas.openxmlformats.org/officeDocument/2006/relationships/hyperlink" Target="file:///e:\TC\TC.EXE%20%20%20e:\fengyi\bkc\ch4_swi.c" TargetMode="External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AutoShape 7"/>
          <p:cNvSpPr>
            <a:spLocks noChangeArrowheads="1"/>
          </p:cNvSpPr>
          <p:nvPr/>
        </p:nvSpPr>
        <p:spPr bwMode="auto">
          <a:xfrm>
            <a:off x="7580313" y="4292600"/>
            <a:ext cx="2500313" cy="379413"/>
          </a:xfrm>
          <a:prstGeom prst="roundRect">
            <a:avLst>
              <a:gd name="adj" fmla="val 36819"/>
            </a:avLst>
          </a:prstGeom>
          <a:solidFill>
            <a:schemeClr val="bg1"/>
          </a:solidFill>
          <a:ln w="9525">
            <a:noFill/>
            <a:round/>
          </a:ln>
          <a:effectLst>
            <a:outerShdw dist="35921" dir="8100000" algn="ctr" rotWithShape="0">
              <a:srgbClr val="333399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ko-KR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6147" name="Text Box 3"/>
          <p:cNvSpPr txBox="1"/>
          <p:nvPr/>
        </p:nvSpPr>
        <p:spPr>
          <a:xfrm>
            <a:off x="431800" y="2133600"/>
            <a:ext cx="9504363" cy="677863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讲 </a:t>
            </a:r>
            <a:r>
              <a:rPr lang="en-US" altLang="zh-CN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switch</a:t>
            </a: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语句</a:t>
            </a:r>
            <a:endParaRPr lang="zh-CN" altLang="en-US" sz="4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/>
          <p:nvPr>
            <p:ph type="title"/>
          </p:nvPr>
        </p:nvSpPr>
        <p:spPr>
          <a:xfrm>
            <a:off x="576263" y="58738"/>
            <a:ext cx="9072562" cy="777875"/>
          </a:xfrm>
          <a:noFill/>
          <a:ln>
            <a:noFill/>
          </a:ln>
        </p:spPr>
        <p:txBody>
          <a:bodyPr/>
          <a:p>
            <a:r>
              <a:rPr lang="en-US" altLang="zh-CN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本周</a:t>
            </a:r>
            <a:r>
              <a:rPr lang="en-US" altLang="zh-CN" sz="4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MOOC</a:t>
            </a:r>
            <a:endParaRPr lang="zh-CN" altLang="en-US" sz="4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71" name="矩形 2"/>
          <p:cNvSpPr/>
          <p:nvPr/>
        </p:nvSpPr>
        <p:spPr>
          <a:xfrm>
            <a:off x="0" y="1104900"/>
            <a:ext cx="10080625" cy="4357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任务：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switch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语句。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、视频及任务点：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4.3.2 switch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语句，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14.34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4.4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选择结构程序设计举例，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+6.14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+7.02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、课件：第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讲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switch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BB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系统），课件中例题代码已放。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、完成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OJ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上：第七周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MOOC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实验，练习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if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结构。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周日晚截止。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、下周二，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if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switch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选择结构习题讲解。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/>
          <p:nvPr>
            <p:ph idx="1"/>
          </p:nvPr>
        </p:nvSpPr>
        <p:spPr>
          <a:xfrm>
            <a:off x="287338" y="1341438"/>
            <a:ext cx="8569325" cy="647700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None/>
            </a:pPr>
            <a:r>
              <a:rPr lang="zh-CN" altLang="en-US" dirty="0"/>
              <a:t>本讲内容为课本第</a:t>
            </a:r>
            <a:r>
              <a:rPr lang="en-US" altLang="zh-CN" dirty="0"/>
              <a:t>5</a:t>
            </a:r>
            <a:r>
              <a:rPr lang="zh-CN" altLang="en-US" dirty="0"/>
              <a:t>章</a:t>
            </a:r>
            <a:r>
              <a:rPr lang="en-US" altLang="zh-CN" dirty="0"/>
              <a:t>5.3.2</a:t>
            </a:r>
            <a:r>
              <a:rPr lang="zh-CN" altLang="en-US" dirty="0"/>
              <a:t>节</a:t>
            </a:r>
            <a:endParaRPr lang="zh-CN" altLang="en-US" dirty="0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5"/>
          <p:cNvSpPr txBox="1"/>
          <p:nvPr/>
        </p:nvSpPr>
        <p:spPr>
          <a:xfrm>
            <a:off x="2233613" y="74613"/>
            <a:ext cx="5884862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switch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多分支选择语句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6147" name="AutoShape 17"/>
          <p:cNvSpPr>
            <a:spLocks noChangeArrowheads="1"/>
          </p:cNvSpPr>
          <p:nvPr/>
        </p:nvSpPr>
        <p:spPr bwMode="auto">
          <a:xfrm>
            <a:off x="146050" y="1196975"/>
            <a:ext cx="1077913" cy="576263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  <a:rou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语法</a:t>
            </a:r>
            <a:r>
              <a:rPr kumimoji="0" lang="ko-KR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Gulim" pitchFamily="34" charset="-127"/>
                <a:cs typeface="+mn-cs"/>
              </a:rPr>
              <a:t> </a:t>
            </a:r>
            <a:endParaRPr kumimoji="0" lang="ko-KR" altLang="en-US" sz="32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6148" name="AutoShape 36"/>
          <p:cNvSpPr/>
          <p:nvPr/>
        </p:nvSpPr>
        <p:spPr>
          <a:xfrm>
            <a:off x="287338" y="1989138"/>
            <a:ext cx="4176712" cy="46799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latin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switch(</a:t>
            </a:r>
            <a:r>
              <a:rPr lang="zh-CN" altLang="en-US" sz="2800" dirty="0">
                <a:latin typeface="Gulim" pitchFamily="34" charset="-127"/>
              </a:rPr>
              <a:t>表达式</a:t>
            </a:r>
            <a:r>
              <a:rPr lang="en-US" altLang="zh-CN" sz="2800" dirty="0">
                <a:latin typeface="Gulim" pitchFamily="34" charset="-127"/>
              </a:rPr>
              <a:t>)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{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   case </a:t>
            </a:r>
            <a:r>
              <a:rPr lang="zh-CN" altLang="en-US" sz="2800" dirty="0">
                <a:latin typeface="Gulim" pitchFamily="34" charset="-127"/>
              </a:rPr>
              <a:t>常量表达式</a:t>
            </a:r>
            <a:r>
              <a:rPr lang="en-US" altLang="zh-CN" sz="2800" dirty="0">
                <a:latin typeface="Gulim" pitchFamily="34" charset="-127"/>
              </a:rPr>
              <a:t>1: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         </a:t>
            </a:r>
            <a:r>
              <a:rPr lang="zh-CN" altLang="en-US" sz="2800" dirty="0">
                <a:latin typeface="Gulim" pitchFamily="34" charset="-127"/>
              </a:rPr>
              <a:t>语句组</a:t>
            </a:r>
            <a:r>
              <a:rPr lang="en-US" altLang="zh-CN" sz="2800" dirty="0">
                <a:latin typeface="Gulim" pitchFamily="34" charset="-127"/>
              </a:rPr>
              <a:t>1;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   case </a:t>
            </a:r>
            <a:r>
              <a:rPr lang="zh-CN" altLang="en-US" sz="2800" dirty="0">
                <a:latin typeface="Gulim" pitchFamily="34" charset="-127"/>
              </a:rPr>
              <a:t>常量表达式</a:t>
            </a:r>
            <a:r>
              <a:rPr lang="en-US" altLang="zh-CN" sz="2800" dirty="0">
                <a:latin typeface="Gulim" pitchFamily="34" charset="-127"/>
              </a:rPr>
              <a:t>2: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         </a:t>
            </a:r>
            <a:r>
              <a:rPr lang="zh-CN" altLang="en-US" sz="2800" dirty="0">
                <a:latin typeface="Gulim" pitchFamily="34" charset="-127"/>
              </a:rPr>
              <a:t>语句组</a:t>
            </a:r>
            <a:r>
              <a:rPr lang="en-US" altLang="zh-CN" sz="2800" dirty="0">
                <a:latin typeface="Gulim" pitchFamily="34" charset="-127"/>
              </a:rPr>
              <a:t>2;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   …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   default: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         </a:t>
            </a:r>
            <a:r>
              <a:rPr lang="zh-CN" altLang="en-US" sz="2800" dirty="0">
                <a:latin typeface="Gulim" pitchFamily="34" charset="-127"/>
              </a:rPr>
              <a:t>语句组</a:t>
            </a:r>
            <a:r>
              <a:rPr lang="en-US" altLang="zh-CN" sz="2800" dirty="0">
                <a:latin typeface="Gulim" pitchFamily="34" charset="-127"/>
              </a:rPr>
              <a:t>n+1;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}</a:t>
            </a:r>
            <a:endParaRPr lang="en-US" altLang="zh-CN" sz="2800" dirty="0">
              <a:latin typeface="Gulim" pitchFamily="34" charset="-127"/>
            </a:endParaRPr>
          </a:p>
        </p:txBody>
      </p:sp>
      <p:sp>
        <p:nvSpPr>
          <p:cNvPr id="6149" name="AutoShape 17"/>
          <p:cNvSpPr>
            <a:spLocks noChangeArrowheads="1"/>
          </p:cNvSpPr>
          <p:nvPr/>
        </p:nvSpPr>
        <p:spPr bwMode="auto">
          <a:xfrm>
            <a:off x="4826000" y="1192213"/>
            <a:ext cx="1293813" cy="581025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  <a:rou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等价于</a:t>
            </a:r>
            <a:r>
              <a:rPr kumimoji="0" lang="ko-KR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Gulim" pitchFamily="34" charset="-127"/>
                <a:cs typeface="+mn-cs"/>
              </a:rPr>
              <a:t> </a:t>
            </a:r>
            <a:endParaRPr kumimoji="0" lang="ko-KR" altLang="en-US" sz="32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6150" name="AutoShape 36"/>
          <p:cNvSpPr/>
          <p:nvPr/>
        </p:nvSpPr>
        <p:spPr>
          <a:xfrm>
            <a:off x="5184775" y="1976438"/>
            <a:ext cx="4392613" cy="46799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if(</a:t>
            </a:r>
            <a:r>
              <a:rPr lang="zh-CN" altLang="en-US" sz="2800" dirty="0">
                <a:latin typeface="Gulim" pitchFamily="34" charset="-127"/>
              </a:rPr>
              <a:t>表达式</a:t>
            </a:r>
            <a:r>
              <a:rPr lang="en-US" altLang="zh-CN" sz="2800" dirty="0">
                <a:latin typeface="Gulim" pitchFamily="34" charset="-127"/>
              </a:rPr>
              <a:t>==value1)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     </a:t>
            </a:r>
            <a:r>
              <a:rPr lang="zh-CN" altLang="en-US" sz="2800" dirty="0">
                <a:latin typeface="Gulim" pitchFamily="34" charset="-127"/>
              </a:rPr>
              <a:t>语句组</a:t>
            </a:r>
            <a:r>
              <a:rPr lang="en-US" altLang="zh-CN" sz="2800" dirty="0">
                <a:latin typeface="Gulim" pitchFamily="34" charset="-127"/>
              </a:rPr>
              <a:t>1;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else if(</a:t>
            </a:r>
            <a:r>
              <a:rPr lang="zh-CN" altLang="en-US" sz="2800" dirty="0">
                <a:latin typeface="Gulim" pitchFamily="34" charset="-127"/>
              </a:rPr>
              <a:t>表达式</a:t>
            </a:r>
            <a:r>
              <a:rPr lang="en-US" altLang="zh-CN" sz="2800" dirty="0">
                <a:latin typeface="Gulim" pitchFamily="34" charset="-127"/>
              </a:rPr>
              <a:t>==value2)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     </a:t>
            </a:r>
            <a:r>
              <a:rPr lang="zh-CN" altLang="en-US" sz="2800" dirty="0">
                <a:latin typeface="Gulim" pitchFamily="34" charset="-127"/>
              </a:rPr>
              <a:t>语句组</a:t>
            </a:r>
            <a:r>
              <a:rPr lang="en-US" altLang="zh-CN" sz="2800" dirty="0">
                <a:latin typeface="Gulim" pitchFamily="34" charset="-127"/>
              </a:rPr>
              <a:t>2;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 …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else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      </a:t>
            </a:r>
            <a:r>
              <a:rPr lang="zh-CN" altLang="en-US" sz="2800" dirty="0">
                <a:latin typeface="Gulim" pitchFamily="34" charset="-127"/>
              </a:rPr>
              <a:t>语句组</a:t>
            </a:r>
            <a:r>
              <a:rPr lang="en-US" altLang="zh-CN" sz="2800" dirty="0">
                <a:latin typeface="Gulim" pitchFamily="34" charset="-127"/>
              </a:rPr>
              <a:t>n+1;</a:t>
            </a:r>
            <a:endParaRPr lang="en-US" altLang="zh-CN" sz="2800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dirty="0">
                <a:latin typeface="Gulim" pitchFamily="34" charset="-127"/>
              </a:rPr>
              <a:t> }</a:t>
            </a:r>
            <a:endParaRPr lang="en-US" altLang="zh-CN" sz="2800" dirty="0">
              <a:latin typeface="Gulim" pitchFamily="34" charset="-127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1727200" y="1482725"/>
            <a:ext cx="2736850" cy="1174750"/>
            <a:chOff x="0" y="0"/>
            <a:chExt cx="1708" cy="740"/>
          </a:xfrm>
        </p:grpSpPr>
        <p:sp>
          <p:nvSpPr>
            <p:cNvPr id="9224" name="AutoShape 8"/>
            <p:cNvSpPr/>
            <p:nvPr/>
          </p:nvSpPr>
          <p:spPr>
            <a:xfrm>
              <a:off x="713" y="0"/>
              <a:ext cx="995" cy="366"/>
            </a:xfrm>
            <a:prstGeom prst="wedgeRoundRectCallout">
              <a:avLst>
                <a:gd name="adj1" fmla="val -58241"/>
                <a:gd name="adj2" fmla="val 148634"/>
                <a:gd name="adj3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  <p:txBody>
            <a:bodyPr lIns="0" tIns="0" rIns="0" bIns="0" anchor="ctr" anchorCtr="0"/>
            <a:p>
              <a:pPr algn="ctr" eaLnBrk="1" latinLnBrk="1" hangingPunct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anose="05000000000000000000" pitchFamily="2" charset="2"/>
              </a:pPr>
              <a:r>
                <a:rPr lang="zh-CN" altLang="en-US" sz="2000" b="1" dirty="0">
                  <a:latin typeface="Gulim" pitchFamily="34" charset="-127"/>
                </a:rPr>
                <a:t>整型、字符型或枚举型</a:t>
              </a:r>
              <a:endParaRPr lang="zh-CN" altLang="en-US" sz="2000" b="1" dirty="0">
                <a:latin typeface="Gulim" pitchFamily="34" charset="-127"/>
              </a:endParaRPr>
            </a:p>
          </p:txBody>
        </p:sp>
        <p:sp>
          <p:nvSpPr>
            <p:cNvPr id="9225" name="Line 9"/>
            <p:cNvSpPr/>
            <p:nvPr/>
          </p:nvSpPr>
          <p:spPr>
            <a:xfrm>
              <a:off x="0" y="740"/>
              <a:ext cx="6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prstShdw prst="shdw13" dist="53882" dir="13499999">
                <a:schemeClr val="bg2">
                  <a:alpha val="50000"/>
                </a:schemeClr>
              </a:prstShdw>
            </a:effectLst>
          </p:spPr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/>
      <p:bldP spid="6148" grpId="0" animBg="1"/>
      <p:bldP spid="6149" grpId="0" animBg="1"/>
      <p:bldP spid="61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Rectangle 2"/>
          <p:cNvSpPr/>
          <p:nvPr/>
        </p:nvSpPr>
        <p:spPr>
          <a:xfrm>
            <a:off x="468313" y="180975"/>
            <a:ext cx="3552825" cy="819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342900" indent="-342900" eaLnBrk="1" hangingPunct="1">
              <a:lnSpc>
                <a:spcPct val="85000"/>
              </a:lnSpc>
            </a:pPr>
            <a:r>
              <a:rPr lang="zh-CN" altLang="en-US" sz="2800" b="1" dirty="0">
                <a:solidFill>
                  <a:srgbClr val="220011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220011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.</a:t>
            </a:r>
            <a:r>
              <a:rPr lang="zh-CN" altLang="en-US" sz="2800" b="1" dirty="0">
                <a:solidFill>
                  <a:srgbClr val="220011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判别学生成绩等级</a:t>
            </a:r>
            <a:endParaRPr lang="zh-CN" altLang="en-US" sz="2800" b="1" dirty="0">
              <a:solidFill>
                <a:srgbClr val="220011"/>
              </a:solidFill>
              <a:latin typeface="Comic Sans MS" panose="030F0702030302020204" pitchFamily="66" charset="0"/>
              <a:ea typeface="隶书" panose="02010509060101010101" pitchFamily="49" charset="-122"/>
            </a:endParaRPr>
          </a:p>
          <a:p>
            <a:pPr marL="342900" indent="-342900" eaLnBrk="1" hangingPunct="1">
              <a:lnSpc>
                <a:spcPct val="85000"/>
              </a:lnSpc>
            </a:pPr>
            <a:r>
              <a:rPr lang="zh-CN" altLang="en-US" sz="2800" b="1" dirty="0">
                <a:solidFill>
                  <a:srgbClr val="220011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       </a:t>
            </a:r>
            <a:endParaRPr lang="zh-CN" altLang="en-US" sz="2800" b="1" dirty="0">
              <a:solidFill>
                <a:srgbClr val="220011"/>
              </a:solidFill>
              <a:latin typeface="Comic Sans MS" panose="030F0702030302020204" pitchFamily="66" charset="0"/>
              <a:ea typeface="隶书" panose="02010509060101010101" pitchFamily="49" charset="-122"/>
            </a:endParaRPr>
          </a:p>
        </p:txBody>
      </p:sp>
      <p:grpSp>
        <p:nvGrpSpPr>
          <p:cNvPr id="1028" name="Group 27"/>
          <p:cNvGrpSpPr/>
          <p:nvPr/>
        </p:nvGrpSpPr>
        <p:grpSpPr>
          <a:xfrm>
            <a:off x="4506913" y="400050"/>
            <a:ext cx="5105400" cy="3444875"/>
            <a:chOff x="0" y="0"/>
            <a:chExt cx="3216" cy="2170"/>
          </a:xfrm>
        </p:grpSpPr>
        <p:sp>
          <p:nvSpPr>
            <p:cNvPr id="1070" name="Line 4"/>
            <p:cNvSpPr/>
            <p:nvPr/>
          </p:nvSpPr>
          <p:spPr>
            <a:xfrm flipV="1">
              <a:off x="255" y="0"/>
              <a:ext cx="0" cy="1987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71" name="Line 5"/>
            <p:cNvSpPr/>
            <p:nvPr/>
          </p:nvSpPr>
          <p:spPr>
            <a:xfrm>
              <a:off x="51" y="1830"/>
              <a:ext cx="3165" cy="0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72" name="Text Box 6"/>
            <p:cNvSpPr txBox="1"/>
            <p:nvPr/>
          </p:nvSpPr>
          <p:spPr>
            <a:xfrm>
              <a:off x="663" y="1882"/>
              <a:ext cx="250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22001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60    70    80     90    100  </a:t>
              </a:r>
              <a:endParaRPr lang="en-US" altLang="zh-CN" sz="2400" b="1" dirty="0">
                <a:solidFill>
                  <a:srgbClr val="22001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3" name="Line 7"/>
            <p:cNvSpPr/>
            <p:nvPr/>
          </p:nvSpPr>
          <p:spPr>
            <a:xfrm flipV="1">
              <a:off x="862" y="1308"/>
              <a:ext cx="0" cy="261"/>
            </a:xfrm>
            <a:prstGeom prst="line">
              <a:avLst/>
            </a:prstGeom>
            <a:ln w="76200" cap="sq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4" name="Line 8"/>
            <p:cNvSpPr/>
            <p:nvPr/>
          </p:nvSpPr>
          <p:spPr>
            <a:xfrm flipV="1">
              <a:off x="862" y="1308"/>
              <a:ext cx="409" cy="0"/>
            </a:xfrm>
            <a:prstGeom prst="line">
              <a:avLst/>
            </a:prstGeom>
            <a:ln w="76200" cap="sq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5" name="Line 9"/>
            <p:cNvSpPr/>
            <p:nvPr/>
          </p:nvSpPr>
          <p:spPr>
            <a:xfrm flipV="1">
              <a:off x="1271" y="1046"/>
              <a:ext cx="407" cy="0"/>
            </a:xfrm>
            <a:prstGeom prst="line">
              <a:avLst/>
            </a:prstGeom>
            <a:ln w="76200" cap="sq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6" name="Line 10"/>
            <p:cNvSpPr/>
            <p:nvPr/>
          </p:nvSpPr>
          <p:spPr>
            <a:xfrm flipV="1">
              <a:off x="1678" y="784"/>
              <a:ext cx="409" cy="0"/>
            </a:xfrm>
            <a:prstGeom prst="line">
              <a:avLst/>
            </a:prstGeom>
            <a:ln w="76200" cap="sq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7" name="Line 11"/>
            <p:cNvSpPr/>
            <p:nvPr/>
          </p:nvSpPr>
          <p:spPr>
            <a:xfrm flipV="1">
              <a:off x="2087" y="523"/>
              <a:ext cx="408" cy="0"/>
            </a:xfrm>
            <a:prstGeom prst="line">
              <a:avLst/>
            </a:prstGeom>
            <a:ln w="76200" cap="sq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8" name="Line 12"/>
            <p:cNvSpPr/>
            <p:nvPr/>
          </p:nvSpPr>
          <p:spPr>
            <a:xfrm flipV="1">
              <a:off x="1271" y="1046"/>
              <a:ext cx="0" cy="262"/>
            </a:xfrm>
            <a:prstGeom prst="line">
              <a:avLst/>
            </a:prstGeom>
            <a:ln w="76200" cap="sq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79" name="Line 13"/>
            <p:cNvSpPr/>
            <p:nvPr/>
          </p:nvSpPr>
          <p:spPr>
            <a:xfrm flipV="1">
              <a:off x="1678" y="784"/>
              <a:ext cx="0" cy="262"/>
            </a:xfrm>
            <a:prstGeom prst="line">
              <a:avLst/>
            </a:prstGeom>
            <a:ln w="76200" cap="sq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0" name="Line 14"/>
            <p:cNvSpPr/>
            <p:nvPr/>
          </p:nvSpPr>
          <p:spPr>
            <a:xfrm flipV="1">
              <a:off x="2087" y="523"/>
              <a:ext cx="0" cy="261"/>
            </a:xfrm>
            <a:prstGeom prst="line">
              <a:avLst/>
            </a:prstGeom>
            <a:ln w="76200" cap="sq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1" name="Line 15"/>
            <p:cNvSpPr/>
            <p:nvPr/>
          </p:nvSpPr>
          <p:spPr>
            <a:xfrm flipV="1">
              <a:off x="250" y="1569"/>
              <a:ext cx="612" cy="0"/>
            </a:xfrm>
            <a:prstGeom prst="line">
              <a:avLst/>
            </a:prstGeom>
            <a:ln w="76200" cap="sq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2" name="Text Box 16"/>
            <p:cNvSpPr txBox="1"/>
            <p:nvPr/>
          </p:nvSpPr>
          <p:spPr>
            <a:xfrm>
              <a:off x="0" y="258"/>
              <a:ext cx="357" cy="13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15000"/>
                </a:spcBef>
              </a:pPr>
              <a:r>
                <a:rPr lang="en-US" altLang="zh-CN" sz="24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15000"/>
                </a:spcBef>
              </a:pPr>
              <a:r>
                <a:rPr lang="en-US" altLang="zh-CN" sz="2400" b="1" dirty="0">
                  <a:solidFill>
                    <a:srgbClr val="CC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 dirty="0">
                <a:solidFill>
                  <a:srgbClr val="CC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15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15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15000"/>
                </a:spcBef>
              </a:pPr>
              <a:r>
                <a:rPr lang="en-US" altLang="zh-CN" sz="2400" b="1" dirty="0">
                  <a:solidFill>
                    <a:srgbClr val="CC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3" name="Line 17"/>
            <p:cNvSpPr/>
            <p:nvPr/>
          </p:nvSpPr>
          <p:spPr>
            <a:xfrm>
              <a:off x="250" y="523"/>
              <a:ext cx="1837" cy="0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084" name="Line 18"/>
            <p:cNvSpPr/>
            <p:nvPr/>
          </p:nvSpPr>
          <p:spPr>
            <a:xfrm>
              <a:off x="250" y="784"/>
              <a:ext cx="1428" cy="0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085" name="Line 19"/>
            <p:cNvSpPr/>
            <p:nvPr/>
          </p:nvSpPr>
          <p:spPr>
            <a:xfrm>
              <a:off x="250" y="1046"/>
              <a:ext cx="1072" cy="0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086" name="Line 20"/>
            <p:cNvSpPr/>
            <p:nvPr/>
          </p:nvSpPr>
          <p:spPr>
            <a:xfrm>
              <a:off x="250" y="1308"/>
              <a:ext cx="612" cy="0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087" name="Line 21"/>
            <p:cNvSpPr/>
            <p:nvPr/>
          </p:nvSpPr>
          <p:spPr>
            <a:xfrm>
              <a:off x="862" y="1561"/>
              <a:ext cx="0" cy="261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088" name="Line 22"/>
            <p:cNvSpPr/>
            <p:nvPr/>
          </p:nvSpPr>
          <p:spPr>
            <a:xfrm>
              <a:off x="1271" y="1255"/>
              <a:ext cx="0" cy="575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089" name="Line 23"/>
            <p:cNvSpPr/>
            <p:nvPr/>
          </p:nvSpPr>
          <p:spPr>
            <a:xfrm>
              <a:off x="1678" y="1046"/>
              <a:ext cx="0" cy="784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090" name="Line 24"/>
            <p:cNvSpPr/>
            <p:nvPr/>
          </p:nvSpPr>
          <p:spPr>
            <a:xfrm>
              <a:off x="2087" y="784"/>
              <a:ext cx="0" cy="1046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lgDash"/>
              <a:headEnd type="none" w="med" len="med"/>
              <a:tailEnd type="none" w="med" len="med"/>
            </a:ln>
          </p:spPr>
        </p:sp>
        <p:sp>
          <p:nvSpPr>
            <p:cNvPr id="1091" name="Line 25"/>
            <p:cNvSpPr/>
            <p:nvPr/>
          </p:nvSpPr>
          <p:spPr>
            <a:xfrm>
              <a:off x="2495" y="523"/>
              <a:ext cx="0" cy="1307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lgDash"/>
              <a:headEnd type="none" w="med" len="med"/>
              <a:tailEnd type="none" w="med" len="med"/>
            </a:ln>
          </p:spPr>
        </p:sp>
      </p:grpSp>
      <p:grpSp>
        <p:nvGrpSpPr>
          <p:cNvPr id="1029" name="Group 28"/>
          <p:cNvGrpSpPr/>
          <p:nvPr/>
        </p:nvGrpSpPr>
        <p:grpSpPr>
          <a:xfrm>
            <a:off x="3059113" y="3379788"/>
            <a:ext cx="6553200" cy="3478212"/>
            <a:chOff x="0" y="0"/>
            <a:chExt cx="4128" cy="2688"/>
          </a:xfrm>
        </p:grpSpPr>
        <p:sp>
          <p:nvSpPr>
            <p:cNvPr id="1033" name="AutoShape 29"/>
            <p:cNvSpPr/>
            <p:nvPr/>
          </p:nvSpPr>
          <p:spPr>
            <a:xfrm>
              <a:off x="0" y="288"/>
              <a:ext cx="1008" cy="480"/>
            </a:xfrm>
            <a:prstGeom prst="flowChartDecision">
              <a:avLst/>
            </a:prstGeom>
            <a:solidFill>
              <a:srgbClr val="FFCCFF"/>
            </a:solidFill>
            <a:ln w="28575" cap="sq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&lt;60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" name="Line 30"/>
            <p:cNvSpPr/>
            <p:nvPr/>
          </p:nvSpPr>
          <p:spPr>
            <a:xfrm flipH="1">
              <a:off x="480" y="768"/>
              <a:ext cx="0" cy="1152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35" name="Text Box 31"/>
            <p:cNvSpPr txBox="1"/>
            <p:nvPr/>
          </p:nvSpPr>
          <p:spPr>
            <a:xfrm>
              <a:off x="144" y="1949"/>
              <a:ext cx="624" cy="357"/>
            </a:xfrm>
            <a:prstGeom prst="rect">
              <a:avLst/>
            </a:prstGeom>
            <a:solidFill>
              <a:srgbClr val="FFCCFF"/>
            </a:solidFill>
            <a:ln w="28575" cap="sq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6" name="Line 32"/>
            <p:cNvSpPr/>
            <p:nvPr/>
          </p:nvSpPr>
          <p:spPr>
            <a:xfrm>
              <a:off x="1008" y="528"/>
              <a:ext cx="240" cy="0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7" name="Line 33"/>
            <p:cNvSpPr/>
            <p:nvPr/>
          </p:nvSpPr>
          <p:spPr>
            <a:xfrm>
              <a:off x="528" y="0"/>
              <a:ext cx="0" cy="288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38" name="Text Box 34"/>
            <p:cNvSpPr txBox="1"/>
            <p:nvPr/>
          </p:nvSpPr>
          <p:spPr>
            <a:xfrm>
              <a:off x="1008" y="193"/>
              <a:ext cx="624" cy="3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9" name="Text Box 35"/>
            <p:cNvSpPr txBox="1"/>
            <p:nvPr/>
          </p:nvSpPr>
          <p:spPr>
            <a:xfrm>
              <a:off x="528" y="721"/>
              <a:ext cx="576" cy="3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0" name="AutoShape 36"/>
            <p:cNvSpPr/>
            <p:nvPr/>
          </p:nvSpPr>
          <p:spPr>
            <a:xfrm>
              <a:off x="720" y="768"/>
              <a:ext cx="1008" cy="480"/>
            </a:xfrm>
            <a:prstGeom prst="flowChartDecision">
              <a:avLst/>
            </a:prstGeom>
            <a:solidFill>
              <a:srgbClr val="FFCCFF"/>
            </a:solidFill>
            <a:ln w="28575" cap="sq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&lt;70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1" name="Line 37"/>
            <p:cNvSpPr/>
            <p:nvPr/>
          </p:nvSpPr>
          <p:spPr>
            <a:xfrm>
              <a:off x="1200" y="1248"/>
              <a:ext cx="0" cy="672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42" name="Text Box 38"/>
            <p:cNvSpPr txBox="1"/>
            <p:nvPr/>
          </p:nvSpPr>
          <p:spPr>
            <a:xfrm>
              <a:off x="864" y="1949"/>
              <a:ext cx="624" cy="357"/>
            </a:xfrm>
            <a:prstGeom prst="rect">
              <a:avLst/>
            </a:prstGeom>
            <a:solidFill>
              <a:srgbClr val="FFCCFF"/>
            </a:solidFill>
            <a:ln w="28575" cap="sq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3" name="Line 39"/>
            <p:cNvSpPr/>
            <p:nvPr/>
          </p:nvSpPr>
          <p:spPr>
            <a:xfrm>
              <a:off x="1728" y="1008"/>
              <a:ext cx="288" cy="0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4" name="Line 40"/>
            <p:cNvSpPr/>
            <p:nvPr/>
          </p:nvSpPr>
          <p:spPr>
            <a:xfrm>
              <a:off x="1248" y="528"/>
              <a:ext cx="0" cy="240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45" name="Text Box 41"/>
            <p:cNvSpPr txBox="1"/>
            <p:nvPr/>
          </p:nvSpPr>
          <p:spPr>
            <a:xfrm>
              <a:off x="1776" y="721"/>
              <a:ext cx="624" cy="3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6" name="Text Box 42"/>
            <p:cNvSpPr txBox="1"/>
            <p:nvPr/>
          </p:nvSpPr>
          <p:spPr>
            <a:xfrm>
              <a:off x="1152" y="1345"/>
              <a:ext cx="576" cy="3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7" name="AutoShape 43"/>
            <p:cNvSpPr/>
            <p:nvPr/>
          </p:nvSpPr>
          <p:spPr>
            <a:xfrm>
              <a:off x="1599" y="1104"/>
              <a:ext cx="816" cy="480"/>
            </a:xfrm>
            <a:prstGeom prst="flowChartDecision">
              <a:avLst/>
            </a:prstGeom>
            <a:solidFill>
              <a:srgbClr val="FFCCFF"/>
            </a:solidFill>
            <a:ln w="28575" cap="sq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&lt;80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8" name="Line 44"/>
            <p:cNvSpPr/>
            <p:nvPr/>
          </p:nvSpPr>
          <p:spPr>
            <a:xfrm>
              <a:off x="2016" y="1584"/>
              <a:ext cx="0" cy="38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49" name="Text Box 45"/>
            <p:cNvSpPr txBox="1"/>
            <p:nvPr/>
          </p:nvSpPr>
          <p:spPr>
            <a:xfrm>
              <a:off x="1680" y="1824"/>
              <a:ext cx="624" cy="357"/>
            </a:xfrm>
            <a:prstGeom prst="rect">
              <a:avLst/>
            </a:prstGeom>
            <a:solidFill>
              <a:srgbClr val="FFCCFF"/>
            </a:solidFill>
            <a:ln w="28575" cap="sq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0" name="Line 46"/>
            <p:cNvSpPr/>
            <p:nvPr/>
          </p:nvSpPr>
          <p:spPr>
            <a:xfrm>
              <a:off x="2448" y="1344"/>
              <a:ext cx="384" cy="0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1" name="Line 47"/>
            <p:cNvSpPr/>
            <p:nvPr/>
          </p:nvSpPr>
          <p:spPr>
            <a:xfrm>
              <a:off x="2832" y="1344"/>
              <a:ext cx="0" cy="144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52" name="Text Box 48"/>
            <p:cNvSpPr txBox="1"/>
            <p:nvPr/>
          </p:nvSpPr>
          <p:spPr>
            <a:xfrm>
              <a:off x="2544" y="1008"/>
              <a:ext cx="624" cy="3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3" name="Text Box 49"/>
            <p:cNvSpPr txBox="1"/>
            <p:nvPr/>
          </p:nvSpPr>
          <p:spPr>
            <a:xfrm>
              <a:off x="2016" y="1536"/>
              <a:ext cx="576" cy="3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4" name="Line 50"/>
            <p:cNvSpPr/>
            <p:nvPr/>
          </p:nvSpPr>
          <p:spPr>
            <a:xfrm>
              <a:off x="2016" y="1008"/>
              <a:ext cx="0" cy="96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55" name="Line 51"/>
            <p:cNvSpPr/>
            <p:nvPr/>
          </p:nvSpPr>
          <p:spPr>
            <a:xfrm>
              <a:off x="432" y="2256"/>
              <a:ext cx="0" cy="14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56" name="Line 52"/>
            <p:cNvSpPr/>
            <p:nvPr/>
          </p:nvSpPr>
          <p:spPr>
            <a:xfrm>
              <a:off x="1152" y="2256"/>
              <a:ext cx="0" cy="14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57" name="Line 53"/>
            <p:cNvSpPr/>
            <p:nvPr/>
          </p:nvSpPr>
          <p:spPr>
            <a:xfrm>
              <a:off x="2832" y="2304"/>
              <a:ext cx="0" cy="14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58" name="Line 54"/>
            <p:cNvSpPr/>
            <p:nvPr/>
          </p:nvSpPr>
          <p:spPr>
            <a:xfrm>
              <a:off x="1968" y="2160"/>
              <a:ext cx="0" cy="288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59" name="Text Box 55"/>
            <p:cNvSpPr txBox="1"/>
            <p:nvPr/>
          </p:nvSpPr>
          <p:spPr>
            <a:xfrm>
              <a:off x="2592" y="1949"/>
              <a:ext cx="528" cy="357"/>
            </a:xfrm>
            <a:prstGeom prst="rect">
              <a:avLst/>
            </a:prstGeom>
            <a:solidFill>
              <a:srgbClr val="FFCCFF"/>
            </a:solidFill>
            <a:ln w="28575" cap="sq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0" name="Line 56"/>
            <p:cNvSpPr/>
            <p:nvPr/>
          </p:nvSpPr>
          <p:spPr>
            <a:xfrm>
              <a:off x="432" y="2422"/>
              <a:ext cx="3312" cy="26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1" name="Line 57"/>
            <p:cNvSpPr/>
            <p:nvPr/>
          </p:nvSpPr>
          <p:spPr>
            <a:xfrm flipH="1">
              <a:off x="2064" y="2448"/>
              <a:ext cx="0" cy="240"/>
            </a:xfrm>
            <a:prstGeom prst="line">
              <a:avLst/>
            </a:prstGeom>
            <a:ln w="38100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62" name="AutoShape 58"/>
            <p:cNvSpPr/>
            <p:nvPr/>
          </p:nvSpPr>
          <p:spPr>
            <a:xfrm>
              <a:off x="2496" y="1488"/>
              <a:ext cx="672" cy="384"/>
            </a:xfrm>
            <a:prstGeom prst="flowChartDecision">
              <a:avLst/>
            </a:prstGeom>
            <a:solidFill>
              <a:srgbClr val="FFCCFF"/>
            </a:solidFill>
            <a:ln w="28575" cap="sq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&lt;90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3" name="AutoShape 59"/>
            <p:cNvSpPr/>
            <p:nvPr/>
          </p:nvSpPr>
          <p:spPr>
            <a:xfrm>
              <a:off x="3360" y="1632"/>
              <a:ext cx="768" cy="336"/>
            </a:xfrm>
            <a:prstGeom prst="flowChartDecision">
              <a:avLst/>
            </a:prstGeom>
            <a:solidFill>
              <a:srgbClr val="FFCCFF"/>
            </a:solidFill>
            <a:ln w="28575" cap="sq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&lt;=100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4" name="Line 60"/>
            <p:cNvSpPr/>
            <p:nvPr/>
          </p:nvSpPr>
          <p:spPr>
            <a:xfrm flipV="1">
              <a:off x="3168" y="1632"/>
              <a:ext cx="576" cy="48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" name="Text Box 61"/>
            <p:cNvSpPr txBox="1"/>
            <p:nvPr/>
          </p:nvSpPr>
          <p:spPr>
            <a:xfrm>
              <a:off x="3552" y="2065"/>
              <a:ext cx="432" cy="328"/>
            </a:xfrm>
            <a:prstGeom prst="rect">
              <a:avLst/>
            </a:prstGeom>
            <a:solidFill>
              <a:srgbClr val="FFCCFF"/>
            </a:solidFill>
            <a:ln w="28575" cap="sq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 eaLnBrk="1" hangingPunct="1">
                <a:lnSpc>
                  <a:spcPct val="90000"/>
                </a:lnSpc>
              </a:pPr>
              <a:r>
                <a:rPr lang="en-US" altLang="zh-CN" sz="24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6" name="Line 62"/>
            <p:cNvSpPr/>
            <p:nvPr/>
          </p:nvSpPr>
          <p:spPr>
            <a:xfrm>
              <a:off x="2832" y="1872"/>
              <a:ext cx="0" cy="96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7" name="Line 63"/>
            <p:cNvSpPr/>
            <p:nvPr/>
          </p:nvSpPr>
          <p:spPr>
            <a:xfrm>
              <a:off x="3744" y="1968"/>
              <a:ext cx="0" cy="96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8" name="Line 64"/>
            <p:cNvSpPr/>
            <p:nvPr/>
          </p:nvSpPr>
          <p:spPr>
            <a:xfrm>
              <a:off x="3744" y="2352"/>
              <a:ext cx="0" cy="96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069" name="Text Box 65"/>
            <p:cNvSpPr txBox="1"/>
            <p:nvPr/>
          </p:nvSpPr>
          <p:spPr>
            <a:xfrm>
              <a:off x="3216" y="1345"/>
              <a:ext cx="624" cy="3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1024" name="Text Box 66"/>
          <p:cNvSpPr txBox="1"/>
          <p:nvPr/>
        </p:nvSpPr>
        <p:spPr>
          <a:xfrm>
            <a:off x="782638" y="787400"/>
            <a:ext cx="2205037" cy="29829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eaLnBrk="1" hangingPunct="1">
              <a:lnSpc>
                <a:spcPct val="85000"/>
              </a:lnSpc>
            </a:pPr>
            <a:r>
              <a:rPr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Algorithm:</a:t>
            </a:r>
            <a:endParaRPr lang="en-US" altLang="zh-CN" sz="3600" b="1" dirty="0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85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score/10: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85000"/>
              </a:lnSpc>
            </a:pPr>
            <a:r>
              <a:rPr lang="en-US" altLang="zh-CN" sz="32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lang="en-US" altLang="zh-CN" sz="3200" b="1" dirty="0">
                <a:solidFill>
                  <a:srgbClr val="CC00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0~5</a:t>
            </a:r>
            <a:r>
              <a:rPr lang="en-US" altLang="zh-CN" sz="32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---E</a:t>
            </a:r>
            <a:endParaRPr lang="en-US" altLang="zh-CN" sz="32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85000"/>
              </a:lnSpc>
            </a:pPr>
            <a:r>
              <a:rPr lang="en-US" altLang="zh-CN" sz="32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6 ---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85000"/>
              </a:lnSpc>
            </a:pPr>
            <a:r>
              <a:rPr lang="en-US" altLang="zh-CN" sz="32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7 ---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85000"/>
              </a:lnSpc>
            </a:pPr>
            <a:r>
              <a:rPr lang="en-US" altLang="zh-CN" sz="32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8 ---</a:t>
            </a:r>
            <a:r>
              <a:rPr lang="en-US" altLang="zh-CN" sz="3200" b="1" dirty="0">
                <a:solidFill>
                  <a:srgbClr val="CC00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</a:t>
            </a:r>
            <a:endParaRPr lang="en-US" altLang="zh-CN" sz="3200" b="1" dirty="0">
              <a:solidFill>
                <a:srgbClr val="CC0099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85000"/>
              </a:lnSpc>
            </a:pPr>
            <a:r>
              <a:rPr lang="en-US" altLang="zh-CN" sz="32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9,10 ---</a:t>
            </a:r>
            <a:r>
              <a:rPr lang="en-US" altLang="zh-CN" sz="3200" b="1" dirty="0">
                <a:solidFill>
                  <a:srgbClr val="00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1026" name="Object 69">
            <a:hlinkClick r:id="" action="ppaction://noaction"/>
          </p:cNvPr>
          <p:cNvGraphicFramePr>
            <a:graphicFrameLocks noChangeAspect="1"/>
          </p:cNvGraphicFramePr>
          <p:nvPr/>
        </p:nvGraphicFramePr>
        <p:xfrm>
          <a:off x="9345613" y="6435725"/>
          <a:ext cx="2667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729105" imgH="3253105" progId="MS_ClipArt_Gallery.2">
                  <p:embed/>
                </p:oleObj>
              </mc:Choice>
              <mc:Fallback>
                <p:oleObj name="" r:id="rId1" imgW="1729105" imgH="3253105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345613" y="6435725"/>
                        <a:ext cx="266700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AutoShape 70">
            <a:hlinkClick r:id="rId3" action="ppaction://program"/>
          </p:cNvPr>
          <p:cNvSpPr/>
          <p:nvPr/>
        </p:nvSpPr>
        <p:spPr>
          <a:xfrm>
            <a:off x="9307513" y="4348163"/>
            <a:ext cx="304800" cy="377825"/>
          </a:xfrm>
          <a:prstGeom prst="actionButtonDocumen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027" name="Rectangle 72"/>
          <p:cNvSpPr/>
          <p:nvPr/>
        </p:nvSpPr>
        <p:spPr>
          <a:xfrm>
            <a:off x="468313" y="0"/>
            <a:ext cx="7859712" cy="7110413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#include &lt;stdio.h&gt;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main()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{  int score,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char grade;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printf("Please input scores:");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scanf("%d",&amp;score);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score/10</a:t>
            </a:r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switch(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{  case  10: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case  9 : grade='A';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break</a:t>
            </a:r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case  8 : grade='B';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break</a:t>
            </a:r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case  7 : grade='C';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break</a:t>
            </a:r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case  6 : grade='D';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break</a:t>
            </a:r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case  5 :     case  4 :      case  3 :       case  2 :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case  1 :    case  0 :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     grade='E';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break</a:t>
            </a:r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}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printf("Score is %d:Level is %c\n",score,grade);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02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>
                                            <p:txEl>
                                              <p:charRg st="1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1024">
                                            <p:txEl>
                                              <p:charRg st="1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>
                                            <p:txEl>
                                              <p:charRg st="21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1024">
                                            <p:txEl>
                                              <p:charRg st="21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>
                                            <p:txEl>
                                              <p:charRg st="34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1024">
                                            <p:txEl>
                                              <p:charRg st="34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>
                                            <p:txEl>
                                              <p:charRg st="4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1024">
                                            <p:txEl>
                                              <p:charRg st="45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>
                                            <p:txEl>
                                              <p:charRg st="56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1024">
                                            <p:txEl>
                                              <p:charRg st="56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>
                                            <p:txEl>
                                              <p:charRg st="67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1024">
                                            <p:txEl>
                                              <p:charRg st="67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02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19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027">
                                            <p:txEl>
                                              <p:charRg st="19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26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027">
                                            <p:txEl>
                                              <p:charRg st="26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42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027">
                                            <p:txEl>
                                              <p:charRg st="42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57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1027">
                                            <p:txEl>
                                              <p:charRg st="57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92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027">
                                            <p:txEl>
                                              <p:charRg st="92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436" end="4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027">
                                            <p:txEl>
                                              <p:charRg st="436" end="4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488" end="4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1027">
                                            <p:txEl>
                                              <p:charRg st="488" end="4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115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1027">
                                            <p:txEl>
                                              <p:charRg st="115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130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027">
                                            <p:txEl>
                                              <p:charRg st="130" end="1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143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027">
                                            <p:txEl>
                                              <p:charRg st="143" end="1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159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027">
                                            <p:txEl>
                                              <p:charRg st="159" end="1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194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027">
                                            <p:txEl>
                                              <p:charRg st="194" end="2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229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027">
                                            <p:txEl>
                                              <p:charRg st="229" end="2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264" end="2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1027">
                                            <p:txEl>
                                              <p:charRg st="264" end="2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299" end="3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027">
                                            <p:txEl>
                                              <p:charRg st="299" end="3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361" end="3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1027">
                                            <p:txEl>
                                              <p:charRg st="361" end="3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391" end="4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1027">
                                            <p:txEl>
                                              <p:charRg st="391" end="4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>
                                            <p:txEl>
                                              <p:charRg st="431" end="4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1027">
                                            <p:txEl>
                                              <p:charRg st="431" end="4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4" grpId="0" build="p"/>
      <p:bldP spid="41027" grpId="0" animBg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5"/>
          <p:cNvSpPr txBox="1"/>
          <p:nvPr/>
        </p:nvSpPr>
        <p:spPr>
          <a:xfrm>
            <a:off x="4470400" y="74613"/>
            <a:ext cx="139700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10243" name="Text Box 3"/>
          <p:cNvSpPr txBox="1"/>
          <p:nvPr/>
        </p:nvSpPr>
        <p:spPr>
          <a:xfrm>
            <a:off x="73025" y="1123950"/>
            <a:ext cx="9431338" cy="1557338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 根据深大考试成绩的等级输出百分制分数段。</a:t>
            </a:r>
            <a:endParaRPr lang="en-US" altLang="zh-CN" sz="2800" b="1" dirty="0">
              <a:latin typeface="Gulim" pitchFamily="34" charset="-127"/>
              <a:ea typeface="宋体" panose="02010600030101010101" pitchFamily="2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  A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85~100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75~84, C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65~74</a:t>
            </a:r>
            <a:endParaRPr lang="en-US" altLang="zh-CN" sz="2800" b="1" dirty="0">
              <a:latin typeface="Gulim" pitchFamily="34" charset="-127"/>
              <a:ea typeface="宋体" panose="02010600030101010101" pitchFamily="2" charset="-122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  D: 60~64, F</a:t>
            </a:r>
            <a:r>
              <a:rPr lang="zh-CN" altLang="en-US" sz="2800" b="1" dirty="0">
                <a:latin typeface="Gulim" pitchFamily="34" charset="-127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latin typeface="Gulim" pitchFamily="34" charset="-127"/>
                <a:ea typeface="宋体" panose="02010600030101010101" pitchFamily="2" charset="-122"/>
              </a:rPr>
              <a:t>&lt;60 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360363" y="5300663"/>
            <a:ext cx="9144000" cy="868363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marR="0" defTabSz="914400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注：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break;  — 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跳出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switch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语句</a:t>
            </a:r>
            <a:endParaRPr kumimoji="0" lang="zh-CN" altLang="en-US" sz="24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R="0" defTabSz="914400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       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case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通常与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break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语句联合使用</a:t>
            </a:r>
            <a:r>
              <a:rPr kumimoji="0" lang="en-US" altLang="zh-CN" sz="2400" b="1" kern="1200" cap="none" spc="0" normalizeH="0" baseline="0" noProof="0" dirty="0">
                <a:latin typeface="+mn-ea"/>
                <a:ea typeface="+mn-ea"/>
                <a:cs typeface="+mn-cs"/>
              </a:rPr>
              <a:t>,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+mn-cs"/>
              </a:rPr>
              <a:t>保证多路分支的正确实现。</a:t>
            </a:r>
            <a:endParaRPr kumimoji="0" lang="zh-CN" altLang="en-US" sz="2400" b="1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10245" name="Text Box 5"/>
          <p:cNvSpPr txBox="1"/>
          <p:nvPr/>
        </p:nvSpPr>
        <p:spPr>
          <a:xfrm>
            <a:off x="7777163" y="4437063"/>
            <a:ext cx="2016125" cy="3841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FF0000"/>
                </a:solidFill>
                <a:latin typeface="Gulim" pitchFamily="34" charset="-127"/>
              </a:rPr>
              <a:t>exp4_1.cpp</a:t>
            </a:r>
            <a:endParaRPr lang="en-US" altLang="zh-CN" sz="2400" b="1" dirty="0">
              <a:solidFill>
                <a:srgbClr val="FF0000"/>
              </a:solidFill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825" y="142875"/>
            <a:ext cx="9072563" cy="6500813"/>
          </a:xfrm>
        </p:spPr>
        <p:txBody>
          <a:bodyPr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main()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   char grade;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("input grade(A,B,C,D,F):");  //input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c",&amp;grade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switch(grade)      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//switch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一定是准确比较，因此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float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double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类型不能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switch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{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case 'A':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("A --&gt; 85~100\n");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          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//break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不能少，不然多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case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共享语句。可去掉运行理解。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case 'B':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("B --&gt; 75~84\n");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case 'C':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("C --&gt; 65~74\n");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case 'D':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("D --&gt; 60~64\n");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case 'F':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("F --&gt; &lt;60\n");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default: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("input error\n");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//break;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}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5"/>
          <p:cNvSpPr txBox="1"/>
          <p:nvPr/>
        </p:nvSpPr>
        <p:spPr>
          <a:xfrm>
            <a:off x="2273300" y="74613"/>
            <a:ext cx="5792788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switch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多分支选择语句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14339" name="AutoShape 17"/>
          <p:cNvSpPr>
            <a:spLocks noChangeArrowheads="1"/>
          </p:cNvSpPr>
          <p:nvPr/>
        </p:nvSpPr>
        <p:spPr bwMode="auto">
          <a:xfrm>
            <a:off x="146050" y="1196975"/>
            <a:ext cx="1293813" cy="576263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  <a:rou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流程图</a:t>
            </a:r>
            <a:r>
              <a:rPr kumimoji="0" lang="ko-KR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Gulim" pitchFamily="34" charset="-127"/>
                <a:cs typeface="+mn-cs"/>
              </a:rPr>
              <a:t> </a:t>
            </a:r>
            <a:endParaRPr kumimoji="0" lang="ko-KR" altLang="en-US" sz="32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12292" name="AutoShape 36"/>
          <p:cNvSpPr/>
          <p:nvPr/>
        </p:nvSpPr>
        <p:spPr>
          <a:xfrm>
            <a:off x="2089150" y="1196975"/>
            <a:ext cx="6983413" cy="54006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FF"/>
              </a:gs>
              <a:gs pos="100000">
                <a:srgbClr val="FBFBBB">
                  <a:alpha val="89998"/>
                </a:srgbClr>
              </a:gs>
            </a:gsLst>
            <a:lin ang="0" scaled="1"/>
            <a:tileRect/>
          </a:gradFill>
          <a:ln w="952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none" lIns="36000" tIns="36000" rIns="36000" bIns="36000"/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endParaRPr lang="en-US" altLang="zh-CN" sz="2800" b="1" dirty="0">
              <a:solidFill>
                <a:srgbClr val="FF0000"/>
              </a:solidFill>
              <a:latin typeface="Gulim" pitchFamily="34" charset="-127"/>
              <a:ea typeface="宋体" panose="02010600030101010101" pitchFamily="2" charset="-122"/>
            </a:endParaRPr>
          </a:p>
        </p:txBody>
      </p:sp>
      <p:sp>
        <p:nvSpPr>
          <p:cNvPr id="12293" name="Line 5"/>
          <p:cNvSpPr/>
          <p:nvPr/>
        </p:nvSpPr>
        <p:spPr>
          <a:xfrm>
            <a:off x="8399463" y="1895475"/>
            <a:ext cx="0" cy="43418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8" name="Line 6"/>
          <p:cNvSpPr/>
          <p:nvPr/>
        </p:nvSpPr>
        <p:spPr>
          <a:xfrm>
            <a:off x="8424863" y="2662238"/>
            <a:ext cx="0" cy="53340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5" name="Line 7"/>
          <p:cNvSpPr/>
          <p:nvPr/>
        </p:nvSpPr>
        <p:spPr>
          <a:xfrm>
            <a:off x="3328988" y="1196975"/>
            <a:ext cx="0" cy="3222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296" name="Line 8"/>
          <p:cNvSpPr/>
          <p:nvPr/>
        </p:nvSpPr>
        <p:spPr>
          <a:xfrm>
            <a:off x="3328988" y="22955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297" name="Line 9"/>
          <p:cNvSpPr/>
          <p:nvPr/>
        </p:nvSpPr>
        <p:spPr>
          <a:xfrm>
            <a:off x="4281488" y="1947863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298" name="Text Box 10"/>
          <p:cNvSpPr txBox="1"/>
          <p:nvPr/>
        </p:nvSpPr>
        <p:spPr>
          <a:xfrm>
            <a:off x="2619375" y="2281238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假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9" name="AutoShape 11"/>
          <p:cNvSpPr/>
          <p:nvPr/>
        </p:nvSpPr>
        <p:spPr>
          <a:xfrm>
            <a:off x="2376488" y="1519238"/>
            <a:ext cx="1905000" cy="838200"/>
          </a:xfrm>
          <a:prstGeom prst="flowChartDecision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表达式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0" name="AutoShape 12"/>
          <p:cNvSpPr/>
          <p:nvPr/>
        </p:nvSpPr>
        <p:spPr>
          <a:xfrm>
            <a:off x="5014913" y="1728788"/>
            <a:ext cx="914400" cy="4572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语句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1" name="Text Box 13"/>
          <p:cNvSpPr txBox="1"/>
          <p:nvPr/>
        </p:nvSpPr>
        <p:spPr>
          <a:xfrm>
            <a:off x="4433888" y="1443038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真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2" name="Line 14"/>
          <p:cNvSpPr/>
          <p:nvPr/>
        </p:nvSpPr>
        <p:spPr>
          <a:xfrm>
            <a:off x="5957888" y="1962150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03" name="AutoShape 15"/>
          <p:cNvSpPr/>
          <p:nvPr/>
        </p:nvSpPr>
        <p:spPr>
          <a:xfrm>
            <a:off x="6677025" y="1719263"/>
            <a:ext cx="914400" cy="4572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break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4" name="AutoShape 16"/>
          <p:cNvSpPr/>
          <p:nvPr/>
        </p:nvSpPr>
        <p:spPr>
          <a:xfrm>
            <a:off x="2376488" y="2767013"/>
            <a:ext cx="1905000" cy="838200"/>
          </a:xfrm>
          <a:prstGeom prst="flowChartDecision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表达式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5" name="AutoShape 17"/>
          <p:cNvSpPr/>
          <p:nvPr/>
        </p:nvSpPr>
        <p:spPr>
          <a:xfrm>
            <a:off x="5014913" y="2976563"/>
            <a:ext cx="914400" cy="4572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语句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6" name="Text Box 18"/>
          <p:cNvSpPr txBox="1"/>
          <p:nvPr/>
        </p:nvSpPr>
        <p:spPr>
          <a:xfrm>
            <a:off x="4433888" y="2690813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真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7" name="Line 19"/>
          <p:cNvSpPr/>
          <p:nvPr/>
        </p:nvSpPr>
        <p:spPr>
          <a:xfrm>
            <a:off x="5957888" y="32099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08" name="AutoShape 20"/>
          <p:cNvSpPr/>
          <p:nvPr/>
        </p:nvSpPr>
        <p:spPr>
          <a:xfrm>
            <a:off x="6662738" y="2967038"/>
            <a:ext cx="914400" cy="4572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break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9" name="Line 21"/>
          <p:cNvSpPr/>
          <p:nvPr/>
        </p:nvSpPr>
        <p:spPr>
          <a:xfrm>
            <a:off x="4281488" y="3195638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10" name="Text Box 22"/>
          <p:cNvSpPr txBox="1"/>
          <p:nvPr/>
        </p:nvSpPr>
        <p:spPr>
          <a:xfrm>
            <a:off x="3087688" y="3522663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┇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1" name="AutoShape 23"/>
          <p:cNvSpPr/>
          <p:nvPr/>
        </p:nvSpPr>
        <p:spPr>
          <a:xfrm>
            <a:off x="2376488" y="4284663"/>
            <a:ext cx="1905000" cy="838200"/>
          </a:xfrm>
          <a:prstGeom prst="flowChartDecision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表达式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式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2" name="AutoShape 24"/>
          <p:cNvSpPr/>
          <p:nvPr/>
        </p:nvSpPr>
        <p:spPr>
          <a:xfrm>
            <a:off x="5078413" y="4651375"/>
            <a:ext cx="914400" cy="4572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语句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3" name="Text Box 25"/>
          <p:cNvSpPr txBox="1"/>
          <p:nvPr/>
        </p:nvSpPr>
        <p:spPr>
          <a:xfrm>
            <a:off x="4456113" y="4221163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真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4" name="Line 26"/>
          <p:cNvSpPr/>
          <p:nvPr/>
        </p:nvSpPr>
        <p:spPr>
          <a:xfrm>
            <a:off x="6021388" y="4884738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15" name="AutoShape 27"/>
          <p:cNvSpPr/>
          <p:nvPr/>
        </p:nvSpPr>
        <p:spPr>
          <a:xfrm>
            <a:off x="6740525" y="4641850"/>
            <a:ext cx="914400" cy="4572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break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6" name="Line 28"/>
          <p:cNvSpPr/>
          <p:nvPr/>
        </p:nvSpPr>
        <p:spPr>
          <a:xfrm>
            <a:off x="4316413" y="4708525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17" name="Line 29"/>
          <p:cNvSpPr/>
          <p:nvPr/>
        </p:nvSpPr>
        <p:spPr>
          <a:xfrm>
            <a:off x="3328988" y="5099050"/>
            <a:ext cx="0" cy="4492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18" name="Text Box 30"/>
          <p:cNvSpPr txBox="1"/>
          <p:nvPr/>
        </p:nvSpPr>
        <p:spPr>
          <a:xfrm>
            <a:off x="2625725" y="5076825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假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19" name="AutoShape 31"/>
          <p:cNvSpPr/>
          <p:nvPr/>
        </p:nvSpPr>
        <p:spPr>
          <a:xfrm>
            <a:off x="2568575" y="5548313"/>
            <a:ext cx="1552575" cy="4572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语句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n+1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20" name="Line 32"/>
          <p:cNvSpPr/>
          <p:nvPr/>
        </p:nvSpPr>
        <p:spPr>
          <a:xfrm>
            <a:off x="3328988" y="6005513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21" name="Line 33"/>
          <p:cNvSpPr/>
          <p:nvPr/>
        </p:nvSpPr>
        <p:spPr>
          <a:xfrm>
            <a:off x="3328988" y="3979863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22" name="Line 34"/>
          <p:cNvSpPr/>
          <p:nvPr/>
        </p:nvSpPr>
        <p:spPr>
          <a:xfrm>
            <a:off x="7639050" y="3195638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23" name="Line 35"/>
          <p:cNvSpPr/>
          <p:nvPr/>
        </p:nvSpPr>
        <p:spPr>
          <a:xfrm>
            <a:off x="7683500" y="487045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24" name="Line 36"/>
          <p:cNvSpPr/>
          <p:nvPr/>
        </p:nvSpPr>
        <p:spPr>
          <a:xfrm flipH="1">
            <a:off x="3328988" y="6237288"/>
            <a:ext cx="50720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25" name="Line 37"/>
          <p:cNvSpPr/>
          <p:nvPr/>
        </p:nvSpPr>
        <p:spPr>
          <a:xfrm>
            <a:off x="7577138" y="188595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30" name="AutoShape 38"/>
          <p:cNvSpPr/>
          <p:nvPr/>
        </p:nvSpPr>
        <p:spPr>
          <a:xfrm>
            <a:off x="7385050" y="981075"/>
            <a:ext cx="1384300" cy="444500"/>
          </a:xfrm>
          <a:prstGeom prst="wedgeRoundRectCallout">
            <a:avLst>
              <a:gd name="adj1" fmla="val -40023"/>
              <a:gd name="adj2" fmla="val 84287"/>
              <a:gd name="adj3" fmla="val 16667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p>
            <a:pPr algn="ctr" eaLnBrk="1" hangingPunct="1">
              <a:buFont typeface="Wingdings" panose="05000000000000000000" pitchFamily="2" charset="2"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去掉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break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1" name="Line 39"/>
          <p:cNvSpPr/>
          <p:nvPr/>
        </p:nvSpPr>
        <p:spPr>
          <a:xfrm>
            <a:off x="6319838" y="1976438"/>
            <a:ext cx="0" cy="5334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32" name="Line 40"/>
          <p:cNvSpPr/>
          <p:nvPr/>
        </p:nvSpPr>
        <p:spPr>
          <a:xfrm flipH="1">
            <a:off x="4462463" y="2509838"/>
            <a:ext cx="18288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33" name="Line 41"/>
          <p:cNvSpPr/>
          <p:nvPr/>
        </p:nvSpPr>
        <p:spPr>
          <a:xfrm>
            <a:off x="4433888" y="2509838"/>
            <a:ext cx="0" cy="685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234" name="Text Box 42"/>
          <p:cNvSpPr txBox="1"/>
          <p:nvPr/>
        </p:nvSpPr>
        <p:spPr>
          <a:xfrm>
            <a:off x="6407150" y="1519238"/>
            <a:ext cx="2362200" cy="10048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0" grpId="0" animBg="1"/>
      <p:bldP spid="82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5"/>
          <p:cNvSpPr txBox="1"/>
          <p:nvPr/>
        </p:nvSpPr>
        <p:spPr>
          <a:xfrm>
            <a:off x="2236788" y="74613"/>
            <a:ext cx="5864225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switch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多分支选择语句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15363" name="AutoShape 17"/>
          <p:cNvSpPr>
            <a:spLocks noChangeArrowheads="1"/>
          </p:cNvSpPr>
          <p:nvPr/>
        </p:nvSpPr>
        <p:spPr bwMode="auto">
          <a:xfrm>
            <a:off x="146050" y="1196975"/>
            <a:ext cx="1077913" cy="576263"/>
          </a:xfrm>
          <a:prstGeom prst="roundRect">
            <a:avLst>
              <a:gd name="adj" fmla="val 50000"/>
            </a:avLst>
          </a:prstGeom>
          <a:solidFill>
            <a:srgbClr val="000099"/>
          </a:solidFill>
          <a:ln w="9525">
            <a:noFill/>
            <a:round/>
          </a:ln>
          <a:effectLst>
            <a:outerShdw dist="35921" dir="2700000" algn="ctr" rotWithShape="0">
              <a:schemeClr val="bg1"/>
            </a:outerShdw>
          </a:effectLst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说明</a:t>
            </a:r>
            <a:r>
              <a:rPr kumimoji="0" lang="ko-KR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Gulim" pitchFamily="34" charset="-127"/>
                <a:cs typeface="+mn-cs"/>
              </a:rPr>
              <a:t> </a:t>
            </a:r>
            <a:endParaRPr kumimoji="0" lang="ko-KR" altLang="en-US" sz="32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13316" name="Text Box 4"/>
          <p:cNvSpPr txBox="1"/>
          <p:nvPr/>
        </p:nvSpPr>
        <p:spPr>
          <a:xfrm>
            <a:off x="217488" y="1916113"/>
            <a:ext cx="9647237" cy="3211512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1</a:t>
            </a:r>
            <a:r>
              <a:rPr lang="zh-CN" altLang="en-US" sz="2800" b="1" dirty="0">
                <a:latin typeface="Gulim" pitchFamily="34" charset="-127"/>
              </a:rPr>
              <a:t>）多个</a:t>
            </a:r>
            <a:r>
              <a:rPr lang="en-US" altLang="zh-CN" sz="2800" b="1" dirty="0">
                <a:latin typeface="Gulim" pitchFamily="34" charset="-127"/>
              </a:rPr>
              <a:t>case</a:t>
            </a:r>
            <a:r>
              <a:rPr lang="zh-CN" altLang="en-US" sz="2800" b="1" dirty="0">
                <a:latin typeface="Gulim" pitchFamily="34" charset="-127"/>
              </a:rPr>
              <a:t>可共用一组执行语句。如：</a:t>
            </a:r>
            <a:endParaRPr lang="zh-CN" altLang="en-US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Gulim" pitchFamily="34" charset="-127"/>
              </a:rPr>
              <a:t>     </a:t>
            </a:r>
            <a:r>
              <a:rPr lang="en-US" altLang="zh-CN" sz="2800" b="1" dirty="0">
                <a:latin typeface="Gulim" pitchFamily="34" charset="-127"/>
              </a:rPr>
              <a:t>case ´1´: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     case ´3´: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     case ´5´: day = 31; break;</a:t>
            </a:r>
            <a:endParaRPr lang="en-US" altLang="zh-CN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2) default</a:t>
            </a:r>
            <a:r>
              <a:rPr lang="zh-CN" altLang="en-US" sz="2800" b="1" dirty="0">
                <a:latin typeface="Gulim" pitchFamily="34" charset="-127"/>
              </a:rPr>
              <a:t>语句是可选的。</a:t>
            </a:r>
            <a:endParaRPr lang="zh-CN" altLang="en-US" sz="2800" b="1" dirty="0">
              <a:latin typeface="Gulim" pitchFamily="34" charset="-127"/>
            </a:endParaRPr>
          </a:p>
          <a:p>
            <a:pPr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800" b="1" dirty="0">
                <a:latin typeface="Gulim" pitchFamily="34" charset="-127"/>
              </a:rPr>
              <a:t>3</a:t>
            </a:r>
            <a:r>
              <a:rPr lang="zh-CN" altLang="en-US" sz="2800" b="1" dirty="0">
                <a:latin typeface="Gulim" pitchFamily="34" charset="-127"/>
              </a:rPr>
              <a:t>）</a:t>
            </a:r>
            <a:r>
              <a:rPr lang="en-US" altLang="zh-CN" sz="2800" b="1" dirty="0">
                <a:latin typeface="Gulim" pitchFamily="34" charset="-127"/>
              </a:rPr>
              <a:t>if</a:t>
            </a:r>
            <a:r>
              <a:rPr lang="zh-CN" altLang="en-US" sz="2800" b="1" dirty="0">
                <a:latin typeface="Gulim" pitchFamily="34" charset="-127"/>
              </a:rPr>
              <a:t>和</a:t>
            </a:r>
            <a:r>
              <a:rPr lang="en-US" altLang="zh-CN" sz="2800" b="1" dirty="0">
                <a:latin typeface="Gulim" pitchFamily="34" charset="-127"/>
              </a:rPr>
              <a:t>switch</a:t>
            </a:r>
            <a:r>
              <a:rPr lang="zh-CN" altLang="en-US" sz="2800" b="1" dirty="0">
                <a:latin typeface="Gulim" pitchFamily="34" charset="-127"/>
              </a:rPr>
              <a:t>可互相嵌套。</a:t>
            </a:r>
            <a:endParaRPr lang="zh-CN" altLang="en-US" sz="2800" b="1" dirty="0"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Line 45"/>
          <p:cNvSpPr/>
          <p:nvPr/>
        </p:nvSpPr>
        <p:spPr>
          <a:xfrm>
            <a:off x="896938" y="889000"/>
            <a:ext cx="7391400" cy="0"/>
          </a:xfrm>
          <a:prstGeom prst="line">
            <a:avLst/>
          </a:prstGeom>
          <a:ln w="101600" cap="flat" cmpd="sng">
            <a:solidFill>
              <a:srgbClr val="33CC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39" name="Text Box 51"/>
          <p:cNvSpPr txBox="1"/>
          <p:nvPr/>
        </p:nvSpPr>
        <p:spPr>
          <a:xfrm>
            <a:off x="5432425" y="360363"/>
            <a:ext cx="4179888" cy="6497637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switch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lang="en-US" altLang="zh-CN" sz="2800" b="1" dirty="0">
                <a:solidFill>
                  <a:srgbClr val="00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expression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  <a:r>
              <a:rPr lang="en-US" altLang="zh-CN" sz="2800" b="1" dirty="0">
                <a:solidFill>
                  <a:srgbClr val="00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case</a:t>
            </a:r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</a:t>
            </a: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E1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statements 1;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break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case </a:t>
            </a:r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E2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		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statements 2;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break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…….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case</a:t>
            </a:r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En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		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statements n;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break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[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default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		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statements;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break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;]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 </a:t>
            </a:r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endParaRPr lang="en-US" altLang="zh-CN" sz="2800" b="1" dirty="0">
              <a:solidFill>
                <a:srgbClr val="FFFFCC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7892" name="AutoShape 35"/>
          <p:cNvSpPr/>
          <p:nvPr/>
        </p:nvSpPr>
        <p:spPr>
          <a:xfrm>
            <a:off x="2781300" y="2733675"/>
            <a:ext cx="3549650" cy="749300"/>
          </a:xfrm>
          <a:prstGeom prst="wedgeRectCallout">
            <a:avLst>
              <a:gd name="adj1" fmla="val 79560"/>
              <a:gd name="adj2" fmla="val -80722"/>
            </a:avLst>
          </a:prstGeom>
          <a:solidFill>
            <a:srgbClr val="FFFF66"/>
          </a:solidFill>
          <a:ln w="19050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pPr eaLnBrk="1" hangingPunct="1"/>
            <a:r>
              <a:rPr lang="en-US" altLang="zh-CN" sz="2400" b="1" dirty="0">
                <a:solidFill>
                  <a:srgbClr val="220011"/>
                </a:solidFill>
                <a:latin typeface="Arial" panose="020B0604020202020204" pitchFamily="34" charset="0"/>
                <a:ea typeface="楷体_GB2312" pitchFamily="49" charset="-122"/>
              </a:rPr>
              <a:t>E1,E2,…En</a:t>
            </a:r>
            <a:r>
              <a:rPr lang="zh-CN" altLang="en-US" sz="2400" b="1" dirty="0">
                <a:solidFill>
                  <a:srgbClr val="220011"/>
                </a:solidFill>
                <a:latin typeface="Arial" panose="020B0604020202020204" pitchFamily="34" charset="0"/>
                <a:ea typeface="楷体_GB2312" pitchFamily="49" charset="-122"/>
              </a:rPr>
              <a:t>是</a:t>
            </a:r>
            <a:r>
              <a:rPr lang="zh-CN" altLang="en-US" sz="2400" b="1" dirty="0">
                <a:solidFill>
                  <a:srgbClr val="009900"/>
                </a:solidFill>
                <a:latin typeface="Arial" panose="020B0604020202020204" pitchFamily="34" charset="0"/>
                <a:ea typeface="楷体_GB2312" pitchFamily="49" charset="-122"/>
              </a:rPr>
              <a:t>常量</a:t>
            </a:r>
            <a:r>
              <a:rPr lang="zh-CN" altLang="en-US" sz="2400" b="1" dirty="0">
                <a:solidFill>
                  <a:srgbClr val="220011"/>
                </a:solidFill>
                <a:latin typeface="Arial" panose="020B0604020202020204" pitchFamily="34" charset="0"/>
                <a:ea typeface="楷体_GB2312" pitchFamily="49" charset="-122"/>
              </a:rPr>
              <a:t>表达式,</a:t>
            </a:r>
            <a:endParaRPr lang="en-US" altLang="zh-CN" sz="2400" b="1" dirty="0">
              <a:solidFill>
                <a:srgbClr val="22001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/>
            <a:r>
              <a:rPr lang="zh-CN" altLang="en-US" sz="2400" b="1" dirty="0">
                <a:solidFill>
                  <a:srgbClr val="220011"/>
                </a:solidFill>
                <a:latin typeface="Arial" panose="020B0604020202020204" pitchFamily="34" charset="0"/>
                <a:ea typeface="楷体_GB2312" pitchFamily="49" charset="-122"/>
              </a:rPr>
              <a:t>且值必须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互不相同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7893" name="AutoShape 36"/>
          <p:cNvSpPr/>
          <p:nvPr/>
        </p:nvSpPr>
        <p:spPr>
          <a:xfrm>
            <a:off x="3395663" y="1044575"/>
            <a:ext cx="1879600" cy="368300"/>
          </a:xfrm>
          <a:prstGeom prst="wedgeRectCallout">
            <a:avLst>
              <a:gd name="adj1" fmla="val 68991"/>
              <a:gd name="adj2" fmla="val -134296"/>
            </a:avLst>
          </a:prstGeom>
          <a:solidFill>
            <a:srgbClr val="FFFF66"/>
          </a:solidFill>
          <a:ln w="19050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switch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可嵌套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7894" name="Text Box 40"/>
          <p:cNvSpPr txBox="1"/>
          <p:nvPr/>
        </p:nvSpPr>
        <p:spPr>
          <a:xfrm>
            <a:off x="609600" y="5734050"/>
            <a:ext cx="7272338" cy="860425"/>
          </a:xfrm>
          <a:prstGeom prst="rect">
            <a:avLst/>
          </a:prstGeom>
          <a:solidFill>
            <a:schemeClr val="bg2"/>
          </a:solidFill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Output : when </a:t>
            </a:r>
            <a:r>
              <a:rPr lang="en-US" altLang="zh-CN" sz="2400" b="1" dirty="0">
                <a:solidFill>
                  <a:srgbClr val="00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score </a:t>
            </a: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is</a:t>
            </a:r>
            <a:r>
              <a:rPr lang="en-US" altLang="zh-CN" sz="2400" b="1" dirty="0">
                <a:solidFill>
                  <a:srgbClr val="00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en-US" altLang="zh-CN" sz="2400" b="1" dirty="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 output</a:t>
            </a:r>
            <a:r>
              <a:rPr lang="zh-CN" altLang="en-US" sz="2400" b="1" dirty="0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endParaRPr lang="zh-CN" altLang="en-US" sz="2400" b="1" dirty="0">
              <a:solidFill>
                <a:srgbClr val="FFFF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 b="1" dirty="0">
                <a:solidFill>
                  <a:srgbClr val="FFFF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Very good! Good! Pass! Fail! data error!</a:t>
            </a:r>
            <a:endParaRPr lang="en-US" altLang="zh-CN" sz="24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5" name="AutoShape 41"/>
          <p:cNvSpPr/>
          <p:nvPr/>
        </p:nvSpPr>
        <p:spPr>
          <a:xfrm>
            <a:off x="3540125" y="1674813"/>
            <a:ext cx="2365375" cy="749300"/>
          </a:xfrm>
          <a:prstGeom prst="wedgeRectCallout">
            <a:avLst>
              <a:gd name="adj1" fmla="val 75907"/>
              <a:gd name="adj2" fmla="val -102755"/>
            </a:avLst>
          </a:prstGeom>
          <a:solidFill>
            <a:srgbClr val="FFFF66"/>
          </a:solidFill>
          <a:ln w="19050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pPr algn="ctr" eaLnBrk="1" hangingPunct="1"/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语句标号</a:t>
            </a:r>
            <a:r>
              <a:rPr lang="zh-CN" altLang="en-US" sz="2400" b="1" dirty="0">
                <a:solidFill>
                  <a:srgbClr val="220011"/>
                </a:solidFill>
                <a:latin typeface="Arial" panose="020B0604020202020204" pitchFamily="34" charset="0"/>
                <a:ea typeface="楷体_GB2312" pitchFamily="49" charset="-122"/>
              </a:rPr>
              <a:t>作用，</a:t>
            </a:r>
            <a:endParaRPr lang="zh-CN" altLang="en-US" sz="2400" b="1" dirty="0">
              <a:solidFill>
                <a:srgbClr val="22001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/>
            <a:r>
              <a:rPr lang="zh-CN" altLang="en-US" sz="2400" b="1" dirty="0">
                <a:solidFill>
                  <a:srgbClr val="220011"/>
                </a:solidFill>
                <a:latin typeface="Arial" panose="020B0604020202020204" pitchFamily="34" charset="0"/>
                <a:ea typeface="楷体_GB2312" pitchFamily="49" charset="-122"/>
              </a:rPr>
              <a:t>必须用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break</a:t>
            </a:r>
            <a:r>
              <a:rPr lang="zh-CN" altLang="en-US" sz="2400" b="1" dirty="0">
                <a:solidFill>
                  <a:srgbClr val="220011"/>
                </a:solidFill>
                <a:latin typeface="Arial" panose="020B0604020202020204" pitchFamily="34" charset="0"/>
                <a:ea typeface="楷体_GB2312" pitchFamily="49" charset="-122"/>
              </a:rPr>
              <a:t>跳出</a:t>
            </a:r>
            <a:endParaRPr lang="zh-CN" altLang="en-US" sz="2400" b="1" dirty="0">
              <a:solidFill>
                <a:srgbClr val="22001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7896" name="AutoShape 42"/>
          <p:cNvSpPr/>
          <p:nvPr/>
        </p:nvSpPr>
        <p:spPr>
          <a:xfrm>
            <a:off x="5513388" y="4665663"/>
            <a:ext cx="1249362" cy="368300"/>
          </a:xfrm>
          <a:prstGeom prst="wedgeRectCallout">
            <a:avLst>
              <a:gd name="adj1" fmla="val 95468"/>
              <a:gd name="adj2" fmla="val -95042"/>
            </a:avLst>
          </a:prstGeom>
          <a:solidFill>
            <a:srgbClr val="FFFF66"/>
          </a:solidFill>
          <a:ln w="19050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r>
              <a:rPr lang="zh-CN" altLang="en-US" sz="2400" b="1" dirty="0">
                <a:solidFill>
                  <a:srgbClr val="220011"/>
                </a:solidFill>
                <a:latin typeface="Arial" panose="020B0604020202020204" pitchFamily="34" charset="0"/>
                <a:ea typeface="楷体_GB2312" pitchFamily="49" charset="-122"/>
              </a:rPr>
              <a:t>不必加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{ }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7897" name="AutoShape 43"/>
          <p:cNvSpPr/>
          <p:nvPr/>
        </p:nvSpPr>
        <p:spPr>
          <a:xfrm>
            <a:off x="3676650" y="3629025"/>
            <a:ext cx="2230438" cy="749300"/>
          </a:xfrm>
          <a:prstGeom prst="wedgeRectCallout">
            <a:avLst>
              <a:gd name="adj1" fmla="val 67792"/>
              <a:gd name="adj2" fmla="val 7838"/>
            </a:avLst>
          </a:prstGeom>
          <a:solidFill>
            <a:srgbClr val="FFFF66"/>
          </a:solidFill>
          <a:ln w="19050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pPr algn="ctr" eaLnBrk="1" hangingPunct="1"/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多个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case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可共用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/>
            <a:r>
              <a:rPr lang="zh-CN" altLang="en-US" sz="2400" b="1" dirty="0">
                <a:solidFill>
                  <a:srgbClr val="220011"/>
                </a:solidFill>
                <a:latin typeface="Arial" panose="020B0604020202020204" pitchFamily="34" charset="0"/>
                <a:ea typeface="楷体_GB2312" pitchFamily="49" charset="-122"/>
              </a:rPr>
              <a:t>一组执行语句</a:t>
            </a:r>
            <a:endParaRPr lang="zh-CN" altLang="en-US" sz="2400" b="1" dirty="0">
              <a:solidFill>
                <a:srgbClr val="22001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7898" name="Text Box 39"/>
          <p:cNvSpPr txBox="1"/>
          <p:nvPr/>
        </p:nvSpPr>
        <p:spPr>
          <a:xfrm>
            <a:off x="1395413" y="2287588"/>
            <a:ext cx="6083300" cy="3119437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90000" bIns="46800">
            <a:spAutoFit/>
          </a:bodyPr>
          <a:p>
            <a:r>
              <a:rPr lang="zh-CN" altLang="en-US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. ……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case   ‘A’: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case   ‘B’: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case   ‘C’: 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               printf(“score&gt;60\n”);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               break;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……..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37899" name="Text Box 37"/>
          <p:cNvSpPr txBox="1"/>
          <p:nvPr/>
        </p:nvSpPr>
        <p:spPr>
          <a:xfrm>
            <a:off x="1400175" y="2309813"/>
            <a:ext cx="7123113" cy="3119437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90000" bIns="46800">
            <a:spAutoFit/>
          </a:bodyPr>
          <a:p>
            <a:r>
              <a:rPr lang="zh-CN" altLang="en-US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.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switch(score)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{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case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5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: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printf(“Very good!”);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     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case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: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printf(“Good!”);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     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case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3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: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printf(“Pass!”);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     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case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: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printf(“Fail!”);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     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default  :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printf(“data error!”);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}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4348" name="Rectangle 44"/>
          <p:cNvSpPr/>
          <p:nvPr/>
        </p:nvSpPr>
        <p:spPr>
          <a:xfrm>
            <a:off x="723900" y="1017588"/>
            <a:ext cx="2265363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742950" lvl="1" indent="-285750" eaLnBrk="1" hangingPunct="1">
              <a:spcBef>
                <a:spcPct val="20000"/>
              </a:spcBef>
              <a:buFont typeface="Wingdings" panose="05000000000000000000" pitchFamily="2" charset="2"/>
              <a:buChar char="«"/>
            </a:pP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switch</a:t>
            </a:r>
            <a:endParaRPr lang="en-US" altLang="zh-CN" sz="2000" b="1" dirty="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4349" name="Rectangle 46"/>
          <p:cNvSpPr/>
          <p:nvPr/>
        </p:nvSpPr>
        <p:spPr>
          <a:xfrm>
            <a:off x="922338" y="0"/>
            <a:ext cx="7924800" cy="1143000"/>
          </a:xfrm>
          <a:prstGeom prst="rect">
            <a:avLst/>
          </a:prstGeom>
          <a:noFill/>
          <a:ln w="9525">
            <a:noFill/>
          </a:ln>
        </p:spPr>
        <p:txBody>
          <a:bodyPr lIns="90488" tIns="44450" rIns="90488" bIns="44450" anchor="ctr" anchorCtr="0"/>
          <a:p>
            <a:pPr eaLnBrk="1" hangingPunct="1"/>
            <a:r>
              <a:rPr lang="en-US" altLang="zh-CN" sz="4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Selection   </a:t>
            </a:r>
            <a:endParaRPr lang="en-US" altLang="zh-CN" sz="4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 useBgFill="1">
        <p:nvSpPr>
          <p:cNvPr id="14350" name="AutoShape 48">
            <a:hlinkClick r:id="rId1" action="ppaction://program"/>
          </p:cNvPr>
          <p:cNvSpPr/>
          <p:nvPr/>
        </p:nvSpPr>
        <p:spPr>
          <a:xfrm>
            <a:off x="1438275" y="6477000"/>
            <a:ext cx="344488" cy="3810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51" name="AutoShape 50">
            <a:hlinkClick r:id="rId2" action="ppaction://program"/>
          </p:cNvPr>
          <p:cNvSpPr/>
          <p:nvPr/>
        </p:nvSpPr>
        <p:spPr>
          <a:xfrm>
            <a:off x="1846263" y="6480175"/>
            <a:ext cx="304800" cy="377825"/>
          </a:xfrm>
          <a:prstGeom prst="actionButtonDocumen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7894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charRg st="34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7894">
                                            <p:txEl>
                                              <p:charRg st="34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  <p:bldP spid="37893" grpId="0" animBg="1"/>
      <p:bldP spid="37894" grpId="0" animBg="1" build="p"/>
      <p:bldP spid="37895" grpId="0" animBg="1"/>
      <p:bldP spid="37896" grpId="0" animBg="1"/>
      <p:bldP spid="37897" grpId="0" animBg="1"/>
      <p:bldP spid="37898" grpId="0" animBg="1"/>
      <p:bldP spid="3789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15362" name="AutoShape 3">
            <a:hlinkClick r:id="rId1" action="ppaction://program"/>
          </p:cNvPr>
          <p:cNvSpPr/>
          <p:nvPr/>
        </p:nvSpPr>
        <p:spPr>
          <a:xfrm>
            <a:off x="468313" y="5929313"/>
            <a:ext cx="344487" cy="381000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Text Box 10"/>
          <p:cNvSpPr txBox="1"/>
          <p:nvPr/>
        </p:nvSpPr>
        <p:spPr>
          <a:xfrm>
            <a:off x="1228725" y="555625"/>
            <a:ext cx="557213" cy="51244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r>
              <a:rPr lang="zh-CN" altLang="en-US" sz="2800" b="1" dirty="0">
                <a:solidFill>
                  <a:srgbClr val="220011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220011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.</a:t>
            </a:r>
            <a:r>
              <a:rPr lang="zh-CN" altLang="en-US" sz="2800" b="1" dirty="0">
                <a:solidFill>
                  <a:srgbClr val="220011"/>
                </a:solidFill>
                <a:latin typeface="Comic Sans MS" panose="030F0702030302020204" pitchFamily="66" charset="0"/>
                <a:ea typeface="隶书" panose="02010509060101010101" pitchFamily="49" charset="-122"/>
              </a:rPr>
              <a:t>根据输入字母输出字符串 </a:t>
            </a:r>
            <a:endParaRPr lang="zh-CN" altLang="en-US" sz="2800" b="1" dirty="0">
              <a:solidFill>
                <a:srgbClr val="220011"/>
              </a:solidFill>
              <a:latin typeface="Comic Sans MS" panose="030F0702030302020204" pitchFamily="66" charset="0"/>
              <a:ea typeface="隶书" panose="02010509060101010101" pitchFamily="49" charset="-122"/>
            </a:endParaRPr>
          </a:p>
        </p:txBody>
      </p:sp>
      <p:sp>
        <p:nvSpPr>
          <p:cNvPr id="38916" name="Text Box 2"/>
          <p:cNvSpPr txBox="1"/>
          <p:nvPr/>
        </p:nvSpPr>
        <p:spPr>
          <a:xfrm>
            <a:off x="3051175" y="0"/>
            <a:ext cx="6978650" cy="6838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90000" bIns="46800"/>
          <a:p>
            <a:r>
              <a:rPr lang="en-US" altLang="zh-CN" sz="24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#include &lt;stdio.h&gt;</a:t>
            </a:r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main()</a:t>
            </a:r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  int  c;</a:t>
            </a:r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printf("Enter m or n or h or other:");</a:t>
            </a:r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</a:t>
            </a:r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}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5365" name="AutoShape 11">
            <a:hlinkClick r:id="rId2" action="ppaction://program"/>
          </p:cNvPr>
          <p:cNvSpPr/>
          <p:nvPr/>
        </p:nvSpPr>
        <p:spPr>
          <a:xfrm>
            <a:off x="798513" y="5929313"/>
            <a:ext cx="304800" cy="377825"/>
          </a:xfrm>
          <a:prstGeom prst="actionButtonDocumen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8" name="Text Box 12"/>
          <p:cNvSpPr txBox="1"/>
          <p:nvPr/>
        </p:nvSpPr>
        <p:spPr>
          <a:xfrm>
            <a:off x="3011488" y="1711325"/>
            <a:ext cx="6494462" cy="47402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=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getchar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();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switch(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)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{</a:t>
            </a:r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</a:t>
            </a:r>
            <a:endParaRPr lang="en-US" altLang="zh-CN" sz="28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</a:t>
            </a:r>
            <a:r>
              <a:rPr lang="en-US" altLang="zh-CN" sz="2400" b="1" dirty="0">
                <a:solidFill>
                  <a:srgbClr val="3366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case   'm'</a:t>
            </a:r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: printf("\nGood morning!\n");</a:t>
            </a: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              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break;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</a:t>
            </a:r>
            <a:r>
              <a:rPr lang="en-US" altLang="zh-CN" sz="2400" b="1" dirty="0">
                <a:solidFill>
                  <a:srgbClr val="3366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case   'n'</a:t>
            </a:r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:  printf("\nGood night!\n");  </a:t>
            </a: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              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break;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</a:t>
            </a:r>
            <a:r>
              <a:rPr lang="en-US" altLang="zh-CN" sz="2400" b="1" dirty="0">
                <a:solidFill>
                  <a:srgbClr val="3366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case   'h'</a:t>
            </a:r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:  printf("\nHello!\n");</a:t>
            </a: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              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break;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</a:t>
            </a:r>
            <a:r>
              <a:rPr lang="en-US" altLang="zh-CN" sz="2400" b="1" dirty="0">
                <a:solidFill>
                  <a:srgbClr val="3366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default </a:t>
            </a:r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:    printf("\n????????\n");</a:t>
            </a:r>
            <a:endParaRPr lang="en-US" altLang="zh-CN" sz="2400" b="1" dirty="0">
              <a:solidFill>
                <a:srgbClr val="66003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4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               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break;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}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38918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38918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38918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17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38918">
                                            <p:txEl>
                                              <p:charRg st="17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38918">
                                            <p:txEl>
                                              <p:charRg st="17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38918">
                                            <p:txEl>
                                              <p:charRg st="17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31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38918">
                                            <p:txEl>
                                              <p:charRg st="31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38918">
                                            <p:txEl>
                                              <p:charRg st="31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38918">
                                            <p:txEl>
                                              <p:charRg st="31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365" end="3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38918">
                                            <p:txEl>
                                              <p:charRg st="365" end="3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38918">
                                            <p:txEl>
                                              <p:charRg st="365" end="37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38918">
                                            <p:txEl>
                                              <p:charRg st="365" end="37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39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80"/>
                                        <p:tgtEl>
                                          <p:spTgt spid="38918">
                                            <p:txEl>
                                              <p:charRg st="39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80"/>
                                        <p:tgtEl>
                                          <p:spTgt spid="38918">
                                            <p:txEl>
                                              <p:charRg st="39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80"/>
                                        <p:tgtEl>
                                          <p:spTgt spid="38918">
                                            <p:txEl>
                                              <p:charRg st="39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88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3" dur="80"/>
                                        <p:tgtEl>
                                          <p:spTgt spid="38918">
                                            <p:txEl>
                                              <p:charRg st="88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" dur="80"/>
                                        <p:tgtEl>
                                          <p:spTgt spid="38918">
                                            <p:txEl>
                                              <p:charRg st="88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38918">
                                            <p:txEl>
                                              <p:charRg st="88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122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38918">
                                            <p:txEl>
                                              <p:charRg st="122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38918">
                                            <p:txEl>
                                              <p:charRg st="122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38918">
                                            <p:txEl>
                                              <p:charRg st="122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173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7" dur="80"/>
                                        <p:tgtEl>
                                          <p:spTgt spid="38918">
                                            <p:txEl>
                                              <p:charRg st="173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8" dur="80"/>
                                        <p:tgtEl>
                                          <p:spTgt spid="38918">
                                            <p:txEl>
                                              <p:charRg st="173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80"/>
                                        <p:tgtEl>
                                          <p:spTgt spid="38918">
                                            <p:txEl>
                                              <p:charRg st="173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207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4" dur="80"/>
                                        <p:tgtEl>
                                          <p:spTgt spid="38918">
                                            <p:txEl>
                                              <p:charRg st="207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5" dur="80"/>
                                        <p:tgtEl>
                                          <p:spTgt spid="38918">
                                            <p:txEl>
                                              <p:charRg st="207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80"/>
                                        <p:tgtEl>
                                          <p:spTgt spid="38918">
                                            <p:txEl>
                                              <p:charRg st="207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251" end="2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1" dur="80"/>
                                        <p:tgtEl>
                                          <p:spTgt spid="38918">
                                            <p:txEl>
                                              <p:charRg st="251" end="2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2" dur="80"/>
                                        <p:tgtEl>
                                          <p:spTgt spid="38918">
                                            <p:txEl>
                                              <p:charRg st="251" end="28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80"/>
                                        <p:tgtEl>
                                          <p:spTgt spid="38918">
                                            <p:txEl>
                                              <p:charRg st="251" end="28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285" end="3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8" dur="80"/>
                                        <p:tgtEl>
                                          <p:spTgt spid="38918">
                                            <p:txEl>
                                              <p:charRg st="285" end="3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9" dur="80"/>
                                        <p:tgtEl>
                                          <p:spTgt spid="38918">
                                            <p:txEl>
                                              <p:charRg st="285" end="33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80"/>
                                        <p:tgtEl>
                                          <p:spTgt spid="38918">
                                            <p:txEl>
                                              <p:charRg st="285" end="33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331" end="3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5" dur="80"/>
                                        <p:tgtEl>
                                          <p:spTgt spid="38918">
                                            <p:txEl>
                                              <p:charRg st="331" end="3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6" dur="80"/>
                                        <p:tgtEl>
                                          <p:spTgt spid="38918">
                                            <p:txEl>
                                              <p:charRg st="331" end="36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80"/>
                                        <p:tgtEl>
                                          <p:spTgt spid="38918">
                                            <p:txEl>
                                              <p:charRg st="331" end="36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nimBg="1"/>
      <p:bldP spid="3891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Text Box 1026"/>
          <p:cNvSpPr txBox="1"/>
          <p:nvPr/>
        </p:nvSpPr>
        <p:spPr>
          <a:xfrm>
            <a:off x="1722438" y="261938"/>
            <a:ext cx="6432550" cy="61087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90000" bIns="46800">
            <a:spAutoFit/>
          </a:bodyPr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main()</a:t>
            </a:r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{   int x=1,y=0,a=0,b=0;</a:t>
            </a:r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switch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x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 </a:t>
            </a:r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case  1:</a:t>
            </a:r>
            <a:endParaRPr lang="en-US" altLang="zh-CN" sz="2800" b="1" dirty="0">
              <a:solidFill>
                <a:srgbClr val="80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switch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y</a:t>
            </a:r>
            <a:r>
              <a:rPr lang="en-US" altLang="zh-CN" sz="2800" b="1" dirty="0">
                <a:solidFill>
                  <a:srgbClr val="22001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 sz="2800" b="1" dirty="0">
              <a:solidFill>
                <a:srgbClr val="22001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 {</a:t>
            </a:r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</a:t>
            </a:r>
            <a:r>
              <a:rPr lang="en-US" altLang="zh-CN" sz="2800" b="1" dirty="0">
                <a:solidFill>
                  <a:srgbClr val="D6009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case 0</a:t>
            </a:r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:   a++;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break;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        </a:t>
            </a:r>
            <a:r>
              <a:rPr lang="en-US" altLang="zh-CN" sz="2800" b="1" dirty="0">
                <a:solidFill>
                  <a:srgbClr val="D6009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case 1:</a:t>
            </a:r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b++;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break;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</a:t>
            </a:r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case  2:</a:t>
            </a:r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a++;b++;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break;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case  3:</a:t>
            </a:r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a++;b++;</a:t>
            </a:r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printf(“\na=%d,b=%d”,a,b);</a:t>
            </a:r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r>
              <a:rPr lang="en-US" altLang="zh-CN" sz="2800" b="1" dirty="0">
                <a:solidFill>
                  <a:srgbClr val="660033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}</a:t>
            </a:r>
            <a:endParaRPr lang="en-US" altLang="zh-CN" sz="2800" b="1" dirty="0">
              <a:solidFill>
                <a:srgbClr val="660033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9939" name="Text Box 1027"/>
          <p:cNvSpPr txBox="1"/>
          <p:nvPr/>
        </p:nvSpPr>
        <p:spPr>
          <a:xfrm>
            <a:off x="5748338" y="6153150"/>
            <a:ext cx="2884487" cy="461963"/>
          </a:xfrm>
          <a:prstGeom prst="rect">
            <a:avLst/>
          </a:prstGeom>
          <a:solidFill>
            <a:schemeClr val="bg2"/>
          </a:solidFill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b="1" dirty="0">
                <a:solidFill>
                  <a:srgbClr val="FFFFCC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Output </a:t>
            </a:r>
            <a:r>
              <a:rPr lang="zh-CN" altLang="en-US" sz="2400" b="1" dirty="0">
                <a:solidFill>
                  <a:srgbClr val="FFFFCC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rgbClr val="FFFFCC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a=2,b=1</a:t>
            </a:r>
            <a:endParaRPr lang="en-US" altLang="zh-CN" sz="2400" b="1" dirty="0">
              <a:solidFill>
                <a:srgbClr val="FFFFCC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9940" name="Rectangle 1028"/>
          <p:cNvSpPr/>
          <p:nvPr/>
        </p:nvSpPr>
        <p:spPr>
          <a:xfrm>
            <a:off x="3860800" y="2065338"/>
            <a:ext cx="4157663" cy="1757362"/>
          </a:xfrm>
          <a:prstGeom prst="rect">
            <a:avLst/>
          </a:prstGeom>
          <a:noFill/>
          <a:ln w="28575" cap="flat" cmpd="sng">
            <a:solidFill>
              <a:srgbClr val="0080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lIns="0" tIns="46800" rIns="90000" bIns="46800" anchor="ctr" anchorCtr="0"/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Rectangle 1029"/>
          <p:cNvSpPr/>
          <p:nvPr/>
        </p:nvSpPr>
        <p:spPr>
          <a:xfrm>
            <a:off x="2557463" y="1290638"/>
            <a:ext cx="5522912" cy="4260850"/>
          </a:xfrm>
          <a:prstGeom prst="rect">
            <a:avLst/>
          </a:prstGeom>
          <a:noFill/>
          <a:ln w="28575" cap="flat" cmpd="sng">
            <a:solidFill>
              <a:srgbClr val="3333FF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lIns="0" tIns="46800" rIns="90000" bIns="46800" anchor="ctr" anchorCtr="0"/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1032"/>
          <p:cNvGrpSpPr/>
          <p:nvPr/>
        </p:nvGrpSpPr>
        <p:grpSpPr>
          <a:xfrm>
            <a:off x="4376738" y="3759200"/>
            <a:ext cx="1622425" cy="463550"/>
            <a:chOff x="0" y="0"/>
            <a:chExt cx="1022" cy="292"/>
          </a:xfrm>
        </p:grpSpPr>
        <p:sp>
          <p:nvSpPr>
            <p:cNvPr id="2065" name="Text Box 1030"/>
            <p:cNvSpPr txBox="1"/>
            <p:nvPr/>
          </p:nvSpPr>
          <p:spPr>
            <a:xfrm>
              <a:off x="419" y="0"/>
              <a:ext cx="603" cy="2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46800" rIns="90000" bIns="46800">
              <a:spAutoFit/>
            </a:bodyPr>
            <a:p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break;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066" name="Line 1031"/>
            <p:cNvSpPr/>
            <p:nvPr/>
          </p:nvSpPr>
          <p:spPr>
            <a:xfrm flipH="1">
              <a:off x="0" y="190"/>
              <a:ext cx="396" cy="1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2050" name="Object 1033">
            <a:hlinkClick r:id="" action="ppaction://noaction"/>
          </p:cNvPr>
          <p:cNvGraphicFramePr>
            <a:graphicFrameLocks noChangeAspect="1"/>
          </p:cNvGraphicFramePr>
          <p:nvPr/>
        </p:nvGraphicFramePr>
        <p:xfrm>
          <a:off x="8913813" y="6019800"/>
          <a:ext cx="5286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729105" imgH="3253105" progId="MS_ClipArt_Gallery.2">
                  <p:embed/>
                </p:oleObj>
              </mc:Choice>
              <mc:Fallback>
                <p:oleObj name="" r:id="rId1" imgW="1729105" imgH="3253105" progId="MS_ClipArt_Gallery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913813" y="6019800"/>
                        <a:ext cx="528637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056" name="AutoShape 1034">
            <a:hlinkClick r:id="rId3" action="ppaction://program"/>
          </p:cNvPr>
          <p:cNvSpPr/>
          <p:nvPr/>
        </p:nvSpPr>
        <p:spPr>
          <a:xfrm>
            <a:off x="468313" y="5827713"/>
            <a:ext cx="330200" cy="409575"/>
          </a:xfrm>
          <a:prstGeom prst="actionButtonDocument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57" name="AutoShape 1035">
            <a:hlinkClick r:id="rId4" action="ppaction://program"/>
          </p:cNvPr>
          <p:cNvSpPr/>
          <p:nvPr/>
        </p:nvSpPr>
        <p:spPr>
          <a:xfrm>
            <a:off x="798513" y="5872163"/>
            <a:ext cx="304800" cy="377825"/>
          </a:xfrm>
          <a:prstGeom prst="actionButtonDocument">
            <a:avLst/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8" name="AutoShape 1036" descr="浅色上对角线"/>
          <p:cNvSpPr/>
          <p:nvPr/>
        </p:nvSpPr>
        <p:spPr>
          <a:xfrm>
            <a:off x="4740275" y="1076325"/>
            <a:ext cx="0" cy="733425"/>
          </a:xfrm>
          <a:prstGeom prst="leftArrow">
            <a:avLst>
              <a:gd name="adj1" fmla="val 50000"/>
              <a:gd name="adj2" fmla="val -2147483648"/>
            </a:avLst>
          </a:prstGeom>
          <a:blipFill rotWithShape="0">
            <a:blip r:embed="rId5"/>
          </a:blipFill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9" name="AutoShape 1037" descr="浅色上对角线"/>
          <p:cNvSpPr/>
          <p:nvPr/>
        </p:nvSpPr>
        <p:spPr>
          <a:xfrm>
            <a:off x="4983163" y="1476375"/>
            <a:ext cx="0" cy="733425"/>
          </a:xfrm>
          <a:prstGeom prst="leftArrow">
            <a:avLst>
              <a:gd name="adj1" fmla="val 50000"/>
              <a:gd name="adj2" fmla="val -2147483648"/>
            </a:avLst>
          </a:prstGeom>
          <a:blipFill rotWithShape="0">
            <a:blip r:embed="rId5"/>
          </a:blipFill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50" name="AutoShape 1038" descr="浅色上对角线"/>
          <p:cNvSpPr/>
          <p:nvPr/>
        </p:nvSpPr>
        <p:spPr>
          <a:xfrm>
            <a:off x="6326188" y="1919288"/>
            <a:ext cx="0" cy="733425"/>
          </a:xfrm>
          <a:prstGeom prst="leftArrow">
            <a:avLst>
              <a:gd name="adj1" fmla="val 50000"/>
              <a:gd name="adj2" fmla="val -2147483648"/>
            </a:avLst>
          </a:prstGeom>
          <a:blipFill rotWithShape="0">
            <a:blip r:embed="rId5"/>
          </a:blipFill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51" name="AutoShape 1039" descr="浅色上对角线"/>
          <p:cNvSpPr/>
          <p:nvPr/>
        </p:nvSpPr>
        <p:spPr>
          <a:xfrm>
            <a:off x="8612188" y="2305050"/>
            <a:ext cx="0" cy="733425"/>
          </a:xfrm>
          <a:prstGeom prst="leftArrow">
            <a:avLst>
              <a:gd name="adj1" fmla="val 50000"/>
              <a:gd name="adj2" fmla="val -2147483648"/>
            </a:avLst>
          </a:prstGeom>
          <a:blipFill rotWithShape="0">
            <a:blip r:embed="rId5"/>
          </a:blipFill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52" name="AutoShape 1040" descr="浅色上对角线"/>
          <p:cNvSpPr/>
          <p:nvPr/>
        </p:nvSpPr>
        <p:spPr>
          <a:xfrm>
            <a:off x="4926013" y="3633788"/>
            <a:ext cx="0" cy="733425"/>
          </a:xfrm>
          <a:prstGeom prst="leftArrow">
            <a:avLst>
              <a:gd name="adj1" fmla="val 50000"/>
              <a:gd name="adj2" fmla="val -2147483648"/>
            </a:avLst>
          </a:prstGeom>
          <a:blipFill rotWithShape="0">
            <a:blip r:embed="rId5"/>
          </a:blipFill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53" name="AutoShape 1041" descr="浅色上对角线"/>
          <p:cNvSpPr/>
          <p:nvPr/>
        </p:nvSpPr>
        <p:spPr>
          <a:xfrm>
            <a:off x="7740650" y="4048125"/>
            <a:ext cx="0" cy="733425"/>
          </a:xfrm>
          <a:prstGeom prst="leftArrow">
            <a:avLst>
              <a:gd name="adj1" fmla="val 50000"/>
              <a:gd name="adj2" fmla="val -2147483648"/>
            </a:avLst>
          </a:prstGeom>
          <a:blipFill rotWithShape="0">
            <a:blip r:embed="rId5"/>
          </a:blipFill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54" name="AutoShape 1042" descr="浅色上对角线"/>
          <p:cNvSpPr/>
          <p:nvPr/>
        </p:nvSpPr>
        <p:spPr>
          <a:xfrm>
            <a:off x="7869238" y="5305425"/>
            <a:ext cx="0" cy="733425"/>
          </a:xfrm>
          <a:prstGeom prst="leftArrow">
            <a:avLst>
              <a:gd name="adj1" fmla="val 50000"/>
              <a:gd name="adj2" fmla="val -2147483648"/>
            </a:avLst>
          </a:prstGeom>
          <a:blipFill rotWithShape="0">
            <a:blip r:embed="rId5"/>
          </a:blipFill>
          <a:ln w="190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0">
            <a:spAutoFit/>
          </a:bodyPr>
          <a:p>
            <a:pPr algn="ctr" eaLnBrk="1" hangingPunct="1"/>
            <a:endParaRPr lang="zh-CN" altLang="en-US" sz="2400" dirty="0">
              <a:solidFill>
                <a:srgbClr val="22001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nimBg="1"/>
      <p:bldP spid="39939" grpId="0" animBg="1"/>
      <p:bldP spid="39940" grpId="0" animBg="1"/>
      <p:bldP spid="39941" grpId="0" animBg="1"/>
      <p:bldP spid="39948" grpId="0" animBg="1"/>
      <p:bldP spid="39949" grpId="0" animBg="1"/>
      <p:bldP spid="39950" grpId="0" animBg="1"/>
      <p:bldP spid="39951" grpId="0" animBg="1"/>
      <p:bldP spid="39952" grpId="0" animBg="1"/>
      <p:bldP spid="39953" grpId="0" animBg="1"/>
      <p:bldP spid="3995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5"/>
          <p:cNvSpPr txBox="1"/>
          <p:nvPr/>
        </p:nvSpPr>
        <p:spPr>
          <a:xfrm>
            <a:off x="3894138" y="74613"/>
            <a:ext cx="2549525" cy="7699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case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7338" y="1196975"/>
            <a:ext cx="9217025" cy="5108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）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case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32BA06"/>
                </a:solidFill>
                <a:latin typeface="Courier New" panose="02070309020205020404" pitchFamily="49" charset="0"/>
              </a:rPr>
              <a:t>10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: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D11CED"/>
                </a:solidFill>
                <a:latin typeface="Courier New" panose="02070309020205020404" pitchFamily="49" charset="0"/>
              </a:rPr>
              <a:t>printf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"..."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break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endParaRPr lang="en-US" altLang="zh-CN" sz="3200" b="1" dirty="0">
              <a:solidFill>
                <a:srgbClr val="666666"/>
              </a:solidFill>
              <a:latin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）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case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32BA06"/>
                </a:solidFill>
                <a:latin typeface="Courier New" panose="02070309020205020404" pitchFamily="49" charset="0"/>
              </a:rPr>
              <a:t>8+9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: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D11CED"/>
                </a:solidFill>
                <a:latin typeface="Courier New" panose="02070309020205020404" pitchFamily="49" charset="0"/>
              </a:rPr>
              <a:t>printf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"..."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break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endParaRPr lang="zh-CN" altLang="en-US" sz="3200" b="1" dirty="0">
              <a:solidFill>
                <a:srgbClr val="666666"/>
              </a:solidFill>
              <a:latin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3</a:t>
            </a:r>
            <a:r>
              <a:rPr lang="zh-CN" altLang="en-US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）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case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'A'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: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D11CED"/>
                </a:solidFill>
                <a:latin typeface="Courier New" panose="02070309020205020404" pitchFamily="49" charset="0"/>
              </a:rPr>
              <a:t>printf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"..."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break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endParaRPr lang="en-US" altLang="zh-CN" sz="3200" b="1" dirty="0">
              <a:solidFill>
                <a:srgbClr val="666666"/>
              </a:solidFill>
              <a:latin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4</a:t>
            </a:r>
            <a:r>
              <a:rPr lang="zh-CN" altLang="en-US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）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case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'A'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+</a:t>
            </a:r>
            <a:r>
              <a:rPr lang="en-US" altLang="zh-CN" sz="3200" b="1" dirty="0">
                <a:solidFill>
                  <a:srgbClr val="32BA06"/>
                </a:solidFill>
                <a:latin typeface="Courier New" panose="02070309020205020404" pitchFamily="49" charset="0"/>
              </a:rPr>
              <a:t>19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: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D11CED"/>
                </a:solidFill>
                <a:latin typeface="Courier New" panose="02070309020205020404" pitchFamily="49" charset="0"/>
              </a:rPr>
              <a:t>printf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"..."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break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endParaRPr lang="zh-CN" altLang="en-US" sz="3200" b="1" dirty="0">
              <a:solidFill>
                <a:srgbClr val="666666"/>
              </a:solidFill>
              <a:latin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5</a:t>
            </a:r>
            <a:r>
              <a:rPr lang="zh-CN" altLang="en-US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）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case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32BA06"/>
                </a:solidFill>
                <a:latin typeface="Courier New" panose="02070309020205020404" pitchFamily="49" charset="0"/>
              </a:rPr>
              <a:t>9.5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: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D11CED"/>
                </a:solidFill>
                <a:latin typeface="Courier New" panose="02070309020205020404" pitchFamily="49" charset="0"/>
              </a:rPr>
              <a:t>printf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"..."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break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endParaRPr lang="en-US" altLang="zh-CN" sz="3200" b="1" dirty="0">
              <a:solidFill>
                <a:srgbClr val="666666"/>
              </a:solidFill>
              <a:latin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6) case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a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: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D11CED"/>
                </a:solidFill>
                <a:latin typeface="Courier New" panose="02070309020205020404" pitchFamily="49" charset="0"/>
              </a:rPr>
              <a:t>printf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"..."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break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endParaRPr lang="zh-CN" altLang="en-US" sz="3200" b="1" dirty="0">
              <a:solidFill>
                <a:srgbClr val="666666"/>
              </a:solidFill>
              <a:latin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7) case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a</a:t>
            </a:r>
            <a:r>
              <a:rPr lang="en-US" altLang="zh-CN" sz="3200" b="1" dirty="0">
                <a:solidFill>
                  <a:srgbClr val="32BA06"/>
                </a:solidFill>
                <a:latin typeface="Courier New" panose="02070309020205020404" pitchFamily="49" charset="0"/>
              </a:rPr>
              <a:t>+10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: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D11CED"/>
                </a:solidFill>
                <a:latin typeface="Courier New" panose="02070309020205020404" pitchFamily="49" charset="0"/>
              </a:rPr>
              <a:t>printf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"..."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break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;</a:t>
            </a:r>
            <a:r>
              <a:rPr lang="en-US" altLang="zh-CN" sz="3200" b="1" dirty="0">
                <a:solidFill>
                  <a:srgbClr val="666666"/>
                </a:solidFill>
                <a:latin typeface="Courier New" panose="02070309020205020404" pitchFamily="49" charset="0"/>
              </a:rPr>
              <a:t> </a:t>
            </a:r>
            <a:endParaRPr lang="en-US" altLang="zh-CN" sz="3200" b="1" dirty="0">
              <a:solidFill>
                <a:srgbClr val="38AD24"/>
              </a:solidFill>
              <a:latin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8) case 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‘</a:t>
            </a:r>
            <a:r>
              <a:rPr lang="en-US" altLang="zh-CN" sz="3200" b="1" dirty="0">
                <a:solidFill>
                  <a:srgbClr val="38AD24"/>
                </a:solidFill>
                <a:latin typeface="Courier New" panose="02070309020205020404" pitchFamily="49" charset="0"/>
              </a:rPr>
              <a:t>A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‘…'</a:t>
            </a:r>
            <a:r>
              <a:rPr lang="en-US" altLang="zh-CN" sz="3200" b="1" dirty="0">
                <a:solidFill>
                  <a:srgbClr val="38AD24"/>
                </a:solidFill>
                <a:latin typeface="Courier New" panose="02070309020205020404" pitchFamily="49" charset="0"/>
              </a:rPr>
              <a:t>Z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'</a:t>
            </a:r>
            <a:r>
              <a:rPr lang="en-US" altLang="zh-CN" sz="3200" b="1" dirty="0">
                <a:solidFill>
                  <a:srgbClr val="38AD24"/>
                </a:solidFill>
                <a:latin typeface="Courier New" panose="02070309020205020404" pitchFamily="49" charset="0"/>
              </a:rPr>
              <a:t>: </a:t>
            </a:r>
            <a:r>
              <a:rPr lang="en-US" altLang="zh-CN" sz="3200" b="1" dirty="0">
                <a:solidFill>
                  <a:srgbClr val="D11CED"/>
                </a:solidFill>
                <a:latin typeface="Courier New" panose="02070309020205020404" pitchFamily="49" charset="0"/>
              </a:rPr>
              <a:t>printf</a:t>
            </a:r>
            <a:r>
              <a:rPr lang="en-US" altLang="zh-CN" sz="3200" b="1" dirty="0">
                <a:solidFill>
                  <a:srgbClr val="3030EE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3200" b="1" dirty="0">
                <a:solidFill>
                  <a:srgbClr val="1861A7"/>
                </a:solidFill>
                <a:latin typeface="Courier New" panose="02070309020205020404" pitchFamily="49" charset="0"/>
              </a:rPr>
              <a:t>"…"); </a:t>
            </a:r>
            <a:r>
              <a:rPr lang="en-US" altLang="zh-CN" sz="3200" b="1" dirty="0">
                <a:solidFill>
                  <a:srgbClr val="FF3030"/>
                </a:solidFill>
                <a:latin typeface="Courier New" panose="02070309020205020404" pitchFamily="49" charset="0"/>
              </a:rPr>
              <a:t>break;</a:t>
            </a:r>
            <a:r>
              <a:rPr lang="en-US" altLang="zh-CN" sz="3200" b="1" dirty="0">
                <a:solidFill>
                  <a:srgbClr val="38AD24"/>
                </a:solidFill>
                <a:latin typeface="Courier New" panose="02070309020205020404" pitchFamily="49" charset="0"/>
              </a:rPr>
              <a:t> </a:t>
            </a:r>
            <a:endParaRPr lang="zh-CN" altLang="en-US" sz="3200" b="1" dirty="0">
              <a:solidFill>
                <a:srgbClr val="666666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84728" y="1124744"/>
            <a:ext cx="72008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C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Gulim" pitchFamily="34" charset="-127"/>
                <a:ea typeface="Gulim" pitchFamily="34" charset="-127"/>
                <a:cs typeface="+mn-cs"/>
              </a:rPr>
              <a:t>√</a:t>
            </a:r>
            <a:endParaRPr kumimoji="0" lang="zh-CN" altLang="en-US" sz="3200" kern="1200" cap="none" spc="0" normalizeH="0" baseline="0" noProof="0" dirty="0"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37128" y="1772816"/>
            <a:ext cx="72008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C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Gulim" pitchFamily="34" charset="-127"/>
                <a:ea typeface="Gulim" pitchFamily="34" charset="-127"/>
                <a:cs typeface="+mn-cs"/>
              </a:rPr>
              <a:t>√</a:t>
            </a:r>
            <a:endParaRPr kumimoji="0" lang="zh-CN" altLang="en-US" sz="3200" kern="1200" cap="none" spc="0" normalizeH="0" baseline="0" noProof="0" dirty="0"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37128" y="2484185"/>
            <a:ext cx="72008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C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Gulim" pitchFamily="34" charset="-127"/>
                <a:ea typeface="Gulim" pitchFamily="34" charset="-127"/>
                <a:cs typeface="+mn-cs"/>
              </a:rPr>
              <a:t>√</a:t>
            </a:r>
            <a:endParaRPr kumimoji="0" lang="zh-CN" altLang="en-US" sz="3200" kern="1200" cap="none" spc="0" normalizeH="0" baseline="0" noProof="0" dirty="0"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360545" y="3098870"/>
            <a:ext cx="72008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C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Gulim" pitchFamily="34" charset="-127"/>
                <a:ea typeface="Gulim" pitchFamily="34" charset="-127"/>
                <a:cs typeface="+mn-cs"/>
              </a:rPr>
              <a:t>√</a:t>
            </a:r>
            <a:endParaRPr kumimoji="0" lang="zh-CN" altLang="en-US" sz="3200" kern="1200" cap="none" spc="0" normalizeH="0" baseline="0" noProof="0" dirty="0"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99279" y="3814909"/>
            <a:ext cx="55312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az-Cyrl-AZ" altLang="zh-CN" sz="3200" b="1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C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Gulim" pitchFamily="34" charset="-127"/>
                <a:ea typeface="Gulim" pitchFamily="34" charset="-127"/>
                <a:cs typeface="+mn-cs"/>
              </a:rPr>
              <a:t>Х</a:t>
            </a:r>
            <a:endParaRPr kumimoji="0" lang="zh-CN" altLang="en-US" sz="3200" b="1" kern="1200" cap="none" spc="0" normalizeH="0" baseline="0" noProof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C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56736" y="4437112"/>
            <a:ext cx="55312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az-Cyrl-AZ" altLang="zh-CN" sz="3200" b="1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C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Gulim" pitchFamily="34" charset="-127"/>
                <a:ea typeface="Gulim" pitchFamily="34" charset="-127"/>
                <a:cs typeface="+mn-cs"/>
              </a:rPr>
              <a:t>Х</a:t>
            </a:r>
            <a:endParaRPr kumimoji="0" lang="zh-CN" altLang="en-US" sz="3200" b="1" kern="1200" cap="none" spc="0" normalizeH="0" baseline="0" noProof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C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239720" y="5076473"/>
            <a:ext cx="55312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az-Cyrl-AZ" altLang="zh-CN" sz="3200" b="1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C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Gulim" pitchFamily="34" charset="-127"/>
                <a:ea typeface="Gulim" pitchFamily="34" charset="-127"/>
                <a:cs typeface="+mn-cs"/>
              </a:rPr>
              <a:t>Х</a:t>
            </a:r>
            <a:endParaRPr kumimoji="0" lang="zh-CN" altLang="en-US" sz="3200" b="1" kern="1200" cap="none" spc="0" normalizeH="0" baseline="0" noProof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CC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12945" y="5661248"/>
            <a:ext cx="72008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CC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Gulim" pitchFamily="34" charset="-127"/>
                <a:ea typeface="Gulim" pitchFamily="34" charset="-127"/>
                <a:cs typeface="+mn-cs"/>
              </a:rPr>
              <a:t>√</a:t>
            </a:r>
            <a:endParaRPr kumimoji="0" lang="zh-CN" altLang="en-US" sz="3200" kern="1200" cap="none" spc="0" normalizeH="0" baseline="0" noProof="0" dirty="0">
              <a:latin typeface="Gulim" pitchFamily="34" charset="-127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34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69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04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42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77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211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248" end="2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/>
          <p:nvPr>
            <p:ph idx="1"/>
          </p:nvPr>
        </p:nvSpPr>
        <p:spPr>
          <a:xfrm>
            <a:off x="144463" y="1196975"/>
            <a:ext cx="9793287" cy="4525963"/>
          </a:xfrm>
          <a:noFill/>
          <a:ln>
            <a:noFill/>
          </a:ln>
        </p:spPr>
        <p:txBody>
          <a:bodyPr/>
          <a:p>
            <a:pPr>
              <a:buNone/>
            </a:pPr>
            <a:r>
              <a:rPr lang="zh-CN" altLang="en-US" dirty="0">
                <a:ea typeface="宋体" panose="02010600030101010101" pitchFamily="2" charset="-122"/>
              </a:rPr>
              <a:t>已知2013年10月1日是星期二，输入10月的任何一天,输</a:t>
            </a:r>
            <a:endParaRPr lang="zh-CN" altLang="en-US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dirty="0">
                <a:ea typeface="宋体" panose="02010600030101010101" pitchFamily="2" charset="-122"/>
              </a:rPr>
              <a:t>出该日是星期几？</a:t>
            </a:r>
            <a:endParaRPr lang="zh-CN" altLang="en-US" dirty="0"/>
          </a:p>
        </p:txBody>
      </p:sp>
      <p:sp>
        <p:nvSpPr>
          <p:cNvPr id="17411" name="Text Box 5"/>
          <p:cNvSpPr txBox="1"/>
          <p:nvPr/>
        </p:nvSpPr>
        <p:spPr>
          <a:xfrm>
            <a:off x="4470400" y="74613"/>
            <a:ext cx="139700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609600" indent="-609600" algn="ctr" eaLnBrk="1" latinLnBrk="1" hangingPunct="1">
              <a:buFont typeface="Wingdings" panose="05000000000000000000" pitchFamily="2" charset="2"/>
            </a:pP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ko-KR" altLang="en-US" sz="2200" b="1" dirty="0">
                <a:solidFill>
                  <a:schemeClr val="bg1"/>
                </a:solidFill>
                <a:latin typeface="HY헤드라인M" pitchFamily="2" charset="-127"/>
                <a:ea typeface="HY헤드라인M" pitchFamily="2" charset="-127"/>
              </a:rPr>
              <a:t> </a:t>
            </a:r>
            <a:endParaRPr lang="ko-KR" altLang="en-US" sz="2200" b="1" dirty="0">
              <a:solidFill>
                <a:schemeClr val="bg1"/>
              </a:solidFill>
              <a:latin typeface="HY헤드라인M" pitchFamily="2" charset="-127"/>
              <a:ea typeface="HY헤드라인M" pitchFamily="2" charset="-127"/>
            </a:endParaRPr>
          </a:p>
        </p:txBody>
      </p:sp>
      <p:sp>
        <p:nvSpPr>
          <p:cNvPr id="17412" name="Text Box 5"/>
          <p:cNvSpPr txBox="1"/>
          <p:nvPr/>
        </p:nvSpPr>
        <p:spPr>
          <a:xfrm>
            <a:off x="7777163" y="4437063"/>
            <a:ext cx="2016125" cy="3841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FF0000"/>
                </a:solidFill>
                <a:latin typeface="Gulim" pitchFamily="34" charset="-127"/>
              </a:rPr>
              <a:t>exp4_2.cpp</a:t>
            </a:r>
            <a:endParaRPr lang="en-US" altLang="zh-CN" sz="2400" b="1" dirty="0">
              <a:solidFill>
                <a:srgbClr val="FF0000"/>
              </a:solidFill>
              <a:latin typeface="Gulim" pitchFamily="34" charset="-127"/>
            </a:endParaRPr>
          </a:p>
        </p:txBody>
      </p:sp>
      <p:sp>
        <p:nvSpPr>
          <p:cNvPr id="17413" name="矩形 4"/>
          <p:cNvSpPr/>
          <p:nvPr/>
        </p:nvSpPr>
        <p:spPr>
          <a:xfrm>
            <a:off x="144463" y="5522913"/>
            <a:ext cx="9648825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1600" dirty="0">
                <a:latin typeface="Gulim" pitchFamily="34" charset="-127"/>
              </a:rPr>
              <a:t>/*</a:t>
            </a:r>
            <a:r>
              <a:rPr lang="zh-CN" altLang="en-US" sz="1600" dirty="0">
                <a:latin typeface="Gulim" pitchFamily="34" charset="-127"/>
              </a:rPr>
              <a:t>此题通过日期</a:t>
            </a:r>
            <a:r>
              <a:rPr lang="en-US" altLang="zh-CN" sz="1600" dirty="0">
                <a:latin typeface="Gulim" pitchFamily="34" charset="-127"/>
              </a:rPr>
              <a:t>%7</a:t>
            </a:r>
            <a:r>
              <a:rPr lang="zh-CN" altLang="en-US" sz="1600" dirty="0">
                <a:latin typeface="Gulim" pitchFamily="34" charset="-127"/>
              </a:rPr>
              <a:t>的余数匹配</a:t>
            </a:r>
            <a:r>
              <a:rPr lang="en-US" altLang="zh-CN" sz="1600" dirty="0">
                <a:latin typeface="Gulim" pitchFamily="34" charset="-127"/>
              </a:rPr>
              <a:t>0~6</a:t>
            </a:r>
            <a:r>
              <a:rPr lang="zh-CN" altLang="en-US" sz="1600" dirty="0">
                <a:latin typeface="Gulim" pitchFamily="34" charset="-127"/>
              </a:rPr>
              <a:t>得到星期值。</a:t>
            </a:r>
            <a:r>
              <a:rPr lang="en-US" altLang="zh-CN" sz="1600" dirty="0">
                <a:latin typeface="Gulim" pitchFamily="34" charset="-127"/>
              </a:rPr>
              <a:t>1</a:t>
            </a:r>
            <a:r>
              <a:rPr lang="zh-CN" altLang="en-US" sz="1600" dirty="0">
                <a:latin typeface="Gulim" pitchFamily="34" charset="-127"/>
              </a:rPr>
              <a:t>号周二，</a:t>
            </a:r>
            <a:r>
              <a:rPr lang="en-US" altLang="zh-CN" sz="1600" dirty="0">
                <a:latin typeface="Gulim" pitchFamily="34" charset="-127"/>
              </a:rPr>
              <a:t>2</a:t>
            </a:r>
            <a:r>
              <a:rPr lang="zh-CN" altLang="en-US" sz="1600" dirty="0">
                <a:latin typeface="Gulim" pitchFamily="34" charset="-127"/>
              </a:rPr>
              <a:t>号周三，因此余数</a:t>
            </a:r>
            <a:r>
              <a:rPr lang="en-US" altLang="zh-CN" sz="1600" dirty="0">
                <a:latin typeface="Gulim" pitchFamily="34" charset="-127"/>
              </a:rPr>
              <a:t>1</a:t>
            </a:r>
            <a:r>
              <a:rPr lang="zh-CN" altLang="en-US" sz="1600" dirty="0">
                <a:latin typeface="Gulim" pitchFamily="34" charset="-127"/>
              </a:rPr>
              <a:t>，周二；</a:t>
            </a:r>
            <a:r>
              <a:rPr lang="en-US" altLang="zh-CN" sz="1600" dirty="0">
                <a:latin typeface="Gulim" pitchFamily="34" charset="-127"/>
              </a:rPr>
              <a:t>2</a:t>
            </a:r>
            <a:r>
              <a:rPr lang="zh-CN" altLang="en-US" sz="1600" dirty="0">
                <a:latin typeface="Gulim" pitchFamily="34" charset="-127"/>
              </a:rPr>
              <a:t>，周三</a:t>
            </a:r>
            <a:r>
              <a:rPr lang="en-US" altLang="zh-CN" sz="1600" dirty="0">
                <a:latin typeface="Gulim" pitchFamily="34" charset="-127"/>
              </a:rPr>
              <a:t>... */</a:t>
            </a:r>
            <a:endParaRPr lang="en-US" altLang="zh-CN" sz="1600" dirty="0">
              <a:latin typeface="Gulim" pitchFamily="34" charset="-127"/>
            </a:endParaRPr>
          </a:p>
        </p:txBody>
      </p:sp>
    </p:spTree>
  </p:cSld>
  <p:clrMapOvr>
    <a:masterClrMapping/>
  </p:clrMapOvr>
  <p:transition spd="med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30200" y="0"/>
            <a:ext cx="9750425" cy="6858000"/>
          </a:xfrm>
        </p:spPr>
        <p:txBody>
          <a:bodyPr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stdlib.h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    //exit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函数的头文件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main()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 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day;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("input day(1-31):");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d",&amp;day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if(day&lt;1 || day&gt;31)           //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输入非法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提示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退出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 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("input error!\n");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exit(0);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}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switch(day%7)    //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整型比较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{case 1:                            //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余数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，周二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("%d----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星期二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\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n",day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case 2:                            //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余数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，周三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("%d----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星期三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\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n",day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case 3:                            //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以下同上，依次类推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("%d----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星期四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\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n",day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case 4: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("%d----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星期五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\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n",day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case 5: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("%d----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星期六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\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n",day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case 6: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("%d----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星期日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\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n",day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case 0:                             //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default: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也可，只有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取值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("%d----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星期一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\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n",day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break;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}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/>
          <p:nvPr>
            <p:ph idx="1"/>
          </p:nvPr>
        </p:nvSpPr>
        <p:spPr>
          <a:xfrm>
            <a:off x="144463" y="1196975"/>
            <a:ext cx="9936162" cy="4525963"/>
          </a:xfrm>
          <a:noFill/>
          <a:ln>
            <a:noFill/>
          </a:ln>
        </p:spPr>
        <p:txBody>
          <a:bodyPr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新建工程文件或打开工程文件（实验课讲）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File-&gt;New-&gt;Project-&gt;Console Application, C++ Project, </a:t>
            </a:r>
            <a:r>
              <a:rPr lang="zh-CN" altLang="en-US" dirty="0"/>
              <a:t>输入工程文件名，单击</a:t>
            </a:r>
            <a:r>
              <a:rPr lang="en-US" altLang="zh-CN" dirty="0"/>
              <a:t>OK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File-&gt;Open-&gt;</a:t>
            </a:r>
            <a:r>
              <a:rPr lang="zh-CN" altLang="en-US" dirty="0"/>
              <a:t>选择工程文件名，单击打开。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Tools-&gt;Compiler</a:t>
            </a:r>
            <a:r>
              <a:rPr lang="zh-CN" altLang="en-US" dirty="0"/>
              <a:t> </a:t>
            </a:r>
            <a:r>
              <a:rPr lang="en-US" altLang="zh-CN" dirty="0"/>
              <a:t>Options-&gt;settings-&gt;Linker-&gt;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Generate debugging information(-g3)</a:t>
            </a:r>
            <a:r>
              <a:rPr lang="zh-CN" altLang="en-US" dirty="0"/>
              <a:t>，勾选</a:t>
            </a:r>
            <a:r>
              <a:rPr lang="en-US" altLang="zh-CN" dirty="0"/>
              <a:t>yes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9459" name="Text Box 5"/>
          <p:cNvSpPr txBox="1"/>
          <p:nvPr/>
        </p:nvSpPr>
        <p:spPr>
          <a:xfrm>
            <a:off x="3517900" y="74613"/>
            <a:ext cx="33020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609600" indent="-609600" algn="ctr" eaLnBrk="1" latinLnBrk="1" hangingPunct="1"/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Dev-C++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调试</a:t>
            </a:r>
            <a:endParaRPr lang="ko-KR" altLang="en-US" sz="4400" b="1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pic>
        <p:nvPicPr>
          <p:cNvPr id="19460" name="图片 2"/>
          <p:cNvPicPr>
            <a:picLocks noChangeAspect="1"/>
          </p:cNvPicPr>
          <p:nvPr/>
        </p:nvPicPr>
        <p:blipFill>
          <a:blip r:embed="rId1"/>
          <a:srcRect r="8926" b="26303"/>
          <a:stretch>
            <a:fillRect/>
          </a:stretch>
        </p:blipFill>
        <p:spPr>
          <a:xfrm>
            <a:off x="7920038" y="2781300"/>
            <a:ext cx="2160587" cy="371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88" y="5092700"/>
            <a:ext cx="6753225" cy="371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/>
          <p:nvPr>
            <p:ph idx="1"/>
          </p:nvPr>
        </p:nvSpPr>
        <p:spPr>
          <a:xfrm>
            <a:off x="144463" y="1196975"/>
            <a:ext cx="10225087" cy="2447925"/>
          </a:xfrm>
          <a:noFill/>
          <a:ln>
            <a:noFill/>
          </a:ln>
        </p:spPr>
        <p:txBody>
          <a:bodyPr/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单击行号，增加断点。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4.Execute-&gt;Debug</a:t>
            </a:r>
            <a:r>
              <a:rPr lang="zh-CN" altLang="en-US" dirty="0"/>
              <a:t>或快捷键</a:t>
            </a:r>
            <a:r>
              <a:rPr lang="en-US" altLang="zh-CN" dirty="0"/>
              <a:t>F5</a:t>
            </a:r>
            <a:r>
              <a:rPr lang="zh-CN" altLang="en-US" dirty="0"/>
              <a:t>开始调试，到断点暂停。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5.Debug</a:t>
            </a:r>
            <a:r>
              <a:rPr lang="zh-CN" altLang="en-US" dirty="0"/>
              <a:t>窗口，单击</a:t>
            </a:r>
            <a:r>
              <a:rPr lang="en-US" altLang="zh-CN" dirty="0"/>
              <a:t>Add Watch</a:t>
            </a:r>
            <a:r>
              <a:rPr lang="zh-CN" altLang="en-US" dirty="0"/>
              <a:t>增加查看变量，</a:t>
            </a:r>
            <a:r>
              <a:rPr lang="en-US" altLang="zh-CN" dirty="0"/>
              <a:t>Next Line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en-US" dirty="0"/>
              <a:t>单步执行。</a:t>
            </a:r>
            <a:r>
              <a:rPr lang="en-US" altLang="zh-CN" dirty="0"/>
              <a:t>Continue</a:t>
            </a:r>
            <a:r>
              <a:rPr lang="zh-CN" altLang="en-US" dirty="0"/>
              <a:t>执行到断点所在处。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0483" name="Text Box 5"/>
          <p:cNvSpPr txBox="1"/>
          <p:nvPr/>
        </p:nvSpPr>
        <p:spPr>
          <a:xfrm>
            <a:off x="3517900" y="74613"/>
            <a:ext cx="33020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609600" indent="-609600" algn="ctr" eaLnBrk="1" latinLnBrk="1" hangingPunct="1"/>
            <a:r>
              <a:rPr lang="en-US" altLang="zh-CN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Dev-C++</a:t>
            </a:r>
            <a:r>
              <a:rPr lang="zh-CN" altLang="en-US" sz="4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调试</a:t>
            </a:r>
            <a:endParaRPr lang="ko-KR" altLang="en-US" sz="4400" b="1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theme/theme1.xml><?xml version="1.0" encoding="utf-8"?>
<a:theme xmlns:a="http://schemas.openxmlformats.org/drawingml/2006/main" name="4_색종이 상자">
  <a:themeElements>
    <a:clrScheme name="4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4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lnDef>
  </a:objectDefaults>
  <a:extraClrSchemeLst>
    <a:extraClrScheme>
      <a:clrScheme name="4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색종이 상자">
  <a:themeElements>
    <a:clrScheme name="5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5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lnDef>
  </a:objectDefaults>
  <a:extraClrSchemeLst>
    <a:extraClrScheme>
      <a:clrScheme name="5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aidai">
  <a:themeElements>
    <a:clrScheme name="caidai 1">
      <a:dk1>
        <a:srgbClr val="220011"/>
      </a:dk1>
      <a:lt1>
        <a:srgbClr val="FFFFCC"/>
      </a:lt1>
      <a:dk2>
        <a:srgbClr val="660033"/>
      </a:dk2>
      <a:lt2>
        <a:srgbClr val="FFCC00"/>
      </a:lt2>
      <a:accent1>
        <a:srgbClr val="CC0099"/>
      </a:accent1>
      <a:accent2>
        <a:srgbClr val="56002B"/>
      </a:accent2>
      <a:accent3>
        <a:srgbClr val="B8AAAD"/>
      </a:accent3>
      <a:accent4>
        <a:srgbClr val="DADAAE"/>
      </a:accent4>
      <a:accent5>
        <a:srgbClr val="E2AACA"/>
      </a:accent5>
      <a:accent6>
        <a:srgbClr val="4D0026"/>
      </a:accent6>
      <a:hlink>
        <a:srgbClr val="9C004E"/>
      </a:hlink>
      <a:folHlink>
        <a:srgbClr val="FF6600"/>
      </a:folHlink>
    </a:clrScheme>
    <a:fontScheme name="caidai">
      <a:majorFont>
        <a:latin typeface="Times New Roman"/>
        <a:ea typeface="隶书"/>
        <a:cs typeface=""/>
      </a:majorFont>
      <a:minorFont>
        <a:latin typeface="Times New Roman"/>
        <a:ea typeface="隶书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bg2"/>
          </a:solidFill>
          <a:prstDash val="sysDot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bg2"/>
          </a:solidFill>
          <a:prstDash val="sysDot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aidai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idai 2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idai 3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idai 4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idai 5">
        <a:dk1>
          <a:srgbClr val="663300"/>
        </a:dk1>
        <a:lt1>
          <a:srgbClr val="FFFFFF"/>
        </a:lt1>
        <a:dk2>
          <a:srgbClr val="000000"/>
        </a:dk2>
        <a:lt2>
          <a:srgbClr val="FFFF99"/>
        </a:lt2>
        <a:accent1>
          <a:srgbClr val="FFCC66"/>
        </a:accent1>
        <a:accent2>
          <a:srgbClr val="FFFFCC"/>
        </a:accent2>
        <a:accent3>
          <a:srgbClr val="FFFFFF"/>
        </a:accent3>
        <a:accent4>
          <a:srgbClr val="562A00"/>
        </a:accent4>
        <a:accent5>
          <a:srgbClr val="FFE2B8"/>
        </a:accent5>
        <a:accent6>
          <a:srgbClr val="E7E7B9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idai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5386</Words>
  <Application>WPS 演示</Application>
  <PresentationFormat/>
  <Paragraphs>399</Paragraphs>
  <Slides>17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9" baseType="lpstr">
      <vt:lpstr>Arial</vt:lpstr>
      <vt:lpstr>宋体</vt:lpstr>
      <vt:lpstr>Wingdings</vt:lpstr>
      <vt:lpstr>Gulim</vt:lpstr>
      <vt:lpstr>Malgun Gothic</vt:lpstr>
      <vt:lpstr>Times New Roman</vt:lpstr>
      <vt:lpstr>隶书</vt:lpstr>
      <vt:lpstr>Tahoma</vt:lpstr>
      <vt:lpstr>HY헤드라인M</vt:lpstr>
      <vt:lpstr>华文隶书</vt:lpstr>
      <vt:lpstr>黑体</vt:lpstr>
      <vt:lpstr>Comic Sans MS</vt:lpstr>
      <vt:lpstr>楷体_GB2312</vt:lpstr>
      <vt:lpstr>新宋体</vt:lpstr>
      <vt:lpstr>Courier New</vt:lpstr>
      <vt:lpstr>微软雅黑</vt:lpstr>
      <vt:lpstr>Arial Unicode MS</vt:lpstr>
      <vt:lpstr>4_색종이 상자</vt:lpstr>
      <vt:lpstr>5_색종이 상자</vt:lpstr>
      <vt:lpstr>caidai</vt:lpstr>
      <vt:lpstr>MS_ClipArt_Gallery.2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hc</dc:creator>
  <cp:lastModifiedBy>恪守本心</cp:lastModifiedBy>
  <cp:revision>59</cp:revision>
  <dcterms:created xsi:type="dcterms:W3CDTF">2023-11-01T11:10:15Z</dcterms:created>
  <dcterms:modified xsi:type="dcterms:W3CDTF">2023-11-01T11:10:31Z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D941058446EF4EE4B46CCFB6DE877F82_13</vt:lpwstr>
  </property>
  <property fmtid="{D5CDD505-2E9C-101B-9397-08002B2CF9AE}" pid="3" name="KSOProductBuildVer">
    <vt:lpwstr>2052-12.1.0.15712</vt:lpwstr>
  </property>
</Properties>
</file>