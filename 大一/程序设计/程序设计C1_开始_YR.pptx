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0" r:id="rId3"/>
  </p:sldMasterIdLst>
  <p:notesMasterIdLst>
    <p:notesMasterId r:id="rId6"/>
  </p:notesMasterIdLst>
  <p:sldIdLst>
    <p:sldId id="2390" r:id="rId4"/>
    <p:sldId id="2391" r:id="rId5"/>
    <p:sldId id="2392" r:id="rId7"/>
    <p:sldId id="2393" r:id="rId8"/>
    <p:sldId id="2394" r:id="rId9"/>
    <p:sldId id="2395" r:id="rId10"/>
    <p:sldId id="2396" r:id="rId11"/>
    <p:sldId id="2397" r:id="rId12"/>
    <p:sldId id="2398" r:id="rId13"/>
    <p:sldId id="2399" r:id="rId14"/>
    <p:sldId id="2400" r:id="rId15"/>
    <p:sldId id="2414" r:id="rId16"/>
    <p:sldId id="2415" r:id="rId17"/>
    <p:sldId id="2413" r:id="rId18"/>
    <p:sldId id="2402" r:id="rId19"/>
    <p:sldId id="2403" r:id="rId20"/>
    <p:sldId id="2404" r:id="rId21"/>
    <p:sldId id="2405" r:id="rId22"/>
    <p:sldId id="2416" r:id="rId23"/>
    <p:sldId id="2406" r:id="rId24"/>
    <p:sldId id="2407" r:id="rId25"/>
    <p:sldId id="2408" r:id="rId26"/>
  </p:sldIdLst>
  <p:sldSz cx="10080625" cy="6858000"/>
  <p:notesSz cx="6669405" cy="9928225"/>
  <p:defaultTextStyle>
    <a:defPPr>
      <a:defRPr lang="ko-K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3" pos="181" userDrawn="1">
          <p15:clr>
            <a:srgbClr val="A4A3A4"/>
          </p15:clr>
        </p15:guide>
        <p15:guide id="4" pos="6169" userDrawn="1">
          <p15:clr>
            <a:srgbClr val="A4A3A4"/>
          </p15:clr>
        </p15:guide>
        <p15:guide id="5" pos="3175" userDrawn="1">
          <p15:clr>
            <a:srgbClr val="A4A3A4"/>
          </p15:clr>
        </p15:guide>
        <p15:guide id="6" pos="1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55AF84"/>
    <a:srgbClr val="B2B2B2"/>
    <a:srgbClr val="EAEAEA"/>
    <a:srgbClr val="C0C0C0"/>
    <a:srgbClr val="969696"/>
    <a:srgbClr val="FF0000"/>
    <a:srgbClr val="FF99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0299"/>
  </p:normalViewPr>
  <p:slideViewPr>
    <p:cSldViewPr snapToObjects="1" showGuides="1">
      <p:cViewPr varScale="1">
        <p:scale>
          <a:sx n="90" d="100"/>
          <a:sy n="90" d="100"/>
        </p:scale>
        <p:origin x="-1950" y="-114"/>
      </p:cViewPr>
      <p:guideLst>
        <p:guide orient="horz" pos="3884"/>
        <p:guide orient="horz" pos="1071"/>
        <p:guide pos="181"/>
        <p:guide pos="6169"/>
        <p:guide pos="3175"/>
        <p:guide pos="1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25604" name="Rectangle 4"/>
          <p:cNvSpPr>
            <a:spLocks noGrp="1"/>
          </p:cNvSpPr>
          <p:nvPr>
            <p:ph type="sldImg" idx="2"/>
          </p:nvPr>
        </p:nvSpPr>
        <p:spPr>
          <a:xfrm>
            <a:off x="606425" y="746125"/>
            <a:ext cx="5464175" cy="371951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4875"/>
            <a:ext cx="4887913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마스터 텍스트 스타일을 편집합니다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둘째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셋째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넷째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다섯째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xfrm>
            <a:off x="890588" y="4714875"/>
            <a:ext cx="4887912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en-US" altLang="zh-CN" dirty="0"/>
              <a:t>int main(int argc, char*argv[]){return 0;}</a:t>
            </a:r>
            <a:br>
              <a:rPr lang="en-US" altLang="zh-CN" dirty="0"/>
            </a:br>
            <a:r>
              <a:rPr lang="zh-CN" altLang="en-US" dirty="0"/>
              <a:t>保证任何版本都不会出错</a:t>
            </a: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650" y="2130425"/>
            <a:ext cx="8569325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888" y="3886200"/>
            <a:ext cx="7056437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transition spd="med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4406900"/>
            <a:ext cx="856773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925" y="2906713"/>
            <a:ext cx="856773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transition spd="med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535113"/>
            <a:ext cx="44529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825" y="2174875"/>
            <a:ext cx="44529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1275" y="1535113"/>
            <a:ext cx="445611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1275" y="2174875"/>
            <a:ext cx="445611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3050"/>
            <a:ext cx="331628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763" y="273050"/>
            <a:ext cx="563562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825" y="1435100"/>
            <a:ext cx="331628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438" y="4800600"/>
            <a:ext cx="60483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6438" y="612775"/>
            <a:ext cx="60483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6438" y="5367338"/>
            <a:ext cx="60483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10438" y="274638"/>
            <a:ext cx="22669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274638"/>
            <a:ext cx="665321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650" y="2130425"/>
            <a:ext cx="8569325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888" y="3886200"/>
            <a:ext cx="7056437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4406900"/>
            <a:ext cx="856773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925" y="2906713"/>
            <a:ext cx="856773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535113"/>
            <a:ext cx="44529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825" y="2174875"/>
            <a:ext cx="44529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1275" y="1535113"/>
            <a:ext cx="445611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1275" y="2174875"/>
            <a:ext cx="445611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3050"/>
            <a:ext cx="331628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763" y="273050"/>
            <a:ext cx="563562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825" y="1435100"/>
            <a:ext cx="331628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438" y="4800600"/>
            <a:ext cx="60483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6438" y="612775"/>
            <a:ext cx="60483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6438" y="5367338"/>
            <a:ext cx="60483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10438" y="274638"/>
            <a:ext cx="22669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274638"/>
            <a:ext cx="665321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4.jpe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2" descr="subbar"/>
          <p:cNvPicPr>
            <a:picLocks noChangeAspect="1"/>
          </p:cNvPicPr>
          <p:nvPr userDrawn="1"/>
        </p:nvPicPr>
        <p:blipFill>
          <a:blip r:embed="rId12"/>
          <a:srcRect l="189" r="267"/>
          <a:stretch>
            <a:fillRect/>
          </a:stretch>
        </p:blipFill>
        <p:spPr>
          <a:xfrm>
            <a:off x="0" y="-9525"/>
            <a:ext cx="10080625" cy="1062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0" y="1020763"/>
            <a:ext cx="10080625" cy="0"/>
          </a:xfrm>
          <a:prstGeom prst="line">
            <a:avLst/>
          </a:prstGeom>
          <a:noFill/>
          <a:ln w="28575">
            <a:solidFill>
              <a:srgbClr val="236485"/>
            </a:solidFill>
            <a:round/>
          </a:ln>
          <a:effectLst>
            <a:outerShdw dist="35921" dir="2700000" algn="ctr" rotWithShape="0">
              <a:srgbClr val="90C060">
                <a:alpha val="5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0" y="6608763"/>
            <a:ext cx="287338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46038" rIns="0" bIns="46038" anchor="ctr"/>
          <a:p>
            <a:pPr lvl="0" algn="ctr">
              <a:lnSpc>
                <a:spcPct val="130000"/>
              </a:lnSpc>
              <a:buFont typeface="Wingdings" panose="05000000000000000000" pitchFamily="2" charset="2"/>
            </a:pPr>
            <a:fld id="{9A0DB2DC-4C9A-4742-B13C-FB6460FD3503}" type="slidenum">
              <a:rPr lang="en-GB" altLang="en-US" sz="900" i="1" dirty="0">
                <a:solidFill>
                  <a:srgbClr val="000066"/>
                </a:solidFill>
                <a:latin typeface="Tahoma" panose="020B0604030504040204" pitchFamily="34" charset="0"/>
                <a:cs typeface="Tahoma" panose="020B0604030504040204" pitchFamily="34" charset="0"/>
              </a:rPr>
            </a:fld>
            <a:r>
              <a:rPr lang="en-GB" altLang="en-US" sz="900" i="1" dirty="0">
                <a:solidFill>
                  <a:srgbClr val="000066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ko-KR" altLang="en-US" sz="900" i="1" dirty="0">
              <a:solidFill>
                <a:srgbClr val="000066"/>
              </a:solidFill>
              <a:latin typeface="Tahoma" panose="020B0604030504040204" pitchFamily="34" charset="0"/>
              <a:ea typeface="Tahoma" panose="020B0604030504040204" pitchFamily="34" charset="0"/>
            </a:endParaRPr>
          </a:p>
        </p:txBody>
      </p:sp>
      <p:pic>
        <p:nvPicPr>
          <p:cNvPr id="2053" name="Picture 6" descr="그림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8125" y="6715125"/>
            <a:ext cx="9077325" cy="841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edge/>
  </p:transition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4" name="Picture 12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4343400"/>
            <a:ext cx="10080625" cy="2528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Picture 121" descr="Untitled-5 copy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0080625" cy="2689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6" name="Group 4"/>
          <p:cNvGrpSpPr/>
          <p:nvPr userDrawn="1"/>
        </p:nvGrpSpPr>
        <p:grpSpPr>
          <a:xfrm>
            <a:off x="3509963" y="1300163"/>
            <a:ext cx="5761037" cy="912812"/>
            <a:chOff x="0" y="0"/>
            <a:chExt cx="3629" cy="575"/>
          </a:xfrm>
        </p:grpSpPr>
        <p:sp>
          <p:nvSpPr>
            <p:cNvPr id="2055" name="Oval 10"/>
            <p:cNvSpPr>
              <a:spLocks noChangeArrowheads="1"/>
            </p:cNvSpPr>
            <p:nvPr/>
          </p:nvSpPr>
          <p:spPr bwMode="auto">
            <a:xfrm>
              <a:off x="0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6" name="Oval 11"/>
            <p:cNvSpPr>
              <a:spLocks noChangeArrowheads="1"/>
            </p:cNvSpPr>
            <p:nvPr/>
          </p:nvSpPr>
          <p:spPr bwMode="auto">
            <a:xfrm>
              <a:off x="117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7" name="Oval 12"/>
            <p:cNvSpPr>
              <a:spLocks noChangeArrowheads="1"/>
            </p:cNvSpPr>
            <p:nvPr/>
          </p:nvSpPr>
          <p:spPr bwMode="auto">
            <a:xfrm>
              <a:off x="234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8" name="Oval 13"/>
            <p:cNvSpPr>
              <a:spLocks noChangeArrowheads="1"/>
            </p:cNvSpPr>
            <p:nvPr/>
          </p:nvSpPr>
          <p:spPr bwMode="auto">
            <a:xfrm>
              <a:off x="351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9" name="Oval 14"/>
            <p:cNvSpPr>
              <a:spLocks noChangeArrowheads="1"/>
            </p:cNvSpPr>
            <p:nvPr/>
          </p:nvSpPr>
          <p:spPr bwMode="auto">
            <a:xfrm>
              <a:off x="467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0" name="Oval 15"/>
            <p:cNvSpPr>
              <a:spLocks noChangeArrowheads="1"/>
            </p:cNvSpPr>
            <p:nvPr/>
          </p:nvSpPr>
          <p:spPr bwMode="auto">
            <a:xfrm>
              <a:off x="584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1" name="Oval 16"/>
            <p:cNvSpPr>
              <a:spLocks noChangeArrowheads="1"/>
            </p:cNvSpPr>
            <p:nvPr/>
          </p:nvSpPr>
          <p:spPr bwMode="auto">
            <a:xfrm>
              <a:off x="709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2" name="Oval 17"/>
            <p:cNvSpPr>
              <a:spLocks noChangeArrowheads="1"/>
            </p:cNvSpPr>
            <p:nvPr/>
          </p:nvSpPr>
          <p:spPr bwMode="auto">
            <a:xfrm>
              <a:off x="826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3" name="Oval 18"/>
            <p:cNvSpPr>
              <a:spLocks noChangeArrowheads="1"/>
            </p:cNvSpPr>
            <p:nvPr/>
          </p:nvSpPr>
          <p:spPr bwMode="auto">
            <a:xfrm>
              <a:off x="943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4" name="Oval 19"/>
            <p:cNvSpPr>
              <a:spLocks noChangeArrowheads="1"/>
            </p:cNvSpPr>
            <p:nvPr/>
          </p:nvSpPr>
          <p:spPr bwMode="auto">
            <a:xfrm>
              <a:off x="1059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5" name="Oval 20"/>
            <p:cNvSpPr>
              <a:spLocks noChangeArrowheads="1"/>
            </p:cNvSpPr>
            <p:nvPr/>
          </p:nvSpPr>
          <p:spPr bwMode="auto">
            <a:xfrm>
              <a:off x="1176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6" name="Oval 21"/>
            <p:cNvSpPr>
              <a:spLocks noChangeArrowheads="1"/>
            </p:cNvSpPr>
            <p:nvPr/>
          </p:nvSpPr>
          <p:spPr bwMode="auto">
            <a:xfrm>
              <a:off x="1293" y="0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7" name="Oval 22"/>
            <p:cNvSpPr>
              <a:spLocks noChangeArrowheads="1"/>
            </p:cNvSpPr>
            <p:nvPr/>
          </p:nvSpPr>
          <p:spPr bwMode="auto">
            <a:xfrm>
              <a:off x="1418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8" name="Oval 23"/>
            <p:cNvSpPr>
              <a:spLocks noChangeArrowheads="1"/>
            </p:cNvSpPr>
            <p:nvPr/>
          </p:nvSpPr>
          <p:spPr bwMode="auto">
            <a:xfrm>
              <a:off x="1534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9" name="Oval 24"/>
            <p:cNvSpPr>
              <a:spLocks noChangeArrowheads="1"/>
            </p:cNvSpPr>
            <p:nvPr/>
          </p:nvSpPr>
          <p:spPr bwMode="auto">
            <a:xfrm>
              <a:off x="1651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0" name="Oval 25"/>
            <p:cNvSpPr>
              <a:spLocks noChangeArrowheads="1"/>
            </p:cNvSpPr>
            <p:nvPr/>
          </p:nvSpPr>
          <p:spPr bwMode="auto">
            <a:xfrm>
              <a:off x="1768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1" name="Oval 26"/>
            <p:cNvSpPr>
              <a:spLocks noChangeArrowheads="1"/>
            </p:cNvSpPr>
            <p:nvPr/>
          </p:nvSpPr>
          <p:spPr bwMode="auto">
            <a:xfrm>
              <a:off x="1885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2" name="Oval 27"/>
            <p:cNvSpPr>
              <a:spLocks noChangeArrowheads="1"/>
            </p:cNvSpPr>
            <p:nvPr/>
          </p:nvSpPr>
          <p:spPr bwMode="auto">
            <a:xfrm>
              <a:off x="2002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3" name="Oval 28"/>
            <p:cNvSpPr>
              <a:spLocks noChangeArrowheads="1"/>
            </p:cNvSpPr>
            <p:nvPr/>
          </p:nvSpPr>
          <p:spPr bwMode="auto">
            <a:xfrm>
              <a:off x="2126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4" name="Oval 29"/>
            <p:cNvSpPr>
              <a:spLocks noChangeArrowheads="1"/>
            </p:cNvSpPr>
            <p:nvPr/>
          </p:nvSpPr>
          <p:spPr bwMode="auto">
            <a:xfrm>
              <a:off x="2243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5" name="Oval 30"/>
            <p:cNvSpPr>
              <a:spLocks noChangeArrowheads="1"/>
            </p:cNvSpPr>
            <p:nvPr/>
          </p:nvSpPr>
          <p:spPr bwMode="auto">
            <a:xfrm>
              <a:off x="2360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6" name="Oval 31"/>
            <p:cNvSpPr>
              <a:spLocks noChangeArrowheads="1"/>
            </p:cNvSpPr>
            <p:nvPr/>
          </p:nvSpPr>
          <p:spPr bwMode="auto">
            <a:xfrm>
              <a:off x="2477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7" name="Oval 32"/>
            <p:cNvSpPr>
              <a:spLocks noChangeArrowheads="1"/>
            </p:cNvSpPr>
            <p:nvPr/>
          </p:nvSpPr>
          <p:spPr bwMode="auto">
            <a:xfrm>
              <a:off x="2594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8" name="Oval 33"/>
            <p:cNvSpPr>
              <a:spLocks noChangeArrowheads="1"/>
            </p:cNvSpPr>
            <p:nvPr/>
          </p:nvSpPr>
          <p:spPr bwMode="auto">
            <a:xfrm>
              <a:off x="2711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9" name="Oval 34"/>
            <p:cNvSpPr>
              <a:spLocks noChangeArrowheads="1"/>
            </p:cNvSpPr>
            <p:nvPr/>
          </p:nvSpPr>
          <p:spPr bwMode="auto">
            <a:xfrm>
              <a:off x="2835" y="7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0" name="Oval 35"/>
            <p:cNvSpPr>
              <a:spLocks noChangeArrowheads="1"/>
            </p:cNvSpPr>
            <p:nvPr/>
          </p:nvSpPr>
          <p:spPr bwMode="auto">
            <a:xfrm>
              <a:off x="2952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1" name="Oval 36"/>
            <p:cNvSpPr>
              <a:spLocks noChangeArrowheads="1"/>
            </p:cNvSpPr>
            <p:nvPr/>
          </p:nvSpPr>
          <p:spPr bwMode="auto">
            <a:xfrm>
              <a:off x="3069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2" name="Oval 37"/>
            <p:cNvSpPr>
              <a:spLocks noChangeArrowheads="1"/>
            </p:cNvSpPr>
            <p:nvPr/>
          </p:nvSpPr>
          <p:spPr bwMode="auto">
            <a:xfrm>
              <a:off x="3186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3" name="Oval 38"/>
            <p:cNvSpPr>
              <a:spLocks noChangeArrowheads="1"/>
            </p:cNvSpPr>
            <p:nvPr/>
          </p:nvSpPr>
          <p:spPr bwMode="auto">
            <a:xfrm>
              <a:off x="3303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4" name="Oval 39"/>
            <p:cNvSpPr>
              <a:spLocks noChangeArrowheads="1"/>
            </p:cNvSpPr>
            <p:nvPr/>
          </p:nvSpPr>
          <p:spPr bwMode="auto">
            <a:xfrm>
              <a:off x="0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5" name="Oval 40"/>
            <p:cNvSpPr>
              <a:spLocks noChangeArrowheads="1"/>
            </p:cNvSpPr>
            <p:nvPr/>
          </p:nvSpPr>
          <p:spPr bwMode="auto">
            <a:xfrm>
              <a:off x="117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6" name="Oval 41"/>
            <p:cNvSpPr>
              <a:spLocks noChangeArrowheads="1"/>
            </p:cNvSpPr>
            <p:nvPr/>
          </p:nvSpPr>
          <p:spPr bwMode="auto">
            <a:xfrm>
              <a:off x="234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7" name="Oval 42"/>
            <p:cNvSpPr>
              <a:spLocks noChangeArrowheads="1"/>
            </p:cNvSpPr>
            <p:nvPr/>
          </p:nvSpPr>
          <p:spPr bwMode="auto">
            <a:xfrm>
              <a:off x="351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8" name="Oval 43"/>
            <p:cNvSpPr>
              <a:spLocks noChangeArrowheads="1"/>
            </p:cNvSpPr>
            <p:nvPr/>
          </p:nvSpPr>
          <p:spPr bwMode="auto">
            <a:xfrm>
              <a:off x="467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9" name="Oval 44"/>
            <p:cNvSpPr>
              <a:spLocks noChangeArrowheads="1"/>
            </p:cNvSpPr>
            <p:nvPr/>
          </p:nvSpPr>
          <p:spPr bwMode="auto">
            <a:xfrm>
              <a:off x="584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0" name="Oval 45"/>
            <p:cNvSpPr>
              <a:spLocks noChangeArrowheads="1"/>
            </p:cNvSpPr>
            <p:nvPr/>
          </p:nvSpPr>
          <p:spPr bwMode="auto">
            <a:xfrm>
              <a:off x="709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1" name="Oval 46"/>
            <p:cNvSpPr>
              <a:spLocks noChangeArrowheads="1"/>
            </p:cNvSpPr>
            <p:nvPr/>
          </p:nvSpPr>
          <p:spPr bwMode="auto">
            <a:xfrm>
              <a:off x="826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2" name="Oval 47"/>
            <p:cNvSpPr>
              <a:spLocks noChangeArrowheads="1"/>
            </p:cNvSpPr>
            <p:nvPr/>
          </p:nvSpPr>
          <p:spPr bwMode="auto">
            <a:xfrm>
              <a:off x="943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3" name="Oval 48"/>
            <p:cNvSpPr>
              <a:spLocks noChangeArrowheads="1"/>
            </p:cNvSpPr>
            <p:nvPr/>
          </p:nvSpPr>
          <p:spPr bwMode="auto">
            <a:xfrm>
              <a:off x="1059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4" name="Oval 49"/>
            <p:cNvSpPr>
              <a:spLocks noChangeArrowheads="1"/>
            </p:cNvSpPr>
            <p:nvPr/>
          </p:nvSpPr>
          <p:spPr bwMode="auto">
            <a:xfrm>
              <a:off x="1176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5" name="Oval 50"/>
            <p:cNvSpPr>
              <a:spLocks noChangeArrowheads="1"/>
            </p:cNvSpPr>
            <p:nvPr/>
          </p:nvSpPr>
          <p:spPr bwMode="auto">
            <a:xfrm>
              <a:off x="1293" y="120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6" name="Oval 51"/>
            <p:cNvSpPr>
              <a:spLocks noChangeArrowheads="1"/>
            </p:cNvSpPr>
            <p:nvPr/>
          </p:nvSpPr>
          <p:spPr bwMode="auto">
            <a:xfrm>
              <a:off x="1418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7" name="Oval 52"/>
            <p:cNvSpPr>
              <a:spLocks noChangeArrowheads="1"/>
            </p:cNvSpPr>
            <p:nvPr/>
          </p:nvSpPr>
          <p:spPr bwMode="auto">
            <a:xfrm>
              <a:off x="1534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8" name="Oval 53"/>
            <p:cNvSpPr>
              <a:spLocks noChangeArrowheads="1"/>
            </p:cNvSpPr>
            <p:nvPr/>
          </p:nvSpPr>
          <p:spPr bwMode="auto">
            <a:xfrm>
              <a:off x="1651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9" name="Oval 54"/>
            <p:cNvSpPr>
              <a:spLocks noChangeArrowheads="1"/>
            </p:cNvSpPr>
            <p:nvPr/>
          </p:nvSpPr>
          <p:spPr bwMode="auto">
            <a:xfrm>
              <a:off x="1768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0" name="Oval 55"/>
            <p:cNvSpPr>
              <a:spLocks noChangeArrowheads="1"/>
            </p:cNvSpPr>
            <p:nvPr/>
          </p:nvSpPr>
          <p:spPr bwMode="auto">
            <a:xfrm>
              <a:off x="1885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1" name="Oval 56"/>
            <p:cNvSpPr>
              <a:spLocks noChangeArrowheads="1"/>
            </p:cNvSpPr>
            <p:nvPr/>
          </p:nvSpPr>
          <p:spPr bwMode="auto">
            <a:xfrm>
              <a:off x="2002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2" name="Oval 57"/>
            <p:cNvSpPr>
              <a:spLocks noChangeArrowheads="1"/>
            </p:cNvSpPr>
            <p:nvPr/>
          </p:nvSpPr>
          <p:spPr bwMode="auto">
            <a:xfrm>
              <a:off x="2126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3" name="Oval 58"/>
            <p:cNvSpPr>
              <a:spLocks noChangeArrowheads="1"/>
            </p:cNvSpPr>
            <p:nvPr/>
          </p:nvSpPr>
          <p:spPr bwMode="auto">
            <a:xfrm>
              <a:off x="2243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4" name="Oval 59"/>
            <p:cNvSpPr>
              <a:spLocks noChangeArrowheads="1"/>
            </p:cNvSpPr>
            <p:nvPr/>
          </p:nvSpPr>
          <p:spPr bwMode="auto">
            <a:xfrm>
              <a:off x="2360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5" name="Oval 60"/>
            <p:cNvSpPr>
              <a:spLocks noChangeArrowheads="1"/>
            </p:cNvSpPr>
            <p:nvPr/>
          </p:nvSpPr>
          <p:spPr bwMode="auto">
            <a:xfrm>
              <a:off x="2477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6" name="Oval 61"/>
            <p:cNvSpPr>
              <a:spLocks noChangeArrowheads="1"/>
            </p:cNvSpPr>
            <p:nvPr/>
          </p:nvSpPr>
          <p:spPr bwMode="auto">
            <a:xfrm>
              <a:off x="2594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7" name="Oval 62"/>
            <p:cNvSpPr>
              <a:spLocks noChangeArrowheads="1"/>
            </p:cNvSpPr>
            <p:nvPr/>
          </p:nvSpPr>
          <p:spPr bwMode="auto">
            <a:xfrm>
              <a:off x="2711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8" name="Oval 63"/>
            <p:cNvSpPr>
              <a:spLocks noChangeArrowheads="1"/>
            </p:cNvSpPr>
            <p:nvPr/>
          </p:nvSpPr>
          <p:spPr bwMode="auto">
            <a:xfrm>
              <a:off x="2835" y="127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9" name="Oval 64"/>
            <p:cNvSpPr>
              <a:spLocks noChangeArrowheads="1"/>
            </p:cNvSpPr>
            <p:nvPr/>
          </p:nvSpPr>
          <p:spPr bwMode="auto">
            <a:xfrm>
              <a:off x="2952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0" name="Oval 65"/>
            <p:cNvSpPr>
              <a:spLocks noChangeArrowheads="1"/>
            </p:cNvSpPr>
            <p:nvPr/>
          </p:nvSpPr>
          <p:spPr bwMode="auto">
            <a:xfrm>
              <a:off x="3069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1" name="Oval 66"/>
            <p:cNvSpPr>
              <a:spLocks noChangeArrowheads="1"/>
            </p:cNvSpPr>
            <p:nvPr/>
          </p:nvSpPr>
          <p:spPr bwMode="auto">
            <a:xfrm>
              <a:off x="3186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2" name="Oval 67"/>
            <p:cNvSpPr>
              <a:spLocks noChangeArrowheads="1"/>
            </p:cNvSpPr>
            <p:nvPr/>
          </p:nvSpPr>
          <p:spPr bwMode="auto">
            <a:xfrm>
              <a:off x="3303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3" name="Oval 68"/>
            <p:cNvSpPr>
              <a:spLocks noChangeArrowheads="1"/>
            </p:cNvSpPr>
            <p:nvPr/>
          </p:nvSpPr>
          <p:spPr bwMode="auto">
            <a:xfrm>
              <a:off x="234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4" name="Oval 69"/>
            <p:cNvSpPr>
              <a:spLocks noChangeArrowheads="1"/>
            </p:cNvSpPr>
            <p:nvPr/>
          </p:nvSpPr>
          <p:spPr bwMode="auto">
            <a:xfrm>
              <a:off x="351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5" name="Oval 70"/>
            <p:cNvSpPr>
              <a:spLocks noChangeArrowheads="1"/>
            </p:cNvSpPr>
            <p:nvPr/>
          </p:nvSpPr>
          <p:spPr bwMode="auto">
            <a:xfrm>
              <a:off x="467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6" name="Oval 71"/>
            <p:cNvSpPr>
              <a:spLocks noChangeArrowheads="1"/>
            </p:cNvSpPr>
            <p:nvPr/>
          </p:nvSpPr>
          <p:spPr bwMode="auto">
            <a:xfrm>
              <a:off x="584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7" name="Oval 72"/>
            <p:cNvSpPr>
              <a:spLocks noChangeArrowheads="1"/>
            </p:cNvSpPr>
            <p:nvPr/>
          </p:nvSpPr>
          <p:spPr bwMode="auto">
            <a:xfrm>
              <a:off x="701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8" name="Oval 73"/>
            <p:cNvSpPr>
              <a:spLocks noChangeArrowheads="1"/>
            </p:cNvSpPr>
            <p:nvPr/>
          </p:nvSpPr>
          <p:spPr bwMode="auto">
            <a:xfrm>
              <a:off x="818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9" name="Oval 74"/>
            <p:cNvSpPr>
              <a:spLocks noChangeArrowheads="1"/>
            </p:cNvSpPr>
            <p:nvPr/>
          </p:nvSpPr>
          <p:spPr bwMode="auto">
            <a:xfrm>
              <a:off x="943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0" name="Oval 75"/>
            <p:cNvSpPr>
              <a:spLocks noChangeArrowheads="1"/>
            </p:cNvSpPr>
            <p:nvPr/>
          </p:nvSpPr>
          <p:spPr bwMode="auto">
            <a:xfrm>
              <a:off x="1059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1" name="Oval 76"/>
            <p:cNvSpPr>
              <a:spLocks noChangeArrowheads="1"/>
            </p:cNvSpPr>
            <p:nvPr/>
          </p:nvSpPr>
          <p:spPr bwMode="auto">
            <a:xfrm>
              <a:off x="1176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2" name="Oval 77"/>
            <p:cNvSpPr>
              <a:spLocks noChangeArrowheads="1"/>
            </p:cNvSpPr>
            <p:nvPr/>
          </p:nvSpPr>
          <p:spPr bwMode="auto">
            <a:xfrm>
              <a:off x="1293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3" name="Oval 78"/>
            <p:cNvSpPr>
              <a:spLocks noChangeArrowheads="1"/>
            </p:cNvSpPr>
            <p:nvPr/>
          </p:nvSpPr>
          <p:spPr bwMode="auto">
            <a:xfrm>
              <a:off x="1410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4" name="Oval 79"/>
            <p:cNvSpPr>
              <a:spLocks noChangeArrowheads="1"/>
            </p:cNvSpPr>
            <p:nvPr/>
          </p:nvSpPr>
          <p:spPr bwMode="auto">
            <a:xfrm>
              <a:off x="1527" y="249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5" name="Oval 80"/>
            <p:cNvSpPr>
              <a:spLocks noChangeArrowheads="1"/>
            </p:cNvSpPr>
            <p:nvPr/>
          </p:nvSpPr>
          <p:spPr bwMode="auto">
            <a:xfrm>
              <a:off x="1651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6" name="Oval 81"/>
            <p:cNvSpPr>
              <a:spLocks noChangeArrowheads="1"/>
            </p:cNvSpPr>
            <p:nvPr/>
          </p:nvSpPr>
          <p:spPr bwMode="auto">
            <a:xfrm>
              <a:off x="1768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7" name="Oval 82"/>
            <p:cNvSpPr>
              <a:spLocks noChangeArrowheads="1"/>
            </p:cNvSpPr>
            <p:nvPr/>
          </p:nvSpPr>
          <p:spPr bwMode="auto">
            <a:xfrm>
              <a:off x="1885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8" name="Oval 83"/>
            <p:cNvSpPr>
              <a:spLocks noChangeArrowheads="1"/>
            </p:cNvSpPr>
            <p:nvPr/>
          </p:nvSpPr>
          <p:spPr bwMode="auto">
            <a:xfrm>
              <a:off x="2002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9" name="Oval 84"/>
            <p:cNvSpPr>
              <a:spLocks noChangeArrowheads="1"/>
            </p:cNvSpPr>
            <p:nvPr/>
          </p:nvSpPr>
          <p:spPr bwMode="auto">
            <a:xfrm>
              <a:off x="2119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0" name="Oval 85"/>
            <p:cNvSpPr>
              <a:spLocks noChangeArrowheads="1"/>
            </p:cNvSpPr>
            <p:nvPr/>
          </p:nvSpPr>
          <p:spPr bwMode="auto">
            <a:xfrm>
              <a:off x="2236" y="250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1" name="Oval 86"/>
            <p:cNvSpPr>
              <a:spLocks noChangeArrowheads="1"/>
            </p:cNvSpPr>
            <p:nvPr/>
          </p:nvSpPr>
          <p:spPr bwMode="auto">
            <a:xfrm>
              <a:off x="2360" y="255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2" name="Oval 87"/>
            <p:cNvSpPr>
              <a:spLocks noChangeArrowheads="1"/>
            </p:cNvSpPr>
            <p:nvPr/>
          </p:nvSpPr>
          <p:spPr bwMode="auto">
            <a:xfrm>
              <a:off x="2477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3" name="Oval 88"/>
            <p:cNvSpPr>
              <a:spLocks noChangeArrowheads="1"/>
            </p:cNvSpPr>
            <p:nvPr/>
          </p:nvSpPr>
          <p:spPr bwMode="auto">
            <a:xfrm>
              <a:off x="2594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4" name="Oval 89"/>
            <p:cNvSpPr>
              <a:spLocks noChangeArrowheads="1"/>
            </p:cNvSpPr>
            <p:nvPr/>
          </p:nvSpPr>
          <p:spPr bwMode="auto">
            <a:xfrm>
              <a:off x="2711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5" name="Oval 90"/>
            <p:cNvSpPr>
              <a:spLocks noChangeArrowheads="1"/>
            </p:cNvSpPr>
            <p:nvPr/>
          </p:nvSpPr>
          <p:spPr bwMode="auto">
            <a:xfrm>
              <a:off x="2828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6" name="Oval 91"/>
            <p:cNvSpPr>
              <a:spLocks noChangeArrowheads="1"/>
            </p:cNvSpPr>
            <p:nvPr/>
          </p:nvSpPr>
          <p:spPr bwMode="auto">
            <a:xfrm>
              <a:off x="2944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7" name="Oval 92"/>
            <p:cNvSpPr>
              <a:spLocks noChangeArrowheads="1"/>
            </p:cNvSpPr>
            <p:nvPr/>
          </p:nvSpPr>
          <p:spPr bwMode="auto">
            <a:xfrm>
              <a:off x="3069" y="256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8" name="Oval 93"/>
            <p:cNvSpPr>
              <a:spLocks noChangeArrowheads="1"/>
            </p:cNvSpPr>
            <p:nvPr/>
          </p:nvSpPr>
          <p:spPr bwMode="auto">
            <a:xfrm>
              <a:off x="3186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9" name="Oval 94"/>
            <p:cNvSpPr>
              <a:spLocks noChangeArrowheads="1"/>
            </p:cNvSpPr>
            <p:nvPr/>
          </p:nvSpPr>
          <p:spPr bwMode="auto">
            <a:xfrm>
              <a:off x="3303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0" name="Oval 95"/>
            <p:cNvSpPr>
              <a:spLocks noChangeArrowheads="1"/>
            </p:cNvSpPr>
            <p:nvPr/>
          </p:nvSpPr>
          <p:spPr bwMode="auto">
            <a:xfrm>
              <a:off x="3420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1" name="Oval 96"/>
            <p:cNvSpPr>
              <a:spLocks noChangeArrowheads="1"/>
            </p:cNvSpPr>
            <p:nvPr/>
          </p:nvSpPr>
          <p:spPr bwMode="auto">
            <a:xfrm>
              <a:off x="3536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2" name="Oval 97"/>
            <p:cNvSpPr>
              <a:spLocks noChangeArrowheads="1"/>
            </p:cNvSpPr>
            <p:nvPr/>
          </p:nvSpPr>
          <p:spPr bwMode="auto">
            <a:xfrm>
              <a:off x="476" y="371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3" name="Oval 98"/>
            <p:cNvSpPr>
              <a:spLocks noChangeArrowheads="1"/>
            </p:cNvSpPr>
            <p:nvPr/>
          </p:nvSpPr>
          <p:spPr bwMode="auto">
            <a:xfrm>
              <a:off x="593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4" name="Oval 99"/>
            <p:cNvSpPr>
              <a:spLocks noChangeArrowheads="1"/>
            </p:cNvSpPr>
            <p:nvPr/>
          </p:nvSpPr>
          <p:spPr bwMode="auto">
            <a:xfrm>
              <a:off x="710" y="37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5" name="Oval 100"/>
            <p:cNvSpPr>
              <a:spLocks noChangeArrowheads="1"/>
            </p:cNvSpPr>
            <p:nvPr/>
          </p:nvSpPr>
          <p:spPr bwMode="auto">
            <a:xfrm>
              <a:off x="827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6" name="Oval 101"/>
            <p:cNvSpPr>
              <a:spLocks noChangeArrowheads="1"/>
            </p:cNvSpPr>
            <p:nvPr/>
          </p:nvSpPr>
          <p:spPr bwMode="auto">
            <a:xfrm>
              <a:off x="944" y="36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7" name="Oval 102"/>
            <p:cNvSpPr>
              <a:spLocks noChangeArrowheads="1"/>
            </p:cNvSpPr>
            <p:nvPr/>
          </p:nvSpPr>
          <p:spPr bwMode="auto">
            <a:xfrm>
              <a:off x="1060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8" name="Oval 103"/>
            <p:cNvSpPr>
              <a:spLocks noChangeArrowheads="1"/>
            </p:cNvSpPr>
            <p:nvPr/>
          </p:nvSpPr>
          <p:spPr bwMode="auto">
            <a:xfrm>
              <a:off x="1185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9" name="Oval 104"/>
            <p:cNvSpPr>
              <a:spLocks noChangeArrowheads="1"/>
            </p:cNvSpPr>
            <p:nvPr/>
          </p:nvSpPr>
          <p:spPr bwMode="auto">
            <a:xfrm>
              <a:off x="1302" y="36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0" name="Oval 105"/>
            <p:cNvSpPr>
              <a:spLocks noChangeArrowheads="1"/>
            </p:cNvSpPr>
            <p:nvPr/>
          </p:nvSpPr>
          <p:spPr bwMode="auto">
            <a:xfrm>
              <a:off x="1419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1" name="Oval 106"/>
            <p:cNvSpPr>
              <a:spLocks noChangeArrowheads="1"/>
            </p:cNvSpPr>
            <p:nvPr/>
          </p:nvSpPr>
          <p:spPr bwMode="auto">
            <a:xfrm>
              <a:off x="1536" y="36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2" name="Oval 107"/>
            <p:cNvSpPr>
              <a:spLocks noChangeArrowheads="1"/>
            </p:cNvSpPr>
            <p:nvPr/>
          </p:nvSpPr>
          <p:spPr bwMode="auto">
            <a:xfrm>
              <a:off x="1652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3" name="Oval 108"/>
            <p:cNvSpPr>
              <a:spLocks noChangeArrowheads="1"/>
            </p:cNvSpPr>
            <p:nvPr/>
          </p:nvSpPr>
          <p:spPr bwMode="auto">
            <a:xfrm>
              <a:off x="1769" y="365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4" name="Oval 109"/>
            <p:cNvSpPr>
              <a:spLocks noChangeArrowheads="1"/>
            </p:cNvSpPr>
            <p:nvPr/>
          </p:nvSpPr>
          <p:spPr bwMode="auto">
            <a:xfrm>
              <a:off x="1894" y="370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5" name="Oval 110"/>
            <p:cNvSpPr>
              <a:spLocks noChangeArrowheads="1"/>
            </p:cNvSpPr>
            <p:nvPr/>
          </p:nvSpPr>
          <p:spPr bwMode="auto">
            <a:xfrm>
              <a:off x="2011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6" name="Oval 111"/>
            <p:cNvSpPr>
              <a:spLocks noChangeArrowheads="1"/>
            </p:cNvSpPr>
            <p:nvPr/>
          </p:nvSpPr>
          <p:spPr bwMode="auto">
            <a:xfrm>
              <a:off x="485" y="491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7" name="Oval 112"/>
            <p:cNvSpPr>
              <a:spLocks noChangeArrowheads="1"/>
            </p:cNvSpPr>
            <p:nvPr/>
          </p:nvSpPr>
          <p:spPr bwMode="auto">
            <a:xfrm>
              <a:off x="602" y="489"/>
              <a:ext cx="92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8" name="Oval 113"/>
            <p:cNvSpPr>
              <a:spLocks noChangeArrowheads="1"/>
            </p:cNvSpPr>
            <p:nvPr/>
          </p:nvSpPr>
          <p:spPr bwMode="auto">
            <a:xfrm>
              <a:off x="1060" y="486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9" name="Oval 114"/>
            <p:cNvSpPr>
              <a:spLocks noChangeArrowheads="1"/>
            </p:cNvSpPr>
            <p:nvPr/>
          </p:nvSpPr>
          <p:spPr bwMode="auto">
            <a:xfrm>
              <a:off x="1200" y="485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</p:grpSp>
      <p:sp>
        <p:nvSpPr>
          <p:cNvPr id="2053" name="Rectangle 116"/>
          <p:cNvSpPr>
            <a:spLocks noChangeArrowheads="1"/>
          </p:cNvSpPr>
          <p:nvPr/>
        </p:nvSpPr>
        <p:spPr bwMode="auto">
          <a:xfrm>
            <a:off x="2928938" y="4375150"/>
            <a:ext cx="4527550" cy="55562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2" charset="-127"/>
                <a:ea typeface="华文隶书" panose="02010800040101010101" pitchFamily="2" charset="-122"/>
                <a:cs typeface="Tahoma" panose="020B0604030504040204" pitchFamily="34" charset="0"/>
              </a:rPr>
              <a:t>程序设计基础课程组</a:t>
            </a:r>
            <a:endParaRPr kumimoji="0" lang="zh-CN" altLang="en-US" sz="3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헤드라인M" pitchFamily="2" charset="-127"/>
              <a:ea typeface="华文隶书" panose="02010800040101010101" pitchFamily="2" charset="-122"/>
              <a:cs typeface="Tahoma" panose="020B0604030504040204" pitchFamily="34" charset="0"/>
            </a:endParaRPr>
          </a:p>
        </p:txBody>
      </p:sp>
      <p:sp>
        <p:nvSpPr>
          <p:cNvPr id="2054" name="Text Box 111"/>
          <p:cNvSpPr txBox="1">
            <a:spLocks noChangeArrowheads="1"/>
          </p:cNvSpPr>
          <p:nvPr/>
        </p:nvSpPr>
        <p:spPr bwMode="auto">
          <a:xfrm>
            <a:off x="6461125" y="6453188"/>
            <a:ext cx="3548063" cy="3365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华文隶书" panose="02010800040101010101" pitchFamily="2" charset="-122"/>
                <a:cs typeface="+mn-cs"/>
              </a:rPr>
              <a:t>深圳大学计算机与软件学院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华文隶书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edge/>
  </p:transition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2.wav"/><Relationship Id="rId3" Type="http://schemas.openxmlformats.org/officeDocument/2006/relationships/audio" Target="../media/audio1.wav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172.31.221.11/JudgeOnline/problem.php?cid=1674&amp;pid=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172.31.221.11/JudgeOnline/problem.php?cid=1674&amp;pid=0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172.31.221.11/JudgeOnline/problem.php?cid=1674&amp;pid=1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AutoShape 7"/>
          <p:cNvSpPr>
            <a:spLocks noChangeArrowheads="1"/>
          </p:cNvSpPr>
          <p:nvPr/>
        </p:nvSpPr>
        <p:spPr bwMode="auto">
          <a:xfrm>
            <a:off x="7580313" y="4292600"/>
            <a:ext cx="2500313" cy="379413"/>
          </a:xfrm>
          <a:prstGeom prst="roundRect">
            <a:avLst>
              <a:gd name="adj" fmla="val 36819"/>
            </a:avLst>
          </a:prstGeom>
          <a:solidFill>
            <a:schemeClr val="bg1"/>
          </a:solidFill>
          <a:ln w="9525">
            <a:noFill/>
            <a:round/>
          </a:ln>
          <a:effectLst>
            <a:outerShdw dist="35921" dir="8100000" algn="ctr" rotWithShape="0">
              <a:srgbClr val="333399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ko-KR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4099" name="Text Box 3"/>
          <p:cNvSpPr txBox="1"/>
          <p:nvPr/>
        </p:nvSpPr>
        <p:spPr>
          <a:xfrm>
            <a:off x="1512888" y="2133600"/>
            <a:ext cx="7056437" cy="67786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讲 开始</a:t>
            </a:r>
            <a:r>
              <a:rPr lang="en-US" altLang="zh-CN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程序设计</a:t>
            </a:r>
            <a:endParaRPr lang="zh-CN" altLang="en-US" sz="4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0"/>
            <a:ext cx="9072563" cy="908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最简单的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C++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程序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123" name="Rectangle 3"/>
          <p:cNvSpPr/>
          <p:nvPr>
            <p:ph idx="1"/>
          </p:nvPr>
        </p:nvSpPr>
        <p:spPr>
          <a:xfrm>
            <a:off x="71438" y="1052513"/>
            <a:ext cx="9744075" cy="5689600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void main( )       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函数头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function header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                   //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function body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main()         //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OJ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和有些编译器必须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main()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return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C/C++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程序必须有且仅有一个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函数，它是程序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的开始执行点。函数是构成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C/C++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程序的主要成分，由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两部分组成：函数头、函数体。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/>
          <p:nvPr/>
        </p:nvSpPr>
        <p:spPr>
          <a:xfrm>
            <a:off x="336550" y="1196975"/>
            <a:ext cx="9545638" cy="5354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C++: 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单行注释：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//     </a:t>
            </a: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sz="32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注释语句：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用于对程序功能、算法、数据等进行说明，提高程序的可读性。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</a:pPr>
            <a:endParaRPr lang="en-US" altLang="zh-CN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程序的</a:t>
            </a:r>
            <a:r>
              <a:rPr lang="zh-CN" altLang="en-US" sz="32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注释语句：</a:t>
            </a:r>
            <a:r>
              <a:rPr lang="en-US" altLang="zh-CN" sz="32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/*……*/</a:t>
            </a:r>
            <a:endParaRPr lang="en-US" altLang="zh-CN" sz="3200" b="1" dirty="0">
              <a:solidFill>
                <a:srgbClr val="CC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sz="32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不允许嵌套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，即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/*../*…*/…*/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是不允许的。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</a:pP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39688"/>
            <a:ext cx="9359900" cy="8683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运行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C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程序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使用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Visual Studio I</a:t>
            </a: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7171" name="Rectangle 3"/>
          <p:cNvSpPr/>
          <p:nvPr>
            <p:ph idx="1"/>
          </p:nvPr>
        </p:nvSpPr>
        <p:spPr>
          <a:xfrm>
            <a:off x="215900" y="1196975"/>
            <a:ext cx="9648825" cy="5181600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1: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运行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Microsoft Visual Studio C++ 6.0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2:File -&gt; New -&gt; Projects -&gt; 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Win32 Console Application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3: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填写 “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Location” &amp; “Project name” 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框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点击 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OK-&gt;Finish-&gt;OK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4:Project-&gt;Add File-&gt;C++ Source File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5: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填写 “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File”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框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点击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OK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6: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编辑</a:t>
            </a:r>
            <a:endParaRPr lang="zh-CN" altLang="en-US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/>
          <p:nvPr>
            <p:ph idx="1"/>
          </p:nvPr>
        </p:nvSpPr>
        <p:spPr>
          <a:xfrm>
            <a:off x="215900" y="1143000"/>
            <a:ext cx="9048750" cy="4754563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7: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运行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 </a:t>
            </a:r>
            <a:r>
              <a:rPr lang="en-US" altLang="zh-CN" sz="3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! 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 Yes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8: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若有错，转 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zh-CN" altLang="en-US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注：文件后缀名：</a:t>
            </a:r>
            <a:r>
              <a:rPr lang="en-US" altLang="zh-CN" sz="3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.c  </a:t>
            </a:r>
            <a:r>
              <a:rPr lang="zh-CN" altLang="en-US" sz="3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或 </a:t>
            </a:r>
            <a:r>
              <a:rPr lang="en-US" altLang="zh-CN" sz="3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.cpp(C++)</a:t>
            </a:r>
            <a:endParaRPr lang="en-US" altLang="zh-CN" sz="3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3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7338" y="44450"/>
            <a:ext cx="9575800" cy="86836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运行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C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程序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--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使用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Visual Studio II</a:t>
            </a: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639763" y="115888"/>
            <a:ext cx="88646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177800" indent="-177800" eaLnBrk="0" hangingPunct="0"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1081405" indent="-457200" eaLnBrk="0" hangingPunct="0"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717675" indent="-457200" eaLnBrk="0" hangingPunct="0"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2354580" indent="-457200" eaLnBrk="0" hangingPunct="0"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990850" indent="-457200" eaLnBrk="0" hangingPunct="0"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3448050" indent="-4572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3905250" indent="-4572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4362450" indent="-4572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4819650" indent="-4572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tabLst>
                <a:tab pos="177800" algn="l"/>
              </a:tabLs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177800" marR="0" lvl="0" indent="-1778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177800" algn="l"/>
              </a:tabLst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编制</a:t>
            </a: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C/C++</a:t>
            </a: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程序的基本步骤 </a:t>
            </a:r>
            <a:endParaRPr kumimoji="0" lang="zh-CN" altLang="en-US" sz="4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363538" y="1676400"/>
            <a:ext cx="1552575" cy="457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</a:sp3d>
        </p:spPr>
        <p:txBody>
          <a:bodyPr>
            <a:spAutoFit/>
            <a:flatTx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编 辑</a:t>
            </a:r>
            <a:endParaRPr kumimoji="0" lang="zh-CN" altLang="en-US" sz="2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074863" y="1401763"/>
            <a:ext cx="1825625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程序代码的录入，生成源程序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*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.c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或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*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.cpp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17500" y="2820988"/>
            <a:ext cx="1552575" cy="4572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CC99"/>
            </a:extrusionClr>
          </a:sp3d>
        </p:spPr>
        <p:txBody>
          <a:bodyPr>
            <a:spAutoFit/>
            <a:flatTx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编 译</a:t>
            </a:r>
            <a:endParaRPr kumimoji="0" lang="zh-CN" altLang="en-US" sz="2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2074863" y="2540000"/>
            <a:ext cx="2028825" cy="9159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语法分析查错，翻译生成目标程序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*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.obj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287338" y="4008438"/>
            <a:ext cx="1552575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>
            <a:spAutoFit/>
            <a:flatTx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链 接</a:t>
            </a:r>
            <a:endParaRPr kumimoji="0" lang="zh-CN" altLang="en-US" sz="2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2057400" y="3578225"/>
            <a:ext cx="1827213" cy="11906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与其它目标程序或库链接装配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,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生成可执行程序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*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.exe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66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304800" y="5210175"/>
            <a:ext cx="1552575" cy="457200"/>
          </a:xfrm>
          <a:prstGeom prst="rect">
            <a:avLst/>
          </a:prstGeom>
          <a:solidFill>
            <a:srgbClr val="FF66FF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66FF"/>
            </a:extrusionClr>
          </a:sp3d>
        </p:spPr>
        <p:txBody>
          <a:bodyPr>
            <a:spAutoFit/>
            <a:flatTx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运 行</a:t>
            </a:r>
            <a:endParaRPr kumimoji="0" lang="zh-CN" altLang="en-US" sz="24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ea typeface="楷体_GB2312" pitchFamily="49" charset="-122"/>
              <a:cs typeface="Tahoma" panose="020B0604030504040204" pitchFamily="34" charset="0"/>
            </a:endParaRPr>
          </a:p>
        </p:txBody>
      </p:sp>
      <p:sp>
        <p:nvSpPr>
          <p:cNvPr id="9226" name="AutoShape 10"/>
          <p:cNvSpPr>
            <a:spLocks noChangeArrowheads="1"/>
          </p:cNvSpPr>
          <p:nvPr/>
        </p:nvSpPr>
        <p:spPr bwMode="auto">
          <a:xfrm>
            <a:off x="1011238" y="2152650"/>
            <a:ext cx="349250" cy="603250"/>
          </a:xfrm>
          <a:prstGeom prst="downArrow">
            <a:avLst>
              <a:gd name="adj1" fmla="val 50000"/>
              <a:gd name="adj2" fmla="val 43182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9227" name="AutoShape 11"/>
          <p:cNvSpPr>
            <a:spLocks noChangeArrowheads="1"/>
          </p:cNvSpPr>
          <p:nvPr/>
        </p:nvSpPr>
        <p:spPr bwMode="auto">
          <a:xfrm>
            <a:off x="996950" y="3297238"/>
            <a:ext cx="349250" cy="603250"/>
          </a:xfrm>
          <a:prstGeom prst="downArrow">
            <a:avLst>
              <a:gd name="adj1" fmla="val 50000"/>
              <a:gd name="adj2" fmla="val 43182"/>
            </a:avLst>
          </a:prstGeom>
          <a:solidFill>
            <a:srgbClr val="FF9966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9228" name="AutoShape 12"/>
          <p:cNvSpPr>
            <a:spLocks noChangeArrowheads="1"/>
          </p:cNvSpPr>
          <p:nvPr/>
        </p:nvSpPr>
        <p:spPr bwMode="auto">
          <a:xfrm>
            <a:off x="998538" y="4484688"/>
            <a:ext cx="349250" cy="603250"/>
          </a:xfrm>
          <a:prstGeom prst="downArrow">
            <a:avLst>
              <a:gd name="adj1" fmla="val 50000"/>
              <a:gd name="adj2" fmla="val 43182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90488" y="5924550"/>
            <a:ext cx="21463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  编写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C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Tahoma" panose="020B0604030504040204" pitchFamily="34" charset="0"/>
              </a:rPr>
              <a:t>程序的步骤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 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graphicFrame>
        <p:nvGraphicFramePr>
          <p:cNvPr id="9230" name="Object 14"/>
          <p:cNvGraphicFramePr>
            <a:graphicFrameLocks noChangeAspect="1"/>
          </p:cNvGraphicFramePr>
          <p:nvPr/>
        </p:nvGraphicFramePr>
        <p:xfrm>
          <a:off x="2976563" y="5172075"/>
          <a:ext cx="6956425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142740" imgH="902970" progId="Excel.Sheet.8">
                  <p:embed/>
                </p:oleObj>
              </mc:Choice>
              <mc:Fallback>
                <p:oleObj name="" r:id="rId1" imgW="4142740" imgH="902970" progId="Excel.Shee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76563" y="5172075"/>
                        <a:ext cx="6956425" cy="1466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 cap="flat" cmpd="sng">
                        <a:solidFill>
                          <a:srgbClr val="FF99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animBg="1"/>
      <p:bldP spid="9220" grpId="0"/>
      <p:bldP spid="9221" grpId="0" animBg="1"/>
      <p:bldP spid="9222" grpId="0"/>
      <p:bldP spid="9223" grpId="0" animBg="1"/>
      <p:bldP spid="9224" grpId="0"/>
      <p:bldP spid="9225" grpId="0" animBg="1"/>
      <p:bldP spid="9226" grpId="0" animBg="1"/>
      <p:bldP spid="9227" grpId="0" animBg="1"/>
      <p:bldP spid="92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44450"/>
            <a:ext cx="9072563" cy="792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C++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程序 </a:t>
            </a: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-- </a:t>
            </a: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输出一条信息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9219" name="Rectangle 3"/>
          <p:cNvSpPr/>
          <p:nvPr>
            <p:ph idx="1"/>
          </p:nvPr>
        </p:nvSpPr>
        <p:spPr>
          <a:xfrm>
            <a:off x="215900" y="1111250"/>
            <a:ext cx="9864725" cy="5486400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#include &lt;stdio.h&gt;     /*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头文件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header file*/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 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printf(“Hello World!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n”);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return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C/C++</a:t>
            </a:r>
            <a:r>
              <a:rPr lang="zh-CN" altLang="en-US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语句以分号结尾</a:t>
            </a:r>
            <a:r>
              <a:rPr lang="zh-CN" altLang="en-US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</a:t>
            </a:r>
            <a:r>
              <a:rPr lang="zh-CN" altLang="en-US" u="sng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程序书写格式：锯齿形</a:t>
            </a:r>
            <a:endParaRPr lang="zh-CN" altLang="en-US" u="sng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printf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预定义输出函数 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stdio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中定义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当使用预定义内容时，注意包含正确的头文件。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/>
          <p:nvPr>
            <p:ph idx="1"/>
          </p:nvPr>
        </p:nvSpPr>
        <p:spPr>
          <a:xfrm>
            <a:off x="357188" y="1125538"/>
            <a:ext cx="9220200" cy="5399087"/>
          </a:xfrm>
          <a:noFill/>
          <a:ln>
            <a:noFill/>
          </a:ln>
        </p:spPr>
        <p:txBody>
          <a:bodyPr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转义字符及其含义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P45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3-3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\n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回车换行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\t 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水平制表        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\v 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垂直制表         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\b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退格               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\r  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回车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\a 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报警              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\?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打印问号     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\\ 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打印反斜线    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\´ 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打印单引号  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 “ ----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打印双引号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3975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练习</a:t>
            </a:r>
            <a:endParaRPr kumimoji="0" lang="zh-TW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1267" name="Rectangle 3"/>
          <p:cNvSpPr/>
          <p:nvPr>
            <p:ph idx="1"/>
          </p:nvPr>
        </p:nvSpPr>
        <p:spPr>
          <a:xfrm>
            <a:off x="130175" y="1196975"/>
            <a:ext cx="9447213" cy="4754563"/>
          </a:xfrm>
          <a:noFill/>
          <a:ln>
            <a:noFill/>
          </a:ln>
        </p:spPr>
        <p:txBody>
          <a:bodyPr/>
          <a:p>
            <a:pPr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编写程序，输出姓名和学号。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//exp1_1.c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39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/>
          <p:nvPr>
            <p:ph idx="1"/>
          </p:nvPr>
        </p:nvSpPr>
        <p:spPr>
          <a:xfrm>
            <a:off x="168275" y="1412875"/>
            <a:ext cx="9072563" cy="4525963"/>
          </a:xfrm>
          <a:solidFill>
            <a:srgbClr val="FFFFFF"/>
          </a:solidFill>
          <a:ln>
            <a:noFill/>
          </a:ln>
        </p:spPr>
        <p:txBody>
          <a:bodyPr/>
          <a:p>
            <a:pPr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endParaRPr lang="zh-TW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0"/>
            <a:ext cx="9072563" cy="10525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int,scanf,printf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grpSp>
        <p:nvGrpSpPr>
          <p:cNvPr id="12292" name="Group 4"/>
          <p:cNvGrpSpPr/>
          <p:nvPr/>
        </p:nvGrpSpPr>
        <p:grpSpPr>
          <a:xfrm>
            <a:off x="504825" y="2743200"/>
            <a:ext cx="8988425" cy="2362200"/>
            <a:chOff x="0" y="0"/>
            <a:chExt cx="5136" cy="1488"/>
          </a:xfrm>
        </p:grpSpPr>
        <p:sp>
          <p:nvSpPr>
            <p:cNvPr id="12293" name="Line 5"/>
            <p:cNvSpPr/>
            <p:nvPr/>
          </p:nvSpPr>
          <p:spPr>
            <a:xfrm>
              <a:off x="0" y="768"/>
              <a:ext cx="144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94" name="Rectangle 6"/>
            <p:cNvSpPr/>
            <p:nvPr/>
          </p:nvSpPr>
          <p:spPr>
            <a:xfrm>
              <a:off x="1440" y="48"/>
              <a:ext cx="2304" cy="14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>
                <a:buFont typeface="Wingdings" panose="05000000000000000000" pitchFamily="2" charset="2"/>
              </a:pPr>
              <a:r>
                <a:rPr lang="zh-CN" altLang="en-US" sz="3200" b="1" dirty="0">
                  <a:latin typeface="Arial" panose="020B0604020202020204" pitchFamily="34" charset="0"/>
                  <a:ea typeface="宋体" panose="02010600030101010101" pitchFamily="2" charset="-122"/>
                </a:rPr>
                <a:t>运算</a:t>
              </a:r>
              <a:r>
                <a:rPr lang="en-US" altLang="zh-CN" sz="3200" b="1" dirty="0">
                  <a:latin typeface="Arial" panose="020B0604020202020204" pitchFamily="34" charset="0"/>
                  <a:ea typeface="宋体" panose="02010600030101010101" pitchFamily="2" charset="-122"/>
                </a:rPr>
                <a:t>/</a:t>
              </a:r>
              <a:r>
                <a:rPr lang="zh-CN" altLang="en-US" sz="3200" b="1" dirty="0">
                  <a:latin typeface="Arial" panose="020B0604020202020204" pitchFamily="34" charset="0"/>
                  <a:ea typeface="宋体" panose="02010600030101010101" pitchFamily="2" charset="-122"/>
                </a:rPr>
                <a:t>操作</a:t>
              </a:r>
              <a:endPara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 eaLnBrk="1" hangingPunct="1">
                <a:buFont typeface="Wingdings" panose="05000000000000000000" pitchFamily="2" charset="2"/>
              </a:pPr>
              <a:r>
                <a:rPr lang="zh-CN" altLang="en-US" sz="3200" b="1" dirty="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变量</a:t>
              </a:r>
              <a:endParaRPr lang="zh-CN" altLang="en-US" sz="32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5" name="Line 7"/>
            <p:cNvSpPr/>
            <p:nvPr/>
          </p:nvSpPr>
          <p:spPr>
            <a:xfrm>
              <a:off x="3744" y="768"/>
              <a:ext cx="13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296" name="Text Box 8"/>
            <p:cNvSpPr txBox="1"/>
            <p:nvPr/>
          </p:nvSpPr>
          <p:spPr>
            <a:xfrm>
              <a:off x="384" y="336"/>
              <a:ext cx="76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3200" b="1" dirty="0">
                  <a:latin typeface="Arial" panose="020B0604020202020204" pitchFamily="34" charset="0"/>
                  <a:ea typeface="宋体" panose="02010600030101010101" pitchFamily="2" charset="-122"/>
                </a:rPr>
                <a:t>输入</a:t>
              </a:r>
              <a:endPara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7" name="Text Box 9"/>
            <p:cNvSpPr txBox="1"/>
            <p:nvPr/>
          </p:nvSpPr>
          <p:spPr>
            <a:xfrm>
              <a:off x="4176" y="384"/>
              <a:ext cx="6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800" b="1" dirty="0">
                  <a:latin typeface="Arial" panose="020B0604020202020204" pitchFamily="34" charset="0"/>
                  <a:ea typeface="宋体" panose="02010600030101010101" pitchFamily="2" charset="-122"/>
                </a:rPr>
                <a:t>输出</a:t>
              </a:r>
              <a:endPara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8" name="Text Box 10"/>
            <p:cNvSpPr txBox="1"/>
            <p:nvPr/>
          </p:nvSpPr>
          <p:spPr>
            <a:xfrm>
              <a:off x="336" y="912"/>
              <a:ext cx="86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3200" b="1" dirty="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键盘</a:t>
              </a:r>
              <a:endPara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99" name="Text Box 11"/>
            <p:cNvSpPr txBox="1"/>
            <p:nvPr/>
          </p:nvSpPr>
          <p:spPr>
            <a:xfrm>
              <a:off x="4080" y="864"/>
              <a:ext cx="9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3200" b="1" dirty="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显示器</a:t>
              </a:r>
              <a:endPara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0" name="Text Box 12"/>
            <p:cNvSpPr txBox="1"/>
            <p:nvPr/>
          </p:nvSpPr>
          <p:spPr>
            <a:xfrm>
              <a:off x="384" y="0"/>
              <a:ext cx="81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en-US" altLang="zh-CN" sz="3200" b="1" dirty="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scanf</a:t>
              </a:r>
              <a:endParaRPr lang="en-US" altLang="zh-CN" sz="32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01" name="Text Box 13"/>
            <p:cNvSpPr txBox="1"/>
            <p:nvPr/>
          </p:nvSpPr>
          <p:spPr>
            <a:xfrm>
              <a:off x="4128" y="96"/>
              <a:ext cx="81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</a:pPr>
              <a:r>
                <a:rPr lang="en-US" altLang="zh-CN" sz="2800" b="1" dirty="0">
                  <a:solidFill>
                    <a:srgbClr val="FF33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printf</a:t>
              </a:r>
              <a:endParaRPr lang="en-US" altLang="zh-CN" sz="2800" b="1" dirty="0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44450"/>
            <a:ext cx="9072563" cy="792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int,scanf,printf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3315" name="Rectangle 3"/>
          <p:cNvSpPr/>
          <p:nvPr>
            <p:ph idx="1"/>
          </p:nvPr>
        </p:nvSpPr>
        <p:spPr>
          <a:xfrm>
            <a:off x="179388" y="1066800"/>
            <a:ext cx="9324975" cy="5314950"/>
          </a:xfrm>
          <a:noFill/>
          <a:ln>
            <a:noFill/>
          </a:ln>
        </p:spPr>
        <p:txBody>
          <a:bodyPr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#include &lt;stdio.h&gt;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int		a,b;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printf(“Input two integers :”); 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scanf(“%d%d”,&amp;a,&amp;b);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printf(“a= %d , b=%d “,a,b);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return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/>
            <a:r>
              <a:rPr lang="en-US" altLang="zh-CN" b="0" u="sng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"/>
              </a:rPr>
              <a:t>A+B Problem（</a:t>
            </a:r>
            <a:r>
              <a:rPr lang="zh-CN" altLang="en-US" b="0" u="sng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"/>
              </a:rPr>
              <a:t>顺序）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#include &lt;stdio.h&gt;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main()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int a,b;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printf(“Input two integers :”);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scanf("%d %d", &amp;a, &amp;b);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printf("%d+%d=%d\n",a,b,a+b);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return 0;</a:t>
            </a: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/>
            <a:r>
              <a:rPr lang="en-US" altLang="zh-CN" b="0" u="sng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"/>
              </a:rPr>
              <a:t>A+B Problem（</a:t>
            </a:r>
            <a:r>
              <a:rPr lang="zh-CN" altLang="en-US" b="0" u="sng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"/>
              </a:rPr>
              <a:t>顺序）</a:t>
            </a:r>
            <a:r>
              <a:rPr lang="zh-CN" altLang="en-US" b="0" u="sng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</a:t>
            </a:r>
            <a:r>
              <a:rPr lang="en-US" altLang="zh-CN" b="0" u="sng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C++</a:t>
            </a:r>
            <a:r>
              <a:rPr lang="zh-CN" altLang="en-US" b="0" u="sng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504825" y="1214438"/>
            <a:ext cx="9575800" cy="4525962"/>
          </a:xfrm>
          <a:noFill/>
          <a:ln>
            <a:noFill/>
          </a:ln>
        </p:spPr>
        <p:txBody>
          <a:bodyPr/>
          <a:p>
            <a:pPr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#include &lt;iostream&gt;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using namespace std;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 main()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int a,b;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cin &gt;&gt; a &gt;&gt; b;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cout &lt;&lt;a&lt;&lt;"+"&lt;&lt;b&lt;&lt;"="&lt;&lt; a+b &lt;&lt; endl;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return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115888"/>
            <a:ext cx="9072563" cy="874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变量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,&amp;,%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6387" name="Rectangle 3"/>
          <p:cNvSpPr/>
          <p:nvPr>
            <p:ph idx="1"/>
          </p:nvPr>
        </p:nvSpPr>
        <p:spPr>
          <a:xfrm>
            <a:off x="215900" y="1103313"/>
            <a:ext cx="9648825" cy="5638800"/>
          </a:xfrm>
          <a:solidFill>
            <a:srgbClr val="FFFFFF"/>
          </a:solidFill>
          <a:ln>
            <a:noFill/>
          </a:ln>
        </p:spPr>
        <p:txBody>
          <a:bodyPr/>
          <a:p>
            <a:pPr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Variable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(Letter| _ )(Letter| _ |Digit)*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变量定义：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  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1,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变量名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2;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（取地址）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%  —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格式控制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P86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4-4,P75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4-1,P83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4-2)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%d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%i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（十进制）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%o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（八进制）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%x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（十六进制），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%u(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十进制无符号）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%3d,%-3d,%03d,etc.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%%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本身）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0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变量命名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0" y="1081088"/>
            <a:ext cx="10080625" cy="5876925"/>
          </a:xfrm>
          <a:solidFill>
            <a:srgbClr val="FFFFFF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命名规则： 只能包含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字符、数字、下划线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，第一个字符必须是字符和下划线。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大小写敏感。如</a:t>
            </a:r>
            <a:r>
              <a:rPr kumimoji="0" 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temp,Temp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是两个不同变量。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不能是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关键字（也叫保留字）。如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void ,main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命名规则：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P33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(1)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变量名和函数名中的英文字母一般小写，以增加可读性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）见名知义，即通过变量名就知道变量值的含义。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87338" y="1052513"/>
            <a:ext cx="9793288" cy="5691188"/>
          </a:xfrm>
          <a:solidFill>
            <a:srgbClr val="FFFFFF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驼峰表示法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以小写字母开头，后面每个单词首字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母大写，如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widthOfBox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匈牙利命名法：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变量名：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 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对象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类型：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见第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讲            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对象：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通过变量名可知道它所表示的数据含义，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常选择对应的英文单词做变量名。即见名知义。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如：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iHeight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fpArea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iWidthOfBox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152400"/>
            <a:ext cx="9072563" cy="792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+,*</a:t>
            </a:r>
            <a:endParaRPr kumimoji="0" 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9459" name="Rectangle 3"/>
          <p:cNvSpPr/>
          <p:nvPr>
            <p:ph idx="1"/>
          </p:nvPr>
        </p:nvSpPr>
        <p:spPr>
          <a:xfrm>
            <a:off x="215900" y="1125538"/>
            <a:ext cx="9575800" cy="5454650"/>
          </a:xfrm>
          <a:noFill/>
          <a:ln>
            <a:noFill/>
          </a:ln>
        </p:spPr>
        <p:txBody>
          <a:bodyPr/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#include &lt;stdio.h&gt;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main()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int    ia,ib;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scanf(“%d,%d”,&amp;ia,&amp;ib);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printf(“%d+%d=%d</a:t>
            </a:r>
            <a:r>
              <a: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\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n”,ia,ib,ia+ib);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printf(“%d*%d=%d</a:t>
            </a:r>
            <a:r>
              <a:rPr lang="en-US" altLang="zh-CN" sz="3600" dirty="0"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\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n”,ia,ib,ia*ib);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return 0;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71438"/>
            <a:ext cx="9072563" cy="981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sng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"/>
              </a:rPr>
              <a:t>计算长方体体积和表面积</a:t>
            </a:r>
            <a:r>
              <a:rPr kumimoji="0" lang="en-US" altLang="zh-CN" sz="4400" b="0" i="0" u="sng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"/>
              </a:rPr>
              <a:t>(</a:t>
            </a:r>
            <a:r>
              <a:rPr kumimoji="0" lang="zh-CN" altLang="en-US" sz="4400" b="0" i="0" u="sng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hlinkClick r:id="rId1"/>
              </a:rPr>
              <a:t>顺序）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Rectangle 3"/>
          <p:cNvSpPr/>
          <p:nvPr>
            <p:ph idx="1"/>
          </p:nvPr>
        </p:nvSpPr>
        <p:spPr>
          <a:xfrm>
            <a:off x="215900" y="1268413"/>
            <a:ext cx="9864725" cy="4678362"/>
          </a:xfrm>
          <a:solidFill>
            <a:srgbClr val="FFFFFF"/>
          </a:solidFill>
          <a:ln>
            <a:noFill/>
          </a:ln>
        </p:spPr>
        <p:txBody>
          <a:bodyPr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编程，输入长方体边长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a, b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，输出体积和表面积</a:t>
            </a:r>
            <a:endParaRPr lang="en-US" altLang="zh-CN" sz="3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3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lang="en-US" altLang="zh-CN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endParaRPr lang="zh-CN" altLang="en-US" sz="3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504825" y="1214438"/>
            <a:ext cx="9072563" cy="4525962"/>
          </a:xfrm>
          <a:noFill/>
          <a:ln>
            <a:noFill/>
          </a:ln>
        </p:spPr>
        <p:txBody>
          <a:bodyPr/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#include&lt;stdio.h&gt;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int a,b,c;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scanf("%d %d %d", &amp;a, &amp;b, &amp;c);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printf("V=%d \n",a*b*c);	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printf("S=%d \n",2*(a*b+b*c+a*c));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return 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71438"/>
            <a:ext cx="9072563" cy="981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书写格式</a:t>
            </a: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2531" name="Rectangle 3"/>
          <p:cNvSpPr/>
          <p:nvPr>
            <p:ph idx="1"/>
          </p:nvPr>
        </p:nvSpPr>
        <p:spPr>
          <a:xfrm>
            <a:off x="73025" y="1196975"/>
            <a:ext cx="10007600" cy="5256213"/>
          </a:xfrm>
          <a:solidFill>
            <a:srgbClr val="FFFFFF"/>
          </a:solidFill>
          <a:ln>
            <a:noFill/>
          </a:ln>
        </p:spPr>
        <p:txBody>
          <a:bodyPr/>
          <a:p>
            <a:pPr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程序的可读性与书写格式有很大的相关性。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语言程序的常用格式以及应注意的事项。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语言程序一般是一行写一个语句；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）一行写不下，可用续行符进行续行，即在续行的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前一行末尾加上反斜线（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\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）这个续行符；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 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/>
          <p:nvPr>
            <p:ph idx="1"/>
          </p:nvPr>
        </p:nvSpPr>
        <p:spPr>
          <a:xfrm>
            <a:off x="0" y="1125538"/>
            <a:ext cx="9720263" cy="5832475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）花括号的对齐方式常用的有三种格式（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K&amp;.R, Allman, whitesmiths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），本书采用了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Allman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格式，该格式规定每个花括号都单独成行，并且左花括号和闭花括号都与使用它们的语句对齐，而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花括号中的内容向右缩进两个字符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      int 	a,b;               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缩进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return 0;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                     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/>
          <p:nvPr>
            <p:ph idx="1"/>
          </p:nvPr>
        </p:nvSpPr>
        <p:spPr>
          <a:xfrm>
            <a:off x="0" y="1196975"/>
            <a:ext cx="9864725" cy="4970463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）每个语句（包括变量说明语句和执行语句）的末尾必须有一个分号（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）。分号是语句的组成部分，不可缺少，即使程序中最后一个语句也要加分号。要注意：一个语句没有结束，在换行前不要加分号。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theme/theme1.xml><?xml version="1.0" encoding="utf-8"?>
<a:theme xmlns:a="http://schemas.openxmlformats.org/drawingml/2006/main" name="4_색종이 상자">
  <a:themeElements>
    <a:clrScheme name="4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4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4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색종이 상자">
  <a:themeElements>
    <a:clrScheme name="5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5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5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3024</Words>
  <Application>WPS 演示</Application>
  <PresentationFormat/>
  <Paragraphs>222</Paragraphs>
  <Slides>22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Gulim</vt:lpstr>
      <vt:lpstr>Malgun Gothic</vt:lpstr>
      <vt:lpstr>Tahoma</vt:lpstr>
      <vt:lpstr>HY헤드라인M</vt:lpstr>
      <vt:lpstr>华文隶书</vt:lpstr>
      <vt:lpstr>微软雅黑</vt:lpstr>
      <vt:lpstr>楷体_GB2312</vt:lpstr>
      <vt:lpstr>新宋体</vt:lpstr>
      <vt:lpstr>Times New Roman</vt:lpstr>
      <vt:lpstr>Arial Unicode MS</vt:lpstr>
      <vt:lpstr>4_색종이 상자</vt:lpstr>
      <vt:lpstr>5_색종이 상자</vt:lpstr>
      <vt:lpstr>Excel.Sheet.8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hc</dc:creator>
  <cp:lastModifiedBy>恪守本心</cp:lastModifiedBy>
  <cp:revision>37</cp:revision>
  <dcterms:created xsi:type="dcterms:W3CDTF">2023-10-18T04:34:10Z</dcterms:created>
  <dcterms:modified xsi:type="dcterms:W3CDTF">2023-10-18T04:35:12Z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D03D6CD8D7CC420AACD9179CE54A54D2_13</vt:lpwstr>
  </property>
  <property fmtid="{D5CDD505-2E9C-101B-9397-08002B2CF9AE}" pid="3" name="KSOProductBuildVer">
    <vt:lpwstr>2052-12.1.0.15712</vt:lpwstr>
  </property>
</Properties>
</file>