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png" ContentType="image/png"/>
  <Default Extension="wmf" ContentType="image/x-wmf"/>
  <Default Extension="emf" ContentType="image/x-em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9"/>
  </p:notesMasterIdLst>
  <p:sldIdLst>
    <p:sldId id="591" r:id="rId4"/>
    <p:sldId id="809" r:id="rId5"/>
    <p:sldId id="811" r:id="rId6"/>
    <p:sldId id="758" r:id="rId7"/>
    <p:sldId id="845" r:id="rId8"/>
    <p:sldId id="846" r:id="rId10"/>
    <p:sldId id="890" r:id="rId11"/>
    <p:sldId id="891" r:id="rId12"/>
    <p:sldId id="892" r:id="rId13"/>
    <p:sldId id="893" r:id="rId14"/>
    <p:sldId id="894" r:id="rId15"/>
    <p:sldId id="917" r:id="rId16"/>
    <p:sldId id="920" r:id="rId17"/>
    <p:sldId id="1093" r:id="rId18"/>
    <p:sldId id="1094" r:id="rId19"/>
    <p:sldId id="918" r:id="rId20"/>
    <p:sldId id="913" r:id="rId21"/>
    <p:sldId id="914" r:id="rId22"/>
    <p:sldId id="915" r:id="rId23"/>
    <p:sldId id="916" r:id="rId24"/>
    <p:sldId id="921" r:id="rId25"/>
    <p:sldId id="847" r:id="rId26"/>
    <p:sldId id="762" r:id="rId27"/>
    <p:sldId id="848" r:id="rId28"/>
    <p:sldId id="843" r:id="rId29"/>
    <p:sldId id="844" r:id="rId30"/>
    <p:sldId id="840" r:id="rId31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76" userDrawn="1">
          <p15:clr>
            <a:srgbClr val="A4A3A4"/>
          </p15:clr>
        </p15:guide>
        <p15:guide id="2" pos="18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FF"/>
    <a:srgbClr val="006600"/>
    <a:srgbClr val="008000"/>
    <a:srgbClr val="FF3300"/>
    <a:srgbClr val="FFFF00"/>
    <a:srgbClr val="DDDDDD"/>
    <a:srgbClr val="0099FF"/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1000"/>
    <p:restoredTop sz="91473"/>
  </p:normalViewPr>
  <p:slideViewPr>
    <p:cSldViewPr showGuides="1">
      <p:cViewPr varScale="1">
        <p:scale>
          <a:sx n="90" d="100"/>
          <a:sy n="90" d="100"/>
        </p:scale>
        <p:origin x="1204" y="64"/>
      </p:cViewPr>
      <p:guideLst>
        <p:guide orient="horz" pos="1776"/>
        <p:guide pos="18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39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Ro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539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39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39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7"/>
          <p:cNvSpPr txBox="1">
            <a:spLocks noGrp="1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9219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9220" name="Text Box 4"/>
          <p:cNvSpPr/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 wrap="square" lIns="91440" tIns="45720" rIns="91440" bIns="45720" anchor="t" anchorCtr="0"/>
          <a:p>
            <a:pPr lvl="2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altLang="zh-CN" sz="1000" b="1" dirty="0">
                <a:latin typeface="Arial" panose="020B0604020202020204" pitchFamily="34" charset="0"/>
              </a:rPr>
              <a:t>Also called </a:t>
            </a:r>
            <a:r>
              <a:rPr lang="en-US" altLang="zh-CN" sz="1000" b="1" i="1" dirty="0">
                <a:latin typeface="Arial" panose="020B0604020202020204" pitchFamily="34" charset="0"/>
              </a:rPr>
              <a:t>K&amp;R</a:t>
            </a:r>
            <a:r>
              <a:rPr lang="en-US" altLang="zh-CN" sz="1000" b="1" dirty="0">
                <a:latin typeface="Arial" panose="020B0604020202020204" pitchFamily="34" charset="0"/>
              </a:rPr>
              <a:t> (I and II)</a:t>
            </a:r>
            <a:endParaRPr lang="en-US" altLang="zh-CN" sz="1000" b="1" dirty="0">
              <a:latin typeface="Arial" panose="020B0604020202020204" pitchFamily="34" charset="0"/>
            </a:endParaRPr>
          </a:p>
          <a:p>
            <a:pPr lvl="2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altLang="zh-CN" sz="1000" b="1" dirty="0">
                <a:latin typeface="Arial" panose="020B0604020202020204" pitchFamily="34" charset="0"/>
              </a:rPr>
              <a:t>A very well written description of the C programming language by the original language designers</a:t>
            </a:r>
            <a:endParaRPr lang="en-US" altLang="zh-CN" sz="1000" b="1" dirty="0">
              <a:latin typeface="Arial" panose="020B0604020202020204" pitchFamily="34" charset="0"/>
            </a:endParaRPr>
          </a:p>
          <a:p>
            <a:pPr lvl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altLang="zh-CN" sz="1000" b="1" dirty="0">
                <a:latin typeface="Arial" panose="020B0604020202020204" pitchFamily="34" charset="0"/>
              </a:rPr>
              <a:t>Strengths</a:t>
            </a:r>
            <a:endParaRPr lang="en-US" altLang="zh-CN" sz="1000" b="1" dirty="0">
              <a:latin typeface="Arial" panose="020B0604020202020204" pitchFamily="34" charset="0"/>
            </a:endParaRPr>
          </a:p>
          <a:p>
            <a:pPr lvl="2">
              <a:spcBef>
                <a:spcPct val="20000"/>
              </a:spcBef>
              <a:buClr>
                <a:schemeClr val="tx2"/>
              </a:buClr>
              <a:buChar char="•"/>
            </a:pPr>
            <a:r>
              <a:rPr lang="en-US" altLang="zh-CN" sz="1000" b="1" dirty="0">
                <a:latin typeface="Arial" panose="020B0604020202020204" pitchFamily="34" charset="0"/>
              </a:rPr>
              <a:t>Very useful examples</a:t>
            </a:r>
            <a:endParaRPr lang="en-US" altLang="zh-CN" sz="1000" b="1" dirty="0">
              <a:latin typeface="Arial" panose="020B0604020202020204" pitchFamily="34" charset="0"/>
            </a:endParaRPr>
          </a:p>
          <a:p>
            <a:pPr lvl="2">
              <a:spcBef>
                <a:spcPct val="20000"/>
              </a:spcBef>
              <a:buClr>
                <a:schemeClr val="tx2"/>
              </a:buClr>
              <a:buChar char="•"/>
            </a:pPr>
            <a:r>
              <a:rPr lang="en-US" altLang="zh-CN" sz="1000" b="1" dirty="0">
                <a:latin typeface="Arial" panose="020B0604020202020204" pitchFamily="34" charset="0"/>
              </a:rPr>
              <a:t>Very few mistakes and/or typos</a:t>
            </a:r>
            <a:endParaRPr lang="en-US" altLang="zh-CN" sz="1000" b="1" dirty="0">
              <a:latin typeface="Arial" panose="020B0604020202020204" pitchFamily="34" charset="0"/>
            </a:endParaRPr>
          </a:p>
          <a:p>
            <a:pPr lvl="2">
              <a:spcBef>
                <a:spcPct val="20000"/>
              </a:spcBef>
              <a:buClr>
                <a:schemeClr val="tx2"/>
              </a:buClr>
              <a:buChar char="•"/>
            </a:pPr>
            <a:r>
              <a:rPr lang="en-US" altLang="zh-CN" sz="1000" b="1" dirty="0">
                <a:latin typeface="Arial" panose="020B0604020202020204" pitchFamily="34" charset="0"/>
              </a:rPr>
              <a:t>Very concise (i.e., good for a reference)</a:t>
            </a:r>
            <a:endParaRPr lang="en-US" altLang="zh-CN" sz="1000" b="1" dirty="0">
              <a:latin typeface="Arial" panose="020B0604020202020204" pitchFamily="34" charset="0"/>
            </a:endParaRPr>
          </a:p>
          <a:p>
            <a:pPr lvl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altLang="zh-CN" sz="1000" b="1" dirty="0">
                <a:latin typeface="Arial" panose="020B0604020202020204" pitchFamily="34" charset="0"/>
              </a:rPr>
              <a:t>Weaknesses</a:t>
            </a:r>
            <a:endParaRPr lang="en-US" altLang="zh-CN" sz="1000" b="1" dirty="0">
              <a:latin typeface="Arial" panose="020B0604020202020204" pitchFamily="34" charset="0"/>
            </a:endParaRPr>
          </a:p>
          <a:p>
            <a:pPr lvl="2">
              <a:spcBef>
                <a:spcPct val="20000"/>
              </a:spcBef>
              <a:buClr>
                <a:schemeClr val="tx2"/>
              </a:buClr>
              <a:buChar char="•"/>
            </a:pPr>
            <a:r>
              <a:rPr lang="en-US" altLang="zh-CN" sz="1000" b="1" dirty="0">
                <a:latin typeface="Arial" panose="020B0604020202020204" pitchFamily="34" charset="0"/>
              </a:rPr>
              <a:t>Very terse (often difficult to learn C using this book alone)</a:t>
            </a:r>
            <a:endParaRPr lang="en-US" altLang="zh-CN" sz="1000" b="1" dirty="0">
              <a:latin typeface="Arial" panose="020B0604020202020204" pitchFamily="34" charset="0"/>
            </a:endParaRPr>
          </a:p>
          <a:p>
            <a:pPr lvl="1">
              <a:spcBef>
                <a:spcPct val="20000"/>
              </a:spcBef>
              <a:buClr>
                <a:schemeClr val="tx2"/>
              </a:buClr>
              <a:buChar char="•"/>
            </a:pP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我用谭浩强教授的书教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C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程序设计</a:t>
            </a:r>
            <a:b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</a:b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青岛海洋大学计算中心教授 王梅芬</a:t>
            </a:r>
            <a:endParaRPr lang="zh-CN" altLang="en-US" sz="1000" b="1" dirty="0"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 lvl="1">
              <a:spcBef>
                <a:spcPct val="20000"/>
              </a:spcBef>
              <a:buClr>
                <a:schemeClr val="tx2"/>
              </a:buClr>
              <a:buChar char="•"/>
            </a:pPr>
            <a:r>
              <a:rPr lang="en-US" altLang="zh-CN" sz="1000" b="1" dirty="0">
                <a:solidFill>
                  <a:srgbClr val="FFFFFF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aaaa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我从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1981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年开始教程序设计课，我教过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FORTRAN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语言、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BASIC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语言、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C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语言、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QBASIC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语言等，一直用谭浩强教授编著的书教。我们学校的教材科始终存储着谭浩强教授的程序设计语言类的书。有一次，地球科学学院请我给他们的研究生讲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C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语言，让我指定教材，我不假思索地立即提出用谭浩强的书。因为我对谭浩强教授的书特别放心，用谭浩强教授的书，教师好教，学生好学，而且我估计学校教材科必定有现成的书。果然，该学院从教材科很快拿到了书，学院、教师、学生皆大欢喜。谭浩强教授的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《C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程序设计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》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一书为什么会受到教师、学生、教学管理部门的如此青睐呢？原因是： </a:t>
            </a:r>
            <a:b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</a:b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一、适合于初学者</a:t>
            </a:r>
            <a:b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</a:br>
            <a:r>
              <a:rPr lang="en-US" altLang="zh-CN" sz="1000" b="1" dirty="0">
                <a:solidFill>
                  <a:srgbClr val="FFFFFF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aaaa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学生们都希望学习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C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语言，但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C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语言牵扯的概念比较复杂，规则繁多，使用灵活，容易出错，所以初学时感到学习有困难。谭浩强教授编著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《C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程序设计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》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一书的出发点定位在：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"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使初学者易于接受，即使是从未学过其它计算机语言的读者，也能看懂本书，并掌握其中的内容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"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。 谭教授在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《C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程序设计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》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的前言就这样开卷名义地声明，使初学者感到安心，乐于使用他的书。事实上，谭浩强教授的书也实现了他的承诺。国内学习或使用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C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语言的人大多数是从谭浩强教授的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《C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程序设计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》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一书入门的。</a:t>
            </a:r>
            <a:b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</a:b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二、难点分散，缩小台阶，循序渐进</a:t>
            </a:r>
            <a:b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</a:br>
            <a:r>
              <a:rPr lang="en-US" altLang="zh-CN" sz="1000" b="1" dirty="0">
                <a:solidFill>
                  <a:srgbClr val="FFFFFF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aaaa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许多学生、读者十分渴望学习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C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语言，但他们又听说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C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语言难学，因此，学习前就有一些畏难心理。在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C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语言中，数据类型、运算符、表达式的种类的确繁多，谭教授刻意把算术型的数据类型、运算符及其相关的表达式作为一章先介绍，使读者学习起来感到，没有象想象中那么难学。接着教读者编写简单的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C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程序设计，学完第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3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章，读者就会编写简单的程序了，使初学者看到了自己的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"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成就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"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，信心倍增，但初学者也感到了难度，但台阶不高，因此也有了克服困难的勇气和思想准备。但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C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语言中，字符型与整型有内在联系，谭教授就改变他在其它语言（如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FORTRAN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、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BASIC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等）书中的写法，不把字符型作为一章单独讲述，而是放在第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2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章，与算术型一起介绍，使读者建立一个与其它计算机高级语言不完全相同的、完整的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C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语言的字符型概念。在读者会编写简单的程序后，谭教授又介绍关系运算、逻辑运算、选择结构、循环结构、数组、函数等知识。这一段学习中，读者既学习了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C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语言的程序设计，又感到与其它语言有相似之处，因此，学习是比较轻松的，打好了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C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语言程序设计的基础。在读者会编写基本的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C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程序后，谭教授开始介绍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C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语言的特色部分，如编译预处理、指针、结构体、共同体、位运算等，难度一点一点地增加。但读者已经上了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C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语言的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"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瘾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"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，也有足够的心理准备，在谭教授的生动的比喻和详尽的引导下，慢慢地钻研着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C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语言的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"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难点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"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。这种循序渐进的教学内容安排符合认知规律三、生动的比喻，详尽的引导</a:t>
            </a:r>
            <a:b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</a:br>
            <a:r>
              <a:rPr lang="en-US" altLang="zh-CN" sz="1000" b="1" dirty="0">
                <a:solidFill>
                  <a:srgbClr val="FFFFFF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` aa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谭教授的书，语言流畅，引导详尽，循循善诱。看他的书，似乎感到有一位教授在上课，有时，向读者提示，引导进一步讨论下去，有时，向读者提问，让读者自己去钻研。在难学的地方，插入了生动形象的比喻，使读者参照一个实实在在的例子，领会了一些难学的知识。譬如，在开始学习指针概念时，读者对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"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间接访问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"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难于理解，谭教授插入了一个比方：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"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将钥匙（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A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）放到另一抽屉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B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中锁起来，若干需要打开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A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抽屉，就需要先找出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B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钥匙，打开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B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抽屉，取出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A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钥匙，再打开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A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抽屉，取出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A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抽屉中之物，这就是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'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间接访问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'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。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"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这使读者不仅 理解了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"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间接访问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"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概念，也加深了指针概念。这样的比喻在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《C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程序设计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》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中有许多。谭教授的例题也是很生动有趣的，譬如，他用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"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兔子的繁殖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"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引出斐波那契数列，使读者对例题有深刻的影响。</a:t>
            </a:r>
            <a:b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</a:b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四、朴实无华</a:t>
            </a:r>
            <a:b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</a:br>
            <a:r>
              <a:rPr lang="en-US" altLang="zh-CN" sz="1000" b="1" dirty="0">
                <a:solidFill>
                  <a:srgbClr val="FFFFFF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aaaa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读者，特别是学生、青年一族，他们追求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C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语言，但他们中的大多数人对计算机的硬件知道不多不深，而且不一定是用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C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语言编写系统软件或商品软件，主要是用来编写解决实际工作问题的一般应用软件。因此，谭教授编著的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《C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程序设计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》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特别适合上述的读者，朴实无华，没有追求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"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高、深、全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"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。谭教授教读者登上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C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语言的快马，再扶他们一程。读者有了基本功，可以根据自己的需要，或者开发一些小应用软件，或者继续自学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C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语言的高级编程。教师的目的与谭教授是一致的，就是要教会学生具有自学能力，所以教师愿意用谭教授的书教，学生愿意用谭教授的书学。</a:t>
            </a:r>
            <a:b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</a:br>
            <a:r>
              <a:rPr lang="en-US" altLang="zh-CN" sz="1000" b="1" dirty="0">
                <a:solidFill>
                  <a:srgbClr val="FFFFFF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aaa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事实上，国内许多高校的非计算机专业用谭教授的书作为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"C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语言程序设计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"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课的教材，许多高校的计算机专业同样也用谭教授的书作为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"C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语言程序设计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"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课的教材，自学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C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语言程序设计的读者不约而同地选择谭教授的书作为叩开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C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语言大门的入门书。因此，谭浩强教授的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《C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程序设计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》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一书对我国普及</a:t>
            </a:r>
            <a:r>
              <a:rPr lang="en-US" altLang="zh-CN" sz="1000" b="1" dirty="0">
                <a:latin typeface="Arial" panose="020B0604020202020204" pitchFamily="34" charset="0"/>
                <a:ea typeface="隶书" panose="02010509060101010101" pitchFamily="49" charset="-122"/>
              </a:rPr>
              <a:t>C</a:t>
            </a:r>
            <a:r>
              <a:rPr lang="zh-CN" altLang="en-US" sz="1000" b="1" dirty="0">
                <a:latin typeface="Arial" panose="020B0604020202020204" pitchFamily="34" charset="0"/>
                <a:ea typeface="隶书" panose="02010509060101010101" pitchFamily="49" charset="-122"/>
              </a:rPr>
              <a:t>语言程序设计起了很大的推动作用，功不可没</a:t>
            </a:r>
            <a:endParaRPr lang="zh-CN" altLang="en-US" sz="1000" b="1" dirty="0"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  <p:sp>
        <p:nvSpPr>
          <p:cNvPr id="9221" name="Rectangle 5"/>
          <p:cNvSpPr/>
          <p:nvPr/>
        </p:nvSpPr>
        <p:spPr>
          <a:xfrm>
            <a:off x="1676400" y="4114800"/>
            <a:ext cx="2095500" cy="239713"/>
          </a:xfrm>
          <a:prstGeom prst="rect">
            <a:avLst/>
          </a:prstGeom>
          <a:noFill/>
          <a:ln w="12700">
            <a:noFill/>
          </a:ln>
        </p:spPr>
        <p:txBody>
          <a:bodyPr wrap="none" lIns="90000" tIns="10800" rIns="90000" bIns="46800">
            <a:spAutoFit/>
          </a:bodyPr>
          <a:p>
            <a:pPr lvl="0"/>
            <a:r>
              <a:rPr lang="en-US" altLang="zh-CN" sz="1200" dirty="0"/>
              <a:t>Concise, complete, easy to use.</a:t>
            </a:r>
            <a:endParaRPr lang="en-US" altLang="zh-CN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7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2531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 wrap="square" lIns="91440" tIns="45720" rIns="91440" bIns="45720" anchor="t" anchorCtr="0"/>
          <a:p>
            <a:pPr lvl="0"/>
            <a:r>
              <a:rPr lang="en-US" altLang="zh-CN" dirty="0"/>
              <a:t>1</a:t>
            </a:r>
            <a:r>
              <a:rPr lang="zh-CN" altLang="en-US" dirty="0"/>
              <a:t>、为什么要进行程序设计？</a:t>
            </a:r>
            <a:endParaRPr lang="zh-CN" altLang="en-US" dirty="0"/>
          </a:p>
          <a:p>
            <a:pPr lvl="0" algn="just">
              <a:lnSpc>
                <a:spcPct val="150000"/>
              </a:lnSpc>
            </a:pPr>
            <a:r>
              <a:rPr lang="zh-CN" altLang="en-US" dirty="0"/>
              <a:t>人们想用计算机解决一个问题，必须事先设计好计算机处理信息的步骤，把这些步骤用计算机能够识别的指令编写出来并送入计算机执行，计算机才能按照人的意图完成指定的工作。我们把计算机能执行的指令序列称为程序，而编写程序的过程称为程序设计。</a:t>
            </a:r>
            <a:endParaRPr lang="zh-CN" altLang="en-US" dirty="0"/>
          </a:p>
          <a:p>
            <a:pPr lvl="0"/>
            <a:r>
              <a:rPr lang="en-US" altLang="zh-CN" dirty="0"/>
              <a:t>2</a:t>
            </a:r>
            <a:r>
              <a:rPr lang="zh-CN" altLang="en-US" dirty="0"/>
              <a:t>、并非任何事情计算机都可以解决：</a:t>
            </a:r>
            <a:endParaRPr lang="zh-CN" altLang="en-US" dirty="0"/>
          </a:p>
          <a:p>
            <a:pPr lvl="0"/>
            <a:r>
              <a:rPr lang="zh-CN" altLang="en-US" dirty="0"/>
              <a:t>	可以完成：超市的收银机；不可以完成的：如购买一瓶酱油</a:t>
            </a:r>
            <a:endParaRPr lang="zh-CN" altLang="en-US" dirty="0"/>
          </a:p>
          <a:p>
            <a:pPr lvl="0"/>
            <a:r>
              <a:rPr lang="zh-CN" altLang="en-US" dirty="0"/>
              <a:t>     程序设计正确，则计算机顺利完成任务；如果不正确，则不能完成你的要求。</a:t>
            </a:r>
            <a:endParaRPr lang="zh-CN" altLang="en-US" dirty="0"/>
          </a:p>
          <a:p>
            <a:pPr lvl="0"/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zh-CN" altLang="en-US" dirty="0">
                <a:latin typeface="宋体" panose="02010600030101010101" pitchFamily="2" charset="-122"/>
              </a:rPr>
              <a:t>非计算机专业人才的优势，他们既掌握本专业知识，又掌握计算机应用知识，两者结合，如虎添翼。</a:t>
            </a:r>
            <a:r>
              <a:rPr lang="zh-CN" altLang="en-US" dirty="0"/>
              <a:t> 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7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4579" name="Rectangle 4"/>
          <p:cNvSpPr txBox="1">
            <a:spLocks noGrp="1"/>
          </p:cNvSpPr>
          <p:nvPr/>
        </p:nvSpPr>
        <p:spPr>
          <a:xfrm>
            <a:off x="0" y="8915400"/>
            <a:ext cx="3429000" cy="228600"/>
          </a:xfrm>
          <a:prstGeom prst="rect">
            <a:avLst/>
          </a:prstGeom>
          <a:solidFill>
            <a:srgbClr val="C0C0C0">
              <a:alpha val="50195"/>
            </a:srgbClr>
          </a:solidFill>
          <a:ln w="12700">
            <a:noFill/>
          </a:ln>
        </p:spPr>
        <p:txBody>
          <a:bodyPr anchor="b" anchorCtr="0"/>
          <a:p>
            <a:pPr lvl="0"/>
            <a:r>
              <a:rPr lang="en-US" altLang="zh-CN" sz="1000" dirty="0">
                <a:latin typeface="Arial" panose="020B0604020202020204" pitchFamily="34" charset="0"/>
              </a:rPr>
              <a:t>《</a:t>
            </a:r>
            <a:r>
              <a:rPr lang="zh-CN" altLang="en-US" sz="1000" dirty="0">
                <a:latin typeface="Arial" panose="020B0604020202020204" pitchFamily="34" charset="0"/>
              </a:rPr>
              <a:t>计算机文化基础</a:t>
            </a:r>
            <a:r>
              <a:rPr lang="en-US" altLang="zh-CN" sz="1000" dirty="0">
                <a:latin typeface="Arial" panose="020B0604020202020204" pitchFamily="34" charset="0"/>
              </a:rPr>
              <a:t>》</a:t>
            </a:r>
            <a:r>
              <a:rPr lang="zh-CN" altLang="en-US" sz="1000" dirty="0">
                <a:latin typeface="Arial" panose="020B0604020202020204" pitchFamily="34" charset="0"/>
              </a:rPr>
              <a:t>备课讲义 </a:t>
            </a:r>
            <a:r>
              <a:rPr lang="en-US" altLang="zh-CN" sz="1000" dirty="0">
                <a:latin typeface="Arial" panose="020B0604020202020204" pitchFamily="34" charset="0"/>
              </a:rPr>
              <a:t>(</a:t>
            </a:r>
            <a:r>
              <a:rPr lang="zh-CN" altLang="en-US" sz="1000" dirty="0">
                <a:latin typeface="Arial" panose="020B0604020202020204" pitchFamily="34" charset="0"/>
              </a:rPr>
              <a:t>王志强制作</a:t>
            </a:r>
            <a:r>
              <a:rPr lang="en-US" altLang="zh-CN" sz="1000" dirty="0">
                <a:latin typeface="Arial" panose="020B0604020202020204" pitchFamily="34" charset="0"/>
              </a:rPr>
              <a:t>)</a:t>
            </a:r>
            <a:endParaRPr lang="en-US" altLang="zh-CN" sz="1000" dirty="0">
              <a:latin typeface="Arial" panose="020B0604020202020204" pitchFamily="34" charset="0"/>
            </a:endParaRPr>
          </a:p>
        </p:txBody>
      </p:sp>
      <p:sp>
        <p:nvSpPr>
          <p:cNvPr id="24580" name="Rectangle 5"/>
          <p:cNvSpPr txBox="1">
            <a:spLocks noGrp="1"/>
          </p:cNvSpPr>
          <p:nvPr/>
        </p:nvSpPr>
        <p:spPr>
          <a:xfrm>
            <a:off x="3352800" y="8915400"/>
            <a:ext cx="3505200" cy="228600"/>
          </a:xfrm>
          <a:prstGeom prst="rect">
            <a:avLst/>
          </a:prstGeom>
          <a:solidFill>
            <a:srgbClr val="C0C0C0">
              <a:alpha val="50195"/>
            </a:srgbClr>
          </a:solidFill>
          <a:ln w="12700">
            <a:noFill/>
          </a:ln>
        </p:spPr>
        <p:txBody>
          <a:bodyPr anchor="b" anchorCtr="0"/>
          <a:p>
            <a:pPr lvl="0" algn="r"/>
            <a:r>
              <a:rPr lang="zh-CN" altLang="en-US" sz="1000" dirty="0">
                <a:latin typeface="宋体" panose="02010600030101010101" pitchFamily="2" charset="-122"/>
              </a:rPr>
              <a:t>第</a:t>
            </a:r>
            <a:r>
              <a:rPr lang="en-US" altLang="zh-CN" sz="1000" dirty="0">
                <a:latin typeface="宋体" panose="02010600030101010101" pitchFamily="2" charset="-122"/>
              </a:rPr>
              <a:t>1</a:t>
            </a:r>
            <a:r>
              <a:rPr lang="zh-CN" altLang="en-US" sz="1000" dirty="0">
                <a:latin typeface="宋体" panose="02010600030101010101" pitchFamily="2" charset="-122"/>
              </a:rPr>
              <a:t>讲第</a:t>
            </a:r>
            <a:fld id="{9A0DB2DC-4C9A-4742-B13C-FB6460FD3503}" type="slidenum">
              <a:rPr lang="zh-CN" altLang="en-US" sz="1000" dirty="0">
                <a:latin typeface="宋体" panose="02010600030101010101" pitchFamily="2" charset="-122"/>
              </a:rPr>
            </a:fld>
            <a:r>
              <a:rPr lang="zh-CN" altLang="en-US" sz="1000" dirty="0">
                <a:latin typeface="宋体" panose="02010600030101010101" pitchFamily="2" charset="-122"/>
              </a:rPr>
              <a:t>页</a:t>
            </a:r>
            <a:endParaRPr lang="zh-CN" altLang="en-US" sz="1000" dirty="0">
              <a:latin typeface="宋体" panose="02010600030101010101" pitchFamily="2" charset="-122"/>
            </a:endParaRPr>
          </a:p>
        </p:txBody>
      </p:sp>
      <p:sp>
        <p:nvSpPr>
          <p:cNvPr id="24581" name="Rectangle 2"/>
          <p:cNvSpPr>
            <a:spLocks noGrp="1"/>
          </p:cNvSpPr>
          <p:nvPr>
            <p:ph type="body" idx="1"/>
          </p:nvPr>
        </p:nvSpPr>
        <p:spPr>
          <a:xfrm>
            <a:off x="457200" y="4343400"/>
            <a:ext cx="5943600" cy="4419600"/>
          </a:xfrm>
          <a:ln/>
        </p:spPr>
        <p:txBody>
          <a:bodyPr wrap="square" lIns="90488" tIns="44450" rIns="90488" bIns="44450" anchor="t" anchorCtr="0"/>
          <a:p>
            <a:pPr lvl="0"/>
            <a:endParaRPr lang="zh-CN" altLang="zh-CN" dirty="0"/>
          </a:p>
        </p:txBody>
      </p:sp>
      <p:sp>
        <p:nvSpPr>
          <p:cNvPr id="24582" name="Rectangle 3"/>
          <p:cNvSpPr>
            <a:spLocks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7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765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2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27653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7"/>
          <p:cNvSpPr txBox="1">
            <a:spLocks noGrp="1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30723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Rectangle 7"/>
          <p:cNvSpPr txBox="1">
            <a:spLocks noGrp="1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33795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562600" cy="4114800"/>
          </a:xfrm>
          <a:ln/>
        </p:spPr>
        <p:txBody>
          <a:bodyPr wrap="square" lIns="91440" tIns="45720" rIns="91440" bIns="45720" anchor="t" anchorCtr="0"/>
          <a:p>
            <a:pPr lvl="0" eaLnBrk="1" hangingPunct="1">
              <a:lnSpc>
                <a:spcPct val="80000"/>
              </a:lnSpc>
            </a:pPr>
            <a:r>
              <a:rPr lang="en-US" altLang="zh-CN" sz="800" b="1" dirty="0"/>
              <a:t>You wouldn’t expect to learn to </a:t>
            </a:r>
            <a:r>
              <a:rPr lang="en-US" altLang="zh-CN" sz="800" b="1" dirty="0">
                <a:solidFill>
                  <a:srgbClr val="FF0000"/>
                </a:solidFill>
              </a:rPr>
              <a:t>play the guitar</a:t>
            </a:r>
            <a:r>
              <a:rPr lang="en-US" altLang="zh-CN" sz="800" b="1" dirty="0"/>
              <a:t> just by watching a TV series on it</a:t>
            </a:r>
            <a:endParaRPr lang="en-US" altLang="zh-CN" sz="800" b="1" dirty="0"/>
          </a:p>
          <a:p>
            <a:pPr lvl="0" eaLnBrk="1" hangingPunct="1">
              <a:lnSpc>
                <a:spcPct val="80000"/>
              </a:lnSpc>
            </a:pPr>
            <a:r>
              <a:rPr lang="en-US" altLang="zh-CN" sz="800" b="1" dirty="0"/>
              <a:t>There is no substitute for practice.  And no one can do it for you</a:t>
            </a:r>
            <a:endParaRPr lang="en-US" altLang="zh-CN" sz="800" b="1" dirty="0"/>
          </a:p>
          <a:p>
            <a:pPr lvl="0" eaLnBrk="1" hangingPunct="1">
              <a:lnSpc>
                <a:spcPct val="80000"/>
              </a:lnSpc>
            </a:pPr>
            <a:r>
              <a:rPr lang="en-US" altLang="zh-CN" sz="800" b="1" dirty="0"/>
              <a:t>The same holds for learning to program</a:t>
            </a:r>
            <a:endParaRPr lang="en-US" altLang="zh-CN" sz="800" b="1" dirty="0"/>
          </a:p>
          <a:p>
            <a:pPr lvl="0" eaLnBrk="1" hangingPunct="1">
              <a:lnSpc>
                <a:spcPct val="80000"/>
              </a:lnSpc>
            </a:pPr>
            <a:r>
              <a:rPr lang="en-US" altLang="zh-CN" sz="800" b="1" dirty="0"/>
              <a:t>You won’t learn programming by watching the lectures as might you watch a TV program</a:t>
            </a:r>
            <a:endParaRPr lang="en-US" altLang="zh-CN" sz="800" b="1" dirty="0"/>
          </a:p>
          <a:p>
            <a:pPr lvl="0" eaLnBrk="1" hangingPunct="1">
              <a:lnSpc>
                <a:spcPct val="80000"/>
              </a:lnSpc>
              <a:spcBef>
                <a:spcPct val="50000"/>
              </a:spcBef>
              <a:buClr>
                <a:srgbClr val="0041FF"/>
              </a:buClr>
              <a:buFont typeface="Symbol" panose="05050102010706020507" pitchFamily="18" charset="2"/>
            </a:pPr>
            <a:endParaRPr lang="en-US" altLang="zh-CN" sz="800" b="1" dirty="0">
              <a:latin typeface="Comic Sans MS" panose="030F0702030302020204" pitchFamily="66" charset="0"/>
            </a:endParaRPr>
          </a:p>
          <a:p>
            <a:pPr lvl="0" eaLnBrk="1" hangingPunct="1">
              <a:lnSpc>
                <a:spcPct val="80000"/>
              </a:lnSpc>
              <a:spcBef>
                <a:spcPct val="50000"/>
              </a:spcBef>
              <a:buClr>
                <a:srgbClr val="0041FF"/>
              </a:buClr>
              <a:buFont typeface="Symbol" panose="05050102010706020507" pitchFamily="18" charset="2"/>
            </a:pPr>
            <a:r>
              <a:rPr lang="en-US" altLang="zh-CN" sz="800" b="1" dirty="0">
                <a:latin typeface="Comic Sans MS" panose="030F0702030302020204" pitchFamily="66" charset="0"/>
              </a:rPr>
              <a:t>You wouldn’t expect to learn to play the guitar just by watching a TV series on it</a:t>
            </a:r>
            <a:endParaRPr lang="en-US" altLang="zh-CN" sz="800" b="1" dirty="0">
              <a:latin typeface="Comic Sans MS" panose="030F0702030302020204" pitchFamily="66" charset="0"/>
            </a:endParaRPr>
          </a:p>
          <a:p>
            <a:pPr lvl="0" eaLnBrk="1" hangingPunct="1">
              <a:lnSpc>
                <a:spcPct val="80000"/>
              </a:lnSpc>
              <a:spcBef>
                <a:spcPct val="50000"/>
              </a:spcBef>
              <a:buClr>
                <a:srgbClr val="0041FF"/>
              </a:buClr>
              <a:buFont typeface="Symbol" panose="05050102010706020507" pitchFamily="18" charset="2"/>
            </a:pPr>
            <a:r>
              <a:rPr lang="en-US" altLang="zh-CN" sz="800" b="1" dirty="0">
                <a:latin typeface="Comic Sans MS" panose="030F0702030302020204" pitchFamily="66" charset="0"/>
              </a:rPr>
              <a:t>There is no substitute for practice.  And no one can do it for you</a:t>
            </a:r>
            <a:endParaRPr lang="en-US" altLang="zh-CN" sz="800" b="1" dirty="0">
              <a:latin typeface="Comic Sans MS" panose="030F0702030302020204" pitchFamily="66" charset="0"/>
            </a:endParaRPr>
          </a:p>
          <a:p>
            <a:pPr lvl="0" eaLnBrk="1" hangingPunct="1">
              <a:lnSpc>
                <a:spcPct val="80000"/>
              </a:lnSpc>
              <a:spcBef>
                <a:spcPct val="50000"/>
              </a:spcBef>
              <a:buClr>
                <a:srgbClr val="0041FF"/>
              </a:buClr>
              <a:buFont typeface="Symbol" panose="05050102010706020507" pitchFamily="18" charset="2"/>
            </a:pPr>
            <a:r>
              <a:rPr lang="en-US" altLang="zh-CN" sz="800" b="1" dirty="0">
                <a:latin typeface="Comic Sans MS" panose="030F0702030302020204" pitchFamily="66" charset="0"/>
              </a:rPr>
              <a:t>The same holds for learning to program</a:t>
            </a:r>
            <a:endParaRPr lang="en-US" altLang="zh-CN" sz="800" b="1" dirty="0">
              <a:latin typeface="Comic Sans MS" panose="030F0702030302020204" pitchFamily="66" charset="0"/>
            </a:endParaRPr>
          </a:p>
          <a:p>
            <a:pPr lvl="0" eaLnBrk="1" hangingPunct="1">
              <a:lnSpc>
                <a:spcPct val="80000"/>
              </a:lnSpc>
              <a:spcBef>
                <a:spcPct val="50000"/>
              </a:spcBef>
              <a:buClr>
                <a:srgbClr val="0041FF"/>
              </a:buClr>
              <a:buFont typeface="Symbol" panose="05050102010706020507" pitchFamily="18" charset="2"/>
            </a:pPr>
            <a:r>
              <a:rPr lang="en-US" altLang="zh-CN" sz="800" b="1" dirty="0">
                <a:latin typeface="Comic Sans MS" panose="030F0702030302020204" pitchFamily="66" charset="0"/>
              </a:rPr>
              <a:t>You won’t learn programming by watching the lectures as might you watch a TV program</a:t>
            </a:r>
            <a:endParaRPr lang="en-US" altLang="zh-CN" sz="800" dirty="0"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 lvl="0" eaLnBrk="1" hangingPunct="1">
              <a:lnSpc>
                <a:spcPct val="80000"/>
              </a:lnSpc>
              <a:buChar char="•"/>
            </a:pPr>
            <a:r>
              <a:rPr lang="en-US" altLang="zh-CN" sz="800" dirty="0">
                <a:latin typeface="Arial" panose="020B0604020202020204" pitchFamily="34" charset="0"/>
                <a:ea typeface="隶书" panose="02010509060101010101" pitchFamily="49" charset="-122"/>
              </a:rPr>
              <a:t>DON’T HAVE OR LET ANYONE ELSE DO YOUR HOMEWORK FOR YOU!</a:t>
            </a:r>
            <a:endParaRPr lang="en-US" altLang="zh-CN" sz="800" dirty="0">
              <a:latin typeface="Arial" panose="020B0604020202020204" pitchFamily="34" charset="0"/>
            </a:endParaRPr>
          </a:p>
          <a:p>
            <a:pPr lvl="0" eaLnBrk="1" hangingPunct="1">
              <a:lnSpc>
                <a:spcPct val="80000"/>
              </a:lnSpc>
            </a:pPr>
            <a:r>
              <a:rPr lang="en-US" altLang="zh-CN" sz="800" dirty="0">
                <a:latin typeface="Arial" panose="020B0604020202020204" pitchFamily="34" charset="0"/>
              </a:rPr>
              <a:t>If I discover any cheating, I</a:t>
            </a:r>
            <a:r>
              <a:rPr lang="en-US" altLang="zh-CN" sz="800" dirty="0"/>
              <a:t>’</a:t>
            </a:r>
            <a:r>
              <a:rPr lang="en-US" altLang="zh-CN" sz="800" dirty="0">
                <a:latin typeface="Arial" panose="020B0604020202020204" pitchFamily="34" charset="0"/>
              </a:rPr>
              <a:t>ll follow school policy!</a:t>
            </a:r>
            <a:endParaRPr lang="en-US" altLang="zh-CN" sz="800" dirty="0">
              <a:latin typeface="Arial" panose="020B0604020202020204" pitchFamily="34" charset="0"/>
            </a:endParaRPr>
          </a:p>
          <a:p>
            <a:pPr lvl="0"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FontTx/>
              <a:buChar char="§"/>
            </a:pPr>
            <a:r>
              <a:rPr lang="en-US" altLang="en-AU" sz="800" dirty="0">
                <a:latin typeface="Arial" panose="020B0604020202020204" pitchFamily="34" charset="0"/>
                <a:ea typeface="隶书" panose="02010509060101010101" pitchFamily="49" charset="-122"/>
              </a:rPr>
              <a:t>Minimi</a:t>
            </a:r>
            <a:r>
              <a:rPr lang="en-AU" altLang="en-AU" sz="800" dirty="0">
                <a:latin typeface="Arial" panose="020B0604020202020204" pitchFamily="34" charset="0"/>
                <a:ea typeface="隶书" panose="02010509060101010101" pitchFamily="49" charset="-122"/>
              </a:rPr>
              <a:t>z</a:t>
            </a:r>
            <a:r>
              <a:rPr lang="en-US" altLang="en-AU" sz="800" dirty="0">
                <a:latin typeface="Arial" panose="020B0604020202020204" pitchFamily="34" charset="0"/>
                <a:ea typeface="隶书" panose="02010509060101010101" pitchFamily="49" charset="-122"/>
              </a:rPr>
              <a:t>e noise</a:t>
            </a:r>
            <a:endParaRPr lang="en-US" altLang="en-AU" sz="800" dirty="0"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Clr>
                <a:srgbClr val="339933"/>
              </a:buClr>
              <a:buFont typeface="Wingdings" panose="05000000000000000000" pitchFamily="2" charset="2"/>
              <a:buChar char="«"/>
            </a:pPr>
            <a:r>
              <a:rPr lang="en-US" altLang="en-AU" sz="800" dirty="0">
                <a:latin typeface="Arial" panose="020B0604020202020204" pitchFamily="34" charset="0"/>
                <a:ea typeface="隶书" panose="02010509060101010101" pitchFamily="49" charset="-122"/>
              </a:rPr>
              <a:t>Do not talk in lectures</a:t>
            </a:r>
            <a:endParaRPr lang="en-US" altLang="en-AU" sz="800" dirty="0"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Clr>
                <a:srgbClr val="339933"/>
              </a:buClr>
              <a:buFont typeface="Wingdings" panose="05000000000000000000" pitchFamily="2" charset="2"/>
              <a:buChar char="«"/>
            </a:pPr>
            <a:r>
              <a:rPr lang="en-US" altLang="en-AU" sz="800" dirty="0">
                <a:latin typeface="Arial" panose="020B0604020202020204" pitchFamily="34" charset="0"/>
                <a:ea typeface="隶书" panose="02010509060101010101" pitchFamily="49" charset="-122"/>
              </a:rPr>
              <a:t>Do</a:t>
            </a:r>
            <a:r>
              <a:rPr lang="en-AU" altLang="en-AU" sz="800" dirty="0">
                <a:latin typeface="Arial" panose="020B0604020202020204" pitchFamily="34" charset="0"/>
                <a:ea typeface="隶书" panose="02010509060101010101" pitchFamily="49" charset="-122"/>
              </a:rPr>
              <a:t> </a:t>
            </a:r>
            <a:r>
              <a:rPr lang="en-US" altLang="en-AU" sz="800" dirty="0">
                <a:latin typeface="Arial" panose="020B0604020202020204" pitchFamily="34" charset="0"/>
                <a:ea typeface="隶书" panose="02010509060101010101" pitchFamily="49" charset="-122"/>
              </a:rPr>
              <a:t>not pack up early</a:t>
            </a:r>
            <a:endParaRPr lang="en-US" altLang="en-AU" sz="800" dirty="0"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 lvl="0"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FontTx/>
              <a:buChar char="§"/>
            </a:pPr>
            <a:r>
              <a:rPr lang="en-US" altLang="en-AU" sz="800" dirty="0">
                <a:latin typeface="Arial" panose="020B0604020202020204" pitchFamily="34" charset="0"/>
                <a:ea typeface="隶书" panose="02010509060101010101" pitchFamily="49" charset="-122"/>
              </a:rPr>
              <a:t>Minimi</a:t>
            </a:r>
            <a:r>
              <a:rPr lang="en-AU" altLang="en-AU" sz="800" dirty="0">
                <a:latin typeface="Arial" panose="020B0604020202020204" pitchFamily="34" charset="0"/>
                <a:ea typeface="隶书" panose="02010509060101010101" pitchFamily="49" charset="-122"/>
              </a:rPr>
              <a:t>z</a:t>
            </a:r>
            <a:r>
              <a:rPr lang="en-US" altLang="en-AU" sz="800" dirty="0">
                <a:latin typeface="Arial" panose="020B0604020202020204" pitchFamily="34" charset="0"/>
                <a:ea typeface="隶书" panose="02010509060101010101" pitchFamily="49" charset="-122"/>
              </a:rPr>
              <a:t>e distractions</a:t>
            </a:r>
            <a:endParaRPr lang="en-US" altLang="en-AU" sz="800" dirty="0"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Clr>
                <a:srgbClr val="339933"/>
              </a:buClr>
              <a:buFont typeface="Wingdings" panose="05000000000000000000" pitchFamily="2" charset="2"/>
              <a:buChar char="«"/>
            </a:pPr>
            <a:r>
              <a:rPr lang="en-US" altLang="en-AU" sz="800" dirty="0">
                <a:latin typeface="Arial" panose="020B0604020202020204" pitchFamily="34" charset="0"/>
                <a:ea typeface="隶书" panose="02010509060101010101" pitchFamily="49" charset="-122"/>
              </a:rPr>
              <a:t>Use rear door if you arrive late or leave early</a:t>
            </a:r>
            <a:endParaRPr lang="en-US" altLang="en-AU" sz="800" dirty="0"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Clr>
                <a:srgbClr val="339933"/>
              </a:buClr>
              <a:buFont typeface="Wingdings" panose="05000000000000000000" pitchFamily="2" charset="2"/>
              <a:buChar char="«"/>
            </a:pPr>
            <a:r>
              <a:rPr lang="en-US" altLang="en-AU" sz="800" b="1" dirty="0">
                <a:latin typeface="Arial" panose="020B0604020202020204" pitchFamily="34" charset="0"/>
                <a:ea typeface="隶书" panose="02010509060101010101" pitchFamily="49" charset="-122"/>
              </a:rPr>
              <a:t>Turn off your mobile phone</a:t>
            </a:r>
            <a:endParaRPr lang="en-US" altLang="en-AU" sz="800" b="1" dirty="0"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 lvl="0"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FontTx/>
              <a:buChar char="§"/>
            </a:pPr>
            <a:r>
              <a:rPr lang="en-US" altLang="en-AU" sz="800" dirty="0">
                <a:latin typeface="Arial" panose="020B0604020202020204" pitchFamily="34" charset="0"/>
                <a:ea typeface="隶书" panose="02010509060101010101" pitchFamily="49" charset="-122"/>
              </a:rPr>
              <a:t>Lecture attendance</a:t>
            </a:r>
            <a:endParaRPr lang="en-US" altLang="en-AU" sz="800" dirty="0"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Clr>
                <a:srgbClr val="339933"/>
              </a:buClr>
              <a:buFont typeface="Wingdings" panose="05000000000000000000" pitchFamily="2" charset="2"/>
              <a:buChar char="«"/>
            </a:pPr>
            <a:r>
              <a:rPr lang="en-AU" altLang="en-AU" sz="800" dirty="0">
                <a:latin typeface="Arial" panose="020B0604020202020204" pitchFamily="34" charset="0"/>
                <a:ea typeface="隶书" panose="02010509060101010101" pitchFamily="49" charset="-122"/>
              </a:rPr>
              <a:t>C</a:t>
            </a:r>
            <a:r>
              <a:rPr lang="en-US" altLang="en-AU" sz="800" dirty="0">
                <a:latin typeface="Arial" panose="020B0604020202020204" pitchFamily="34" charset="0"/>
                <a:ea typeface="隶书" panose="02010509060101010101" pitchFamily="49" charset="-122"/>
              </a:rPr>
              <a:t>atch up </a:t>
            </a:r>
            <a:r>
              <a:rPr lang="en-AU" altLang="en-AU" sz="800" dirty="0">
                <a:latin typeface="Arial" panose="020B0604020202020204" pitchFamily="34" charset="0"/>
                <a:ea typeface="隶书" panose="02010509060101010101" pitchFamily="49" charset="-122"/>
              </a:rPr>
              <a:t>o</a:t>
            </a:r>
            <a:r>
              <a:rPr lang="en-US" altLang="en-AU" sz="800" dirty="0">
                <a:latin typeface="Arial" panose="020B0604020202020204" pitchFamily="34" charset="0"/>
                <a:ea typeface="隶书" panose="02010509060101010101" pitchFamily="49" charset="-122"/>
              </a:rPr>
              <a:t>n missed lectures</a:t>
            </a:r>
            <a:endParaRPr lang="en-US" altLang="en-AU" sz="800" dirty="0"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Clr>
                <a:srgbClr val="339933"/>
              </a:buClr>
              <a:buFont typeface="Wingdings" panose="05000000000000000000" pitchFamily="2" charset="2"/>
              <a:buChar char="«"/>
            </a:pPr>
            <a:r>
              <a:rPr lang="en-US" altLang="en-AU" sz="800" dirty="0">
                <a:latin typeface="Arial" panose="020B0604020202020204" pitchFamily="34" charset="0"/>
                <a:ea typeface="隶书" panose="02010509060101010101" pitchFamily="49" charset="-122"/>
              </a:rPr>
              <a:t>Bring ID card, and produce when required</a:t>
            </a:r>
            <a:endParaRPr lang="en-US" altLang="en-AU" sz="800" dirty="0"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 lvl="0"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FontTx/>
              <a:buChar char="§"/>
            </a:pPr>
            <a:r>
              <a:rPr lang="en-US" altLang="en-AU" sz="800" dirty="0">
                <a:latin typeface="Arial" panose="020B0604020202020204" pitchFamily="34" charset="0"/>
                <a:ea typeface="隶书" panose="02010509060101010101" pitchFamily="49" charset="-122"/>
              </a:rPr>
              <a:t>Prepare and deliver lectures</a:t>
            </a:r>
            <a:endParaRPr lang="en-US" altLang="en-AU" sz="800" dirty="0"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 lvl="0"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FontTx/>
              <a:buChar char="§"/>
            </a:pPr>
            <a:r>
              <a:rPr lang="en-US" altLang="en-AU" sz="800" dirty="0">
                <a:latin typeface="Arial" panose="020B0604020202020204" pitchFamily="34" charset="0"/>
                <a:ea typeface="隶书" panose="02010509060101010101" pitchFamily="49" charset="-122"/>
              </a:rPr>
              <a:t>Start and finish lecture on time </a:t>
            </a:r>
            <a:endParaRPr lang="en-US" altLang="en-AU" sz="800" dirty="0"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 lvl="0"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FontTx/>
              <a:buChar char="§"/>
            </a:pPr>
            <a:r>
              <a:rPr lang="en-US" altLang="en-AU" sz="800" dirty="0">
                <a:latin typeface="Arial" panose="020B0604020202020204" pitchFamily="34" charset="0"/>
                <a:ea typeface="隶书" panose="02010509060101010101" pitchFamily="49" charset="-122"/>
              </a:rPr>
              <a:t>Advertise:</a:t>
            </a:r>
            <a:endParaRPr lang="en-US" altLang="en-AU" sz="800" dirty="0"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Clr>
                <a:srgbClr val="339933"/>
              </a:buClr>
              <a:buFont typeface="Wingdings" panose="05000000000000000000" pitchFamily="2" charset="2"/>
              <a:buChar char="«"/>
            </a:pPr>
            <a:r>
              <a:rPr lang="en-AU" altLang="en-AU" sz="800" dirty="0">
                <a:latin typeface="Arial" panose="020B0604020202020204" pitchFamily="34" charset="0"/>
                <a:ea typeface="隶书" panose="02010509060101010101" pitchFamily="49" charset="-122"/>
              </a:rPr>
              <a:t>C</a:t>
            </a:r>
            <a:r>
              <a:rPr lang="en-US" altLang="en-AU" sz="800" dirty="0">
                <a:latin typeface="Arial" panose="020B0604020202020204" pitchFamily="34" charset="0"/>
                <a:ea typeface="隶书" panose="02010509060101010101" pitchFamily="49" charset="-122"/>
              </a:rPr>
              <a:t>onsultation hours </a:t>
            </a:r>
            <a:endParaRPr lang="en-US" altLang="en-AU" sz="800" dirty="0"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Clr>
                <a:srgbClr val="339933"/>
              </a:buClr>
              <a:buFont typeface="Wingdings" panose="05000000000000000000" pitchFamily="2" charset="2"/>
              <a:buChar char="«"/>
            </a:pPr>
            <a:r>
              <a:rPr lang="en-AU" altLang="en-AU" sz="800" dirty="0">
                <a:latin typeface="Arial" panose="020B0604020202020204" pitchFamily="34" charset="0"/>
                <a:ea typeface="隶书" panose="02010509060101010101" pitchFamily="49" charset="-122"/>
              </a:rPr>
              <a:t>M</a:t>
            </a:r>
            <a:r>
              <a:rPr lang="en-US" altLang="en-AU" sz="800" dirty="0">
                <a:latin typeface="Arial" panose="020B0604020202020204" pitchFamily="34" charset="0"/>
                <a:ea typeface="隶书" panose="02010509060101010101" pitchFamily="49" charset="-122"/>
              </a:rPr>
              <a:t>ethod of assessment</a:t>
            </a:r>
            <a:endParaRPr lang="en-US" altLang="en-AU" sz="800" dirty="0"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Clr>
                <a:srgbClr val="339933"/>
              </a:buClr>
              <a:buFont typeface="Wingdings" panose="05000000000000000000" pitchFamily="2" charset="2"/>
              <a:buChar char="«"/>
            </a:pPr>
            <a:r>
              <a:rPr lang="en-US" altLang="en-US" sz="800" b="1" dirty="0">
                <a:solidFill>
                  <a:srgbClr val="0000FF"/>
                </a:solidFill>
                <a:latin typeface="Garamond" panose="02020404030301010803" pitchFamily="18" charset="0"/>
                <a:ea typeface="隶书" panose="02010509060101010101" pitchFamily="49" charset="-122"/>
              </a:rPr>
              <a:t>Course learning</a:t>
            </a:r>
            <a:endParaRPr lang="en-US" altLang="en-US" sz="800" b="1" dirty="0">
              <a:solidFill>
                <a:srgbClr val="0000FF"/>
              </a:solidFill>
              <a:latin typeface="Garamond" panose="02020404030301010803" pitchFamily="18" charset="0"/>
              <a:ea typeface="隶书" panose="02010509060101010101" pitchFamily="49" charset="-122"/>
            </a:endParaRPr>
          </a:p>
          <a:p>
            <a:pPr lvl="0"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FontTx/>
              <a:buChar char="§"/>
            </a:pPr>
            <a:r>
              <a:rPr lang="en-US" altLang="en-US" sz="800" b="1" dirty="0">
                <a:latin typeface="Garamond" panose="02020404030301010803" pitchFamily="18" charset="0"/>
                <a:ea typeface="隶书" panose="02010509060101010101" pitchFamily="49" charset="-122"/>
              </a:rPr>
              <a:t>Attending the lectures</a:t>
            </a:r>
            <a:endParaRPr lang="en-US" altLang="en-US" sz="800" b="1" dirty="0">
              <a:latin typeface="Garamond" panose="02020404030301010803" pitchFamily="18" charset="0"/>
              <a:ea typeface="隶书" panose="02010509060101010101" pitchFamily="49" charset="-122"/>
            </a:endParaRPr>
          </a:p>
          <a:p>
            <a:pPr lvl="0"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FontTx/>
              <a:buChar char="§"/>
            </a:pPr>
            <a:r>
              <a:rPr lang="en-US" altLang="en-US" sz="800" b="1" dirty="0">
                <a:latin typeface="Garamond" panose="02020404030301010803" pitchFamily="18" charset="0"/>
                <a:ea typeface="隶书" panose="02010509060101010101" pitchFamily="49" charset="-122"/>
              </a:rPr>
              <a:t>Discussion with Peer/TA/Instructor</a:t>
            </a:r>
            <a:endParaRPr lang="en-US" altLang="en-US" sz="800" b="1" dirty="0">
              <a:latin typeface="Garamond" panose="02020404030301010803" pitchFamily="18" charset="0"/>
              <a:ea typeface="隶书" panose="02010509060101010101" pitchFamily="49" charset="-122"/>
            </a:endParaRPr>
          </a:p>
          <a:p>
            <a:pPr lvl="0"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FontTx/>
              <a:buChar char="§"/>
            </a:pPr>
            <a:r>
              <a:rPr lang="en-US" altLang="en-US" sz="800" b="1" dirty="0">
                <a:latin typeface="Garamond" panose="02020404030301010803" pitchFamily="18" charset="0"/>
                <a:ea typeface="隶书" panose="02010509060101010101" pitchFamily="49" charset="-122"/>
              </a:rPr>
              <a:t>Programming</a:t>
            </a:r>
            <a:endParaRPr lang="en-US" altLang="en-US" sz="800" b="1" dirty="0">
              <a:latin typeface="Garamond" panose="02020404030301010803" pitchFamily="18" charset="0"/>
              <a:ea typeface="隶书" panose="02010509060101010101" pitchFamily="49" charset="-122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Clr>
                <a:srgbClr val="339933"/>
              </a:buClr>
              <a:buFont typeface="Wingdings" panose="05000000000000000000" pitchFamily="2" charset="2"/>
              <a:buChar char="«"/>
            </a:pPr>
            <a:r>
              <a:rPr lang="en-US" altLang="en-US" sz="800" b="1" dirty="0">
                <a:latin typeface="Garamond" panose="02020404030301010803" pitchFamily="18" charset="0"/>
                <a:ea typeface="隶书" panose="02010509060101010101" pitchFamily="49" charset="-122"/>
              </a:rPr>
              <a:t>Type all the examples and run them</a:t>
            </a:r>
            <a:endParaRPr lang="en-US" altLang="en-US" sz="800" b="1" dirty="0">
              <a:latin typeface="Garamond" panose="02020404030301010803" pitchFamily="18" charset="0"/>
              <a:ea typeface="隶书" panose="02010509060101010101" pitchFamily="49" charset="-122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Clr>
                <a:srgbClr val="339933"/>
              </a:buClr>
              <a:buFont typeface="Wingdings" panose="05000000000000000000" pitchFamily="2" charset="2"/>
              <a:buChar char="«"/>
            </a:pPr>
            <a:r>
              <a:rPr lang="en-US" altLang="en-US" sz="800" b="1" dirty="0">
                <a:latin typeface="Garamond" panose="02020404030301010803" pitchFamily="18" charset="0"/>
                <a:ea typeface="隶书" panose="02010509060101010101" pitchFamily="49" charset="-122"/>
              </a:rPr>
              <a:t>Solve problems independently</a:t>
            </a:r>
            <a:endParaRPr lang="en-US" altLang="en-US" sz="800" b="1" dirty="0">
              <a:latin typeface="Garamond" panose="02020404030301010803" pitchFamily="18" charset="0"/>
              <a:ea typeface="隶书" panose="02010509060101010101" pitchFamily="49" charset="-122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Clr>
                <a:srgbClr val="339933"/>
              </a:buClr>
              <a:buFont typeface="Wingdings" panose="05000000000000000000" pitchFamily="2" charset="2"/>
              <a:buChar char="«"/>
            </a:pPr>
            <a:r>
              <a:rPr lang="en-US" altLang="en-US" sz="800" b="1" dirty="0">
                <a:latin typeface="Garamond" panose="02020404030301010803" pitchFamily="18" charset="0"/>
                <a:ea typeface="隶书" panose="02010509060101010101" pitchFamily="49" charset="-122"/>
              </a:rPr>
              <a:t>Nothing but Practice!</a:t>
            </a:r>
            <a:endParaRPr lang="en-US" altLang="en-US" sz="800" b="1" dirty="0">
              <a:latin typeface="Garamond" panose="02020404030301010803" pitchFamily="18" charset="0"/>
              <a:ea typeface="隶书" panose="02010509060101010101" pitchFamily="49" charset="-122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Clr>
                <a:srgbClr val="339933"/>
              </a:buClr>
              <a:buFont typeface="Wingdings" panose="05000000000000000000" pitchFamily="2" charset="2"/>
              <a:buChar char="«"/>
            </a:pPr>
            <a:r>
              <a:rPr lang="en-US" altLang="en-US" sz="800" b="1" dirty="0">
                <a:latin typeface="Garamond" panose="02020404030301010803" pitchFamily="18" charset="0"/>
                <a:ea typeface="隶书" panose="02010509060101010101" pitchFamily="49" charset="-122"/>
              </a:rPr>
              <a:t>Find fun from the course! It is a powerful tool for you</a:t>
            </a:r>
            <a:endParaRPr lang="en-US" altLang="en-US" sz="800" b="1" dirty="0">
              <a:latin typeface="Garamond" panose="02020404030301010803" pitchFamily="18" charset="0"/>
              <a:ea typeface="隶书" panose="02010509060101010101" pitchFamily="49" charset="-122"/>
            </a:endParaRPr>
          </a:p>
          <a:p>
            <a:pPr lvl="0" eaLnBrk="1" hangingPunct="1">
              <a:lnSpc>
                <a:spcPct val="80000"/>
              </a:lnSpc>
              <a:spcBef>
                <a:spcPct val="20000"/>
              </a:spcBef>
              <a:buChar char="•"/>
            </a:pPr>
            <a:r>
              <a:rPr lang="en-US" altLang="zh-CN" sz="800" dirty="0"/>
              <a:t>You cannot learn the C language by reading it. </a:t>
            </a:r>
            <a:endParaRPr lang="en-US" altLang="zh-CN" sz="800" dirty="0"/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Tx/>
              <a:buChar char="–"/>
            </a:pPr>
            <a:r>
              <a:rPr lang="en-US" altLang="zh-CN" sz="800" dirty="0"/>
              <a:t>You must experiment with the programs discussed in the lecture and textbook. In other words, type the programs into the computer and see what happens</a:t>
            </a:r>
            <a:endParaRPr lang="en-US" altLang="zh-CN" sz="800" dirty="0"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 lvl="3" eaLnBrk="1" hangingPunct="1">
              <a:lnSpc>
                <a:spcPct val="130000"/>
              </a:lnSpc>
              <a:spcBef>
                <a:spcPct val="50000"/>
              </a:spcBef>
              <a:buClr>
                <a:srgbClr val="FFCC00"/>
              </a:buClr>
              <a:buFont typeface="Wingdings" panose="05000000000000000000" pitchFamily="2" charset="2"/>
              <a:buChar char="l"/>
            </a:pPr>
            <a:r>
              <a:rPr lang="zh-CN" altLang="en-US" sz="800" dirty="0">
                <a:latin typeface="Arial" panose="020B0604020202020204" pitchFamily="34" charset="0"/>
                <a:ea typeface="隶书" panose="02010509060101010101" pitchFamily="49" charset="-122"/>
              </a:rPr>
              <a:t>作业必须经上机调试通过</a:t>
            </a:r>
            <a:endParaRPr lang="zh-CN" altLang="en-US" sz="800" dirty="0"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 lvl="3" eaLnBrk="1" hangingPunct="1">
              <a:lnSpc>
                <a:spcPct val="130000"/>
              </a:lnSpc>
              <a:spcBef>
                <a:spcPct val="50000"/>
              </a:spcBef>
              <a:buClr>
                <a:srgbClr val="FFCC00"/>
              </a:buClr>
              <a:buFont typeface="Wingdings" panose="05000000000000000000" pitchFamily="2" charset="2"/>
              <a:buChar char="l"/>
            </a:pPr>
            <a:r>
              <a:rPr lang="zh-CN" altLang="en-US" sz="800" dirty="0">
                <a:latin typeface="Arial" panose="020B0604020202020204" pitchFamily="34" charset="0"/>
                <a:ea typeface="隶书" panose="02010509060101010101" pitchFamily="49" charset="-122"/>
              </a:rPr>
              <a:t>上机考勤</a:t>
            </a:r>
            <a:r>
              <a:rPr lang="en-US" altLang="zh-CN" sz="800" dirty="0">
                <a:latin typeface="Arial" panose="020B0604020202020204" pitchFamily="34" charset="0"/>
                <a:ea typeface="隶书" panose="02010509060101010101" pitchFamily="49" charset="-122"/>
              </a:rPr>
              <a:t>3</a:t>
            </a:r>
            <a:r>
              <a:rPr lang="zh-CN" altLang="en-US" sz="800" dirty="0">
                <a:latin typeface="Arial" panose="020B0604020202020204" pitchFamily="34" charset="0"/>
                <a:ea typeface="隶书" panose="02010509060101010101" pitchFamily="49" charset="-122"/>
              </a:rPr>
              <a:t>次缺席，按不及格处理</a:t>
            </a:r>
            <a:endParaRPr lang="zh-CN" altLang="en-US" sz="800" dirty="0"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 lvl="3" eaLnBrk="1" hangingPunct="1">
              <a:lnSpc>
                <a:spcPct val="130000"/>
              </a:lnSpc>
              <a:spcBef>
                <a:spcPct val="50000"/>
              </a:spcBef>
              <a:buClr>
                <a:srgbClr val="FFCC00"/>
              </a:buClr>
              <a:buFont typeface="Wingdings" panose="05000000000000000000" pitchFamily="2" charset="2"/>
              <a:buChar char="l"/>
            </a:pPr>
            <a:r>
              <a:rPr lang="zh-CN" altLang="en-US" sz="800" dirty="0">
                <a:latin typeface="Arial" panose="020B0604020202020204" pitchFamily="34" charset="0"/>
                <a:ea typeface="隶书" panose="02010509060101010101" pitchFamily="49" charset="-122"/>
              </a:rPr>
              <a:t>发现上机时间上网，按缺席一次处理</a:t>
            </a:r>
            <a:endParaRPr lang="zh-CN" altLang="en-US" sz="800" dirty="0"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 lvl="3" eaLnBrk="1" hangingPunct="1">
              <a:lnSpc>
                <a:spcPct val="130000"/>
              </a:lnSpc>
              <a:spcBef>
                <a:spcPct val="50000"/>
              </a:spcBef>
              <a:buClr>
                <a:srgbClr val="FFCC00"/>
              </a:buClr>
              <a:buFont typeface="Wingdings" panose="05000000000000000000" pitchFamily="2" charset="2"/>
              <a:buChar char="•"/>
            </a:pPr>
            <a:endParaRPr lang="en-US" altLang="zh-CN" sz="800" dirty="0"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37891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  <p:transition>
    <p:zo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zo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  <p:transition>
    <p:zo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  <p:transition>
    <p:zo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zo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zo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zo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zo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  <p:transition>
    <p:zoom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5" Type="http://schemas.openxmlformats.org/officeDocument/2006/relationships/theme" Target="../theme/theme2.xml"/><Relationship Id="rId14" Type="http://schemas.openxmlformats.org/officeDocument/2006/relationships/image" Target="../media/image3.png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zoom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050" name="Picture 2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6"/>
          <p:cNvSpPr>
            <a:spLocks noChangeArrowheads="1"/>
          </p:cNvSpPr>
          <p:nvPr/>
        </p:nvSpPr>
        <p:spPr bwMode="auto">
          <a:xfrm>
            <a:off x="0" y="0"/>
            <a:ext cx="9144000" cy="858838"/>
          </a:xfrm>
          <a:prstGeom prst="rect">
            <a:avLst/>
          </a:prstGeom>
          <a:solidFill>
            <a:srgbClr val="873624"/>
          </a:solidFill>
          <a:ln>
            <a:noFill/>
          </a:ln>
        </p:spPr>
        <p:txBody>
          <a:bodyPr anchor="ctr"/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052" name="Group 23"/>
          <p:cNvGrpSpPr/>
          <p:nvPr userDrawn="1"/>
        </p:nvGrpSpPr>
        <p:grpSpPr>
          <a:xfrm>
            <a:off x="8056563" y="57150"/>
            <a:ext cx="1087437" cy="752475"/>
            <a:chOff x="5012" y="54"/>
            <a:chExt cx="685" cy="474"/>
          </a:xfrm>
        </p:grpSpPr>
        <p:pic>
          <p:nvPicPr>
            <p:cNvPr id="2053" name="Picture 24"/>
            <p:cNvPicPr>
              <a:picLocks noChangeAspect="1"/>
            </p:cNvPicPr>
            <p:nvPr userDrawn="1"/>
          </p:nvPicPr>
          <p:blipFill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327" y="55"/>
              <a:ext cx="370" cy="309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054" name="Picture 25"/>
            <p:cNvPicPr>
              <a:picLocks noChangeAspect="1"/>
            </p:cNvPicPr>
            <p:nvPr userDrawn="1"/>
          </p:nvPicPr>
          <p:blipFill>
            <a:blip r:embed="rId14"/>
            <a:stretch>
              <a:fillRect/>
            </a:stretch>
          </p:blipFill>
          <p:spPr>
            <a:xfrm>
              <a:off x="5012" y="54"/>
              <a:ext cx="315" cy="31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55" name="Text Box 26"/>
            <p:cNvSpPr txBox="1">
              <a:spLocks noChangeArrowheads="1"/>
            </p:cNvSpPr>
            <p:nvPr/>
          </p:nvSpPr>
          <p:spPr bwMode="auto">
            <a:xfrm>
              <a:off x="5045" y="355"/>
              <a:ext cx="619" cy="1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隶书" panose="02010800040101010101" pitchFamily="2" charset="-122"/>
                  <a:ea typeface="华文隶书" panose="02010800040101010101" pitchFamily="2" charset="-122"/>
                  <a:cs typeface="+mn-cs"/>
                </a:rPr>
                <a:t>战德臣 教授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zoom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hyperlink" Target="mailto:yylszu@163.com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7.xml"/><Relationship Id="rId3" Type="http://schemas.openxmlformats.org/officeDocument/2006/relationships/audio" Target="../media/audio1.wav"/><Relationship Id="rId2" Type="http://schemas.openxmlformats.org/officeDocument/2006/relationships/image" Target="../media/image6.emf"/><Relationship Id="rId1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8.png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image" Target="../media/image7.png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image" Target="../media/image10.png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image" Target="../media/image9.png"/><Relationship Id="rId2" Type="http://schemas.openxmlformats.org/officeDocument/2006/relationships/tags" Target="../tags/tag8.x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7.png"/><Relationship Id="rId11" Type="http://schemas.openxmlformats.org/officeDocument/2006/relationships/tags" Target="../tags/tag14.xml"/><Relationship Id="rId10" Type="http://schemas.openxmlformats.org/officeDocument/2006/relationships/image" Target="../media/image11.png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../../yyl2015-2/2015&#19978;&#35838;/&#31243;&#24207;&#35774;&#35745;&#22522;&#30784;2015/PPT/&#23545;&#20934;&#32771;&#35777;&#24231;&#20301;&#21495;&#30340;&#30097;&#38382;&#21644;&#24863;&#35874;&#40858;&#32769;&#24072;&#30340;&#35762;&#35838;.eml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hyperlink" Target="https://www.tiobe.com/tpci.htm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wmf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image" Target="../media/image18.wmf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2" Type="http://schemas.openxmlformats.org/officeDocument/2006/relationships/notesSlide" Target="../notesSlides/notesSlide5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29.xml"/><Relationship Id="rId2" Type="http://schemas.openxmlformats.org/officeDocument/2006/relationships/image" Target="../media/image17.wmf"/><Relationship Id="rId19" Type="http://schemas.openxmlformats.org/officeDocument/2006/relationships/tags" Target="../tags/tag28.xml"/><Relationship Id="rId18" Type="http://schemas.openxmlformats.org/officeDocument/2006/relationships/tags" Target="../tags/tag27.xml"/><Relationship Id="rId17" Type="http://schemas.openxmlformats.org/officeDocument/2006/relationships/tags" Target="../tags/tag26.xml"/><Relationship Id="rId16" Type="http://schemas.openxmlformats.org/officeDocument/2006/relationships/tags" Target="../tags/tag25.xml"/><Relationship Id="rId15" Type="http://schemas.openxmlformats.org/officeDocument/2006/relationships/image" Target="../media/image7.png"/><Relationship Id="rId14" Type="http://schemas.openxmlformats.org/officeDocument/2006/relationships/tags" Target="../tags/tag24.xml"/><Relationship Id="rId13" Type="http://schemas.openxmlformats.org/officeDocument/2006/relationships/tags" Target="../tags/tag23.xml"/><Relationship Id="rId12" Type="http://schemas.openxmlformats.org/officeDocument/2006/relationships/image" Target="../media/image20.wmf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tags" Target="../tags/tag15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7.xml"/><Relationship Id="rId6" Type="http://schemas.openxmlformats.org/officeDocument/2006/relationships/audio" Target="../media/audio2.wav"/><Relationship Id="rId5" Type="http://schemas.openxmlformats.org/officeDocument/2006/relationships/audio" Target="../media/audio1.wav"/><Relationship Id="rId4" Type="http://schemas.openxmlformats.org/officeDocument/2006/relationships/image" Target="../media/image22.png"/><Relationship Id="rId3" Type="http://schemas.openxmlformats.org/officeDocument/2006/relationships/tags" Target="../tags/tag30.xml"/><Relationship Id="rId2" Type="http://schemas.openxmlformats.org/officeDocument/2006/relationships/image" Target="../media/image21.emf"/><Relationship Id="rId1" Type="http://schemas.openxmlformats.org/officeDocument/2006/relationships/oleObject" Target="../embeddings/oleObject3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image" Target="../media/image7.png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image" Target="../media/image23.png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6" Type="http://schemas.openxmlformats.org/officeDocument/2006/relationships/notesSlide" Target="../notesSlides/notesSlide6.xml"/><Relationship Id="rId15" Type="http://schemas.openxmlformats.org/officeDocument/2006/relationships/slideLayout" Target="../slideLayouts/slideLayout7.xml"/><Relationship Id="rId14" Type="http://schemas.openxmlformats.org/officeDocument/2006/relationships/audio" Target="../media/audio2.wav"/><Relationship Id="rId13" Type="http://schemas.openxmlformats.org/officeDocument/2006/relationships/image" Target="../media/image25.GIF"/><Relationship Id="rId12" Type="http://schemas.openxmlformats.org/officeDocument/2006/relationships/tags" Target="../tags/tag39.xml"/><Relationship Id="rId11" Type="http://schemas.openxmlformats.org/officeDocument/2006/relationships/image" Target="../media/image24.jpeg"/><Relationship Id="rId10" Type="http://schemas.openxmlformats.org/officeDocument/2006/relationships/tags" Target="../tags/tag38.xml"/><Relationship Id="rId1" Type="http://schemas.openxmlformats.org/officeDocument/2006/relationships/tags" Target="../tags/tag3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533400" y="4191000"/>
          <a:ext cx="1487488" cy="220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3154680" imgH="4708525" progId="MS_ClipArt_Gallery.2">
                  <p:embed/>
                </p:oleObj>
              </mc:Choice>
              <mc:Fallback>
                <p:oleObj name="" r:id="rId1" imgW="3154680" imgH="4708525" progId="MS_ClipArt_Gallery.2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3400" y="4191000"/>
                        <a:ext cx="1487488" cy="2201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"/>
          <p:cNvGrpSpPr/>
          <p:nvPr/>
        </p:nvGrpSpPr>
        <p:grpSpPr>
          <a:xfrm>
            <a:off x="914400" y="685800"/>
            <a:ext cx="7434263" cy="5400675"/>
            <a:chOff x="480" y="816"/>
            <a:chExt cx="4752" cy="2865"/>
          </a:xfrm>
        </p:grpSpPr>
        <p:sp>
          <p:nvSpPr>
            <p:cNvPr id="4100" name="Oval 4"/>
            <p:cNvSpPr/>
            <p:nvPr/>
          </p:nvSpPr>
          <p:spPr>
            <a:xfrm>
              <a:off x="480" y="816"/>
              <a:ext cx="4752" cy="2112"/>
            </a:xfrm>
            <a:prstGeom prst="ellipse">
              <a:avLst/>
            </a:prstGeom>
            <a:gradFill rotWithShape="0">
              <a:gsLst>
                <a:gs pos="0">
                  <a:srgbClr val="5E0076"/>
                </a:gs>
                <a:gs pos="50000">
                  <a:srgbClr val="CC00FF"/>
                </a:gs>
                <a:gs pos="100000">
                  <a:srgbClr val="5E0076"/>
                </a:gs>
              </a:gsLst>
              <a:lin ang="5400000" scaled="1"/>
              <a:tileRect/>
            </a:gradFill>
            <a:ln w="12700">
              <a:noFill/>
            </a:ln>
            <a:effectLst>
              <a:outerShdw dist="107763" dir="2699999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466949" name="Rectangle 5"/>
            <p:cNvSpPr>
              <a:spLocks noChangeArrowheads="1"/>
            </p:cNvSpPr>
            <p:nvPr/>
          </p:nvSpPr>
          <p:spPr bwMode="auto">
            <a:xfrm>
              <a:off x="1622" y="1635"/>
              <a:ext cx="2474" cy="435"/>
            </a:xfrm>
            <a:prstGeom prst="rect">
              <a:avLst/>
            </a:prstGeom>
            <a:noFill/>
            <a:ln w="12700">
              <a:noFill/>
              <a:miter lim="800000"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48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程序设计基础</a:t>
              </a:r>
              <a:endParaRPr kumimoji="1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endParaRPr>
            </a:p>
          </p:txBody>
        </p:sp>
        <p:pic>
          <p:nvPicPr>
            <p:cNvPr id="4102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37" y="2496"/>
              <a:ext cx="2503" cy="1152"/>
            </a:xfrm>
            <a:prstGeom prst="rect">
              <a:avLst/>
            </a:prstGeom>
            <a:noFill/>
            <a:ln w="12700">
              <a:noFill/>
            </a:ln>
            <a:effectLst>
              <a:outerShdw dist="107763" dir="2699999" algn="ctr" rotWithShape="0">
                <a:schemeClr val="bg2">
                  <a:alpha val="50000"/>
                </a:schemeClr>
              </a:outerShdw>
            </a:effectLst>
          </p:spPr>
        </p:pic>
        <p:sp>
          <p:nvSpPr>
            <p:cNvPr id="4103" name="Line 7"/>
            <p:cNvSpPr/>
            <p:nvPr/>
          </p:nvSpPr>
          <p:spPr>
            <a:xfrm>
              <a:off x="2304" y="3648"/>
              <a:ext cx="2776" cy="0"/>
            </a:xfrm>
            <a:prstGeom prst="line">
              <a:avLst/>
            </a:prstGeom>
            <a:ln w="38100" cap="flat" cmpd="sng">
              <a:pattFill prst="dkHorz">
                <a:fgClr>
                  <a:srgbClr val="00CCFF"/>
                </a:fgClr>
                <a:bgClr>
                  <a:srgbClr val="FFFFFF"/>
                </a:bgClr>
              </a:pattFill>
              <a:prstDash val="solid"/>
              <a:headEnd type="none" w="med" len="med"/>
              <a:tailEnd type="none" w="med" len="med"/>
            </a:ln>
            <a:effectLst>
              <a:outerShdw dist="107763" dir="2699999" algn="ctr" rotWithShape="0">
                <a:schemeClr val="bg2">
                  <a:alpha val="50000"/>
                </a:schemeClr>
              </a:outerShdw>
            </a:effectLst>
          </p:spPr>
        </p:sp>
        <p:sp>
          <p:nvSpPr>
            <p:cNvPr id="4104" name="Line 8"/>
            <p:cNvSpPr/>
            <p:nvPr/>
          </p:nvSpPr>
          <p:spPr>
            <a:xfrm>
              <a:off x="2160" y="3681"/>
              <a:ext cx="2776" cy="0"/>
            </a:xfrm>
            <a:prstGeom prst="line">
              <a:avLst/>
            </a:prstGeom>
            <a:ln w="38100" cap="flat" cmpd="sng">
              <a:pattFill prst="dkHorz">
                <a:fgClr>
                  <a:srgbClr val="00CCFF"/>
                </a:fgClr>
                <a:bgClr>
                  <a:srgbClr val="FFFFFF"/>
                </a:bgClr>
              </a:pattFill>
              <a:prstDash val="solid"/>
              <a:headEnd type="none" w="med" len="med"/>
              <a:tailEnd type="none" w="med" len="med"/>
            </a:ln>
            <a:effectLst>
              <a:outerShdw dist="107763" dir="2699999" algn="ctr" rotWithShape="0">
                <a:schemeClr val="bg2">
                  <a:alpha val="50000"/>
                </a:schemeClr>
              </a:outerShdw>
            </a:effectLst>
          </p:spPr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2499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执教：杨艳丽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单位：计算机与软件学院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电话：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26535255/13622338721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E-mail: 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1"/>
              </a:rPr>
              <a:t>yylszu@163.com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办公地点：南区计软楼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1035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123" name="Line 20"/>
          <p:cNvSpPr/>
          <p:nvPr>
            <p:custDataLst>
              <p:tags r:id="rId2"/>
            </p:custDataLst>
          </p:nvPr>
        </p:nvSpPr>
        <p:spPr>
          <a:xfrm>
            <a:off x="519113" y="1038225"/>
            <a:ext cx="7850187" cy="0"/>
          </a:xfrm>
          <a:prstGeom prst="line">
            <a:avLst/>
          </a:prstGeom>
          <a:ln w="571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27042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571499" y="2214563"/>
            <a:ext cx="8358189" cy="4114800"/>
          </a:xfrm>
          <a:ln/>
          <a:effectLst/>
          <a:scene3d>
            <a:camera prst="orthographicFront"/>
            <a:lightRig rig="balanced" dir="t"/>
          </a:scene3d>
          <a:sp3d prstMaterial="plastic"/>
        </p:spPr>
        <p:txBody>
          <a:bodyPr vert="horz" wrap="square" lIns="91440" tIns="45720" rIns="91440" bIns="45720" numCol="1" rtlCol="0" anchor="t" anchorCtr="0" compatLnSpc="1">
            <a:normAutofit lnSpcReduction="10000"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339933"/>
              </a:buClr>
              <a:buSzTx/>
              <a:buFont typeface="Wingdings" panose="05000000000000000000" pitchFamily="2" charset="2"/>
              <a:buChar char="«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隶书" panose="02010509060101010101" pitchFamily="49" charset="-122"/>
                <a:cs typeface="+mn-cs"/>
              </a:rPr>
              <a:t>课时安排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6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—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18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周（共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12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周）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隶书" panose="02010509060101010101" pitchFamily="49" charset="-122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1)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多媒体教学（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  <a:sym typeface="Wingdings" panose="05000000000000000000" pitchFamily="2" charset="2"/>
              </a:rPr>
              <a:t>03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  <a:sym typeface="Wingdings" panose="05000000000000000000" pitchFamily="2" charset="2"/>
              </a:rPr>
              <a:t>班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）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仿宋_GB2312" pitchFamily="49" charset="-122"/>
              <a:ea typeface="仿宋_GB2312" pitchFamily="49" charset="-122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  周一上午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3-4(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致理楼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L1-209)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6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周上课，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仿宋_GB2312" pitchFamily="49" charset="-122"/>
              <a:ea typeface="仿宋_GB2312" pitchFamily="49" charset="-122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                            6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—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18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MOOC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仿宋_GB2312" pitchFamily="49" charset="-122"/>
              <a:ea typeface="仿宋_GB2312" pitchFamily="49" charset="-122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周三上午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1-2(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致理楼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L1-209)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仿宋_GB2312" pitchFamily="49" charset="-122"/>
              <a:ea typeface="仿宋_GB2312" pitchFamily="49" charset="-122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仿宋_GB2312" pitchFamily="49" charset="-122"/>
              <a:ea typeface="仿宋_GB2312" pitchFamily="49" charset="-122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2)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实验：周三上午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3-4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仿宋_GB2312" pitchFamily="49" charset="-122"/>
              <a:ea typeface="仿宋_GB2312" pitchFamily="49" charset="-122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3300"/>
              </a:buClr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         (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学院机房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: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致腾楼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325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)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仿宋_GB2312" pitchFamily="49" charset="-122"/>
              <a:ea typeface="仿宋_GB2312" pitchFamily="49" charset="-122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  通过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OJ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深圳大学程序在线评测系统 （详细看使用说明）  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        172.31.221.52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highlight>
                <a:srgbClr val="FFFF00"/>
              </a:highlight>
              <a:uLnTx/>
              <a:uFillTx/>
              <a:latin typeface="仿宋_GB2312" pitchFamily="49" charset="-122"/>
              <a:ea typeface="仿宋_GB2312" pitchFamily="49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147" name="Rectangle 3"/>
          <p:cNvSpPr/>
          <p:nvPr/>
        </p:nvSpPr>
        <p:spPr>
          <a:xfrm>
            <a:off x="561975" y="754063"/>
            <a:ext cx="7772400" cy="1643062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742950" lvl="1" indent="-285750">
              <a:buClr>
                <a:srgbClr val="339933"/>
              </a:buClr>
              <a:buFont typeface="Wingdings" panose="05000000000000000000" pitchFamily="2" charset="2"/>
              <a:buChar char="«"/>
            </a:pPr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授课对象：计算机类本科生</a:t>
            </a:r>
            <a:endParaRPr lang="zh-CN" altLang="en-US" dirty="0"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marL="742950" lvl="1" indent="-285750">
              <a:buClr>
                <a:srgbClr val="339933"/>
              </a:buClr>
              <a:buFont typeface="Wingdings" panose="05000000000000000000" pitchFamily="2" charset="2"/>
              <a:buChar char="«"/>
            </a:pPr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先修课程：计算机导论</a:t>
            </a:r>
            <a:endParaRPr lang="zh-CN" altLang="en-US" dirty="0"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marL="742950" lvl="1" indent="-285750">
              <a:buClr>
                <a:srgbClr val="339933"/>
              </a:buClr>
              <a:buFont typeface="Wingdings" panose="05000000000000000000" pitchFamily="2" charset="2"/>
              <a:buChar char="«"/>
            </a:pPr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教学方式：多媒体</a:t>
            </a:r>
            <a:endParaRPr lang="zh-CN" altLang="en-US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665605" name="Object 5">
            <a:hlinkClick r:id="" action="ppaction://noaction"/>
          </p:cNvPr>
          <p:cNvGraphicFramePr>
            <a:graphicFrameLocks noChangeAspect="1"/>
          </p:cNvGraphicFramePr>
          <p:nvPr/>
        </p:nvGraphicFramePr>
        <p:xfrm>
          <a:off x="7380288" y="5013325"/>
          <a:ext cx="1565275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429895" imgH="445135" progId="MS_ClipArt_Gallery.2">
                  <p:embed/>
                </p:oleObj>
              </mc:Choice>
              <mc:Fallback>
                <p:oleObj name="" r:id="rId1" imgW="429895" imgH="445135" progId="MS_ClipArt_Gallery.2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C0504D"/>
                          </a:clrTo>
                        </a:clrChange>
                        <a:clrChange>
                          <a:clrFrom>
                            <a:srgbClr val="007200"/>
                          </a:clrFrom>
                          <a:clrTo>
                            <a:srgbClr val="0000FF"/>
                          </a:clrTo>
                        </a:clrChange>
                        <a:clrChange>
                          <a:clrFrom>
                            <a:srgbClr val="B2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380288" y="5013325"/>
                        <a:ext cx="1565275" cy="1600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07" name="Rectangle 7"/>
          <p:cNvSpPr>
            <a:spLocks noChangeArrowheads="1"/>
          </p:cNvSpPr>
          <p:nvPr/>
        </p:nvSpPr>
        <p:spPr bwMode="auto">
          <a:xfrm>
            <a:off x="539750" y="0"/>
            <a:ext cx="7772400" cy="9366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教材、参考书与课时安排</a:t>
            </a:r>
            <a:endParaRPr kumimoji="1" lang="zh-CN" altLang="en-US" sz="44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665608" name="Rectangle 8"/>
          <p:cNvSpPr>
            <a:spLocks noChangeArrowheads="1"/>
          </p:cNvSpPr>
          <p:nvPr/>
        </p:nvSpPr>
        <p:spPr bwMode="auto">
          <a:xfrm>
            <a:off x="179388" y="936625"/>
            <a:ext cx="10009188" cy="5365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/>
                <a:ea typeface="楷体_GB2312"/>
                <a:cs typeface="楷体_GB2312"/>
              </a:rPr>
              <a:t>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/>
                <a:ea typeface="楷体_GB2312"/>
                <a:cs typeface="楷体_GB2312"/>
              </a:rPr>
              <a:t>教材  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_GB2312"/>
              <a:ea typeface="楷体_GB2312"/>
              <a:cs typeface="楷体_GB2312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语言程序设计教程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王敬华编著 清华大学出版社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_GB2312"/>
              <a:ea typeface="楷体_GB2312"/>
              <a:cs typeface="楷体_GB231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/>
                <a:ea typeface="楷体_GB2312"/>
                <a:cs typeface="楷体_GB2312"/>
              </a:rPr>
              <a:t>参考书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_GB2312"/>
              <a:ea typeface="楷体_GB2312"/>
              <a:cs typeface="楷体_GB231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语言程序设计教程习题解答与实验指导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王敬华编著 清华大学出版社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语言程序设计教程   谭浩强  高等教育出版社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程序设计基础    吴文虎</a:t>
            </a:r>
            <a:r>
              <a:rPr kumimoji="1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清华大学出版社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语言程序设计    孟庆昌等       人民邮电出版社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_GB2312"/>
              <a:ea typeface="楷体_GB2312"/>
              <a:cs typeface="楷体_GB231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程序设计导引及在线实践 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李文新、郭炜、余华山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清华 大学出版社 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_GB2312"/>
              <a:ea typeface="楷体_GB2312"/>
              <a:cs typeface="楷体_GB231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/>
                <a:ea typeface="楷体_GB2312"/>
                <a:cs typeface="楷体_GB2312"/>
              </a:rPr>
              <a:t> 课时安排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_GB2312"/>
              <a:ea typeface="楷体_GB2312"/>
              <a:cs typeface="楷体_GB2312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/>
                <a:ea typeface="楷体_GB2312"/>
                <a:cs typeface="楷体_GB2312"/>
              </a:rPr>
              <a:t>授课  ：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/>
                <a:ea typeface="楷体_GB2312"/>
                <a:cs typeface="楷体_GB2312"/>
              </a:rPr>
              <a:t>2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/>
                <a:ea typeface="楷体_GB2312"/>
                <a:cs typeface="楷体_GB2312"/>
              </a:rPr>
              <a:t>学时（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/>
                <a:ea typeface="楷体_GB2312"/>
                <a:cs typeface="楷体_GB2312"/>
              </a:rPr>
              <a:t>MOOC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/>
                <a:ea typeface="楷体_GB2312"/>
                <a:cs typeface="楷体_GB2312"/>
              </a:rPr>
              <a:t>）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/>
                <a:ea typeface="楷体_GB2312"/>
                <a:cs typeface="楷体_GB2312"/>
              </a:rPr>
              <a:t>- 2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/>
                <a:ea typeface="楷体_GB2312"/>
                <a:cs typeface="楷体_GB2312"/>
              </a:rPr>
              <a:t>学时（课堂授课）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_GB2312"/>
              <a:ea typeface="楷体_GB2312"/>
              <a:cs typeface="楷体_GB2312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/>
                <a:ea typeface="楷体_GB2312"/>
                <a:cs typeface="楷体_GB2312"/>
              </a:rPr>
              <a:t>上机  </a:t>
            </a:r>
            <a:r>
              <a:rPr kumimoji="1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/>
                <a:ea typeface="楷体_GB2312"/>
                <a:cs typeface="楷体_GB2312"/>
              </a:rPr>
              <a:t>：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/>
                <a:ea typeface="楷体_GB2312"/>
                <a:cs typeface="楷体_GB2312"/>
              </a:rPr>
              <a:t>2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/>
                <a:ea typeface="楷体_GB2312"/>
                <a:cs typeface="楷体_GB2312"/>
              </a:rPr>
              <a:t>学时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_GB2312"/>
              <a:ea typeface="楷体_GB2312"/>
              <a:cs typeface="楷体_GB231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_GB2312"/>
              <a:ea typeface="楷体_GB2312"/>
              <a:cs typeface="楷体_GB2312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5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5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65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65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0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Rectangle 19"/>
          <p:cNvSpPr/>
          <p:nvPr>
            <p:custDataLst>
              <p:tags r:id="rId1"/>
            </p:custDataLst>
          </p:nvPr>
        </p:nvSpPr>
        <p:spPr>
          <a:xfrm>
            <a:off x="906463" y="339725"/>
            <a:ext cx="3584575" cy="698500"/>
          </a:xfrm>
          <a:prstGeom prst="rect">
            <a:avLst/>
          </a:prstGeom>
          <a:noFill/>
          <a:ln w="12700">
            <a:noFill/>
          </a:ln>
        </p:spPr>
        <p:txBody>
          <a:bodyPr wrap="none" lIns="90488" tIns="44450" rIns="90488" bIns="44450" anchor="b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Blip>
                <a:blip r:embed="rId2"/>
              </a:buBlip>
            </a:pPr>
            <a:r>
              <a:rPr lang="zh-CN" altLang="en-US" sz="4000" b="1" dirty="0">
                <a:latin typeface="Arial" panose="020B0604020202020204" pitchFamily="34" charset="0"/>
                <a:ea typeface="华文行楷" panose="02010800040101010101" pitchFamily="2" charset="-122"/>
              </a:rPr>
              <a:t>教材与参考书</a:t>
            </a:r>
            <a:endParaRPr lang="zh-CN" altLang="en-US" sz="4000" b="1" dirty="0">
              <a:latin typeface="Comic Sans MS" panose="030F0702030302020204" pitchFamily="66" charset="0"/>
            </a:endParaRPr>
          </a:p>
        </p:txBody>
      </p:sp>
      <p:sp>
        <p:nvSpPr>
          <p:cNvPr id="8195" name="Line 20"/>
          <p:cNvSpPr/>
          <p:nvPr>
            <p:custDataLst>
              <p:tags r:id="rId3"/>
            </p:custDataLst>
          </p:nvPr>
        </p:nvSpPr>
        <p:spPr>
          <a:xfrm>
            <a:off x="519113" y="1038225"/>
            <a:ext cx="7850187" cy="0"/>
          </a:xfrm>
          <a:prstGeom prst="line">
            <a:avLst/>
          </a:prstGeom>
          <a:ln w="571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196" name="Text Box 22"/>
          <p:cNvSpPr txBox="1"/>
          <p:nvPr>
            <p:custDataLst>
              <p:tags r:id="rId4"/>
            </p:custDataLst>
          </p:nvPr>
        </p:nvSpPr>
        <p:spPr>
          <a:xfrm>
            <a:off x="739775" y="1481138"/>
            <a:ext cx="7337425" cy="488950"/>
          </a:xfrm>
          <a:prstGeom prst="rect">
            <a:avLst/>
          </a:prstGeom>
          <a:noFill/>
          <a:ln w="12700">
            <a:noFill/>
          </a:ln>
        </p:spPr>
        <p:txBody>
          <a:bodyPr wrap="none" lIns="90000" tIns="10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谭浩强</a:t>
            </a:r>
            <a:r>
              <a:rPr lang="en-US" altLang="zh-CN" sz="28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: </a:t>
            </a:r>
            <a:r>
              <a:rPr lang="en-US" altLang="zh-CN" sz="2800" b="1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</a:t>
            </a:r>
            <a:r>
              <a:rPr lang="zh-CN" altLang="en-US" sz="2800" b="1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程序设计   </a:t>
            </a:r>
            <a:r>
              <a:rPr lang="en-US" altLang="zh-CN" sz="28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(</a:t>
            </a:r>
            <a:r>
              <a:rPr lang="zh-CN" altLang="en-US" sz="28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第五版</a:t>
            </a:r>
            <a:r>
              <a:rPr lang="en-US" altLang="zh-CN" sz="28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).</a:t>
            </a:r>
            <a:r>
              <a:rPr lang="zh-CN" altLang="zh-CN" sz="28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清华大学出版社</a:t>
            </a:r>
            <a:endParaRPr lang="zh-CN" altLang="en-US" sz="28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8197" name="Text Box 23"/>
          <p:cNvSpPr txBox="1"/>
          <p:nvPr>
            <p:custDataLst>
              <p:tags r:id="rId5"/>
            </p:custDataLst>
          </p:nvPr>
        </p:nvSpPr>
        <p:spPr>
          <a:xfrm>
            <a:off x="3822700" y="2703513"/>
            <a:ext cx="5321300" cy="1765300"/>
          </a:xfrm>
          <a:prstGeom prst="rect">
            <a:avLst/>
          </a:prstGeom>
          <a:noFill/>
          <a:ln w="12700">
            <a:noFill/>
          </a:ln>
        </p:spPr>
        <p:txBody>
          <a:bodyPr wrap="none" lIns="90000" tIns="10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zh-CN" altLang="en-US" sz="28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适合于初学者</a:t>
            </a:r>
            <a:endParaRPr lang="zh-CN" altLang="en-US" sz="28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marL="0" lvl="0" indent="0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zh-CN" altLang="en-US" sz="28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难点分散，缩小台阶，循序渐进</a:t>
            </a:r>
            <a:endParaRPr lang="zh-CN" altLang="en-US" sz="28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marL="0" lvl="0" indent="0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zh-CN" altLang="en-US" sz="28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生动的比喻，详尽的引导</a:t>
            </a:r>
            <a:endParaRPr lang="zh-CN" altLang="en-US" sz="28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marL="0" lvl="0" indent="0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zh-CN" altLang="en-US" sz="28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朴实无华，不追求</a:t>
            </a:r>
            <a:r>
              <a:rPr lang="en-US" altLang="zh-CN" sz="28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"</a:t>
            </a:r>
            <a:r>
              <a:rPr lang="zh-CN" altLang="en-US" sz="28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高、深、全</a:t>
            </a:r>
            <a:r>
              <a:rPr lang="en-US" altLang="zh-CN" sz="28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"</a:t>
            </a:r>
            <a:endParaRPr lang="en-US" altLang="zh-CN" sz="28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8198" name="Picture 24" descr="snap1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835025" y="2049463"/>
            <a:ext cx="2774950" cy="37131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9" name="Rectangle 27"/>
          <p:cNvSpPr/>
          <p:nvPr/>
        </p:nvSpPr>
        <p:spPr>
          <a:xfrm>
            <a:off x="673100" y="5865813"/>
            <a:ext cx="7140575" cy="422275"/>
          </a:xfrm>
          <a:prstGeom prst="rect">
            <a:avLst/>
          </a:prstGeom>
          <a:noFill/>
          <a:ln w="27051">
            <a:noFill/>
          </a:ln>
        </p:spPr>
        <p:txBody>
          <a:bodyPr wrap="none" lIns="90000" tIns="10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</a:rPr>
              <a:t>《</a:t>
            </a:r>
            <a:r>
              <a:rPr lang="zh-CN" altLang="en-US" sz="2400" b="1" dirty="0">
                <a:latin typeface="Arial" panose="020B0604020202020204" pitchFamily="34" charset="0"/>
                <a:ea typeface="楷体_GB2312" pitchFamily="49" charset="-122"/>
              </a:rPr>
              <a:t>基于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</a:rPr>
              <a:t>Visual C++</a:t>
            </a:r>
            <a:r>
              <a:rPr lang="zh-CN" altLang="en-US" sz="2400" b="1" dirty="0">
                <a:latin typeface="Arial" panose="020B0604020202020204" pitchFamily="34" charset="0"/>
                <a:ea typeface="楷体_GB2312" pitchFamily="49" charset="-122"/>
              </a:rPr>
              <a:t>平台的标准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</a:rPr>
              <a:t>C</a:t>
            </a:r>
            <a:r>
              <a:rPr lang="zh-CN" altLang="en-US" sz="2400" b="1" dirty="0">
                <a:latin typeface="Arial" panose="020B0604020202020204" pitchFamily="34" charset="0"/>
                <a:ea typeface="楷体_GB2312" pitchFamily="49" charset="-122"/>
              </a:rPr>
              <a:t>实用程序设计教程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</a:rPr>
              <a:t>》</a:t>
            </a:r>
            <a:endParaRPr lang="en-US" altLang="zh-CN" sz="2400" b="1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8200" name="Rectangle 28"/>
          <p:cNvSpPr/>
          <p:nvPr/>
        </p:nvSpPr>
        <p:spPr>
          <a:xfrm>
            <a:off x="769938" y="6267450"/>
            <a:ext cx="5768975" cy="361950"/>
          </a:xfrm>
          <a:prstGeom prst="rect">
            <a:avLst/>
          </a:prstGeom>
          <a:noFill/>
          <a:ln w="27051">
            <a:noFill/>
          </a:ln>
        </p:spPr>
        <p:txBody>
          <a:bodyPr wrap="none" lIns="90000" tIns="10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基础部分、综合部分、编写设计报告规范及其范例</a:t>
            </a:r>
            <a:endParaRPr lang="zh-CN" altLang="en-US" sz="20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42" name="Text Box 2"/>
          <p:cNvSpPr txBox="1"/>
          <p:nvPr>
            <p:custDataLst>
              <p:tags r:id="rId1"/>
            </p:custDataLst>
          </p:nvPr>
        </p:nvSpPr>
        <p:spPr>
          <a:xfrm>
            <a:off x="955675" y="1260475"/>
            <a:ext cx="6992938" cy="118745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Verdana" panose="020B0604030504040204" pitchFamily="34" charset="0"/>
                <a:ea typeface="隶书" panose="02010509060101010101" pitchFamily="49" charset="-122"/>
              </a:rPr>
              <a:t>Brian W. Kernighan, Dennis M. Ritchie </a:t>
            </a:r>
            <a:r>
              <a:rPr lang="en-US" altLang="zh-CN" sz="2400" b="1" dirty="0">
                <a:latin typeface="Arial" panose="020B0604020202020204" pitchFamily="34" charset="0"/>
              </a:rPr>
              <a:t>: 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algn="just">
              <a:spcBef>
                <a:spcPct val="0"/>
              </a:spcBef>
              <a:buFontTx/>
              <a:buNone/>
            </a:pPr>
            <a:r>
              <a:rPr lang="en-US" altLang="zh-CN" sz="2400" b="1" u="sng" dirty="0">
                <a:solidFill>
                  <a:srgbClr val="CC0066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The C Programming Language</a:t>
            </a:r>
            <a:r>
              <a:rPr lang="en-US" altLang="zh-CN" sz="2400" b="1" i="1" dirty="0">
                <a:latin typeface="Arial" panose="020B0604020202020204" pitchFamily="34" charset="0"/>
              </a:rPr>
              <a:t>. </a:t>
            </a:r>
            <a:endParaRPr lang="en-US" altLang="zh-CN" sz="2400" b="1" i="1" dirty="0">
              <a:latin typeface="Arial" panose="020B0604020202020204" pitchFamily="34" charset="0"/>
            </a:endParaRPr>
          </a:p>
          <a:p>
            <a:pPr marL="0" lvl="0" indent="0" algn="just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Verdana" panose="020B0604030504040204" pitchFamily="34" charset="0"/>
                <a:ea typeface="隶书" panose="02010509060101010101" pitchFamily="49" charset="-122"/>
              </a:rPr>
              <a:t>Prentice Hall   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2</a:t>
            </a:r>
            <a:r>
              <a:rPr lang="en-US" altLang="zh-CN" sz="2400" b="1" baseline="3000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nd</a:t>
            </a:r>
            <a:r>
              <a:rPr lang="en-US" altLang="zh-CN" sz="2400" b="1" dirty="0">
                <a:latin typeface="Verdana" panose="020B0604030504040204" pitchFamily="34" charset="0"/>
                <a:ea typeface="隶书" panose="02010509060101010101" pitchFamily="49" charset="-122"/>
              </a:rPr>
              <a:t> Edition</a:t>
            </a:r>
            <a:endParaRPr lang="en-US" altLang="zh-CN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0243" name="Picture 3" descr="C_kernighan_ritchie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1125" y="2667000"/>
            <a:ext cx="2520950" cy="3292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44" name="Rectangle 4"/>
          <p:cNvSpPr/>
          <p:nvPr>
            <p:custDataLst>
              <p:tags r:id="rId4"/>
            </p:custDataLst>
          </p:nvPr>
        </p:nvSpPr>
        <p:spPr>
          <a:xfrm>
            <a:off x="609600" y="6038850"/>
            <a:ext cx="1943100" cy="484188"/>
          </a:xfrm>
          <a:prstGeom prst="rect">
            <a:avLst/>
          </a:prstGeom>
          <a:noFill/>
          <a:ln w="12700">
            <a:noFill/>
          </a:ln>
        </p:spPr>
        <p:txBody>
          <a:bodyPr wrap="none" lIns="90000" tIns="10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en-US" altLang="zh-TW" sz="2800" b="1" dirty="0">
                <a:solidFill>
                  <a:srgbClr val="FF0000"/>
                </a:solidFill>
                <a:latin typeface="Comic Sans MS" panose="030F0702030302020204" pitchFamily="66" charset="0"/>
                <a:ea typeface="PMingLiU" pitchFamily="18" charset="-120"/>
              </a:rPr>
              <a:t>Bible book</a:t>
            </a:r>
            <a:endParaRPr lang="en-US" altLang="zh-CN" sz="2800" b="1" dirty="0">
              <a:solidFill>
                <a:srgbClr val="FF0000"/>
              </a:solidFill>
              <a:latin typeface="Comic Sans MS" panose="030F0702030302020204" pitchFamily="66" charset="0"/>
              <a:ea typeface="PMingLiU" pitchFamily="18" charset="-120"/>
            </a:endParaRPr>
          </a:p>
        </p:txBody>
      </p:sp>
      <p:sp>
        <p:nvSpPr>
          <p:cNvPr id="10245" name="Line 6"/>
          <p:cNvSpPr/>
          <p:nvPr>
            <p:custDataLst>
              <p:tags r:id="rId5"/>
            </p:custDataLst>
          </p:nvPr>
        </p:nvSpPr>
        <p:spPr>
          <a:xfrm>
            <a:off x="342900" y="981075"/>
            <a:ext cx="7850188" cy="0"/>
          </a:xfrm>
          <a:prstGeom prst="line">
            <a:avLst/>
          </a:prstGeom>
          <a:ln w="571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6" name="Rectangle 10"/>
          <p:cNvSpPr/>
          <p:nvPr>
            <p:custDataLst>
              <p:tags r:id="rId6"/>
            </p:custDataLst>
          </p:nvPr>
        </p:nvSpPr>
        <p:spPr>
          <a:xfrm>
            <a:off x="2163763" y="3067050"/>
            <a:ext cx="5524500" cy="2192338"/>
          </a:xfrm>
          <a:prstGeom prst="rect">
            <a:avLst/>
          </a:prstGeom>
          <a:noFill/>
          <a:ln w="12700">
            <a:noFill/>
          </a:ln>
        </p:spPr>
        <p:txBody>
          <a:bodyPr wrap="none" lIns="90000" tIns="10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914400" lvl="2" indent="0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zh-CN" altLang="en-US" sz="28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作者是</a:t>
            </a:r>
            <a:r>
              <a:rPr lang="en-US" altLang="zh-CN" sz="28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c</a:t>
            </a:r>
            <a:r>
              <a:rPr lang="zh-CN" altLang="en-US" sz="28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语言的创建者</a:t>
            </a:r>
            <a:endParaRPr lang="zh-CN" altLang="en-US" sz="28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marL="914400" lvl="2" indent="0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zh-CN" altLang="en-US" sz="28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有用的实例</a:t>
            </a:r>
            <a:endParaRPr lang="zh-CN" altLang="en-US" sz="28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marL="914400" lvl="2" indent="0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zh-CN" altLang="en-US" sz="28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错误少 </a:t>
            </a:r>
            <a:endParaRPr lang="zh-CN" altLang="en-US" sz="28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marL="914400" lvl="2" indent="0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zh-CN" altLang="en-US" sz="28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精练，适合做参考</a:t>
            </a:r>
            <a:endParaRPr lang="zh-CN" altLang="en-US" sz="28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marL="914400" lvl="2" indent="0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zh-CN" altLang="en-US" sz="28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单独做教材对入门者有困难</a:t>
            </a:r>
            <a:endParaRPr lang="zh-CN" altLang="en-US" sz="28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0247" name="Picture 12" descr="dennis_ritchie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305800" y="5951538"/>
            <a:ext cx="838200" cy="9001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8" name="Picture 15" descr="snap1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7385050" y="5951538"/>
            <a:ext cx="892175" cy="9064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49" name="Rectangle 17"/>
          <p:cNvSpPr/>
          <p:nvPr>
            <p:custDataLst>
              <p:tags r:id="rId11"/>
            </p:custDataLst>
          </p:nvPr>
        </p:nvSpPr>
        <p:spPr>
          <a:xfrm>
            <a:off x="906463" y="339725"/>
            <a:ext cx="3584575" cy="698500"/>
          </a:xfrm>
          <a:prstGeom prst="rect">
            <a:avLst/>
          </a:prstGeom>
          <a:noFill/>
          <a:ln w="12700">
            <a:noFill/>
          </a:ln>
        </p:spPr>
        <p:txBody>
          <a:bodyPr wrap="none" lIns="90488" tIns="44450" rIns="90488" bIns="44450" anchor="b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Blip>
                <a:blip r:embed="rId12"/>
              </a:buBlip>
            </a:pPr>
            <a:r>
              <a:rPr lang="zh-CN" altLang="en-US" sz="4000" b="1" dirty="0">
                <a:latin typeface="Arial" panose="020B0604020202020204" pitchFamily="34" charset="0"/>
                <a:ea typeface="华文行楷" panose="02010800040101010101" pitchFamily="2" charset="-122"/>
              </a:rPr>
              <a:t>教材与参考书</a:t>
            </a:r>
            <a:endParaRPr lang="zh-CN" altLang="en-US" sz="4000" b="1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26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教学基本内容</a:t>
            </a:r>
            <a:endParaRPr lang="zh-CN" altLang="en-US" dirty="0"/>
          </a:p>
        </p:txBody>
      </p:sp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533400" y="2079625"/>
            <a:ext cx="7772400" cy="1349375"/>
          </a:xfrm>
          <a:solidFill>
            <a:srgbClr val="CCFFCC">
              <a:alpha val="100000"/>
            </a:srgbClr>
          </a:solidFill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重点：</a:t>
            </a:r>
            <a:r>
              <a:rPr lang="en-US" altLang="zh-CN" dirty="0"/>
              <a:t>3-9</a:t>
            </a:r>
            <a:r>
              <a:rPr lang="zh-CN" altLang="en-US" dirty="0"/>
              <a:t>章</a:t>
            </a:r>
            <a:endParaRPr lang="zh-CN" altLang="en-US" dirty="0"/>
          </a:p>
          <a:p>
            <a:pPr eaLnBrk="1" hangingPunct="1"/>
            <a:r>
              <a:rPr lang="zh-CN" altLang="en-US" dirty="0"/>
              <a:t>难点：</a:t>
            </a:r>
            <a:r>
              <a:rPr lang="en-US" altLang="zh-CN" dirty="0"/>
              <a:t>6-9</a:t>
            </a:r>
            <a:r>
              <a:rPr lang="zh-CN" altLang="en-US" dirty="0"/>
              <a:t>章</a:t>
            </a:r>
            <a:endParaRPr lang="zh-CN" altLang="en-US" dirty="0"/>
          </a:p>
        </p:txBody>
      </p:sp>
    </p:spTree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29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5400" dirty="0">
                <a:ea typeface="华文琥珀" panose="02010800040101010101" pitchFamily="2" charset="-122"/>
              </a:rPr>
              <a:t>开学篇</a:t>
            </a:r>
            <a:endParaRPr lang="zh-CN" altLang="en-US" sz="5400" dirty="0">
              <a:ea typeface="华文琥珀" panose="02010800040101010101" pitchFamily="2" charset="-122"/>
            </a:endParaRPr>
          </a:p>
        </p:txBody>
      </p:sp>
      <p:sp>
        <p:nvSpPr>
          <p:cNvPr id="12291" name="Rectangle 3"/>
          <p:cNvSpPr>
            <a:spLocks noGrp="1"/>
          </p:cNvSpPr>
          <p:nvPr>
            <p:ph idx="1"/>
          </p:nvPr>
        </p:nvSpPr>
        <p:spPr>
          <a:xfrm>
            <a:off x="250825" y="1196975"/>
            <a:ext cx="8229600" cy="4525963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sz="4400" dirty="0">
                <a:latin typeface="黑体" panose="02010609060101010101" pitchFamily="49" charset="-122"/>
                <a:ea typeface="黑体" panose="02010609060101010101" pitchFamily="49" charset="-122"/>
              </a:rPr>
              <a:t>问题的提出</a:t>
            </a:r>
            <a:endParaRPr lang="zh-CN" altLang="en-US" sz="4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36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36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为什么要学习程序设计</a:t>
            </a:r>
            <a:r>
              <a:rPr lang="en-US" altLang="zh-CN" sz="36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?</a:t>
            </a:r>
            <a:endParaRPr lang="en-US" altLang="zh-CN" sz="3600" dirty="0">
              <a:solidFill>
                <a:srgbClr val="A5002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6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2.</a:t>
            </a:r>
            <a:r>
              <a:rPr lang="zh-CN" altLang="en-US" sz="36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学习哪些内容？      </a:t>
            </a:r>
            <a:endParaRPr lang="zh-CN" altLang="en-US" sz="3600" dirty="0">
              <a:solidFill>
                <a:srgbClr val="A5002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sz="36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36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36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如何学习程序设计</a:t>
            </a:r>
            <a:r>
              <a:rPr lang="en-US" altLang="zh-CN" sz="36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?</a:t>
            </a:r>
            <a:endParaRPr lang="en-US" altLang="zh-CN" sz="3600" dirty="0">
              <a:solidFill>
                <a:srgbClr val="A5002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6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3600" dirty="0">
              <a:solidFill>
                <a:srgbClr val="A5002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314" name="Line 2"/>
          <p:cNvSpPr/>
          <p:nvPr/>
        </p:nvSpPr>
        <p:spPr>
          <a:xfrm>
            <a:off x="0" y="1125538"/>
            <a:ext cx="9144000" cy="0"/>
          </a:xfrm>
          <a:prstGeom prst="line">
            <a:avLst/>
          </a:prstGeom>
          <a:ln w="38100" cap="flat" cmpd="sng">
            <a:solidFill>
              <a:srgbClr val="6CA8C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315" name="Rectangle 3"/>
          <p:cNvSpPr/>
          <p:nvPr/>
        </p:nvSpPr>
        <p:spPr>
          <a:xfrm>
            <a:off x="71438" y="1517650"/>
            <a:ext cx="9072562" cy="41814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228600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强调程序设计的作用；</a:t>
            </a:r>
            <a:r>
              <a:rPr lang="zh-CN" altLang="en-US" b="1" dirty="0">
                <a:solidFill>
                  <a:srgbClr val="00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是后继应用计算机课程的基础，体现了计算机素质</a:t>
            </a:r>
            <a:endParaRPr lang="zh-CN" altLang="en-US" b="1" dirty="0">
              <a:solidFill>
                <a:srgbClr val="000066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lvl="0" indent="228600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00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设计软件与操作软件</a:t>
            </a:r>
            <a:endParaRPr lang="zh-CN" altLang="en-US" b="1" dirty="0">
              <a:solidFill>
                <a:srgbClr val="000066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lvl="0" indent="228600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00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达到目的：</a:t>
            </a:r>
            <a:r>
              <a:rPr lang="zh-CN" altLang="en-US" b="1" dirty="0">
                <a:solidFill>
                  <a:srgbClr val="000066"/>
                </a:solidFill>
                <a:latin typeface="华文新魏" panose="02010800040101010101" pitchFamily="2" charset="-122"/>
                <a:ea typeface="华文新魏" panose="02010800040101010101" pitchFamily="2" charset="-122"/>
                <a:hlinkClick r:id="rId1" action="ppaction://hlinkfile"/>
              </a:rPr>
              <a:t>不光是抽象思维</a:t>
            </a:r>
            <a:r>
              <a:rPr lang="zh-CN" altLang="en-US" b="1" dirty="0">
                <a:solidFill>
                  <a:srgbClr val="00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能力、编程能力、实践能力和创新能力的培养和训练，</a:t>
            </a:r>
            <a:r>
              <a:rPr lang="zh-CN" altLang="en-US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更重要的是耐心细致的学习工作态度培养，树立严谨求实、百折不挠攻克难关的精神（摘自学生体会）</a:t>
            </a:r>
            <a:r>
              <a:rPr lang="zh-CN" altLang="en-US" dirty="0">
                <a:solidFill>
                  <a:srgbClr val="00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dirty="0">
              <a:solidFill>
                <a:srgbClr val="000066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316" name="Text Box 4"/>
          <p:cNvSpPr txBox="1"/>
          <p:nvPr/>
        </p:nvSpPr>
        <p:spPr>
          <a:xfrm>
            <a:off x="323850" y="260350"/>
            <a:ext cx="8351838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buFontTx/>
              <a:buNone/>
            </a:pPr>
            <a:r>
              <a:rPr lang="en-US" altLang="zh-CN" sz="4000" b="1" dirty="0">
                <a:solidFill>
                  <a:srgbClr val="A50021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1.</a:t>
            </a:r>
            <a:r>
              <a:rPr lang="zh-CN" altLang="en-US" sz="4000" b="1" dirty="0">
                <a:solidFill>
                  <a:srgbClr val="A50021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为什么要学习程序设计</a:t>
            </a:r>
            <a:r>
              <a:rPr lang="en-US" altLang="zh-CN" sz="4000" b="1" dirty="0">
                <a:solidFill>
                  <a:srgbClr val="A50021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?</a:t>
            </a:r>
            <a:endParaRPr lang="en-US" altLang="zh-CN" sz="4000" b="1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338" name="Rectangle 2"/>
          <p:cNvSpPr>
            <a:spLocks noGrp="1"/>
          </p:cNvSpPr>
          <p:nvPr>
            <p:ph idx="1"/>
          </p:nvPr>
        </p:nvSpPr>
        <p:spPr>
          <a:xfrm>
            <a:off x="250825" y="1268413"/>
            <a:ext cx="8893175" cy="4525962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Char char="u"/>
            </a:pPr>
            <a:r>
              <a:rPr lang="zh-CN" altLang="en-US" sz="36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程序设计</a:t>
            </a:r>
            <a:endParaRPr lang="zh-CN" altLang="en-US" sz="3600" dirty="0">
              <a:solidFill>
                <a:srgbClr val="A5002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zh-CN" altLang="en-US" sz="36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数据类型、三种基本结构、函数、</a:t>
            </a:r>
            <a:endParaRPr lang="zh-CN" altLang="en-US" sz="3600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zh-CN" altLang="en-US" sz="36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指针</a:t>
            </a:r>
            <a:endParaRPr lang="zh-CN" altLang="en-US" sz="3600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Char char="u"/>
            </a:pPr>
            <a:r>
              <a:rPr lang="zh-CN" altLang="en-US" sz="36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算法设计</a:t>
            </a:r>
            <a:endParaRPr lang="zh-CN" altLang="en-US" sz="3600" dirty="0">
              <a:solidFill>
                <a:srgbClr val="A5002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zh-CN" altLang="en-US" sz="36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科学计算常用算法、数据处理常用算法</a:t>
            </a:r>
            <a:endParaRPr lang="zh-CN" altLang="en-US" sz="3600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339" name="Line 3"/>
          <p:cNvSpPr/>
          <p:nvPr/>
        </p:nvSpPr>
        <p:spPr>
          <a:xfrm>
            <a:off x="34925" y="1054100"/>
            <a:ext cx="9144000" cy="0"/>
          </a:xfrm>
          <a:prstGeom prst="line">
            <a:avLst/>
          </a:prstGeom>
          <a:ln w="38100" cap="flat" cmpd="sng">
            <a:solidFill>
              <a:srgbClr val="6CA8C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40" name="Text Box 4"/>
          <p:cNvSpPr txBox="1"/>
          <p:nvPr/>
        </p:nvSpPr>
        <p:spPr>
          <a:xfrm>
            <a:off x="358775" y="188913"/>
            <a:ext cx="8351838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buFontTx/>
              <a:buNone/>
            </a:pPr>
            <a:r>
              <a:rPr lang="en-US" altLang="zh-CN" sz="4000" b="1" dirty="0">
                <a:solidFill>
                  <a:srgbClr val="A50021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2.</a:t>
            </a:r>
            <a:r>
              <a:rPr lang="zh-CN" altLang="en-US" sz="4000" b="1" dirty="0">
                <a:solidFill>
                  <a:srgbClr val="A50021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学哪些内容</a:t>
            </a:r>
            <a:r>
              <a:rPr lang="en-US" altLang="zh-CN" sz="4000" b="1" dirty="0">
                <a:solidFill>
                  <a:srgbClr val="A50021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?</a:t>
            </a:r>
            <a:endParaRPr lang="en-US" altLang="zh-CN" sz="4000" b="1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1">
            <a:normAutofit fontScale="9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华文琥珀" panose="02010800040101010101" pitchFamily="2" charset="-122"/>
                <a:ea typeface="华文琥珀" panose="02010800040101010101" pitchFamily="2" charset="-122"/>
                <a:cs typeface="+mj-cs"/>
              </a:rPr>
              <a:t>3.</a:t>
            </a:r>
            <a:r>
              <a: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华文琥珀" panose="02010800040101010101" pitchFamily="2" charset="-122"/>
                <a:ea typeface="华文琥珀" panose="02010800040101010101" pitchFamily="2" charset="-122"/>
                <a:cs typeface="+mj-cs"/>
              </a:rPr>
              <a:t>如何学习程序设计</a:t>
            </a:r>
            <a:r>
              <a:rPr kumimoji="0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华文琥珀" panose="02010800040101010101" pitchFamily="2" charset="-122"/>
                <a:ea typeface="华文琥珀" panose="02010800040101010101" pitchFamily="2" charset="-122"/>
                <a:cs typeface="+mj-cs"/>
              </a:rPr>
              <a:t>?</a:t>
            </a:r>
            <a:br>
              <a:rPr kumimoji="0" lang="en-US" altLang="zh-CN" sz="4400" b="0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</a:br>
            <a:endParaRPr kumimoji="0" lang="en-US" altLang="zh-CN" sz="4400" b="0" i="0" u="none" strike="noStrike" kern="1200" cap="none" spc="0" normalizeH="0" baseline="0" noProof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5363" name="Rectangle 3"/>
          <p:cNvSpPr>
            <a:spLocks noGrp="1"/>
          </p:cNvSpPr>
          <p:nvPr>
            <p:ph idx="1"/>
          </p:nvPr>
        </p:nvSpPr>
        <p:spPr>
          <a:xfrm>
            <a:off x="107950" y="1125538"/>
            <a:ext cx="9036050" cy="5732462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spcBef>
                <a:spcPct val="5000"/>
              </a:spcBef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端正学习态度</a:t>
            </a:r>
            <a:endParaRPr lang="zh-CN" altLang="en-US" sz="2400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66"/>
                </a:solidFill>
              </a:rPr>
              <a:t>    </a:t>
            </a:r>
            <a:r>
              <a:rPr lang="zh-CN" altLang="en-US" sz="24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克服畏难情绪和急功近利，程序设计是靠日积月累磨练的。</a:t>
            </a:r>
            <a:endParaRPr lang="zh-CN" altLang="en-US" sz="2400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5000"/>
              </a:spcBef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学习三步曲</a:t>
            </a:r>
            <a:endParaRPr lang="zh-CN" altLang="en-US" sz="2400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5000"/>
              </a:spcBef>
            </a:pPr>
            <a:r>
              <a:rPr lang="zh-CN" altLang="en-US" sz="24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 提前预习</a:t>
            </a:r>
            <a:r>
              <a:rPr lang="zh-CN" altLang="en-US" sz="24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模仿</a:t>
            </a:r>
            <a:r>
              <a:rPr lang="zh-CN" altLang="en-US" sz="24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编程，有感性认识</a:t>
            </a:r>
            <a:endParaRPr lang="zh-CN" altLang="en-US" sz="2400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5000"/>
              </a:spcBef>
            </a:pPr>
            <a:r>
              <a:rPr lang="zh-CN" altLang="en-US" sz="24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 带着</a:t>
            </a:r>
            <a:r>
              <a:rPr lang="zh-CN" altLang="en-US" sz="24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问题</a:t>
            </a:r>
            <a:r>
              <a:rPr lang="zh-CN" altLang="en-US" sz="24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听课，针对性强，效果明显</a:t>
            </a:r>
            <a:endParaRPr lang="zh-CN" altLang="en-US" sz="2400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5000"/>
              </a:spcBef>
            </a:pPr>
            <a:r>
              <a:rPr lang="zh-CN" altLang="en-US" sz="24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4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书面</a:t>
            </a:r>
            <a:r>
              <a:rPr lang="zh-CN" altLang="en-US" sz="24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写好程序，</a:t>
            </a:r>
            <a:r>
              <a:rPr lang="zh-CN" altLang="en-US" sz="24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上机</a:t>
            </a:r>
            <a:r>
              <a:rPr lang="zh-CN" altLang="en-US" sz="24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调试，巩固掌握</a:t>
            </a:r>
            <a:endParaRPr lang="zh-CN" altLang="en-US" sz="2400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5000"/>
              </a:spcBef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突出重点</a:t>
            </a:r>
            <a:endParaRPr lang="zh-CN" altLang="en-US" sz="2400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latin typeface="隶书" panose="02010509060101010101" pitchFamily="49" charset="-122"/>
                <a:ea typeface="隶书" panose="02010509060101010101" pitchFamily="49" charset="-122"/>
              </a:rPr>
              <a:t>  </a:t>
            </a:r>
            <a:r>
              <a:rPr lang="zh-CN" altLang="en-US" sz="24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重点放在解题思路、语句是表达工具、界面是锦上添花</a:t>
            </a:r>
            <a:endParaRPr lang="zh-CN" altLang="en-US" sz="2400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5000"/>
              </a:spcBef>
              <a:buClr>
                <a:srgbClr val="FF66FF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 重在训练利用计算机编程手段</a:t>
            </a:r>
            <a:r>
              <a:rPr lang="zh-CN" altLang="en-US" sz="24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分析问题和解决问题</a:t>
            </a:r>
            <a:r>
              <a:rPr lang="zh-CN" altLang="en-US" sz="24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的能力。</a:t>
            </a:r>
            <a:endParaRPr lang="zh-CN" altLang="en-US" sz="2400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5000"/>
              </a:spcBef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强化实践</a:t>
            </a:r>
            <a:endParaRPr lang="zh-CN" altLang="en-US" sz="2400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 实践是检验正确的标准，该课程不是</a:t>
            </a:r>
            <a:r>
              <a:rPr lang="zh-CN" altLang="en-US" sz="24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听会</a:t>
            </a:r>
            <a:r>
              <a:rPr lang="zh-CN" altLang="en-US" sz="24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zh-CN" altLang="en-US" sz="24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看会</a:t>
            </a:r>
            <a:r>
              <a:rPr lang="zh-CN" altLang="en-US" sz="24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而是</a:t>
            </a:r>
            <a:r>
              <a:rPr lang="zh-CN" altLang="en-US" sz="24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做会</a:t>
            </a:r>
            <a:r>
              <a:rPr lang="zh-CN" altLang="en-US" sz="24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的。</a:t>
            </a:r>
            <a:endParaRPr lang="zh-CN" altLang="en-US" sz="2400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 typeface="Wingdings" panose="05000000000000000000" pitchFamily="2" charset="2"/>
              <a:buChar char="u"/>
            </a:pPr>
            <a:endParaRPr lang="zh-CN" altLang="en-US" sz="2400" dirty="0">
              <a:solidFill>
                <a:srgbClr val="000066"/>
              </a:solidFill>
            </a:endParaRP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zh-CN" altLang="en-US" sz="2400" dirty="0"/>
          </a:p>
        </p:txBody>
      </p:sp>
      <p:sp>
        <p:nvSpPr>
          <p:cNvPr id="15364" name="Line 4"/>
          <p:cNvSpPr/>
          <p:nvPr/>
        </p:nvSpPr>
        <p:spPr>
          <a:xfrm>
            <a:off x="0" y="1125538"/>
            <a:ext cx="9144000" cy="0"/>
          </a:xfrm>
          <a:prstGeom prst="line">
            <a:avLst/>
          </a:prstGeom>
          <a:ln w="38100" cap="flat" cmpd="sng">
            <a:solidFill>
              <a:srgbClr val="6CA8C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6386" name="标题 10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endParaRPr lang="zh-CN" altLang="en-US" dirty="0"/>
          </a:p>
        </p:txBody>
      </p:sp>
      <p:sp>
        <p:nvSpPr>
          <p:cNvPr id="16387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362950" cy="4525963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        要把数据输入到电脑中，早期就是使用电路逻辑来处理，需要人工不断地变更线路，无法普及。于是开始有了人机对话的语言。</a:t>
            </a:r>
            <a:endParaRPr lang="en-US" altLang="zh-CN" dirty="0"/>
          </a:p>
          <a:p>
            <a:pPr eaLnBrk="1" hangingPunct="1"/>
            <a:r>
              <a:rPr lang="zh-CN" altLang="en-US" dirty="0"/>
              <a:t>         到现在为止，已经有几千种电脑语言了，和人类的自然语言不相上下。</a:t>
            </a:r>
            <a:endParaRPr lang="en-US" altLang="zh-CN" dirty="0"/>
          </a:p>
        </p:txBody>
      </p:sp>
    </p:spTree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endParaRPr lang="zh-CN" altLang="en-US" dirty="0"/>
          </a:p>
        </p:txBody>
      </p:sp>
      <p:pic>
        <p:nvPicPr>
          <p:cNvPr id="17411" name="内容占位符 4" descr="1080744739.jpg"/>
          <p:cNvPicPr>
            <a:picLocks noGrp="1"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-38100" y="0"/>
            <a:ext cx="9182100" cy="6556375"/>
          </a:xfrm>
          <a:ln/>
        </p:spPr>
      </p:pic>
    </p:spTree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Text Box 16"/>
          <p:cNvSpPr txBox="1"/>
          <p:nvPr/>
        </p:nvSpPr>
        <p:spPr>
          <a:xfrm>
            <a:off x="163513" y="0"/>
            <a:ext cx="2497137" cy="822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lnSpc>
                <a:spcPct val="12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计算机语言的发展</a:t>
            </a:r>
            <a:endParaRPr lang="zh-CN" altLang="en-US" sz="2000" b="1" dirty="0">
              <a:solidFill>
                <a:srgbClr val="FFFFFF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(3)</a:t>
            </a:r>
            <a:r>
              <a:rPr lang="zh-CN" alt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能否提出新语言</a:t>
            </a:r>
            <a:r>
              <a:rPr lang="en-US" altLang="zh-CN" sz="2000" b="1" dirty="0">
                <a:solidFill>
                  <a:srgbClr val="FFFFFF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? </a:t>
            </a:r>
            <a:endParaRPr lang="en-US" altLang="zh-CN" sz="2000" b="1" dirty="0">
              <a:solidFill>
                <a:srgbClr val="FFFFFF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pic>
        <p:nvPicPr>
          <p:cNvPr id="18435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28675"/>
            <a:ext cx="9144000" cy="6029325"/>
          </a:xfrm>
          <a:prstGeom prst="rect">
            <a:avLst/>
          </a:prstGeom>
          <a:noFill/>
          <a:ln w="952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8436" name="Text Box 13"/>
          <p:cNvSpPr txBox="1"/>
          <p:nvPr/>
        </p:nvSpPr>
        <p:spPr>
          <a:xfrm>
            <a:off x="190500" y="1646238"/>
            <a:ext cx="19240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dirty="0">
                <a:solidFill>
                  <a:srgbClr val="3333CC"/>
                </a:solidFill>
                <a:latin typeface="Arial" panose="020B0604020202020204" pitchFamily="34" charset="0"/>
              </a:rPr>
              <a:t>FORTRAN</a:t>
            </a:r>
            <a:endParaRPr lang="en-US" altLang="zh-CN" sz="2800" b="1" dirty="0">
              <a:solidFill>
                <a:srgbClr val="3333CC"/>
              </a:solidFill>
              <a:latin typeface="Arial" panose="020B0604020202020204" pitchFamily="34" charset="0"/>
            </a:endParaRPr>
          </a:p>
        </p:txBody>
      </p:sp>
      <p:sp>
        <p:nvSpPr>
          <p:cNvPr id="18437" name="Text Box 14"/>
          <p:cNvSpPr txBox="1"/>
          <p:nvPr/>
        </p:nvSpPr>
        <p:spPr>
          <a:xfrm>
            <a:off x="850900" y="2814638"/>
            <a:ext cx="14287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dirty="0">
                <a:solidFill>
                  <a:srgbClr val="3333CC"/>
                </a:solidFill>
                <a:latin typeface="Arial" panose="020B0604020202020204" pitchFamily="34" charset="0"/>
              </a:rPr>
              <a:t>ALGOL</a:t>
            </a:r>
            <a:endParaRPr lang="en-US" altLang="zh-CN" sz="2800" b="1" dirty="0">
              <a:solidFill>
                <a:srgbClr val="3333CC"/>
              </a:solidFill>
              <a:latin typeface="Arial" panose="020B0604020202020204" pitchFamily="34" charset="0"/>
            </a:endParaRPr>
          </a:p>
        </p:txBody>
      </p:sp>
      <p:sp>
        <p:nvSpPr>
          <p:cNvPr id="18438" name="Text Box 15"/>
          <p:cNvSpPr txBox="1"/>
          <p:nvPr/>
        </p:nvSpPr>
        <p:spPr>
          <a:xfrm>
            <a:off x="2860675" y="4157663"/>
            <a:ext cx="4413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dirty="0">
                <a:solidFill>
                  <a:srgbClr val="3333CC"/>
                </a:solidFill>
                <a:latin typeface="Arial" panose="020B0604020202020204" pitchFamily="34" charset="0"/>
              </a:rPr>
              <a:t>B</a:t>
            </a:r>
            <a:endParaRPr lang="en-US" altLang="zh-CN" sz="2800" b="1" dirty="0">
              <a:solidFill>
                <a:srgbClr val="3333CC"/>
              </a:solidFill>
              <a:latin typeface="Arial" panose="020B0604020202020204" pitchFamily="34" charset="0"/>
            </a:endParaRPr>
          </a:p>
        </p:txBody>
      </p:sp>
      <p:sp>
        <p:nvSpPr>
          <p:cNvPr id="18439" name="Text Box 16"/>
          <p:cNvSpPr txBox="1"/>
          <p:nvPr/>
        </p:nvSpPr>
        <p:spPr>
          <a:xfrm>
            <a:off x="3378200" y="4167188"/>
            <a:ext cx="4413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dirty="0">
                <a:solidFill>
                  <a:srgbClr val="3333CC"/>
                </a:solidFill>
                <a:latin typeface="Arial" panose="020B0604020202020204" pitchFamily="34" charset="0"/>
              </a:rPr>
              <a:t>C</a:t>
            </a:r>
            <a:endParaRPr lang="en-US" altLang="zh-CN" sz="2800" b="1" dirty="0">
              <a:solidFill>
                <a:srgbClr val="3333CC"/>
              </a:solidFill>
              <a:latin typeface="Arial" panose="020B0604020202020204" pitchFamily="34" charset="0"/>
            </a:endParaRPr>
          </a:p>
        </p:txBody>
      </p:sp>
      <p:sp>
        <p:nvSpPr>
          <p:cNvPr id="18440" name="Text Box 17"/>
          <p:cNvSpPr txBox="1"/>
          <p:nvPr/>
        </p:nvSpPr>
        <p:spPr>
          <a:xfrm>
            <a:off x="3128963" y="5291138"/>
            <a:ext cx="123190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b="1" dirty="0">
                <a:solidFill>
                  <a:srgbClr val="3333CC"/>
                </a:solidFill>
                <a:latin typeface="Arial" panose="020B0604020202020204" pitchFamily="34" charset="0"/>
              </a:rPr>
              <a:t>PASCAL</a:t>
            </a:r>
            <a:endParaRPr lang="en-US" altLang="zh-CN" sz="2000" b="1" dirty="0">
              <a:solidFill>
                <a:srgbClr val="3333CC"/>
              </a:solidFill>
              <a:latin typeface="Arial" panose="020B0604020202020204" pitchFamily="34" charset="0"/>
            </a:endParaRPr>
          </a:p>
        </p:txBody>
      </p:sp>
      <p:sp>
        <p:nvSpPr>
          <p:cNvPr id="18441" name="Text Box 18"/>
          <p:cNvSpPr txBox="1"/>
          <p:nvPr/>
        </p:nvSpPr>
        <p:spPr>
          <a:xfrm>
            <a:off x="2290763" y="6307138"/>
            <a:ext cx="1290637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dirty="0">
                <a:solidFill>
                  <a:srgbClr val="3333CC"/>
                </a:solidFill>
                <a:latin typeface="Arial" panose="020B0604020202020204" pitchFamily="34" charset="0"/>
              </a:rPr>
              <a:t>BASIC</a:t>
            </a:r>
            <a:endParaRPr lang="en-US" altLang="zh-CN" sz="2800" b="1" dirty="0">
              <a:solidFill>
                <a:srgbClr val="3333CC"/>
              </a:solidFill>
              <a:latin typeface="Arial" panose="020B0604020202020204" pitchFamily="34" charset="0"/>
            </a:endParaRPr>
          </a:p>
        </p:txBody>
      </p:sp>
      <p:sp>
        <p:nvSpPr>
          <p:cNvPr id="18442" name="AutoShape 19"/>
          <p:cNvSpPr/>
          <p:nvPr/>
        </p:nvSpPr>
        <p:spPr>
          <a:xfrm>
            <a:off x="258763" y="2049463"/>
            <a:ext cx="274637" cy="166687"/>
          </a:xfrm>
          <a:prstGeom prst="wave">
            <a:avLst>
              <a:gd name="adj1" fmla="val 13005"/>
              <a:gd name="adj2" fmla="val 0"/>
            </a:avLst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endParaRPr lang="zh-CN" alt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8443" name="AutoShape 20"/>
          <p:cNvSpPr/>
          <p:nvPr/>
        </p:nvSpPr>
        <p:spPr>
          <a:xfrm>
            <a:off x="998538" y="3271838"/>
            <a:ext cx="274637" cy="166687"/>
          </a:xfrm>
          <a:prstGeom prst="wave">
            <a:avLst>
              <a:gd name="adj1" fmla="val 13005"/>
              <a:gd name="adj2" fmla="val 0"/>
            </a:avLst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endParaRPr lang="zh-CN" alt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8444" name="AutoShape 21"/>
          <p:cNvSpPr/>
          <p:nvPr/>
        </p:nvSpPr>
        <p:spPr>
          <a:xfrm>
            <a:off x="3008313" y="4591050"/>
            <a:ext cx="274637" cy="166688"/>
          </a:xfrm>
          <a:prstGeom prst="wave">
            <a:avLst>
              <a:gd name="adj1" fmla="val 13005"/>
              <a:gd name="adj2" fmla="val 0"/>
            </a:avLst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endParaRPr lang="zh-CN" alt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8445" name="AutoShape 22"/>
          <p:cNvSpPr/>
          <p:nvPr/>
        </p:nvSpPr>
        <p:spPr>
          <a:xfrm>
            <a:off x="3446463" y="4600575"/>
            <a:ext cx="274637" cy="166688"/>
          </a:xfrm>
          <a:prstGeom prst="wave">
            <a:avLst>
              <a:gd name="adj1" fmla="val 13005"/>
              <a:gd name="adj2" fmla="val 0"/>
            </a:avLst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endParaRPr lang="zh-CN" alt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8446" name="AutoShape 23"/>
          <p:cNvSpPr/>
          <p:nvPr/>
        </p:nvSpPr>
        <p:spPr>
          <a:xfrm>
            <a:off x="2106613" y="6372225"/>
            <a:ext cx="274637" cy="166688"/>
          </a:xfrm>
          <a:prstGeom prst="wave">
            <a:avLst>
              <a:gd name="adj1" fmla="val 13005"/>
              <a:gd name="adj2" fmla="val 0"/>
            </a:avLst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endParaRPr lang="zh-CN" alt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8447" name="Text Box 24"/>
          <p:cNvSpPr txBox="1"/>
          <p:nvPr/>
        </p:nvSpPr>
        <p:spPr>
          <a:xfrm>
            <a:off x="6370638" y="6405563"/>
            <a:ext cx="21986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b="1" dirty="0">
                <a:solidFill>
                  <a:srgbClr val="3333CC"/>
                </a:solidFill>
                <a:latin typeface="Arial" panose="020B0604020202020204" pitchFamily="34" charset="0"/>
              </a:rPr>
              <a:t>Visual  BASIC</a:t>
            </a:r>
            <a:endParaRPr lang="en-US" altLang="zh-CN" b="1" dirty="0">
              <a:solidFill>
                <a:srgbClr val="3333CC"/>
              </a:solidFill>
              <a:latin typeface="Arial" panose="020B0604020202020204" pitchFamily="34" charset="0"/>
            </a:endParaRPr>
          </a:p>
        </p:txBody>
      </p:sp>
      <p:sp>
        <p:nvSpPr>
          <p:cNvPr id="18448" name="AutoShape 25"/>
          <p:cNvSpPr/>
          <p:nvPr/>
        </p:nvSpPr>
        <p:spPr>
          <a:xfrm>
            <a:off x="7107238" y="6372225"/>
            <a:ext cx="274637" cy="166688"/>
          </a:xfrm>
          <a:prstGeom prst="wave">
            <a:avLst>
              <a:gd name="adj1" fmla="val 13005"/>
              <a:gd name="adj2" fmla="val 0"/>
            </a:avLst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endParaRPr lang="zh-CN" alt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8449" name="AutoShape 26"/>
          <p:cNvSpPr/>
          <p:nvPr/>
        </p:nvSpPr>
        <p:spPr>
          <a:xfrm>
            <a:off x="3249613" y="5229225"/>
            <a:ext cx="274637" cy="166688"/>
          </a:xfrm>
          <a:prstGeom prst="wave">
            <a:avLst>
              <a:gd name="adj1" fmla="val 13005"/>
              <a:gd name="adj2" fmla="val 0"/>
            </a:avLst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endParaRPr lang="zh-CN" alt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8450" name="Text Box 27"/>
          <p:cNvSpPr txBox="1"/>
          <p:nvPr/>
        </p:nvSpPr>
        <p:spPr>
          <a:xfrm>
            <a:off x="7989888" y="5014913"/>
            <a:ext cx="11144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b="1" dirty="0">
                <a:solidFill>
                  <a:srgbClr val="3333CC"/>
                </a:solidFill>
                <a:latin typeface="Arial" panose="020B0604020202020204" pitchFamily="34" charset="0"/>
              </a:rPr>
              <a:t>Delphi</a:t>
            </a:r>
            <a:endParaRPr lang="en-US" altLang="zh-CN" b="1" dirty="0">
              <a:solidFill>
                <a:srgbClr val="3333CC"/>
              </a:solidFill>
              <a:latin typeface="Arial" panose="020B0604020202020204" pitchFamily="34" charset="0"/>
            </a:endParaRPr>
          </a:p>
        </p:txBody>
      </p:sp>
      <p:sp>
        <p:nvSpPr>
          <p:cNvPr id="18451" name="AutoShape 28"/>
          <p:cNvSpPr/>
          <p:nvPr/>
        </p:nvSpPr>
        <p:spPr>
          <a:xfrm>
            <a:off x="7799388" y="5110163"/>
            <a:ext cx="274637" cy="166687"/>
          </a:xfrm>
          <a:prstGeom prst="wave">
            <a:avLst>
              <a:gd name="adj1" fmla="val 13005"/>
              <a:gd name="adj2" fmla="val 0"/>
            </a:avLst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endParaRPr lang="zh-CN" alt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8452" name="Text Box 29"/>
          <p:cNvSpPr txBox="1"/>
          <p:nvPr/>
        </p:nvSpPr>
        <p:spPr>
          <a:xfrm>
            <a:off x="5318125" y="3873500"/>
            <a:ext cx="8572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dirty="0">
                <a:solidFill>
                  <a:srgbClr val="3333CC"/>
                </a:solidFill>
                <a:latin typeface="Arial" panose="020B0604020202020204" pitchFamily="34" charset="0"/>
              </a:rPr>
              <a:t>C++</a:t>
            </a:r>
            <a:endParaRPr lang="en-US" altLang="zh-CN" sz="2800" b="1" dirty="0">
              <a:solidFill>
                <a:srgbClr val="3333CC"/>
              </a:solidFill>
              <a:latin typeface="Arial" panose="020B0604020202020204" pitchFamily="34" charset="0"/>
            </a:endParaRPr>
          </a:p>
        </p:txBody>
      </p:sp>
      <p:sp>
        <p:nvSpPr>
          <p:cNvPr id="18453" name="AutoShape 30"/>
          <p:cNvSpPr/>
          <p:nvPr/>
        </p:nvSpPr>
        <p:spPr>
          <a:xfrm>
            <a:off x="5572125" y="4302125"/>
            <a:ext cx="274638" cy="166688"/>
          </a:xfrm>
          <a:prstGeom prst="wave">
            <a:avLst>
              <a:gd name="adj1" fmla="val 13005"/>
              <a:gd name="adj2" fmla="val 0"/>
            </a:avLst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endParaRPr lang="zh-CN" alt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8454" name="Text Box 31"/>
          <p:cNvSpPr txBox="1"/>
          <p:nvPr/>
        </p:nvSpPr>
        <p:spPr>
          <a:xfrm>
            <a:off x="758825" y="3770313"/>
            <a:ext cx="11826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b="1" dirty="0">
                <a:solidFill>
                  <a:srgbClr val="3333CC"/>
                </a:solidFill>
                <a:latin typeface="Arial" panose="020B0604020202020204" pitchFamily="34" charset="0"/>
              </a:rPr>
              <a:t>Simula</a:t>
            </a:r>
            <a:endParaRPr lang="en-US" altLang="zh-CN" b="1" dirty="0">
              <a:solidFill>
                <a:srgbClr val="3333CC"/>
              </a:solidFill>
              <a:latin typeface="Arial" panose="020B0604020202020204" pitchFamily="34" charset="0"/>
            </a:endParaRPr>
          </a:p>
        </p:txBody>
      </p:sp>
      <p:sp>
        <p:nvSpPr>
          <p:cNvPr id="18455" name="AutoShape 32"/>
          <p:cNvSpPr/>
          <p:nvPr/>
        </p:nvSpPr>
        <p:spPr>
          <a:xfrm>
            <a:off x="2097088" y="3422650"/>
            <a:ext cx="274637" cy="166688"/>
          </a:xfrm>
          <a:prstGeom prst="wave">
            <a:avLst>
              <a:gd name="adj1" fmla="val 13005"/>
              <a:gd name="adj2" fmla="val 0"/>
            </a:avLst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endParaRPr lang="zh-CN" alt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8456" name="Text Box 33"/>
          <p:cNvSpPr txBox="1"/>
          <p:nvPr/>
        </p:nvSpPr>
        <p:spPr>
          <a:xfrm>
            <a:off x="7229475" y="3640138"/>
            <a:ext cx="12160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b="1" dirty="0">
                <a:solidFill>
                  <a:srgbClr val="3333CC"/>
                </a:solidFill>
                <a:latin typeface="Arial" panose="020B0604020202020204" pitchFamily="34" charset="0"/>
              </a:rPr>
              <a:t>Python</a:t>
            </a:r>
            <a:endParaRPr lang="en-US" altLang="zh-CN" b="1" dirty="0">
              <a:solidFill>
                <a:srgbClr val="3333CC"/>
              </a:solidFill>
              <a:latin typeface="Arial" panose="020B0604020202020204" pitchFamily="34" charset="0"/>
            </a:endParaRPr>
          </a:p>
        </p:txBody>
      </p:sp>
      <p:sp>
        <p:nvSpPr>
          <p:cNvPr id="18457" name="AutoShape 34"/>
          <p:cNvSpPr/>
          <p:nvPr/>
        </p:nvSpPr>
        <p:spPr>
          <a:xfrm>
            <a:off x="7054850" y="3846513"/>
            <a:ext cx="274638" cy="166687"/>
          </a:xfrm>
          <a:prstGeom prst="wave">
            <a:avLst>
              <a:gd name="adj1" fmla="val 13005"/>
              <a:gd name="adj2" fmla="val 0"/>
            </a:avLst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endParaRPr lang="zh-CN" alt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8458" name="Text Box 35"/>
          <p:cNvSpPr txBox="1"/>
          <p:nvPr/>
        </p:nvSpPr>
        <p:spPr>
          <a:xfrm>
            <a:off x="7235825" y="3136900"/>
            <a:ext cx="8636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b="1" dirty="0">
                <a:solidFill>
                  <a:srgbClr val="3333CC"/>
                </a:solidFill>
                <a:latin typeface="Arial" panose="020B0604020202020204" pitchFamily="34" charset="0"/>
              </a:rPr>
              <a:t>Java</a:t>
            </a:r>
            <a:endParaRPr lang="en-US" altLang="zh-CN" b="1" dirty="0">
              <a:solidFill>
                <a:srgbClr val="3333CC"/>
              </a:solidFill>
              <a:latin typeface="Arial" panose="020B0604020202020204" pitchFamily="34" charset="0"/>
            </a:endParaRPr>
          </a:p>
        </p:txBody>
      </p:sp>
      <p:sp>
        <p:nvSpPr>
          <p:cNvPr id="18459" name="AutoShape 36"/>
          <p:cNvSpPr/>
          <p:nvPr/>
        </p:nvSpPr>
        <p:spPr>
          <a:xfrm>
            <a:off x="7080250" y="3409950"/>
            <a:ext cx="274638" cy="166688"/>
          </a:xfrm>
          <a:prstGeom prst="wave">
            <a:avLst>
              <a:gd name="adj1" fmla="val 13005"/>
              <a:gd name="adj2" fmla="val 0"/>
            </a:avLst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endParaRPr lang="zh-CN" alt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8460" name="AutoShape 37"/>
          <p:cNvSpPr/>
          <p:nvPr/>
        </p:nvSpPr>
        <p:spPr>
          <a:xfrm>
            <a:off x="7813675" y="4010025"/>
            <a:ext cx="274638" cy="166688"/>
          </a:xfrm>
          <a:prstGeom prst="wave">
            <a:avLst>
              <a:gd name="adj1" fmla="val 13005"/>
              <a:gd name="adj2" fmla="val 0"/>
            </a:avLst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endParaRPr lang="zh-CN" alt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8461" name="Text Box 38"/>
          <p:cNvSpPr txBox="1"/>
          <p:nvPr/>
        </p:nvSpPr>
        <p:spPr>
          <a:xfrm>
            <a:off x="7142163" y="4033838"/>
            <a:ext cx="1468437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b="1" dirty="0">
                <a:solidFill>
                  <a:srgbClr val="3333CC"/>
                </a:solidFill>
                <a:latin typeface="Arial" panose="020B0604020202020204" pitchFamily="34" charset="0"/>
              </a:rPr>
              <a:t>JavaScript</a:t>
            </a:r>
            <a:endParaRPr lang="en-US" altLang="zh-CN" sz="2000" b="1" dirty="0">
              <a:solidFill>
                <a:srgbClr val="3333CC"/>
              </a:solidFill>
              <a:latin typeface="Arial" panose="020B0604020202020204" pitchFamily="34" charset="0"/>
            </a:endParaRPr>
          </a:p>
        </p:txBody>
      </p:sp>
      <p:sp>
        <p:nvSpPr>
          <p:cNvPr id="18462" name="AutoShape 39"/>
          <p:cNvSpPr/>
          <p:nvPr/>
        </p:nvSpPr>
        <p:spPr>
          <a:xfrm>
            <a:off x="8743950" y="4092575"/>
            <a:ext cx="274638" cy="166688"/>
          </a:xfrm>
          <a:prstGeom prst="wave">
            <a:avLst>
              <a:gd name="adj1" fmla="val 13005"/>
              <a:gd name="adj2" fmla="val 0"/>
            </a:avLst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endParaRPr lang="zh-CN" alt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8463" name="Text Box 40"/>
          <p:cNvSpPr txBox="1"/>
          <p:nvPr/>
        </p:nvSpPr>
        <p:spPr>
          <a:xfrm>
            <a:off x="8648700" y="3835400"/>
            <a:ext cx="509588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b="1" dirty="0">
                <a:solidFill>
                  <a:srgbClr val="3333CC"/>
                </a:solidFill>
                <a:latin typeface="Arial" panose="020B0604020202020204" pitchFamily="34" charset="0"/>
              </a:rPr>
              <a:t>C#</a:t>
            </a:r>
            <a:endParaRPr lang="en-US" altLang="zh-CN" sz="2000" b="1" dirty="0">
              <a:solidFill>
                <a:srgbClr val="3333CC"/>
              </a:solidFill>
              <a:latin typeface="Arial" panose="020B0604020202020204" pitchFamily="34" charset="0"/>
            </a:endParaRPr>
          </a:p>
        </p:txBody>
      </p:sp>
      <p:sp>
        <p:nvSpPr>
          <p:cNvPr id="18464" name="Text Box 41"/>
          <p:cNvSpPr txBox="1"/>
          <p:nvPr/>
        </p:nvSpPr>
        <p:spPr>
          <a:xfrm>
            <a:off x="7310438" y="5254625"/>
            <a:ext cx="760412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b="1" dirty="0">
                <a:solidFill>
                  <a:srgbClr val="3333CC"/>
                </a:solidFill>
                <a:latin typeface="Arial" panose="020B0604020202020204" pitchFamily="34" charset="0"/>
              </a:rPr>
              <a:t>Perl</a:t>
            </a:r>
            <a:endParaRPr lang="en-US" altLang="zh-CN" b="1" dirty="0">
              <a:solidFill>
                <a:srgbClr val="3333CC"/>
              </a:solidFill>
              <a:latin typeface="Arial" panose="020B0604020202020204" pitchFamily="34" charset="0"/>
            </a:endParaRPr>
          </a:p>
        </p:txBody>
      </p:sp>
      <p:sp>
        <p:nvSpPr>
          <p:cNvPr id="18465" name="AutoShape 42"/>
          <p:cNvSpPr/>
          <p:nvPr/>
        </p:nvSpPr>
        <p:spPr>
          <a:xfrm>
            <a:off x="7077075" y="5407025"/>
            <a:ext cx="274638" cy="166688"/>
          </a:xfrm>
          <a:prstGeom prst="wave">
            <a:avLst>
              <a:gd name="adj1" fmla="val 13005"/>
              <a:gd name="adj2" fmla="val 0"/>
            </a:avLst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endParaRPr lang="zh-CN" alt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8466" name="Line 45"/>
          <p:cNvSpPr/>
          <p:nvPr/>
        </p:nvSpPr>
        <p:spPr>
          <a:xfrm flipV="1">
            <a:off x="1660525" y="3521075"/>
            <a:ext cx="488950" cy="4397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467" name="AutoShape 46"/>
          <p:cNvSpPr/>
          <p:nvPr/>
        </p:nvSpPr>
        <p:spPr>
          <a:xfrm>
            <a:off x="3052763" y="3125788"/>
            <a:ext cx="274637" cy="166687"/>
          </a:xfrm>
          <a:prstGeom prst="wave">
            <a:avLst>
              <a:gd name="adj1" fmla="val 13005"/>
              <a:gd name="adj2" fmla="val 0"/>
            </a:avLst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endParaRPr lang="zh-CN" alt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8468" name="Text Box 47"/>
          <p:cNvSpPr txBox="1"/>
          <p:nvPr/>
        </p:nvSpPr>
        <p:spPr>
          <a:xfrm>
            <a:off x="2867025" y="2863850"/>
            <a:ext cx="1296988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b="1" dirty="0">
                <a:solidFill>
                  <a:srgbClr val="3333CC"/>
                </a:solidFill>
                <a:latin typeface="Arial" panose="020B0604020202020204" pitchFamily="34" charset="0"/>
              </a:rPr>
              <a:t>Smalltalk</a:t>
            </a:r>
            <a:endParaRPr lang="en-US" altLang="zh-CN" sz="2000" b="1" dirty="0">
              <a:solidFill>
                <a:srgbClr val="3333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Text Box 16"/>
          <p:cNvSpPr txBox="1"/>
          <p:nvPr/>
        </p:nvSpPr>
        <p:spPr>
          <a:xfrm>
            <a:off x="163513" y="0"/>
            <a:ext cx="2497137" cy="822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lnSpc>
                <a:spcPct val="12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计算机语言的发展</a:t>
            </a:r>
            <a:endParaRPr lang="zh-CN" altLang="en-US" sz="2000" b="1" dirty="0">
              <a:solidFill>
                <a:srgbClr val="FFFFFF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(3)</a:t>
            </a:r>
            <a:r>
              <a:rPr lang="zh-CN" alt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能否提出新语言</a:t>
            </a:r>
            <a:r>
              <a:rPr lang="en-US" altLang="zh-CN" sz="2000" b="1" dirty="0">
                <a:solidFill>
                  <a:srgbClr val="FFFFFF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? </a:t>
            </a:r>
            <a:endParaRPr lang="en-US" altLang="zh-CN" sz="2000" b="1" dirty="0">
              <a:solidFill>
                <a:srgbClr val="FFFFFF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pic>
        <p:nvPicPr>
          <p:cNvPr id="19459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28675"/>
            <a:ext cx="9144000" cy="6029325"/>
          </a:xfrm>
          <a:prstGeom prst="rect">
            <a:avLst/>
          </a:prstGeom>
          <a:noFill/>
          <a:ln w="952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9460" name="Rectangle 37"/>
          <p:cNvSpPr/>
          <p:nvPr/>
        </p:nvSpPr>
        <p:spPr>
          <a:xfrm>
            <a:off x="0" y="792163"/>
            <a:ext cx="9144000" cy="6065837"/>
          </a:xfrm>
          <a:prstGeom prst="rect">
            <a:avLst/>
          </a:prstGeom>
          <a:solidFill>
            <a:schemeClr val="bg1">
              <a:alpha val="70195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sz="20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9461" name="Text Box 4"/>
          <p:cNvSpPr txBox="1"/>
          <p:nvPr/>
        </p:nvSpPr>
        <p:spPr>
          <a:xfrm>
            <a:off x="190500" y="1646238"/>
            <a:ext cx="19240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dirty="0">
                <a:solidFill>
                  <a:srgbClr val="3333CC"/>
                </a:solidFill>
                <a:latin typeface="Arial" panose="020B0604020202020204" pitchFamily="34" charset="0"/>
              </a:rPr>
              <a:t>FORTRAN</a:t>
            </a:r>
            <a:endParaRPr lang="en-US" altLang="zh-CN" sz="2800" b="1" dirty="0">
              <a:solidFill>
                <a:srgbClr val="3333CC"/>
              </a:solidFill>
              <a:latin typeface="Arial" panose="020B0604020202020204" pitchFamily="34" charset="0"/>
            </a:endParaRPr>
          </a:p>
        </p:txBody>
      </p:sp>
      <p:sp>
        <p:nvSpPr>
          <p:cNvPr id="19462" name="Text Box 5"/>
          <p:cNvSpPr txBox="1"/>
          <p:nvPr/>
        </p:nvSpPr>
        <p:spPr>
          <a:xfrm>
            <a:off x="850900" y="2814638"/>
            <a:ext cx="14287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dirty="0">
                <a:solidFill>
                  <a:srgbClr val="3333CC"/>
                </a:solidFill>
                <a:latin typeface="Arial" panose="020B0604020202020204" pitchFamily="34" charset="0"/>
              </a:rPr>
              <a:t>ALGOL</a:t>
            </a:r>
            <a:endParaRPr lang="en-US" altLang="zh-CN" sz="2800" b="1" dirty="0">
              <a:solidFill>
                <a:srgbClr val="3333CC"/>
              </a:solidFill>
              <a:latin typeface="Arial" panose="020B0604020202020204" pitchFamily="34" charset="0"/>
            </a:endParaRPr>
          </a:p>
        </p:txBody>
      </p:sp>
      <p:sp>
        <p:nvSpPr>
          <p:cNvPr id="19463" name="Text Box 6"/>
          <p:cNvSpPr txBox="1"/>
          <p:nvPr/>
        </p:nvSpPr>
        <p:spPr>
          <a:xfrm>
            <a:off x="2860675" y="4157663"/>
            <a:ext cx="4413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dirty="0">
                <a:solidFill>
                  <a:srgbClr val="3333CC"/>
                </a:solidFill>
                <a:latin typeface="Arial" panose="020B0604020202020204" pitchFamily="34" charset="0"/>
              </a:rPr>
              <a:t>B</a:t>
            </a:r>
            <a:endParaRPr lang="en-US" altLang="zh-CN" sz="2800" b="1" dirty="0">
              <a:solidFill>
                <a:srgbClr val="3333CC"/>
              </a:solidFill>
              <a:latin typeface="Arial" panose="020B0604020202020204" pitchFamily="34" charset="0"/>
            </a:endParaRPr>
          </a:p>
        </p:txBody>
      </p:sp>
      <p:sp>
        <p:nvSpPr>
          <p:cNvPr id="19464" name="Text Box 7"/>
          <p:cNvSpPr txBox="1"/>
          <p:nvPr/>
        </p:nvSpPr>
        <p:spPr>
          <a:xfrm>
            <a:off x="3378200" y="4167188"/>
            <a:ext cx="4413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dirty="0">
                <a:solidFill>
                  <a:srgbClr val="3333CC"/>
                </a:solidFill>
                <a:latin typeface="Arial" panose="020B0604020202020204" pitchFamily="34" charset="0"/>
              </a:rPr>
              <a:t>C</a:t>
            </a:r>
            <a:endParaRPr lang="en-US" altLang="zh-CN" sz="2800" b="1" dirty="0">
              <a:solidFill>
                <a:srgbClr val="3333CC"/>
              </a:solidFill>
              <a:latin typeface="Arial" panose="020B0604020202020204" pitchFamily="34" charset="0"/>
            </a:endParaRPr>
          </a:p>
        </p:txBody>
      </p:sp>
      <p:sp>
        <p:nvSpPr>
          <p:cNvPr id="19465" name="Text Box 8"/>
          <p:cNvSpPr txBox="1"/>
          <p:nvPr/>
        </p:nvSpPr>
        <p:spPr>
          <a:xfrm>
            <a:off x="3128963" y="5291138"/>
            <a:ext cx="123190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b="1" dirty="0">
                <a:solidFill>
                  <a:srgbClr val="3333CC"/>
                </a:solidFill>
                <a:latin typeface="Arial" panose="020B0604020202020204" pitchFamily="34" charset="0"/>
              </a:rPr>
              <a:t>PASCAL</a:t>
            </a:r>
            <a:endParaRPr lang="en-US" altLang="zh-CN" sz="2000" b="1" dirty="0">
              <a:solidFill>
                <a:srgbClr val="3333CC"/>
              </a:solidFill>
              <a:latin typeface="Arial" panose="020B0604020202020204" pitchFamily="34" charset="0"/>
            </a:endParaRPr>
          </a:p>
        </p:txBody>
      </p:sp>
      <p:sp>
        <p:nvSpPr>
          <p:cNvPr id="19466" name="Text Box 9"/>
          <p:cNvSpPr txBox="1"/>
          <p:nvPr/>
        </p:nvSpPr>
        <p:spPr>
          <a:xfrm>
            <a:off x="2290763" y="6307138"/>
            <a:ext cx="1290637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dirty="0">
                <a:solidFill>
                  <a:srgbClr val="3333CC"/>
                </a:solidFill>
                <a:latin typeface="Arial" panose="020B0604020202020204" pitchFamily="34" charset="0"/>
              </a:rPr>
              <a:t>BASIC</a:t>
            </a:r>
            <a:endParaRPr lang="en-US" altLang="zh-CN" sz="2800" b="1" dirty="0">
              <a:solidFill>
                <a:srgbClr val="3333CC"/>
              </a:solidFill>
              <a:latin typeface="Arial" panose="020B0604020202020204" pitchFamily="34" charset="0"/>
            </a:endParaRPr>
          </a:p>
        </p:txBody>
      </p:sp>
      <p:sp>
        <p:nvSpPr>
          <p:cNvPr id="19467" name="AutoShape 10"/>
          <p:cNvSpPr/>
          <p:nvPr/>
        </p:nvSpPr>
        <p:spPr>
          <a:xfrm>
            <a:off x="258763" y="2049463"/>
            <a:ext cx="274637" cy="166687"/>
          </a:xfrm>
          <a:prstGeom prst="wave">
            <a:avLst>
              <a:gd name="adj1" fmla="val 13005"/>
              <a:gd name="adj2" fmla="val 0"/>
            </a:avLst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endParaRPr lang="zh-CN" alt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9468" name="AutoShape 11"/>
          <p:cNvSpPr/>
          <p:nvPr/>
        </p:nvSpPr>
        <p:spPr>
          <a:xfrm>
            <a:off x="998538" y="3271838"/>
            <a:ext cx="274637" cy="166687"/>
          </a:xfrm>
          <a:prstGeom prst="wave">
            <a:avLst>
              <a:gd name="adj1" fmla="val 13005"/>
              <a:gd name="adj2" fmla="val 0"/>
            </a:avLst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endParaRPr lang="zh-CN" alt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9469" name="AutoShape 12"/>
          <p:cNvSpPr/>
          <p:nvPr/>
        </p:nvSpPr>
        <p:spPr>
          <a:xfrm>
            <a:off x="3008313" y="4591050"/>
            <a:ext cx="274637" cy="166688"/>
          </a:xfrm>
          <a:prstGeom prst="wave">
            <a:avLst>
              <a:gd name="adj1" fmla="val 13005"/>
              <a:gd name="adj2" fmla="val 0"/>
            </a:avLst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endParaRPr lang="zh-CN" alt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9470" name="AutoShape 13"/>
          <p:cNvSpPr/>
          <p:nvPr/>
        </p:nvSpPr>
        <p:spPr>
          <a:xfrm>
            <a:off x="3446463" y="4600575"/>
            <a:ext cx="274637" cy="166688"/>
          </a:xfrm>
          <a:prstGeom prst="wave">
            <a:avLst>
              <a:gd name="adj1" fmla="val 13005"/>
              <a:gd name="adj2" fmla="val 0"/>
            </a:avLst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endParaRPr lang="zh-CN" alt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9471" name="AutoShape 14"/>
          <p:cNvSpPr/>
          <p:nvPr/>
        </p:nvSpPr>
        <p:spPr>
          <a:xfrm>
            <a:off x="2106613" y="6372225"/>
            <a:ext cx="274637" cy="166688"/>
          </a:xfrm>
          <a:prstGeom prst="wave">
            <a:avLst>
              <a:gd name="adj1" fmla="val 13005"/>
              <a:gd name="adj2" fmla="val 0"/>
            </a:avLst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endParaRPr lang="zh-CN" alt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9472" name="Text Box 15"/>
          <p:cNvSpPr txBox="1"/>
          <p:nvPr/>
        </p:nvSpPr>
        <p:spPr>
          <a:xfrm>
            <a:off x="6370638" y="6405563"/>
            <a:ext cx="21986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b="1" dirty="0">
                <a:solidFill>
                  <a:srgbClr val="3333CC"/>
                </a:solidFill>
                <a:latin typeface="Arial" panose="020B0604020202020204" pitchFamily="34" charset="0"/>
              </a:rPr>
              <a:t>Visual  BASIC</a:t>
            </a:r>
            <a:endParaRPr lang="en-US" altLang="zh-CN" b="1" dirty="0">
              <a:solidFill>
                <a:srgbClr val="3333CC"/>
              </a:solidFill>
              <a:latin typeface="Arial" panose="020B0604020202020204" pitchFamily="34" charset="0"/>
            </a:endParaRPr>
          </a:p>
        </p:txBody>
      </p:sp>
      <p:sp>
        <p:nvSpPr>
          <p:cNvPr id="19473" name="AutoShape 16"/>
          <p:cNvSpPr/>
          <p:nvPr/>
        </p:nvSpPr>
        <p:spPr>
          <a:xfrm>
            <a:off x="7107238" y="6372225"/>
            <a:ext cx="274637" cy="166688"/>
          </a:xfrm>
          <a:prstGeom prst="wave">
            <a:avLst>
              <a:gd name="adj1" fmla="val 13005"/>
              <a:gd name="adj2" fmla="val 0"/>
            </a:avLst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endParaRPr lang="zh-CN" alt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9474" name="AutoShape 17"/>
          <p:cNvSpPr/>
          <p:nvPr/>
        </p:nvSpPr>
        <p:spPr>
          <a:xfrm>
            <a:off x="3249613" y="5229225"/>
            <a:ext cx="274637" cy="166688"/>
          </a:xfrm>
          <a:prstGeom prst="wave">
            <a:avLst>
              <a:gd name="adj1" fmla="val 13005"/>
              <a:gd name="adj2" fmla="val 0"/>
            </a:avLst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endParaRPr lang="zh-CN" alt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9475" name="Text Box 18"/>
          <p:cNvSpPr txBox="1"/>
          <p:nvPr/>
        </p:nvSpPr>
        <p:spPr>
          <a:xfrm>
            <a:off x="7989888" y="5014913"/>
            <a:ext cx="11144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b="1" dirty="0">
                <a:solidFill>
                  <a:srgbClr val="3333CC"/>
                </a:solidFill>
                <a:latin typeface="Arial" panose="020B0604020202020204" pitchFamily="34" charset="0"/>
              </a:rPr>
              <a:t>Delphi</a:t>
            </a:r>
            <a:endParaRPr lang="en-US" altLang="zh-CN" b="1" dirty="0">
              <a:solidFill>
                <a:srgbClr val="3333CC"/>
              </a:solidFill>
              <a:latin typeface="Arial" panose="020B0604020202020204" pitchFamily="34" charset="0"/>
            </a:endParaRPr>
          </a:p>
        </p:txBody>
      </p:sp>
      <p:sp>
        <p:nvSpPr>
          <p:cNvPr id="19476" name="AutoShape 19"/>
          <p:cNvSpPr/>
          <p:nvPr/>
        </p:nvSpPr>
        <p:spPr>
          <a:xfrm>
            <a:off x="7799388" y="5110163"/>
            <a:ext cx="274637" cy="166687"/>
          </a:xfrm>
          <a:prstGeom prst="wave">
            <a:avLst>
              <a:gd name="adj1" fmla="val 13005"/>
              <a:gd name="adj2" fmla="val 0"/>
            </a:avLst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endParaRPr lang="zh-CN" alt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9477" name="Text Box 20"/>
          <p:cNvSpPr txBox="1"/>
          <p:nvPr/>
        </p:nvSpPr>
        <p:spPr>
          <a:xfrm>
            <a:off x="5318125" y="3873500"/>
            <a:ext cx="8572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dirty="0">
                <a:solidFill>
                  <a:srgbClr val="3333CC"/>
                </a:solidFill>
                <a:latin typeface="Arial" panose="020B0604020202020204" pitchFamily="34" charset="0"/>
              </a:rPr>
              <a:t>C++</a:t>
            </a:r>
            <a:endParaRPr lang="en-US" altLang="zh-CN" sz="2800" b="1" dirty="0">
              <a:solidFill>
                <a:srgbClr val="3333CC"/>
              </a:solidFill>
              <a:latin typeface="Arial" panose="020B0604020202020204" pitchFamily="34" charset="0"/>
            </a:endParaRPr>
          </a:p>
        </p:txBody>
      </p:sp>
      <p:sp>
        <p:nvSpPr>
          <p:cNvPr id="19478" name="AutoShape 21"/>
          <p:cNvSpPr/>
          <p:nvPr/>
        </p:nvSpPr>
        <p:spPr>
          <a:xfrm>
            <a:off x="5572125" y="4302125"/>
            <a:ext cx="274638" cy="166688"/>
          </a:xfrm>
          <a:prstGeom prst="wave">
            <a:avLst>
              <a:gd name="adj1" fmla="val 13005"/>
              <a:gd name="adj2" fmla="val 0"/>
            </a:avLst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endParaRPr lang="zh-CN" alt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9479" name="Text Box 22"/>
          <p:cNvSpPr txBox="1"/>
          <p:nvPr/>
        </p:nvSpPr>
        <p:spPr>
          <a:xfrm>
            <a:off x="758825" y="3770313"/>
            <a:ext cx="11826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b="1" dirty="0">
                <a:solidFill>
                  <a:srgbClr val="3333CC"/>
                </a:solidFill>
                <a:latin typeface="Arial" panose="020B0604020202020204" pitchFamily="34" charset="0"/>
              </a:rPr>
              <a:t>Simula</a:t>
            </a:r>
            <a:endParaRPr lang="en-US" altLang="zh-CN" b="1" dirty="0">
              <a:solidFill>
                <a:srgbClr val="3333CC"/>
              </a:solidFill>
              <a:latin typeface="Arial" panose="020B0604020202020204" pitchFamily="34" charset="0"/>
            </a:endParaRPr>
          </a:p>
        </p:txBody>
      </p:sp>
      <p:sp>
        <p:nvSpPr>
          <p:cNvPr id="19480" name="AutoShape 23"/>
          <p:cNvSpPr/>
          <p:nvPr/>
        </p:nvSpPr>
        <p:spPr>
          <a:xfrm>
            <a:off x="2097088" y="3422650"/>
            <a:ext cx="274637" cy="166688"/>
          </a:xfrm>
          <a:prstGeom prst="wave">
            <a:avLst>
              <a:gd name="adj1" fmla="val 13005"/>
              <a:gd name="adj2" fmla="val 0"/>
            </a:avLst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endParaRPr lang="zh-CN" alt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9481" name="Text Box 24"/>
          <p:cNvSpPr txBox="1"/>
          <p:nvPr/>
        </p:nvSpPr>
        <p:spPr>
          <a:xfrm>
            <a:off x="7229475" y="3640138"/>
            <a:ext cx="12160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b="1" dirty="0">
                <a:solidFill>
                  <a:srgbClr val="3333CC"/>
                </a:solidFill>
                <a:latin typeface="Arial" panose="020B0604020202020204" pitchFamily="34" charset="0"/>
              </a:rPr>
              <a:t>Python</a:t>
            </a:r>
            <a:endParaRPr lang="en-US" altLang="zh-CN" b="1" dirty="0">
              <a:solidFill>
                <a:srgbClr val="3333CC"/>
              </a:solidFill>
              <a:latin typeface="Arial" panose="020B0604020202020204" pitchFamily="34" charset="0"/>
            </a:endParaRPr>
          </a:p>
        </p:txBody>
      </p:sp>
      <p:sp>
        <p:nvSpPr>
          <p:cNvPr id="19482" name="AutoShape 25"/>
          <p:cNvSpPr/>
          <p:nvPr/>
        </p:nvSpPr>
        <p:spPr>
          <a:xfrm>
            <a:off x="7054850" y="3846513"/>
            <a:ext cx="274638" cy="166687"/>
          </a:xfrm>
          <a:prstGeom prst="wave">
            <a:avLst>
              <a:gd name="adj1" fmla="val 13005"/>
              <a:gd name="adj2" fmla="val 0"/>
            </a:avLst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endParaRPr lang="zh-CN" alt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9483" name="Text Box 26"/>
          <p:cNvSpPr txBox="1"/>
          <p:nvPr/>
        </p:nvSpPr>
        <p:spPr>
          <a:xfrm>
            <a:off x="7235825" y="3136900"/>
            <a:ext cx="8636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b="1" dirty="0">
                <a:solidFill>
                  <a:srgbClr val="3333CC"/>
                </a:solidFill>
                <a:latin typeface="Arial" panose="020B0604020202020204" pitchFamily="34" charset="0"/>
              </a:rPr>
              <a:t>Java</a:t>
            </a:r>
            <a:endParaRPr lang="en-US" altLang="zh-CN" b="1" dirty="0">
              <a:solidFill>
                <a:srgbClr val="3333CC"/>
              </a:solidFill>
              <a:latin typeface="Arial" panose="020B0604020202020204" pitchFamily="34" charset="0"/>
            </a:endParaRPr>
          </a:p>
        </p:txBody>
      </p:sp>
      <p:sp>
        <p:nvSpPr>
          <p:cNvPr id="19484" name="AutoShape 27"/>
          <p:cNvSpPr/>
          <p:nvPr/>
        </p:nvSpPr>
        <p:spPr>
          <a:xfrm>
            <a:off x="7080250" y="3409950"/>
            <a:ext cx="274638" cy="166688"/>
          </a:xfrm>
          <a:prstGeom prst="wave">
            <a:avLst>
              <a:gd name="adj1" fmla="val 13005"/>
              <a:gd name="adj2" fmla="val 0"/>
            </a:avLst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endParaRPr lang="zh-CN" alt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9485" name="AutoShape 28"/>
          <p:cNvSpPr/>
          <p:nvPr/>
        </p:nvSpPr>
        <p:spPr>
          <a:xfrm>
            <a:off x="7813675" y="4010025"/>
            <a:ext cx="274638" cy="166688"/>
          </a:xfrm>
          <a:prstGeom prst="wave">
            <a:avLst>
              <a:gd name="adj1" fmla="val 13005"/>
              <a:gd name="adj2" fmla="val 0"/>
            </a:avLst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endParaRPr lang="zh-CN" alt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9486" name="Text Box 29"/>
          <p:cNvSpPr txBox="1"/>
          <p:nvPr/>
        </p:nvSpPr>
        <p:spPr>
          <a:xfrm>
            <a:off x="7142163" y="4033838"/>
            <a:ext cx="1468437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b="1" dirty="0">
                <a:solidFill>
                  <a:srgbClr val="3333CC"/>
                </a:solidFill>
                <a:latin typeface="Arial" panose="020B0604020202020204" pitchFamily="34" charset="0"/>
              </a:rPr>
              <a:t>JavaScript</a:t>
            </a:r>
            <a:endParaRPr lang="en-US" altLang="zh-CN" sz="2000" b="1" dirty="0">
              <a:solidFill>
                <a:srgbClr val="3333CC"/>
              </a:solidFill>
              <a:latin typeface="Arial" panose="020B0604020202020204" pitchFamily="34" charset="0"/>
            </a:endParaRPr>
          </a:p>
        </p:txBody>
      </p:sp>
      <p:sp>
        <p:nvSpPr>
          <p:cNvPr id="19487" name="AutoShape 30"/>
          <p:cNvSpPr/>
          <p:nvPr/>
        </p:nvSpPr>
        <p:spPr>
          <a:xfrm>
            <a:off x="8743950" y="4092575"/>
            <a:ext cx="274638" cy="166688"/>
          </a:xfrm>
          <a:prstGeom prst="wave">
            <a:avLst>
              <a:gd name="adj1" fmla="val 13005"/>
              <a:gd name="adj2" fmla="val 0"/>
            </a:avLst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endParaRPr lang="zh-CN" alt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9488" name="Text Box 31"/>
          <p:cNvSpPr txBox="1"/>
          <p:nvPr/>
        </p:nvSpPr>
        <p:spPr>
          <a:xfrm>
            <a:off x="8648700" y="3835400"/>
            <a:ext cx="509588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b="1" dirty="0">
                <a:solidFill>
                  <a:srgbClr val="3333CC"/>
                </a:solidFill>
                <a:latin typeface="Arial" panose="020B0604020202020204" pitchFamily="34" charset="0"/>
              </a:rPr>
              <a:t>C#</a:t>
            </a:r>
            <a:endParaRPr lang="en-US" altLang="zh-CN" sz="2000" b="1" dirty="0">
              <a:solidFill>
                <a:srgbClr val="3333CC"/>
              </a:solidFill>
              <a:latin typeface="Arial" panose="020B0604020202020204" pitchFamily="34" charset="0"/>
            </a:endParaRPr>
          </a:p>
        </p:txBody>
      </p:sp>
      <p:sp>
        <p:nvSpPr>
          <p:cNvPr id="19489" name="Text Box 32"/>
          <p:cNvSpPr txBox="1"/>
          <p:nvPr/>
        </p:nvSpPr>
        <p:spPr>
          <a:xfrm>
            <a:off x="7310438" y="5254625"/>
            <a:ext cx="760412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b="1" dirty="0">
                <a:solidFill>
                  <a:srgbClr val="3333CC"/>
                </a:solidFill>
                <a:latin typeface="Arial" panose="020B0604020202020204" pitchFamily="34" charset="0"/>
              </a:rPr>
              <a:t>Perl</a:t>
            </a:r>
            <a:endParaRPr lang="en-US" altLang="zh-CN" b="1" dirty="0">
              <a:solidFill>
                <a:srgbClr val="3333CC"/>
              </a:solidFill>
              <a:latin typeface="Arial" panose="020B0604020202020204" pitchFamily="34" charset="0"/>
            </a:endParaRPr>
          </a:p>
        </p:txBody>
      </p:sp>
      <p:sp>
        <p:nvSpPr>
          <p:cNvPr id="19490" name="AutoShape 33"/>
          <p:cNvSpPr/>
          <p:nvPr/>
        </p:nvSpPr>
        <p:spPr>
          <a:xfrm>
            <a:off x="7077075" y="5407025"/>
            <a:ext cx="274638" cy="166688"/>
          </a:xfrm>
          <a:prstGeom prst="wave">
            <a:avLst>
              <a:gd name="adj1" fmla="val 13005"/>
              <a:gd name="adj2" fmla="val 0"/>
            </a:avLst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endParaRPr lang="zh-CN" alt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9491" name="Line 34"/>
          <p:cNvSpPr/>
          <p:nvPr/>
        </p:nvSpPr>
        <p:spPr>
          <a:xfrm flipV="1">
            <a:off x="1660525" y="3521075"/>
            <a:ext cx="488950" cy="4397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492" name="AutoShape 35"/>
          <p:cNvSpPr/>
          <p:nvPr/>
        </p:nvSpPr>
        <p:spPr>
          <a:xfrm>
            <a:off x="3052763" y="3125788"/>
            <a:ext cx="274637" cy="166687"/>
          </a:xfrm>
          <a:prstGeom prst="wave">
            <a:avLst>
              <a:gd name="adj1" fmla="val 13005"/>
              <a:gd name="adj2" fmla="val 0"/>
            </a:avLst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endParaRPr lang="zh-CN" altLang="en-US" sz="20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9493" name="Text Box 36"/>
          <p:cNvSpPr txBox="1"/>
          <p:nvPr/>
        </p:nvSpPr>
        <p:spPr>
          <a:xfrm>
            <a:off x="2867025" y="2863850"/>
            <a:ext cx="1296988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b="1" dirty="0">
                <a:solidFill>
                  <a:srgbClr val="3333CC"/>
                </a:solidFill>
                <a:latin typeface="Arial" panose="020B0604020202020204" pitchFamily="34" charset="0"/>
              </a:rPr>
              <a:t>Smalltalk</a:t>
            </a:r>
            <a:endParaRPr lang="en-US" altLang="zh-CN" sz="2000" b="1" dirty="0">
              <a:solidFill>
                <a:srgbClr val="3333CC"/>
              </a:solidFill>
              <a:latin typeface="Arial" panose="020B0604020202020204" pitchFamily="34" charset="0"/>
            </a:endParaRPr>
          </a:p>
        </p:txBody>
      </p:sp>
      <p:sp>
        <p:nvSpPr>
          <p:cNvPr id="19494" name="Freeform 38"/>
          <p:cNvSpPr/>
          <p:nvPr/>
        </p:nvSpPr>
        <p:spPr>
          <a:xfrm>
            <a:off x="473075" y="2103438"/>
            <a:ext cx="609600" cy="1189037"/>
          </a:xfrm>
          <a:custGeom>
            <a:avLst/>
            <a:gdLst>
              <a:gd name="txL" fmla="*/ 0 w 384"/>
              <a:gd name="txT" fmla="*/ 0 h 749"/>
              <a:gd name="txR" fmla="*/ 384 w 384"/>
              <a:gd name="txB" fmla="*/ 749 h 749"/>
            </a:gdLst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</a:cxnLst>
            <a:rect l="txL" t="txT" r="txR" b="txB"/>
            <a:pathLst>
              <a:path w="384" h="749">
                <a:moveTo>
                  <a:pt x="0" y="0"/>
                </a:moveTo>
                <a:lnTo>
                  <a:pt x="124" y="0"/>
                </a:lnTo>
                <a:lnTo>
                  <a:pt x="384" y="749"/>
                </a:lnTo>
              </a:path>
            </a:pathLst>
          </a:custGeom>
          <a:noFill/>
          <a:ln w="38100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9495" name="Freeform 39"/>
          <p:cNvSpPr/>
          <p:nvPr/>
        </p:nvSpPr>
        <p:spPr>
          <a:xfrm>
            <a:off x="1265238" y="3352800"/>
            <a:ext cx="2209800" cy="1295400"/>
          </a:xfrm>
          <a:custGeom>
            <a:avLst/>
            <a:gdLst>
              <a:gd name="txL" fmla="*/ 0 w 1392"/>
              <a:gd name="txT" fmla="*/ 0 h 816"/>
              <a:gd name="txR" fmla="*/ 1392 w 1392"/>
              <a:gd name="txB" fmla="*/ 816 h 816"/>
            </a:gdLst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392" h="816">
                <a:moveTo>
                  <a:pt x="0" y="0"/>
                </a:moveTo>
                <a:lnTo>
                  <a:pt x="691" y="0"/>
                </a:lnTo>
                <a:lnTo>
                  <a:pt x="960" y="806"/>
                </a:lnTo>
                <a:lnTo>
                  <a:pt x="1392" y="816"/>
                </a:lnTo>
              </a:path>
            </a:pathLst>
          </a:custGeom>
          <a:noFill/>
          <a:ln w="38100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9496" name="Freeform 40"/>
          <p:cNvSpPr/>
          <p:nvPr/>
        </p:nvSpPr>
        <p:spPr>
          <a:xfrm>
            <a:off x="2378075" y="3506788"/>
            <a:ext cx="3184525" cy="866775"/>
          </a:xfrm>
          <a:custGeom>
            <a:avLst/>
            <a:gdLst>
              <a:gd name="txL" fmla="*/ 0 w 2006"/>
              <a:gd name="txT" fmla="*/ 0 h 566"/>
              <a:gd name="txR" fmla="*/ 2006 w 2006"/>
              <a:gd name="txB" fmla="*/ 566 h 566"/>
            </a:gdLst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006" h="566">
                <a:moveTo>
                  <a:pt x="0" y="0"/>
                </a:moveTo>
                <a:lnTo>
                  <a:pt x="1584" y="0"/>
                </a:lnTo>
                <a:lnTo>
                  <a:pt x="1776" y="566"/>
                </a:lnTo>
                <a:lnTo>
                  <a:pt x="2006" y="566"/>
                </a:lnTo>
              </a:path>
            </a:pathLst>
          </a:custGeom>
          <a:noFill/>
          <a:ln w="38100" cap="flat" cmpd="sng">
            <a:solidFill>
              <a:schemeClr val="accent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9497" name="Freeform 41"/>
          <p:cNvSpPr/>
          <p:nvPr/>
        </p:nvSpPr>
        <p:spPr>
          <a:xfrm>
            <a:off x="3733800" y="4389438"/>
            <a:ext cx="1447800" cy="274637"/>
          </a:xfrm>
          <a:custGeom>
            <a:avLst/>
            <a:gdLst>
              <a:gd name="txL" fmla="*/ 0 w 912"/>
              <a:gd name="txT" fmla="*/ 0 h 173"/>
              <a:gd name="txR" fmla="*/ 912 w 912"/>
              <a:gd name="txB" fmla="*/ 173 h 173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rect l="txL" t="txT" r="txR" b="txB"/>
            <a:pathLst>
              <a:path w="912" h="173">
                <a:moveTo>
                  <a:pt x="0" y="173"/>
                </a:moveTo>
                <a:lnTo>
                  <a:pt x="826" y="163"/>
                </a:lnTo>
                <a:lnTo>
                  <a:pt x="912" y="0"/>
                </a:lnTo>
              </a:path>
            </a:pathLst>
          </a:custGeom>
          <a:noFill/>
          <a:ln w="38100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9498" name="Freeform 42"/>
          <p:cNvSpPr/>
          <p:nvPr/>
        </p:nvSpPr>
        <p:spPr>
          <a:xfrm>
            <a:off x="3322638" y="3200400"/>
            <a:ext cx="3794125" cy="258763"/>
          </a:xfrm>
          <a:custGeom>
            <a:avLst/>
            <a:gdLst>
              <a:gd name="txL" fmla="*/ 0 w 2390"/>
              <a:gd name="txT" fmla="*/ 0 h 163"/>
              <a:gd name="txR" fmla="*/ 2390 w 2390"/>
              <a:gd name="txB" fmla="*/ 163 h 163"/>
            </a:gdLst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390" h="163">
                <a:moveTo>
                  <a:pt x="0" y="0"/>
                </a:moveTo>
                <a:lnTo>
                  <a:pt x="2160" y="10"/>
                </a:lnTo>
                <a:lnTo>
                  <a:pt x="2390" y="163"/>
                </a:lnTo>
              </a:path>
            </a:pathLst>
          </a:custGeom>
          <a:noFill/>
          <a:ln w="38100" cap="flat" cmpd="sng">
            <a:solidFill>
              <a:schemeClr val="accent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9499" name="Freeform 43"/>
          <p:cNvSpPr/>
          <p:nvPr/>
        </p:nvSpPr>
        <p:spPr>
          <a:xfrm>
            <a:off x="5867400" y="3535363"/>
            <a:ext cx="1235075" cy="838200"/>
          </a:xfrm>
          <a:custGeom>
            <a:avLst/>
            <a:gdLst>
              <a:gd name="txL" fmla="*/ 0 w 778"/>
              <a:gd name="txT" fmla="*/ 0 h 528"/>
              <a:gd name="txR" fmla="*/ 778 w 778"/>
              <a:gd name="txB" fmla="*/ 528 h 528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rect l="txL" t="txT" r="txR" b="txB"/>
            <a:pathLst>
              <a:path w="778" h="528">
                <a:moveTo>
                  <a:pt x="0" y="528"/>
                </a:moveTo>
                <a:lnTo>
                  <a:pt x="374" y="528"/>
                </a:lnTo>
                <a:lnTo>
                  <a:pt x="778" y="0"/>
                </a:lnTo>
              </a:path>
            </a:pathLst>
          </a:custGeom>
          <a:noFill/>
          <a:ln w="28575" cap="flat" cmpd="sng">
            <a:solidFill>
              <a:schemeClr val="accent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9500" name="Freeform 44"/>
          <p:cNvSpPr/>
          <p:nvPr/>
        </p:nvSpPr>
        <p:spPr>
          <a:xfrm>
            <a:off x="5075238" y="3978275"/>
            <a:ext cx="2073275" cy="684213"/>
          </a:xfrm>
          <a:custGeom>
            <a:avLst/>
            <a:gdLst>
              <a:gd name="txL" fmla="*/ 0 w 1325"/>
              <a:gd name="txT" fmla="*/ 0 h 441"/>
              <a:gd name="txR" fmla="*/ 1325 w 1325"/>
              <a:gd name="txB" fmla="*/ 441 h 441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rect l="txL" t="txT" r="txR" b="txB"/>
            <a:pathLst>
              <a:path w="1325" h="441">
                <a:moveTo>
                  <a:pt x="0" y="441"/>
                </a:moveTo>
                <a:lnTo>
                  <a:pt x="1200" y="441"/>
                </a:lnTo>
                <a:lnTo>
                  <a:pt x="1325" y="0"/>
                </a:lnTo>
              </a:path>
            </a:pathLst>
          </a:custGeom>
          <a:noFill/>
          <a:ln w="38100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9501" name="Freeform 45"/>
          <p:cNvSpPr/>
          <p:nvPr/>
        </p:nvSpPr>
        <p:spPr>
          <a:xfrm>
            <a:off x="7315200" y="3475038"/>
            <a:ext cx="1447800" cy="579437"/>
          </a:xfrm>
          <a:custGeom>
            <a:avLst/>
            <a:gdLst>
              <a:gd name="txL" fmla="*/ 0 w 912"/>
              <a:gd name="txT" fmla="*/ 0 h 365"/>
              <a:gd name="txR" fmla="*/ 912 w 912"/>
              <a:gd name="txB" fmla="*/ 365 h 365"/>
            </a:gdLst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</a:cxnLst>
            <a:rect l="txL" t="txT" r="txR" b="txB"/>
            <a:pathLst>
              <a:path w="912" h="365">
                <a:moveTo>
                  <a:pt x="0" y="0"/>
                </a:moveTo>
                <a:lnTo>
                  <a:pt x="787" y="0"/>
                </a:lnTo>
                <a:lnTo>
                  <a:pt x="912" y="365"/>
                </a:lnTo>
              </a:path>
            </a:pathLst>
          </a:custGeom>
          <a:noFill/>
          <a:ln w="38100" cap="flat" cmpd="sng">
            <a:solidFill>
              <a:schemeClr val="accent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9502" name="Freeform 46"/>
          <p:cNvSpPr/>
          <p:nvPr/>
        </p:nvSpPr>
        <p:spPr>
          <a:xfrm>
            <a:off x="6477000" y="4208463"/>
            <a:ext cx="2346325" cy="165100"/>
          </a:xfrm>
          <a:custGeom>
            <a:avLst/>
            <a:gdLst>
              <a:gd name="txL" fmla="*/ 0 w 1478"/>
              <a:gd name="txT" fmla="*/ 0 h 125"/>
              <a:gd name="txR" fmla="*/ 1478 w 1478"/>
              <a:gd name="txB" fmla="*/ 125 h 125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rect l="txL" t="txT" r="txR" b="txB"/>
            <a:pathLst>
              <a:path w="1478" h="125">
                <a:moveTo>
                  <a:pt x="0" y="125"/>
                </a:moveTo>
                <a:lnTo>
                  <a:pt x="1363" y="125"/>
                </a:lnTo>
                <a:lnTo>
                  <a:pt x="1478" y="0"/>
                </a:lnTo>
              </a:path>
            </a:pathLst>
          </a:custGeom>
          <a:noFill/>
          <a:ln w="38100" cap="flat" cmpd="sng">
            <a:solidFill>
              <a:schemeClr val="accent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0482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endParaRPr lang="zh-CN" altLang="en-US" dirty="0"/>
          </a:p>
        </p:txBody>
      </p:sp>
      <p:sp>
        <p:nvSpPr>
          <p:cNvPr id="20483" name="内容占位符 2"/>
          <p:cNvSpPr>
            <a:spLocks noGrp="1"/>
          </p:cNvSpPr>
          <p:nvPr>
            <p:ph idx="1"/>
          </p:nvPr>
        </p:nvSpPr>
        <p:spPr>
          <a:xfrm>
            <a:off x="357188" y="1341438"/>
            <a:ext cx="8535987" cy="4754562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如：一种用来解决科学计算的语言，叫</a:t>
            </a:r>
            <a:r>
              <a:rPr lang="en-US" altLang="zh-CN" dirty="0">
                <a:solidFill>
                  <a:srgbClr val="FF0000"/>
                </a:solidFill>
              </a:rPr>
              <a:t>Fortran</a:t>
            </a:r>
            <a:r>
              <a:rPr lang="zh-CN" altLang="en-US" dirty="0"/>
              <a:t>。它在八十年代非常普遍，几乎每一个编程的程序员都知道。这个语言也在不断演进，但今天的年轻人很少用。相比起来，像中文里的甲骨文。只不过不是三千年的演变，是三十年不到的变化。</a:t>
            </a:r>
            <a:br>
              <a:rPr lang="zh-CN" altLang="en-US" dirty="0"/>
            </a:br>
            <a:endParaRPr lang="zh-CN" altLang="en-US" dirty="0"/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792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14388" y="0"/>
            <a:ext cx="8329613" cy="982663"/>
          </a:xfrm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为什么要学习（进行）程序设计？</a:t>
            </a: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79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8338" y="857250"/>
            <a:ext cx="8475663" cy="5214938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计算机应用遍及各行各业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计算机用户的发展：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专家 、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Monotype Sorts" pitchFamily="2" charset="2"/>
              </a:rPr>
              <a:t>专业人员、普通用户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  <a:sym typeface="Monotype Sorts" pitchFamily="2" charset="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使用计算机解决本专业的问题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–"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80%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以上的应用软件是非计算机专业的人编写的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Monotype Sorts" pitchFamily="2" charset="2"/>
              </a:rPr>
              <a:t>程序设计可以让计算机做你想做的事，即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解决问题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如何解决问题？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执行人所编写的程序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人必须使用程序设计语言编写程序，告诉计算机如何为你解决问题。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9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9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67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79267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79267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67">
                                            <p:txEl>
                                              <p:charRg st="1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79267">
                                            <p:txEl>
                                              <p:charRg st="1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79267">
                                            <p:txEl>
                                              <p:charRg st="1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67">
                                            <p:txEl>
                                              <p:charRg st="22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79267">
                                            <p:txEl>
                                              <p:charRg st="22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79267">
                                            <p:txEl>
                                              <p:charRg st="22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67">
                                            <p:txEl>
                                              <p:charRg st="36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79267">
                                            <p:txEl>
                                              <p:charRg st="36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79267">
                                            <p:txEl>
                                              <p:charRg st="36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67">
                                            <p:txEl>
                                              <p:charRg st="50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79267">
                                            <p:txEl>
                                              <p:charRg st="50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79267">
                                            <p:txEl>
                                              <p:charRg st="50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67">
                                            <p:txEl>
                                              <p:charRg st="73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79267">
                                            <p:txEl>
                                              <p:charRg st="73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79267">
                                            <p:txEl>
                                              <p:charRg st="73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67">
                                            <p:txEl>
                                              <p:charRg st="96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79267">
                                            <p:txEl>
                                              <p:charRg st="96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79267">
                                            <p:txEl>
                                              <p:charRg st="96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67">
                                            <p:txEl>
                                              <p:charRg st="104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79267">
                                            <p:txEl>
                                              <p:charRg st="104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79267">
                                            <p:txEl>
                                              <p:charRg st="104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67">
                                            <p:txEl>
                                              <p:charRg st="114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79267">
                                            <p:txEl>
                                              <p:charRg st="114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79267">
                                            <p:txEl>
                                              <p:charRg st="114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9266" grpId="0"/>
      <p:bldP spid="779267" grpId="0" bldLvl="4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58800" y="981075"/>
            <a:ext cx="8585200" cy="5707063"/>
          </a:xfrm>
        </p:spPr>
        <p:txBody>
          <a:bodyPr vert="horz" wrap="square" lIns="90488" tIns="44450" rIns="90488" bIns="44450" numCol="1" rtlCol="0" anchor="t" anchorCtr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◆ 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8901F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Basic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8901F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语言 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8901F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&amp; Visual Basic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：初学者语言。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对于把编程当做游戏的朋友，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VB 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是最佳的选择。 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_GB2312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4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◆ 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8901F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Pascal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8901F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语言 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8901F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&amp; Delphi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：数据库开发语言。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堪称完美但极严谨。适合有编程基础的朋友。 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4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◆ 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8901F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8901F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语言 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8901F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&amp; Visual C++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：灵活、高效，具有底层和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/>
                <a:ea typeface="+mn-ea"/>
                <a:cs typeface="+mn-cs"/>
              </a:rPr>
              <a:t>Windows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/>
                <a:ea typeface="+mn-ea"/>
                <a:cs typeface="+mn-cs"/>
              </a:rPr>
              <a:t>开发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能力。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_GB2312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4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◆ 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8901F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JSP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8901F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8901F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JAVA Server Page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8901F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8901F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与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8901F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ASP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8901F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8901F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Active Server Page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8901F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：面向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Web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服务器的技术。两者都提供在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HTML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代码中混合某种程序代码 ，但执行方式完全不同。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_GB2312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4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◆ 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8901F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Java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：简单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面象对象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分布式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解释的，结构的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中立的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可移植的，安全且性能优异的多线程动态语言。 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/>
                <a:ea typeface="+mn-ea"/>
                <a:cs typeface="+mn-cs"/>
              </a:rPr>
              <a:t>	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_GB2312"/>
              <a:ea typeface="+mn-ea"/>
              <a:cs typeface="+mn-cs"/>
            </a:endParaRP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74625"/>
            <a:ext cx="9144000" cy="762000"/>
          </a:xfrm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简单了解计算机语言</a:t>
            </a:r>
            <a:endParaRPr kumimoji="0" lang="zh-CN" altLang="en-US" sz="4400" b="0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j-cs"/>
            </a:endParaRPr>
          </a:p>
        </p:txBody>
      </p:sp>
    </p:spTree>
  </p:cSld>
  <p:clrMapOvr>
    <a:masterClrMapping/>
  </p:clrMapOvr>
  <p:transition spd="med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charRg st="33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099">
                                            <p:txEl>
                                              <p:charRg st="33" end="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charRg st="64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099">
                                            <p:txEl>
                                              <p:charRg st="64" end="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charRg st="94" end="1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099">
                                            <p:txEl>
                                              <p:charRg st="94" end="1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charRg st="122" end="1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099">
                                            <p:txEl>
                                              <p:charRg st="122" end="1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charRg st="166" end="2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099">
                                            <p:txEl>
                                              <p:charRg st="166" end="2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charRg st="261" end="3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099">
                                            <p:txEl>
                                              <p:charRg st="261" end="3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505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15888"/>
            <a:ext cx="7772400" cy="1143000"/>
          </a:xfrm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</a:t>
            </a: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和</a:t>
            </a: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C++</a:t>
            </a: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的关系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5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9138" y="1412875"/>
            <a:ext cx="8424863" cy="489585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C++</a:t>
            </a: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当今热门编程语言，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C++</a:t>
            </a: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语言的前身是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语言</a:t>
            </a: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3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unix</a:t>
            </a: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linux</a:t>
            </a: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操作系统的便是用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语言</a:t>
            </a: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开发的。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0" y="115888"/>
            <a:ext cx="7772400" cy="1143000"/>
          </a:xfrm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语言受欢迎程度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638300" y="6161088"/>
            <a:ext cx="5791200" cy="6969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lIns="92075" tIns="46038" rIns="92075" bIns="46038"/>
          <a:lstStyle/>
          <a:p>
            <a:pPr marL="850900" marR="0" lvl="1" indent="-285750" algn="ctr" defTabSz="914400" rtl="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0"/>
              </a:spcAft>
              <a:buClr>
                <a:srgbClr val="FFCC66"/>
              </a:buClr>
              <a:buSzPct val="115000"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宋体" panose="02010600030101010101" pitchFamily="2" charset="-122"/>
                <a:cs typeface="+mn-cs"/>
                <a:hlinkClick r:id="rId1"/>
              </a:rPr>
              <a:t>https://www.tiobe.com/tpci.htm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CC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662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500188"/>
            <a:ext cx="9144000" cy="431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</p:spTree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428625"/>
            <a:ext cx="9144000" cy="564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</p:spTree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9698" name="Group 3"/>
          <p:cNvGrpSpPr/>
          <p:nvPr/>
        </p:nvGrpSpPr>
        <p:grpSpPr>
          <a:xfrm>
            <a:off x="2528888" y="1206500"/>
            <a:ext cx="4419600" cy="1997075"/>
            <a:chOff x="1248" y="816"/>
            <a:chExt cx="2784" cy="1258"/>
          </a:xfrm>
        </p:grpSpPr>
        <p:pic>
          <p:nvPicPr>
            <p:cNvPr id="29715" name="Picture 4" descr="j0257050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2160" y="816"/>
              <a:ext cx="925" cy="87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9716" name="Text Box 5"/>
            <p:cNvSpPr txBox="1"/>
            <p:nvPr>
              <p:custDataLst>
                <p:tags r:id="rId3"/>
              </p:custDataLst>
            </p:nvPr>
          </p:nvSpPr>
          <p:spPr>
            <a:xfrm>
              <a:off x="1248" y="1728"/>
              <a:ext cx="2784" cy="3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lnSpc>
                  <a:spcPct val="125000"/>
                </a:lnSpc>
                <a:spcBef>
                  <a:spcPct val="50000"/>
                </a:spcBef>
                <a:buClr>
                  <a:schemeClr val="bg2"/>
                </a:buClr>
                <a:buFont typeface="Wingdings" panose="05000000000000000000" pitchFamily="2" charset="2"/>
                <a:buNone/>
              </a:pPr>
              <a:r>
                <a:rPr lang="en-US" altLang="zh-CN" sz="2400" b="1" dirty="0">
                  <a:latin typeface="Comic Sans MS" panose="030F0702030302020204" pitchFamily="66" charset="0"/>
                </a:rPr>
                <a:t>Class Room Lectures</a:t>
              </a:r>
              <a:endParaRPr lang="en-US" altLang="zh-CN" sz="2400" b="1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29699" name="Group 6"/>
          <p:cNvGrpSpPr/>
          <p:nvPr/>
        </p:nvGrpSpPr>
        <p:grpSpPr>
          <a:xfrm>
            <a:off x="2532063" y="4876800"/>
            <a:ext cx="4419600" cy="1692275"/>
            <a:chOff x="1296" y="3072"/>
            <a:chExt cx="2784" cy="1066"/>
          </a:xfrm>
        </p:grpSpPr>
        <p:pic>
          <p:nvPicPr>
            <p:cNvPr id="29713" name="Picture 7" descr="j0126087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2112" y="3072"/>
              <a:ext cx="1042" cy="74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9714" name="Text Box 8"/>
            <p:cNvSpPr txBox="1"/>
            <p:nvPr>
              <p:custDataLst>
                <p:tags r:id="rId6"/>
              </p:custDataLst>
            </p:nvPr>
          </p:nvSpPr>
          <p:spPr>
            <a:xfrm>
              <a:off x="1296" y="3792"/>
              <a:ext cx="2784" cy="3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lnSpc>
                  <a:spcPct val="125000"/>
                </a:lnSpc>
                <a:spcBef>
                  <a:spcPct val="50000"/>
                </a:spcBef>
                <a:buClr>
                  <a:schemeClr val="bg2"/>
                </a:buClr>
                <a:buFont typeface="Wingdings" panose="05000000000000000000" pitchFamily="2" charset="2"/>
                <a:buNone/>
              </a:pPr>
              <a:r>
                <a:rPr lang="en-US" altLang="zh-CN" sz="2400" b="1" dirty="0">
                  <a:latin typeface="Comic Sans MS" panose="030F0702030302020204" pitchFamily="66" charset="0"/>
                </a:rPr>
                <a:t>Self Study</a:t>
              </a:r>
              <a:endParaRPr lang="en-US" altLang="zh-CN" sz="2400" b="1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29700" name="AutoShape 9"/>
          <p:cNvSpPr/>
          <p:nvPr>
            <p:custDataLst>
              <p:tags r:id="rId7"/>
            </p:custDataLst>
          </p:nvPr>
        </p:nvSpPr>
        <p:spPr>
          <a:xfrm>
            <a:off x="3863975" y="3325813"/>
            <a:ext cx="1752600" cy="1295400"/>
          </a:xfrm>
          <a:custGeom>
            <a:avLst/>
            <a:gdLst>
              <a:gd name="txL" fmla="*/ 5400 w 21600"/>
              <a:gd name="txT" fmla="*/ 5400 h 21600"/>
              <a:gd name="txR" fmla="*/ 16200 w 21600"/>
              <a:gd name="txB" fmla="*/ 16200 h 21600"/>
            </a:gdLst>
            <a:ahLst/>
            <a:cxnLst>
              <a:cxn ang="0">
                <a:pos x="2147483646" y="2147483646"/>
              </a:cxn>
              <a:cxn ang="5898240">
                <a:pos x="2147483646" y="2147483646"/>
              </a:cxn>
              <a:cxn ang="11796480">
                <a:pos x="0" y="2147483646"/>
              </a:cxn>
              <a:cxn ang="17694720">
                <a:pos x="2147483646" y="0"/>
              </a:cxn>
            </a:cxnLst>
            <a:rect l="txL" t="txT" r="txR" b="txB"/>
            <a:pathLst>
              <a:path w="21600" h="21600">
                <a:moveTo>
                  <a:pt x="5400" y="5400"/>
                </a:moveTo>
                <a:lnTo>
                  <a:pt x="9450" y="5400"/>
                </a:lnTo>
                <a:lnTo>
                  <a:pt x="9450" y="2700"/>
                </a:lnTo>
                <a:lnTo>
                  <a:pt x="8100" y="2700"/>
                </a:lnTo>
                <a:lnTo>
                  <a:pt x="10800" y="0"/>
                </a:lnTo>
                <a:lnTo>
                  <a:pt x="13500" y="2700"/>
                </a:lnTo>
                <a:lnTo>
                  <a:pt x="12150" y="2700"/>
                </a:lnTo>
                <a:lnTo>
                  <a:pt x="12150" y="5400"/>
                </a:lnTo>
                <a:lnTo>
                  <a:pt x="16200" y="5400"/>
                </a:lnTo>
                <a:lnTo>
                  <a:pt x="16200" y="9450"/>
                </a:lnTo>
                <a:lnTo>
                  <a:pt x="18900" y="9450"/>
                </a:lnTo>
                <a:lnTo>
                  <a:pt x="18900" y="8100"/>
                </a:lnTo>
                <a:lnTo>
                  <a:pt x="21600" y="10800"/>
                </a:lnTo>
                <a:lnTo>
                  <a:pt x="18900" y="13500"/>
                </a:lnTo>
                <a:lnTo>
                  <a:pt x="18900" y="12150"/>
                </a:lnTo>
                <a:lnTo>
                  <a:pt x="16200" y="12150"/>
                </a:lnTo>
                <a:lnTo>
                  <a:pt x="16200" y="16200"/>
                </a:lnTo>
                <a:lnTo>
                  <a:pt x="12150" y="16200"/>
                </a:lnTo>
                <a:lnTo>
                  <a:pt x="12150" y="18900"/>
                </a:lnTo>
                <a:lnTo>
                  <a:pt x="13500" y="18900"/>
                </a:lnTo>
                <a:lnTo>
                  <a:pt x="10800" y="21600"/>
                </a:lnTo>
                <a:lnTo>
                  <a:pt x="8100" y="18900"/>
                </a:lnTo>
                <a:lnTo>
                  <a:pt x="9450" y="18900"/>
                </a:lnTo>
                <a:lnTo>
                  <a:pt x="9450" y="16200"/>
                </a:lnTo>
                <a:lnTo>
                  <a:pt x="5400" y="16200"/>
                </a:lnTo>
                <a:lnTo>
                  <a:pt x="5400" y="12150"/>
                </a:lnTo>
                <a:lnTo>
                  <a:pt x="2700" y="12150"/>
                </a:lnTo>
                <a:lnTo>
                  <a:pt x="2700" y="13500"/>
                </a:lnTo>
                <a:lnTo>
                  <a:pt x="0" y="10800"/>
                </a:lnTo>
                <a:lnTo>
                  <a:pt x="2700" y="8100"/>
                </a:lnTo>
                <a:lnTo>
                  <a:pt x="2700" y="9450"/>
                </a:lnTo>
                <a:lnTo>
                  <a:pt x="5400" y="9450"/>
                </a:lnTo>
                <a:lnTo>
                  <a:pt x="5400" y="5400"/>
                </a:lnTo>
                <a:close/>
              </a:path>
            </a:pathLst>
          </a:custGeom>
          <a:noFill/>
          <a:ln w="28575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29701" name="Group 10"/>
          <p:cNvGrpSpPr/>
          <p:nvPr/>
        </p:nvGrpSpPr>
        <p:grpSpPr>
          <a:xfrm>
            <a:off x="0" y="2894013"/>
            <a:ext cx="4419600" cy="2073275"/>
            <a:chOff x="-432" y="1920"/>
            <a:chExt cx="2784" cy="1306"/>
          </a:xfrm>
        </p:grpSpPr>
        <p:pic>
          <p:nvPicPr>
            <p:cNvPr id="29711" name="Picture 11" descr="j0159138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44" y="1920"/>
              <a:ext cx="1143" cy="8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9712" name="Text Box 12"/>
            <p:cNvSpPr txBox="1"/>
            <p:nvPr>
              <p:custDataLst>
                <p:tags r:id="rId10"/>
              </p:custDataLst>
            </p:nvPr>
          </p:nvSpPr>
          <p:spPr>
            <a:xfrm>
              <a:off x="-432" y="2880"/>
              <a:ext cx="2784" cy="3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lnSpc>
                  <a:spcPct val="125000"/>
                </a:lnSpc>
                <a:spcBef>
                  <a:spcPct val="50000"/>
                </a:spcBef>
                <a:buClr>
                  <a:schemeClr val="bg2"/>
                </a:buClr>
                <a:buFont typeface="Wingdings" panose="05000000000000000000" pitchFamily="2" charset="2"/>
                <a:buNone/>
              </a:pPr>
              <a:r>
                <a:rPr lang="en-US" altLang="zh-CN" sz="2400" b="1" dirty="0">
                  <a:latin typeface="Comic Sans MS" panose="030F0702030302020204" pitchFamily="66" charset="0"/>
                </a:rPr>
                <a:t>Computer Laboratory</a:t>
              </a:r>
              <a:endParaRPr lang="en-US" altLang="zh-CN" sz="2400" b="1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29702" name="Group 13"/>
          <p:cNvGrpSpPr/>
          <p:nvPr/>
        </p:nvGrpSpPr>
        <p:grpSpPr>
          <a:xfrm>
            <a:off x="4875213" y="3108325"/>
            <a:ext cx="4419600" cy="1844675"/>
            <a:chOff x="2688" y="1968"/>
            <a:chExt cx="2784" cy="1162"/>
          </a:xfrm>
        </p:grpSpPr>
        <p:pic>
          <p:nvPicPr>
            <p:cNvPr id="29709" name="Picture 14" descr="PE06468_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3792" y="1968"/>
              <a:ext cx="699" cy="76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9710" name="Text Box 15"/>
            <p:cNvSpPr txBox="1"/>
            <p:nvPr>
              <p:custDataLst>
                <p:tags r:id="rId13"/>
              </p:custDataLst>
            </p:nvPr>
          </p:nvSpPr>
          <p:spPr>
            <a:xfrm>
              <a:off x="2688" y="2784"/>
              <a:ext cx="2784" cy="3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lnSpc>
                  <a:spcPct val="125000"/>
                </a:lnSpc>
                <a:spcBef>
                  <a:spcPct val="50000"/>
                </a:spcBef>
                <a:buClr>
                  <a:schemeClr val="bg2"/>
                </a:buClr>
                <a:buFont typeface="Wingdings" panose="05000000000000000000" pitchFamily="2" charset="2"/>
                <a:buNone/>
              </a:pPr>
              <a:r>
                <a:rPr lang="en-US" altLang="zh-CN" sz="2400" b="1" dirty="0">
                  <a:latin typeface="Comic Sans MS" panose="030F0702030302020204" pitchFamily="66" charset="0"/>
                </a:rPr>
                <a:t>Tutorials</a:t>
              </a:r>
              <a:endParaRPr lang="en-US" altLang="zh-CN" sz="2400" b="1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29703" name="Rectangle 16"/>
          <p:cNvSpPr/>
          <p:nvPr>
            <p:custDataLst>
              <p:tags r:id="rId14"/>
            </p:custDataLst>
          </p:nvPr>
        </p:nvSpPr>
        <p:spPr>
          <a:xfrm>
            <a:off x="554038" y="382588"/>
            <a:ext cx="6743700" cy="698500"/>
          </a:xfrm>
          <a:prstGeom prst="rect">
            <a:avLst/>
          </a:prstGeom>
          <a:noFill/>
          <a:ln w="12700">
            <a:noFill/>
          </a:ln>
        </p:spPr>
        <p:txBody>
          <a:bodyPr wrap="none" lIns="90488" tIns="44450" rIns="90488" bIns="44450" anchor="b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Blip>
                <a:blip r:embed="rId15"/>
              </a:buBlip>
            </a:pPr>
            <a:r>
              <a:rPr lang="en-US" altLang="zh-CN" sz="4000" b="1" dirty="0">
                <a:latin typeface="Arial" panose="020B0604020202020204" pitchFamily="34" charset="0"/>
              </a:rPr>
              <a:t> </a:t>
            </a:r>
            <a:r>
              <a:rPr lang="zh-CN" altLang="en-US" sz="4000" b="1" dirty="0">
                <a:latin typeface="Arial" panose="020B0604020202020204" pitchFamily="34" charset="0"/>
                <a:ea typeface="华文行楷" panose="02010800040101010101" pitchFamily="2" charset="-122"/>
              </a:rPr>
              <a:t>授课方式 </a:t>
            </a:r>
            <a:r>
              <a:rPr lang="en-US" altLang="zh-CN" sz="4000" b="1" dirty="0">
                <a:latin typeface="Comic Sans MS" panose="030F0702030302020204" pitchFamily="66" charset="0"/>
              </a:rPr>
              <a:t>Teaching Style </a:t>
            </a:r>
            <a:endParaRPr lang="en-US" altLang="zh-CN" sz="4000" b="1" dirty="0">
              <a:latin typeface="Comic Sans MS" panose="030F0702030302020204" pitchFamily="66" charset="0"/>
            </a:endParaRPr>
          </a:p>
        </p:txBody>
      </p:sp>
      <p:sp>
        <p:nvSpPr>
          <p:cNvPr id="29704" name="Line 17"/>
          <p:cNvSpPr/>
          <p:nvPr>
            <p:custDataLst>
              <p:tags r:id="rId16"/>
            </p:custDataLst>
          </p:nvPr>
        </p:nvSpPr>
        <p:spPr>
          <a:xfrm>
            <a:off x="519113" y="1038225"/>
            <a:ext cx="7850187" cy="0"/>
          </a:xfrm>
          <a:prstGeom prst="line">
            <a:avLst/>
          </a:prstGeom>
          <a:ln w="571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5" name="Text Box 18"/>
          <p:cNvSpPr txBox="1"/>
          <p:nvPr>
            <p:custDataLst>
              <p:tags r:id="rId17"/>
            </p:custDataLst>
          </p:nvPr>
        </p:nvSpPr>
        <p:spPr>
          <a:xfrm>
            <a:off x="3582988" y="2438400"/>
            <a:ext cx="1400175" cy="422275"/>
          </a:xfrm>
          <a:prstGeom prst="rect">
            <a:avLst/>
          </a:prstGeom>
          <a:noFill/>
          <a:ln w="12700">
            <a:noFill/>
          </a:ln>
        </p:spPr>
        <p:txBody>
          <a:bodyPr wrap="none" lIns="90000" tIns="10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课堂讲座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sp>
        <p:nvSpPr>
          <p:cNvPr id="29706" name="Text Box 19"/>
          <p:cNvSpPr txBox="1"/>
          <p:nvPr>
            <p:custDataLst>
              <p:tags r:id="rId18"/>
            </p:custDataLst>
          </p:nvPr>
        </p:nvSpPr>
        <p:spPr>
          <a:xfrm>
            <a:off x="1390650" y="4167188"/>
            <a:ext cx="1400175" cy="422275"/>
          </a:xfrm>
          <a:prstGeom prst="rect">
            <a:avLst/>
          </a:prstGeom>
          <a:noFill/>
          <a:ln w="12700">
            <a:noFill/>
          </a:ln>
        </p:spPr>
        <p:txBody>
          <a:bodyPr wrap="none" lIns="90000" tIns="10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上机实验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sp>
        <p:nvSpPr>
          <p:cNvPr id="29707" name="Text Box 20"/>
          <p:cNvSpPr txBox="1"/>
          <p:nvPr>
            <p:custDataLst>
              <p:tags r:id="rId19"/>
            </p:custDataLst>
          </p:nvPr>
        </p:nvSpPr>
        <p:spPr>
          <a:xfrm>
            <a:off x="5178425" y="5557838"/>
            <a:ext cx="1771650" cy="422275"/>
          </a:xfrm>
          <a:prstGeom prst="rect">
            <a:avLst/>
          </a:prstGeom>
          <a:noFill/>
          <a:ln w="12700">
            <a:noFill/>
          </a:ln>
        </p:spPr>
        <p:txBody>
          <a:bodyPr wrap="none" lIns="90000" tIns="10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MOOC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学习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sp>
        <p:nvSpPr>
          <p:cNvPr id="29708" name="Text Box 21"/>
          <p:cNvSpPr txBox="1"/>
          <p:nvPr>
            <p:custDataLst>
              <p:tags r:id="rId20"/>
            </p:custDataLst>
          </p:nvPr>
        </p:nvSpPr>
        <p:spPr>
          <a:xfrm>
            <a:off x="7743825" y="3629025"/>
            <a:ext cx="790575" cy="422275"/>
          </a:xfrm>
          <a:prstGeom prst="rect">
            <a:avLst/>
          </a:prstGeom>
          <a:noFill/>
          <a:ln w="12700">
            <a:noFill/>
          </a:ln>
        </p:spPr>
        <p:txBody>
          <a:bodyPr wrap="none" lIns="90000" tIns="10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答疑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674818" name="Object 2">
            <a:hlinkClick r:id="" action="ppaction://noaction"/>
          </p:cNvPr>
          <p:cNvGraphicFramePr>
            <a:graphicFrameLocks noChangeAspect="1"/>
          </p:cNvGraphicFramePr>
          <p:nvPr/>
        </p:nvGraphicFramePr>
        <p:xfrm>
          <a:off x="7494588" y="5051425"/>
          <a:ext cx="1565275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429895" imgH="445135" progId="MS_ClipArt_Gallery.2">
                  <p:embed/>
                </p:oleObj>
              </mc:Choice>
              <mc:Fallback>
                <p:oleObj name="" r:id="rId1" imgW="429895" imgH="445135" progId="MS_ClipArt_Gallery.2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C0504D"/>
                          </a:clrTo>
                        </a:clrChange>
                        <a:clrChange>
                          <a:clrFrom>
                            <a:srgbClr val="007200"/>
                          </a:clrFrom>
                          <a:clrTo>
                            <a:srgbClr val="0000FF"/>
                          </a:clrTo>
                        </a:clrChange>
                        <a:clrChange>
                          <a:clrFrom>
                            <a:srgbClr val="B2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494588" y="5051425"/>
                        <a:ext cx="1565275" cy="1600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4819" name="Rectangle 3"/>
          <p:cNvSpPr>
            <a:spLocks noChangeArrowheads="1"/>
          </p:cNvSpPr>
          <p:nvPr/>
        </p:nvSpPr>
        <p:spPr bwMode="auto">
          <a:xfrm>
            <a:off x="468313" y="188913"/>
            <a:ext cx="7772400" cy="936625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成绩构成</a:t>
            </a:r>
            <a:endParaRPr kumimoji="1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674820" name="Rectangle 4"/>
          <p:cNvSpPr>
            <a:spLocks noChangeArrowheads="1"/>
          </p:cNvSpPr>
          <p:nvPr/>
        </p:nvSpPr>
        <p:spPr bwMode="auto">
          <a:xfrm>
            <a:off x="0" y="1189038"/>
            <a:ext cx="10620375" cy="5022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成绩构成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总成绩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9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平时成绩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50%+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期末机试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50%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9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平时成绩：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9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9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每周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OJ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上机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25%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）课堂当堂提交无补交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线上成绩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MOOC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视频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50%+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测试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50%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    （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10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分）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3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、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MOOC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时间段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OJ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上机题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10%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当天提交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4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、课后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OJ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练习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5%     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当周提交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期末机试（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月初周末）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31749" name="Text Box 7"/>
          <p:cNvSpPr txBox="1"/>
          <p:nvPr>
            <p:custDataLst>
              <p:tags r:id="rId3"/>
            </p:custDataLst>
          </p:nvPr>
        </p:nvSpPr>
        <p:spPr>
          <a:xfrm>
            <a:off x="0" y="5373688"/>
            <a:ext cx="9144000" cy="1484312"/>
          </a:xfrm>
          <a:prstGeom prst="rect">
            <a:avLst/>
          </a:prstGeom>
          <a:solidFill>
            <a:schemeClr val="bg1"/>
          </a:solidFill>
          <a:ln w="57150" cap="flat" cmpd="sng">
            <a:pattFill prst="solidDmnd">
              <a:fgClr>
                <a:srgbClr val="FF0000"/>
              </a:fgClr>
              <a:bgClr>
                <a:srgbClr val="FFFFFF"/>
              </a:bgClr>
            </a:patt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0" indent="-457200" eaLnBrk="1" hangingPunct="1">
              <a:lnSpc>
                <a:spcPct val="70000"/>
              </a:lnSpc>
              <a:spcBef>
                <a:spcPct val="50000"/>
              </a:spcBef>
              <a:buClr>
                <a:srgbClr val="00FF99"/>
              </a:buClr>
              <a:buSzPct val="120000"/>
              <a:buFont typeface="Wingdings" panose="05000000000000000000" pitchFamily="2" charset="2"/>
              <a:buBlip>
                <a:blip r:embed="rId4"/>
              </a:buBlip>
            </a:pPr>
            <a:r>
              <a:rPr lang="zh-CN" altLang="en-US" sz="2200" b="1" dirty="0">
                <a:latin typeface="Times New Roman" panose="02020603050405020304" pitchFamily="18" charset="0"/>
                <a:ea typeface="楷体_GB2312" pitchFamily="49" charset="-122"/>
              </a:rPr>
              <a:t>上机要求：</a:t>
            </a:r>
            <a:endParaRPr lang="zh-CN" altLang="en-US" sz="22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636905" lvl="1" indent="264795" eaLnBrk="1" hangingPunct="1">
              <a:lnSpc>
                <a:spcPct val="90000"/>
              </a:lnSpc>
              <a:spcBef>
                <a:spcPct val="30000"/>
              </a:spcBef>
              <a:buClr>
                <a:srgbClr val="003366"/>
              </a:buClr>
              <a:buFont typeface="Wingdings" panose="05000000000000000000" pitchFamily="2" charset="2"/>
              <a:buAutoNum type="arabicPeriod"/>
            </a:pP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上机时间内，不做与本课程无关的事情，否则按缺课一次处理</a:t>
            </a:r>
            <a:endParaRPr lang="zh-CN" altLang="en-US" sz="20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636905" lvl="1" indent="264795" eaLnBrk="1" hangingPunct="1">
              <a:lnSpc>
                <a:spcPct val="90000"/>
              </a:lnSpc>
              <a:spcBef>
                <a:spcPct val="30000"/>
              </a:spcBef>
              <a:buClr>
                <a:srgbClr val="003366"/>
              </a:buClr>
              <a:buFont typeface="Wingdings" panose="05000000000000000000" pitchFamily="2" charset="2"/>
              <a:buAutoNum type="arabicPeriod"/>
            </a:pP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上机考勤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—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根据学校教务处规定</a:t>
            </a:r>
            <a:endParaRPr lang="zh-CN" altLang="en-US" sz="20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57200" lvl="0" indent="-457200" eaLnBrk="1" hangingPunct="1">
              <a:lnSpc>
                <a:spcPct val="90000"/>
              </a:lnSpc>
              <a:spcBef>
                <a:spcPct val="30000"/>
              </a:spcBef>
              <a:buClr>
                <a:srgbClr val="00FF99"/>
              </a:buClr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          超过三次（含三次）缺课者，本课上机的成绩视为不及格</a:t>
            </a:r>
            <a:endParaRPr lang="zh-CN" altLang="en-US" sz="20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4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48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74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74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4820" grpId="0"/>
      <p:bldP spid="3174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770" name="Text Box 7"/>
          <p:cNvSpPr txBox="1"/>
          <p:nvPr>
            <p:custDataLst>
              <p:tags r:id="rId1"/>
            </p:custDataLst>
          </p:nvPr>
        </p:nvSpPr>
        <p:spPr>
          <a:xfrm>
            <a:off x="3090863" y="6032500"/>
            <a:ext cx="180975" cy="422275"/>
          </a:xfrm>
          <a:prstGeom prst="rect">
            <a:avLst/>
          </a:prstGeom>
          <a:noFill/>
          <a:ln w="12700">
            <a:noFill/>
          </a:ln>
        </p:spPr>
        <p:txBody>
          <a:bodyPr wrap="none" lIns="90000" tIns="10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FontTx/>
              <a:buNone/>
            </a:pPr>
            <a:endParaRPr lang="zh-CN" altLang="zh-CN" sz="24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32771" name="Rectangle 10"/>
          <p:cNvSpPr/>
          <p:nvPr>
            <p:custDataLst>
              <p:tags r:id="rId2"/>
            </p:custDataLst>
          </p:nvPr>
        </p:nvSpPr>
        <p:spPr>
          <a:xfrm>
            <a:off x="493713" y="1216025"/>
            <a:ext cx="8353425" cy="21605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742950" lvl="1" indent="-285750" eaLnBrk="1" hangingPunct="1">
              <a:lnSpc>
                <a:spcPct val="9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zh-CN" altLang="en-US" sz="3200" b="1" dirty="0">
                <a:latin typeface="Comic Sans MS" panose="030F0702030302020204" pitchFamily="66" charset="0"/>
                <a:ea typeface="隶书" panose="02010509060101010101" pitchFamily="49" charset="-122"/>
              </a:rPr>
              <a:t>课前</a:t>
            </a:r>
            <a:r>
              <a:rPr lang="zh-CN" altLang="en-US" sz="3200" b="1" dirty="0">
                <a:solidFill>
                  <a:srgbClr val="0000FF"/>
                </a:solidFill>
                <a:latin typeface="Comic Sans MS" panose="030F0702030302020204" pitchFamily="66" charset="0"/>
                <a:ea typeface="隶书" panose="02010509060101010101" pitchFamily="49" charset="-122"/>
              </a:rPr>
              <a:t>预习（</a:t>
            </a:r>
            <a:r>
              <a:rPr lang="en-US" altLang="zh-CN" sz="3200" b="1" dirty="0">
                <a:solidFill>
                  <a:srgbClr val="0000FF"/>
                </a:solidFill>
                <a:latin typeface="Comic Sans MS" panose="030F0702030302020204" pitchFamily="66" charset="0"/>
                <a:ea typeface="隶书" panose="02010509060101010101" pitchFamily="49" charset="-122"/>
              </a:rPr>
              <a:t>MOOC</a:t>
            </a:r>
            <a:r>
              <a:rPr lang="zh-CN" altLang="en-US" sz="3200" b="1" dirty="0">
                <a:solidFill>
                  <a:srgbClr val="0000FF"/>
                </a:solidFill>
                <a:latin typeface="Comic Sans MS" panose="030F0702030302020204" pitchFamily="66" charset="0"/>
                <a:ea typeface="隶书" panose="02010509060101010101" pitchFamily="49" charset="-122"/>
              </a:rPr>
              <a:t>）</a:t>
            </a:r>
            <a:endParaRPr lang="en-AU" altLang="en-US" sz="3200" b="1" dirty="0">
              <a:latin typeface="Comic Sans MS" panose="030F0702030302020204" pitchFamily="66" charset="0"/>
              <a:ea typeface="隶书" panose="02010509060101010101" pitchFamily="49" charset="-122"/>
            </a:endParaRPr>
          </a:p>
          <a:p>
            <a:pPr marL="742950" lvl="1" indent="-285750" eaLnBrk="1" hangingPunct="1">
              <a:lnSpc>
                <a:spcPct val="9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zh-CN" altLang="en-AU" sz="3200" b="1" dirty="0">
                <a:latin typeface="Comic Sans MS" panose="030F0702030302020204" pitchFamily="66" charset="0"/>
                <a:ea typeface="隶书" panose="02010509060101010101" pitchFamily="49" charset="-122"/>
              </a:rPr>
              <a:t>课堂积极</a:t>
            </a:r>
            <a:r>
              <a:rPr lang="zh-CN" altLang="en-AU" sz="3200" b="1" dirty="0">
                <a:solidFill>
                  <a:srgbClr val="0000FF"/>
                </a:solidFill>
                <a:latin typeface="Comic Sans MS" panose="030F0702030302020204" pitchFamily="66" charset="0"/>
                <a:ea typeface="隶书" panose="02010509060101010101" pitchFamily="49" charset="-122"/>
              </a:rPr>
              <a:t>思考</a:t>
            </a:r>
            <a:r>
              <a:rPr lang="en-AU" altLang="en-AU" sz="3200" b="1" dirty="0">
                <a:latin typeface="Comic Sans MS" panose="030F0702030302020204" pitchFamily="66" charset="0"/>
                <a:ea typeface="隶书" panose="02010509060101010101" pitchFamily="49" charset="-122"/>
              </a:rPr>
              <a:t> </a:t>
            </a:r>
            <a:endParaRPr lang="en-AU" altLang="zh-CN" sz="3200" b="1" dirty="0">
              <a:latin typeface="Comic Sans MS" panose="030F0702030302020204" pitchFamily="66" charset="0"/>
              <a:ea typeface="隶书" panose="02010509060101010101" pitchFamily="49" charset="-122"/>
            </a:endParaRPr>
          </a:p>
          <a:p>
            <a:pPr marL="742950" lvl="1" indent="-285750" eaLnBrk="1" hangingPunct="1">
              <a:lnSpc>
                <a:spcPct val="9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zh-CN" altLang="en-US" sz="3200" b="1" dirty="0">
                <a:latin typeface="Comic Sans MS" panose="030F0702030302020204" pitchFamily="66" charset="0"/>
                <a:ea typeface="隶书" panose="02010509060101010101" pitchFamily="49" charset="-122"/>
              </a:rPr>
              <a:t>课件资料老师发（</a:t>
            </a:r>
            <a:r>
              <a:rPr lang="en-US" altLang="zh-CN" sz="3200" b="1" dirty="0">
                <a:latin typeface="Comic Sans MS" panose="030F0702030302020204" pitchFamily="66" charset="0"/>
                <a:ea typeface="隶书" panose="02010509060101010101" pitchFamily="49" charset="-122"/>
              </a:rPr>
              <a:t>BB)</a:t>
            </a:r>
            <a:endParaRPr lang="en-US" altLang="en-US" sz="3200" b="1" dirty="0">
              <a:latin typeface="Comic Sans MS" panose="030F0702030302020204" pitchFamily="66" charset="0"/>
              <a:ea typeface="隶书" panose="02010509060101010101" pitchFamily="49" charset="-122"/>
            </a:endParaRPr>
          </a:p>
          <a:p>
            <a:pPr marL="742950" lvl="1" indent="-285750" eaLnBrk="1" hangingPunct="1">
              <a:lnSpc>
                <a:spcPct val="9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zh-CN" altLang="en-US" sz="3200" b="1" dirty="0">
                <a:latin typeface="Comic Sans MS" panose="030F0702030302020204" pitchFamily="66" charset="0"/>
                <a:ea typeface="隶书" panose="02010509060101010101" pitchFamily="49" charset="-122"/>
              </a:rPr>
              <a:t>注重</a:t>
            </a:r>
            <a:r>
              <a:rPr lang="zh-CN" altLang="en-US" sz="3200" b="1" dirty="0">
                <a:solidFill>
                  <a:srgbClr val="0000FF"/>
                </a:solidFill>
                <a:latin typeface="Comic Sans MS" panose="030F0702030302020204" pitchFamily="66" charset="0"/>
                <a:ea typeface="隶书" panose="02010509060101010101" pitchFamily="49" charset="-122"/>
              </a:rPr>
              <a:t>上机实践（</a:t>
            </a:r>
            <a:r>
              <a:rPr lang="en-US" altLang="zh-CN" sz="3200" b="1" dirty="0">
                <a:solidFill>
                  <a:srgbClr val="0000FF"/>
                </a:solidFill>
                <a:latin typeface="Comic Sans MS" panose="030F0702030302020204" pitchFamily="66" charset="0"/>
                <a:ea typeface="隶书" panose="02010509060101010101" pitchFamily="49" charset="-122"/>
              </a:rPr>
              <a:t>OJ</a:t>
            </a:r>
            <a:r>
              <a:rPr lang="zh-CN" altLang="en-US" sz="3200" b="1" dirty="0">
                <a:solidFill>
                  <a:srgbClr val="0000FF"/>
                </a:solidFill>
                <a:latin typeface="Comic Sans MS" panose="030F0702030302020204" pitchFamily="66" charset="0"/>
                <a:ea typeface="隶书" panose="02010509060101010101" pitchFamily="49" charset="-122"/>
              </a:rPr>
              <a:t>）</a:t>
            </a:r>
            <a:endParaRPr lang="en-AU" altLang="en-US" sz="3200" b="1" dirty="0">
              <a:solidFill>
                <a:srgbClr val="0000FF"/>
              </a:solidFill>
              <a:latin typeface="Comic Sans MS" panose="030F0702030302020204" pitchFamily="66" charset="0"/>
              <a:ea typeface="隶书" panose="02010509060101010101" pitchFamily="49" charset="-122"/>
            </a:endParaRPr>
          </a:p>
        </p:txBody>
      </p:sp>
      <p:pic>
        <p:nvPicPr>
          <p:cNvPr id="32772" name="Picture 11" descr="snap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5075238"/>
            <a:ext cx="2200275" cy="17827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0668" name="Rectangle 12"/>
          <p:cNvSpPr/>
          <p:nvPr>
            <p:custDataLst>
              <p:tags r:id="rId5"/>
            </p:custDataLst>
          </p:nvPr>
        </p:nvSpPr>
        <p:spPr>
          <a:xfrm>
            <a:off x="2206625" y="5403850"/>
            <a:ext cx="5368925" cy="1165225"/>
          </a:xfrm>
          <a:prstGeom prst="rect">
            <a:avLst/>
          </a:prstGeom>
          <a:solidFill>
            <a:schemeClr val="folHlink"/>
          </a:solidFill>
          <a:ln w="12700" cap="flat" cmpd="sng">
            <a:solidFill>
              <a:srgbClr val="FCFEEC"/>
            </a:solidFill>
            <a:prstDash val="solid"/>
            <a:miter/>
            <a:headEnd type="none" w="med" len="med"/>
            <a:tailEnd type="none" w="sm" len="med"/>
          </a:ln>
        </p:spPr>
        <p:txBody>
          <a:bodyPr lIns="90000" tIns="10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>
                <a:srgbClr val="0041FF"/>
              </a:buClr>
              <a:buFont typeface="Symbol" panose="05050102010706020507" pitchFamily="18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mic Sans MS" panose="030F0702030302020204" pitchFamily="66" charset="0"/>
              </a:rPr>
              <a:t>“The only way to learn a new programming language is by writing programs in it.”</a:t>
            </a:r>
            <a:endParaRPr lang="en-US" altLang="zh-CN" sz="2400" b="1" dirty="0">
              <a:solidFill>
                <a:srgbClr val="0000FF"/>
              </a:solidFill>
              <a:latin typeface="Comic Sans MS" panose="030F0702030302020204" pitchFamily="66" charset="0"/>
            </a:endParaRPr>
          </a:p>
        </p:txBody>
      </p:sp>
      <p:sp>
        <p:nvSpPr>
          <p:cNvPr id="70669" name="Text Box 13"/>
          <p:cNvSpPr txBox="1"/>
          <p:nvPr>
            <p:custDataLst>
              <p:tags r:id="rId6"/>
            </p:custDataLst>
          </p:nvPr>
        </p:nvSpPr>
        <p:spPr>
          <a:xfrm>
            <a:off x="1047750" y="4276725"/>
            <a:ext cx="6443663" cy="606425"/>
          </a:xfrm>
          <a:prstGeom prst="rect">
            <a:avLst/>
          </a:prstGeom>
          <a:noFill/>
          <a:ln w="12700">
            <a:noFill/>
          </a:ln>
        </p:spPr>
        <p:txBody>
          <a:bodyPr wrap="none" lIns="90000" tIns="10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>
                <a:srgbClr val="0041FF"/>
              </a:buClr>
              <a:buFont typeface="Symbol" panose="05050102010706020507" pitchFamily="18" charset="2"/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Practice, practice, practice!</a:t>
            </a:r>
            <a:endParaRPr lang="en-US" altLang="zh-CN" sz="2400" b="1" dirty="0">
              <a:solidFill>
                <a:srgbClr val="FF0000"/>
              </a:solidFill>
              <a:latin typeface="Comic Sans MS" panose="030F0702030302020204" pitchFamily="66" charset="0"/>
              <a:ea typeface="隶书" panose="02010509060101010101" pitchFamily="49" charset="-122"/>
            </a:endParaRPr>
          </a:p>
        </p:txBody>
      </p:sp>
      <p:sp>
        <p:nvSpPr>
          <p:cNvPr id="32775" name="Text Box 14"/>
          <p:cNvSpPr txBox="1"/>
          <p:nvPr>
            <p:custDataLst>
              <p:tags r:id="rId7"/>
            </p:custDataLst>
          </p:nvPr>
        </p:nvSpPr>
        <p:spPr>
          <a:xfrm>
            <a:off x="763588" y="415925"/>
            <a:ext cx="6588125" cy="698500"/>
          </a:xfrm>
          <a:prstGeom prst="rect">
            <a:avLst/>
          </a:prstGeom>
          <a:noFill/>
          <a:ln w="12700">
            <a:noFill/>
          </a:ln>
        </p:spPr>
        <p:txBody>
          <a:bodyPr wrap="none" lIns="90488" tIns="44450" rIns="90488" bIns="44450" anchor="b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Blip>
                <a:blip r:embed="rId8"/>
              </a:buBlip>
            </a:pPr>
            <a:r>
              <a:rPr lang="en-US" altLang="zh-CN" sz="4000" b="1" dirty="0">
                <a:latin typeface="Arial" panose="020B0604020202020204" pitchFamily="34" charset="0"/>
              </a:rPr>
              <a:t> </a:t>
            </a:r>
            <a:r>
              <a:rPr lang="zh-CN" altLang="en-US" sz="4000" b="1" dirty="0">
                <a:latin typeface="Arial" panose="020B0604020202020204" pitchFamily="34" charset="0"/>
                <a:ea typeface="华文行楷" panose="02010800040101010101" pitchFamily="2" charset="-122"/>
              </a:rPr>
              <a:t>课程要求  </a:t>
            </a:r>
            <a:r>
              <a:rPr lang="en-US" altLang="zh-CN" sz="4000" b="1" dirty="0">
                <a:latin typeface="Comic Sans MS" panose="030F0702030302020204" pitchFamily="66" charset="0"/>
              </a:rPr>
              <a:t>Course Policies</a:t>
            </a:r>
            <a:endParaRPr lang="en-US" altLang="zh-CN" sz="4000" b="1" dirty="0">
              <a:latin typeface="Comic Sans MS" panose="030F0702030302020204" pitchFamily="66" charset="0"/>
            </a:endParaRPr>
          </a:p>
        </p:txBody>
      </p:sp>
      <p:sp>
        <p:nvSpPr>
          <p:cNvPr id="32776" name="Line 15"/>
          <p:cNvSpPr/>
          <p:nvPr>
            <p:custDataLst>
              <p:tags r:id="rId9"/>
            </p:custDataLst>
          </p:nvPr>
        </p:nvSpPr>
        <p:spPr>
          <a:xfrm>
            <a:off x="519113" y="1038225"/>
            <a:ext cx="7850187" cy="0"/>
          </a:xfrm>
          <a:prstGeom prst="line">
            <a:avLst/>
          </a:prstGeom>
          <a:ln w="571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70672" name="Picture 16" descr="a03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7620000" y="3573463"/>
            <a:ext cx="1524000" cy="32845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0673" name="Picture 17" descr="madhack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0" y="5075238"/>
            <a:ext cx="2468563" cy="17827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70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706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0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06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06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06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06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8" grpId="0" animBg="1"/>
      <p:bldP spid="7066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81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34819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endParaRPr lang="zh-CN" altLang="zh-CN" dirty="0"/>
          </a:p>
        </p:txBody>
      </p:sp>
      <p:pic>
        <p:nvPicPr>
          <p:cNvPr id="34820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0975" y="692150"/>
            <a:ext cx="9248775" cy="6932613"/>
          </a:xfrm>
          <a:prstGeom prst="rect">
            <a:avLst/>
          </a:prstGeom>
          <a:noFill/>
          <a:ln w="8001">
            <a:noFill/>
          </a:ln>
        </p:spPr>
      </p:pic>
      <p:sp>
        <p:nvSpPr>
          <p:cNvPr id="34821" name="Oval 5"/>
          <p:cNvSpPr/>
          <p:nvPr/>
        </p:nvSpPr>
        <p:spPr>
          <a:xfrm>
            <a:off x="5219700" y="3357563"/>
            <a:ext cx="1368425" cy="431800"/>
          </a:xfrm>
          <a:prstGeom prst="ellipse">
            <a:avLst/>
          </a:prstGeom>
          <a:noFill/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584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35843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endParaRPr lang="zh-CN" altLang="zh-CN" dirty="0"/>
          </a:p>
        </p:txBody>
      </p:sp>
      <p:pic>
        <p:nvPicPr>
          <p:cNvPr id="3584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8262" y="-47625"/>
            <a:ext cx="9248775" cy="6932613"/>
          </a:xfrm>
          <a:prstGeom prst="rect">
            <a:avLst/>
          </a:prstGeom>
          <a:noFill/>
          <a:ln w="8001">
            <a:noFill/>
          </a:ln>
        </p:spPr>
      </p:pic>
      <p:sp>
        <p:nvSpPr>
          <p:cNvPr id="35845" name="Oval 5"/>
          <p:cNvSpPr/>
          <p:nvPr/>
        </p:nvSpPr>
        <p:spPr>
          <a:xfrm>
            <a:off x="0" y="5013325"/>
            <a:ext cx="755650" cy="576263"/>
          </a:xfrm>
          <a:prstGeom prst="ellipse">
            <a:avLst/>
          </a:prstGeom>
          <a:noFill/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83363" name="Rectangle 3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0" i="1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结	束	语</a:t>
            </a:r>
            <a:endParaRPr kumimoji="0" lang="zh-CN" altLang="en-US" sz="4800" b="0" i="1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6867" name="Rectangle 2"/>
          <p:cNvSpPr>
            <a:spLocks noGrp="1"/>
          </p:cNvSpPr>
          <p:nvPr>
            <p:ph idx="1"/>
          </p:nvPr>
        </p:nvSpPr>
        <p:spPr>
          <a:xfrm>
            <a:off x="223838" y="1824038"/>
            <a:ext cx="8920162" cy="4465637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FontTx/>
              <a:buNone/>
            </a:pPr>
            <a:r>
              <a:rPr lang="zh-CN" altLang="en-US" sz="3600" dirty="0"/>
              <a:t>学好计算机的唯一途径是</a:t>
            </a:r>
            <a:endParaRPr lang="zh-CN" altLang="en-US" sz="3600" dirty="0"/>
          </a:p>
          <a:p>
            <a:pPr eaLnBrk="1" hangingPunct="1">
              <a:buFont typeface="Arial" panose="020B0604020202020204" pitchFamily="34" charset="0"/>
              <a:buChar char="•"/>
            </a:pPr>
            <a:endParaRPr lang="zh-CN" altLang="en-US" sz="3600" dirty="0"/>
          </a:p>
          <a:p>
            <a:pPr eaLnBrk="1" hangingPunct="1">
              <a:buFont typeface="Arial" panose="020B0604020202020204" pitchFamily="34" charset="0"/>
              <a:buChar char="•"/>
            </a:pPr>
            <a:endParaRPr lang="zh-CN" altLang="en-US" sz="3600" dirty="0"/>
          </a:p>
          <a:p>
            <a:pPr eaLnBrk="1" hangingPunct="1">
              <a:buFontTx/>
              <a:buNone/>
            </a:pPr>
            <a:r>
              <a:rPr lang="zh-CN" altLang="en-US" sz="3600" dirty="0"/>
              <a:t>                                                 </a:t>
            </a:r>
            <a:endParaRPr lang="zh-CN" altLang="en-US" sz="3600" dirty="0"/>
          </a:p>
          <a:p>
            <a:pPr eaLnBrk="1" hangingPunct="1">
              <a:buFontTx/>
              <a:buNone/>
            </a:pPr>
            <a:r>
              <a:rPr lang="zh-CN" altLang="en-US" sz="3600" dirty="0"/>
              <a:t>你的编程能力与你在计算机上投入的时间成</a:t>
            </a:r>
            <a:endParaRPr lang="zh-CN" altLang="en-US" sz="3600" dirty="0"/>
          </a:p>
          <a:p>
            <a:pPr eaLnBrk="1" hangingPunct="1">
              <a:buFontTx/>
              <a:buNone/>
            </a:pPr>
            <a:r>
              <a:rPr lang="zh-CN" altLang="en-US" dirty="0"/>
              <a:t>                                                  </a:t>
            </a:r>
            <a:endParaRPr lang="zh-CN" altLang="en-US" dirty="0"/>
          </a:p>
        </p:txBody>
      </p:sp>
      <p:sp>
        <p:nvSpPr>
          <p:cNvPr id="36868" name="WordArt 4"/>
          <p:cNvSpPr>
            <a:spLocks noTextEdit="1"/>
          </p:cNvSpPr>
          <p:nvPr/>
        </p:nvSpPr>
        <p:spPr>
          <a:xfrm>
            <a:off x="3276600" y="2873375"/>
            <a:ext cx="2374900" cy="915988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normAutofit/>
            <a:scene3d>
              <a:camera prst="legacyPerspectiveFront">
                <a:rot lat="20520000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</a:sp3d>
          </a:bodyPr>
          <a:p>
            <a:pPr algn="ctr"/>
            <a:r>
              <a:rPr lang="zh-CN" altLang="en-US" sz="3600"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  <a:tileRect/>
                </a:gradFill>
                <a:latin typeface="宋体" panose="02010600030101010101" pitchFamily="2" charset="-122"/>
                <a:ea typeface="宋体" panose="02010600030101010101" pitchFamily="2" charset="-122"/>
              </a:rPr>
              <a:t>上机练习</a:t>
            </a:r>
            <a:endParaRPr lang="zh-CN" altLang="en-US" sz="3600">
              <a:gradFill rotWithShape="1">
                <a:gsLst>
                  <a:gs pos="0">
                    <a:srgbClr val="FFE701"/>
                  </a:gs>
                  <a:gs pos="100000">
                    <a:srgbClr val="FE3E02"/>
                  </a:gs>
                </a:gsLst>
                <a:lin ang="5400000" scaled="1"/>
                <a:tileRect/>
              </a:gra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6869" name="WordArt 5"/>
          <p:cNvSpPr>
            <a:spLocks noTextEdit="1"/>
          </p:cNvSpPr>
          <p:nvPr/>
        </p:nvSpPr>
        <p:spPr>
          <a:xfrm>
            <a:off x="3779838" y="5064125"/>
            <a:ext cx="914400" cy="1028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p>
            <a:pPr algn="ctr"/>
            <a:r>
              <a:rPr lang="zh-CN" altLang="en-US" sz="3600">
                <a:ln w="19050" cap="flat" cmpd="sng">
                  <a:solidFill>
                    <a:srgbClr val="99CCFF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0066CC"/>
                </a:solidFill>
                <a:effectLst>
                  <a:outerShdw dist="35921" dir="2699999" algn="ctr" rotWithShape="0">
                    <a:srgbClr val="99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正比</a:t>
            </a:r>
            <a:endParaRPr lang="zh-CN" altLang="en-US" sz="3600">
              <a:ln w="19050" cap="flat" cmpd="sng">
                <a:solidFill>
                  <a:srgbClr val="99CCFF"/>
                </a:solidFill>
                <a:prstDash val="solid"/>
                <a:headEnd type="none" w="med" len="med"/>
                <a:tailEnd type="none" w="med" len="med"/>
              </a:ln>
              <a:solidFill>
                <a:srgbClr val="0066CC"/>
              </a:solidFill>
              <a:effectLst>
                <a:outerShdw dist="35921" dir="2699999" algn="ctr" rotWithShape="0">
                  <a:srgbClr val="99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tags/tag1.xml><?xml version="1.0" encoding="utf-8"?>
<p:tagLst xmlns:p="http://schemas.openxmlformats.org/presentationml/2006/main">
  <p:tag name="_INSTRUCTOR VIEW19C14C36-AC8E-43BC-9DB6-C2AAF774C7DC|PANE__TAG" val="_"/>
</p:tagLst>
</file>

<file path=ppt/tags/tag2.xml><?xml version="1.0" encoding="utf-8"?>
<p:tagLst xmlns:p="http://schemas.openxmlformats.org/presentationml/2006/main">
  <p:tag name="_INSTRUCTOR VIEW19C14C36-AC8E-43BC-9DB6-C2AAF774C7DC|PANE__TAG" val="_"/>
</p:tagLst>
</file>

<file path=ppt/tags/tag3.xml><?xml version="1.0" encoding="utf-8"?>
<p:tagLst xmlns:p="http://schemas.openxmlformats.org/presentationml/2006/main">
  <p:tag name="_INSTRUCTOR VIEW19C14C36-AC8E-43BC-9DB6-C2AAF774C7DC|PANE__TAG" val="_"/>
</p:tagLst>
</file>

<file path=ppt/tags/tag4.xml><?xml version="1.0" encoding="utf-8"?>
<p:tagLst xmlns:p="http://schemas.openxmlformats.org/presentationml/2006/main">
  <p:tag name="_INSTRUCTOR VIEW19C14C36-AC8E-43BC-9DB6-C2AAF774C7DC|PANE__TAG" val="_"/>
</p:tagLst>
</file>

<file path=ppt/tags/tag5.xml><?xml version="1.0" encoding="utf-8"?>
<p:tagLst xmlns:p="http://schemas.openxmlformats.org/presentationml/2006/main">
  <p:tag name="_INSTRUCTOR VIEW19C14C36-AC8E-43BC-9DB6-C2AAF774C7DC|PANE__TAG" val="_"/>
</p:tagLst>
</file>

<file path=ppt/tags/tag6.xml><?xml version="1.0" encoding="utf-8"?>
<p:tagLst xmlns:p="http://schemas.openxmlformats.org/presentationml/2006/main">
  <p:tag name="_INSTRUCTOR VIEW19C14C36-AC8E-43BC-9DB6-C2AAF774C7DC|PANE__TAG" val="_"/>
</p:tagLst>
</file>

<file path=ppt/tags/tag7.xml><?xml version="1.0" encoding="utf-8"?>
<p:tagLst xmlns:p="http://schemas.openxmlformats.org/presentationml/2006/main">
  <p:tag name="_INSTRUCTOR VIEW19C14C36-AC8E-43BC-9DB6-C2AAF774C7DC|PANE__TAG" val="_"/>
</p:tagLst>
</file>

<file path=ppt/tags/tag8.xml><?xml version="1.0" encoding="utf-8"?>
<p:tagLst xmlns:p="http://schemas.openxmlformats.org/presentationml/2006/main">
  <p:tag name="_INSTRUCTOR VIEW19C14C36-AC8E-43BC-9DB6-C2AAF774C7DC|PANE__TAG" val="_"/>
</p:tagLst>
</file>

<file path=ppt/tags/tag9.xml><?xml version="1.0" encoding="utf-8"?>
<p:tagLst xmlns:p="http://schemas.openxmlformats.org/presentationml/2006/main">
  <p:tag name="_INSTRUCTOR VIEW19C14C36-AC8E-43BC-9DB6-C2AAF774C7DC|PANE__TAG" val="_"/>
</p:tagLst>
</file>

<file path=ppt/tags/tag10.xml><?xml version="1.0" encoding="utf-8"?>
<p:tagLst xmlns:p="http://schemas.openxmlformats.org/presentationml/2006/main">
  <p:tag name="_INSTRUCTOR VIEW19C14C36-AC8E-43BC-9DB6-C2AAF774C7DC|PANE__TAG" val="_"/>
</p:tagLst>
</file>

<file path=ppt/tags/tag11.xml><?xml version="1.0" encoding="utf-8"?>
<p:tagLst xmlns:p="http://schemas.openxmlformats.org/presentationml/2006/main">
  <p:tag name="_INSTRUCTOR VIEW19C14C36-AC8E-43BC-9DB6-C2AAF774C7DC|PANE__TAG" val="_"/>
</p:tagLst>
</file>

<file path=ppt/tags/tag12.xml><?xml version="1.0" encoding="utf-8"?>
<p:tagLst xmlns:p="http://schemas.openxmlformats.org/presentationml/2006/main">
  <p:tag name="_INSTRUCTOR VIEW19C14C36-AC8E-43BC-9DB6-C2AAF774C7DC|PANE__TAG" val="_"/>
</p:tagLst>
</file>

<file path=ppt/tags/tag13.xml><?xml version="1.0" encoding="utf-8"?>
<p:tagLst xmlns:p="http://schemas.openxmlformats.org/presentationml/2006/main">
  <p:tag name="_INSTRUCTOR VIEW19C14C36-AC8E-43BC-9DB6-C2AAF774C7DC|PANE__TAG" val="_"/>
</p:tagLst>
</file>

<file path=ppt/tags/tag14.xml><?xml version="1.0" encoding="utf-8"?>
<p:tagLst xmlns:p="http://schemas.openxmlformats.org/presentationml/2006/main">
  <p:tag name="_INSTRUCTOR VIEW19C14C36-AC8E-43BC-9DB6-C2AAF774C7DC|PANE__TAG" val="_"/>
</p:tagLst>
</file>

<file path=ppt/tags/tag15.xml><?xml version="1.0" encoding="utf-8"?>
<p:tagLst xmlns:p="http://schemas.openxmlformats.org/presentationml/2006/main">
  <p:tag name="_INSTRUCTOR VIEW19C14C36-AC8E-43BC-9DB6-C2AAF774C7DC|PANE__TAG" val="_"/>
</p:tagLst>
</file>

<file path=ppt/tags/tag16.xml><?xml version="1.0" encoding="utf-8"?>
<p:tagLst xmlns:p="http://schemas.openxmlformats.org/presentationml/2006/main">
  <p:tag name="_INSTRUCTOR VIEW19C14C36-AC8E-43BC-9DB6-C2AAF774C7DC|PANE__TAG" val="_"/>
</p:tagLst>
</file>

<file path=ppt/tags/tag17.xml><?xml version="1.0" encoding="utf-8"?>
<p:tagLst xmlns:p="http://schemas.openxmlformats.org/presentationml/2006/main">
  <p:tag name="_INSTRUCTOR VIEW19C14C36-AC8E-43BC-9DB6-C2AAF774C7DC|PANE__TAG" val="_"/>
</p:tagLst>
</file>

<file path=ppt/tags/tag18.xml><?xml version="1.0" encoding="utf-8"?>
<p:tagLst xmlns:p="http://schemas.openxmlformats.org/presentationml/2006/main">
  <p:tag name="_INSTRUCTOR VIEW19C14C36-AC8E-43BC-9DB6-C2AAF774C7DC|PANE__TAG" val="_"/>
</p:tagLst>
</file>

<file path=ppt/tags/tag19.xml><?xml version="1.0" encoding="utf-8"?>
<p:tagLst xmlns:p="http://schemas.openxmlformats.org/presentationml/2006/main">
  <p:tag name="_INSTRUCTOR VIEW19C14C36-AC8E-43BC-9DB6-C2AAF774C7DC|PANE__TAG" val="_"/>
</p:tagLst>
</file>

<file path=ppt/tags/tag20.xml><?xml version="1.0" encoding="utf-8"?>
<p:tagLst xmlns:p="http://schemas.openxmlformats.org/presentationml/2006/main">
  <p:tag name="_INSTRUCTOR VIEW19C14C36-AC8E-43BC-9DB6-C2AAF774C7DC|PANE__TAG" val="_"/>
</p:tagLst>
</file>

<file path=ppt/tags/tag21.xml><?xml version="1.0" encoding="utf-8"?>
<p:tagLst xmlns:p="http://schemas.openxmlformats.org/presentationml/2006/main">
  <p:tag name="_INSTRUCTOR VIEW19C14C36-AC8E-43BC-9DB6-C2AAF774C7DC|PANE__TAG" val="_"/>
</p:tagLst>
</file>

<file path=ppt/tags/tag22.xml><?xml version="1.0" encoding="utf-8"?>
<p:tagLst xmlns:p="http://schemas.openxmlformats.org/presentationml/2006/main">
  <p:tag name="_INSTRUCTOR VIEW19C14C36-AC8E-43BC-9DB6-C2AAF774C7DC|PANE__TAG" val="_"/>
</p:tagLst>
</file>

<file path=ppt/tags/tag23.xml><?xml version="1.0" encoding="utf-8"?>
<p:tagLst xmlns:p="http://schemas.openxmlformats.org/presentationml/2006/main">
  <p:tag name="_INSTRUCTOR VIEW19C14C36-AC8E-43BC-9DB6-C2AAF774C7DC|PANE__TAG" val="_"/>
</p:tagLst>
</file>

<file path=ppt/tags/tag24.xml><?xml version="1.0" encoding="utf-8"?>
<p:tagLst xmlns:p="http://schemas.openxmlformats.org/presentationml/2006/main">
  <p:tag name="_INSTRUCTOR VIEW19C14C36-AC8E-43BC-9DB6-C2AAF774C7DC|PANE__TAG" val="_"/>
</p:tagLst>
</file>

<file path=ppt/tags/tag25.xml><?xml version="1.0" encoding="utf-8"?>
<p:tagLst xmlns:p="http://schemas.openxmlformats.org/presentationml/2006/main">
  <p:tag name="_INSTRUCTOR VIEW19C14C36-AC8E-43BC-9DB6-C2AAF774C7DC|PANE__TAG" val="_"/>
</p:tagLst>
</file>

<file path=ppt/tags/tag26.xml><?xml version="1.0" encoding="utf-8"?>
<p:tagLst xmlns:p="http://schemas.openxmlformats.org/presentationml/2006/main">
  <p:tag name="_INSTRUCTOR VIEW19C14C36-AC8E-43BC-9DB6-C2AAF774C7DC|PANE__TAG" val="_"/>
</p:tagLst>
</file>

<file path=ppt/tags/tag27.xml><?xml version="1.0" encoding="utf-8"?>
<p:tagLst xmlns:p="http://schemas.openxmlformats.org/presentationml/2006/main">
  <p:tag name="_INSTRUCTOR VIEW19C14C36-AC8E-43BC-9DB6-C2AAF774C7DC|PANE__TAG" val="_"/>
</p:tagLst>
</file>

<file path=ppt/tags/tag28.xml><?xml version="1.0" encoding="utf-8"?>
<p:tagLst xmlns:p="http://schemas.openxmlformats.org/presentationml/2006/main">
  <p:tag name="_INSTRUCTOR VIEW19C14C36-AC8E-43BC-9DB6-C2AAF774C7DC|PANE__TAG" val="_"/>
</p:tagLst>
</file>

<file path=ppt/tags/tag29.xml><?xml version="1.0" encoding="utf-8"?>
<p:tagLst xmlns:p="http://schemas.openxmlformats.org/presentationml/2006/main">
  <p:tag name="_INSTRUCTOR VIEW19C14C36-AC8E-43BC-9DB6-C2AAF774C7DC|PANE__TAG" val="_"/>
</p:tagLst>
</file>

<file path=ppt/tags/tag30.xml><?xml version="1.0" encoding="utf-8"?>
<p:tagLst xmlns:p="http://schemas.openxmlformats.org/presentationml/2006/main">
  <p:tag name="_INSTRUCTOR VIEW19C14C36-AC8E-43BC-9DB6-C2AAF774C7DC|PANE__TAG" val="_"/>
</p:tagLst>
</file>

<file path=ppt/tags/tag31.xml><?xml version="1.0" encoding="utf-8"?>
<p:tagLst xmlns:p="http://schemas.openxmlformats.org/presentationml/2006/main">
  <p:tag name="_INSTRUCTOR VIEW19C14C36-AC8E-43BC-9DB6-C2AAF774C7DC|PANE__TAG" val="_"/>
</p:tagLst>
</file>

<file path=ppt/tags/tag32.xml><?xml version="1.0" encoding="utf-8"?>
<p:tagLst xmlns:p="http://schemas.openxmlformats.org/presentationml/2006/main">
  <p:tag name="_INSTRUCTOR VIEW19C14C36-AC8E-43BC-9DB6-C2AAF774C7DC|PANE__TAG" val="_"/>
</p:tagLst>
</file>

<file path=ppt/tags/tag33.xml><?xml version="1.0" encoding="utf-8"?>
<p:tagLst xmlns:p="http://schemas.openxmlformats.org/presentationml/2006/main">
  <p:tag name="_INSTRUCTOR VIEW19C14C36-AC8E-43BC-9DB6-C2AAF774C7DC|PANE__TAG" val="_"/>
</p:tagLst>
</file>

<file path=ppt/tags/tag34.xml><?xml version="1.0" encoding="utf-8"?>
<p:tagLst xmlns:p="http://schemas.openxmlformats.org/presentationml/2006/main">
  <p:tag name="_INSTRUCTOR VIEW19C14C36-AC8E-43BC-9DB6-C2AAF774C7DC|PANE__TAG" val="_"/>
</p:tagLst>
</file>

<file path=ppt/tags/tag35.xml><?xml version="1.0" encoding="utf-8"?>
<p:tagLst xmlns:p="http://schemas.openxmlformats.org/presentationml/2006/main">
  <p:tag name="_INSTRUCTOR VIEW19C14C36-AC8E-43BC-9DB6-C2AAF774C7DC|PANE__TAG" val="_"/>
</p:tagLst>
</file>

<file path=ppt/tags/tag36.xml><?xml version="1.0" encoding="utf-8"?>
<p:tagLst xmlns:p="http://schemas.openxmlformats.org/presentationml/2006/main">
  <p:tag name="_INSTRUCTOR VIEW19C14C36-AC8E-43BC-9DB6-C2AAF774C7DC|PANE__TAG" val="_"/>
</p:tagLst>
</file>

<file path=ppt/tags/tag37.xml><?xml version="1.0" encoding="utf-8"?>
<p:tagLst xmlns:p="http://schemas.openxmlformats.org/presentationml/2006/main">
  <p:tag name="_INSTRUCTOR VIEW19C14C36-AC8E-43BC-9DB6-C2AAF774C7DC|PANE__TAG" val="_"/>
</p:tagLst>
</file>

<file path=ppt/tags/tag38.xml><?xml version="1.0" encoding="utf-8"?>
<p:tagLst xmlns:p="http://schemas.openxmlformats.org/presentationml/2006/main">
  <p:tag name="_INSTRUCTOR VIEW19C14C36-AC8E-43BC-9DB6-C2AAF774C7DC|PANE__TAG" val="_"/>
</p:tagLst>
</file>

<file path=ppt/tags/tag39.xml><?xml version="1.0" encoding="utf-8"?>
<p:tagLst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zh-CN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zh-CN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2908</Words>
  <Application>WPS 演示</Application>
  <PresentationFormat>全屏显示(4:3)</PresentationFormat>
  <Paragraphs>273</Paragraphs>
  <Slides>27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27</vt:i4>
      </vt:variant>
    </vt:vector>
  </HeadingPairs>
  <TitlesOfParts>
    <vt:vector size="59" baseType="lpstr">
      <vt:lpstr>Arial</vt:lpstr>
      <vt:lpstr>宋体</vt:lpstr>
      <vt:lpstr>Wingdings</vt:lpstr>
      <vt:lpstr>Times New Roman</vt:lpstr>
      <vt:lpstr>Calibri</vt:lpstr>
      <vt:lpstr>华文隶书</vt:lpstr>
      <vt:lpstr>隶书</vt:lpstr>
      <vt:lpstr>楷体_GB2312</vt:lpstr>
      <vt:lpstr>新宋体</vt:lpstr>
      <vt:lpstr>华文行楷</vt:lpstr>
      <vt:lpstr>Comic Sans MS</vt:lpstr>
      <vt:lpstr>Verdana</vt:lpstr>
      <vt:lpstr>PMingLiU</vt:lpstr>
      <vt:lpstr>MingLiU-ExtB</vt:lpstr>
      <vt:lpstr>华文琥珀</vt:lpstr>
      <vt:lpstr>黑体</vt:lpstr>
      <vt:lpstr>华文新魏</vt:lpstr>
      <vt:lpstr>华文中宋</vt:lpstr>
      <vt:lpstr>Monotype Sorts</vt:lpstr>
      <vt:lpstr>Wingdings</vt:lpstr>
      <vt:lpstr>Symbol</vt:lpstr>
      <vt:lpstr>Garamond</vt:lpstr>
      <vt:lpstr>仿宋_GB2312</vt:lpstr>
      <vt:lpstr>仿宋</vt:lpstr>
      <vt:lpstr>楷体_GB2312</vt:lpstr>
      <vt:lpstr>微软雅黑</vt:lpstr>
      <vt:lpstr>Arial Unicode MS</vt:lpstr>
      <vt:lpstr>Office 主题</vt:lpstr>
      <vt:lpstr>默认设计模板</vt:lpstr>
      <vt:lpstr>MS_ClipArt_Gallery.2</vt:lpstr>
      <vt:lpstr>MS_ClipArt_Gallery.2</vt:lpstr>
      <vt:lpstr>MS_ClipArt_Gallery.2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software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yanweimin</dc:creator>
  <cp:lastModifiedBy>恪守本心</cp:lastModifiedBy>
  <cp:revision>425</cp:revision>
  <dcterms:created xsi:type="dcterms:W3CDTF">1999-05-31T10:27:02Z</dcterms:created>
  <dcterms:modified xsi:type="dcterms:W3CDTF">2023-10-18T04:38:31Z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6D313DF316A64BB59651E6F062146EF2_13</vt:lpwstr>
  </property>
  <property fmtid="{D5CDD505-2E9C-101B-9397-08002B2CF9AE}" pid="3" name="KSOProductBuildVer">
    <vt:lpwstr>2052-12.1.0.15712</vt:lpwstr>
  </property>
</Properties>
</file>