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4" r:id="rId2"/>
    <p:sldMasterId id="2147483696" r:id="rId3"/>
    <p:sldMasterId id="2147484043" r:id="rId4"/>
    <p:sldMasterId id="2147484067" r:id="rId5"/>
    <p:sldMasterId id="2147484091" r:id="rId6"/>
    <p:sldMasterId id="2147484115" r:id="rId7"/>
    <p:sldMasterId id="2147484261" r:id="rId8"/>
  </p:sldMasterIdLst>
  <p:notesMasterIdLst>
    <p:notesMasterId r:id="rId22"/>
  </p:notesMasterIdLst>
  <p:sldIdLst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1" r:id="rId18"/>
    <p:sldId id="282" r:id="rId19"/>
    <p:sldId id="283" r:id="rId20"/>
    <p:sldId id="280" r:id="rId21"/>
  </p:sldIdLst>
  <p:sldSz cx="9144000" cy="6858000" type="screen4x3"/>
  <p:notesSz cx="6858000" cy="9144000"/>
  <p:custDataLst>
    <p:tags r:id="rId2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ags" Target="tags/tag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11" Type="http://schemas.openxmlformats.org/officeDocument/2006/relationships/image" Target="../media/image34.wmf"/><Relationship Id="rId5" Type="http://schemas.openxmlformats.org/officeDocument/2006/relationships/image" Target="../media/image28.wmf"/><Relationship Id="rId10" Type="http://schemas.openxmlformats.org/officeDocument/2006/relationships/image" Target="../media/image33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2745E114-C510-4ADC-995D-F3E8AB49FC76}" type="datetimeFigureOut">
              <a:rPr lang="zh-CN" altLang="en-US"/>
              <a:t>2023/10/7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5587B3B-AA86-4ECC-8B74-F3D0145122B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587B3B-AA86-4ECC-8B74-F3D0145122B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885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2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42F7ABA-0468-409F-9551-D200922BC27C}" type="slidenum">
              <a:rPr lang="en-US" altLang="zh-CN">
                <a:solidFill>
                  <a:srgbClr val="000000"/>
                </a:solidFill>
              </a:rPr>
              <a:t>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6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625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41346-03B3-432F-B186-D4B71456F675}" type="datetimeFigureOut">
              <a:rPr lang="zh-CN" altLang="en-US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8008A-60DA-4ABB-8F78-95E16134BF8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E2F55-D8C1-4386-9D47-069788EA2AE1}" type="datetimeFigureOut">
              <a:rPr lang="zh-CN" altLang="en-US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3A92FC-2347-4197-BE67-92D08AE9F42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94E0A-E126-42A2-9E0D-4405A52B7F20}" type="datetimeFigureOut">
              <a:rPr lang="zh-CN" altLang="en-US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A18B3-992D-4EFE-9C02-49C91C15D3B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AE54B-FDAA-47C0-87E4-451EC48319CE}" type="datetimeFigureOut">
              <a:rPr lang="zh-CN" altLang="en-US"/>
              <a:t>2023/10/7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779D7-0234-4D3D-A9BC-595778BDE1E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7975-7749-4D8D-936C-D676615333FD}" type="datetimeFigureOut">
              <a:rPr lang="zh-CN" altLang="en-US"/>
              <a:t>2023/10/7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511F03-9202-42E8-8475-599C2A3E6A9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6AAE99-A55A-4E03-AA32-AE042EAA58C5}" type="datetimeFigureOut">
              <a:rPr lang="zh-CN" altLang="en-US"/>
              <a:t>2023/10/7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380340-F1FB-4082-8389-E1C676579C0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D972F-90A5-447C-9D71-06672CAFA664}" type="datetimeFigureOut">
              <a:rPr lang="zh-CN" altLang="en-US"/>
              <a:t>2023/10/7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1A42C-BAC1-4816-8B43-813EE63E729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26B58-F661-4F6D-89C6-3E049CAA77AE}" type="datetimeFigureOut">
              <a:rPr lang="zh-CN" altLang="en-US"/>
              <a:t>2023/10/7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3609F-16AB-40E9-A37B-CDFFB467B62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0A555-DE29-4B03-B2E6-796F4C5C025E}" type="datetimeFigureOut">
              <a:rPr lang="zh-CN" altLang="en-US"/>
              <a:t>2023/10/7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208AB-A45D-40C8-A524-21A5AB1FC88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73256-CAA1-4000-B828-56675EFC1977}" type="datetimeFigureOut">
              <a:rPr lang="zh-CN" altLang="en-US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880D9-D921-4921-9256-527B2EA43A3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1C3DA-D56C-47AA-A570-40FF9002133D}" type="datetimeFigureOut">
              <a:rPr lang="zh-CN" altLang="en-US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74EF9-88AF-45DF-8C74-E13C471F09F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+mn-ea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+mn-ea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+mn-ea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+mn-ea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+mn-ea"/>
              </a:endParaRPr>
            </a:p>
          </p:txBody>
        </p:sp>
      </p:grpSp>
      <p:sp>
        <p:nvSpPr>
          <p:cNvPr id="143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D5A96974-AA98-47F1-A305-5F5FBD5FFED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6B7C390-AE2C-4298-991B-6D1AD8E5938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5DD95DF-3D7A-445D-AB83-E2011729B52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7603310-516D-41D1-93F8-333CBC1882C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DF6C32F-4909-4C3D-AB02-FBF942CEB3D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011B9F5-309B-42CA-92DF-898342622A5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926A849-C8BF-467E-BC13-A6982C12D0C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5E34D40-4589-4B77-9AB7-694BE6BCED7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880E25F-AF9D-423B-9C7D-B29F31589FB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CE5D7DC-8319-40C2-80C9-90C6A541D06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29404A8-5ED9-4BE3-8ACA-2951C649BF6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805442A-E64F-42A1-ADD6-11D8504E09D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E979BC9-508C-452A-9132-158BAE669D2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AB9541A-8F03-42BD-AFF4-BD30A3B861D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E8FF89C-8A7F-4146-B1A4-797C526AB14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FC9F115-2CCB-4ACB-9134-C21AB28402F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6116323-B54C-49A5-A155-FE8CA8865CB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522B17E-7A57-4C85-B31E-6727D1F006E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51DCEBB-6318-48AB-8129-04C6C5E8CAA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59CAB56-EAB1-45D7-97B0-1432D6B70FF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1613250-E145-4045-B399-E1BB26333A1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2B43524-FBF0-4311-B60D-3A9793DED2F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4BDA23C-10CC-4BEB-9215-6F3A5BE46F0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9836DBF-CBA6-4325-92A7-B43F665E96E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ADED120-F4C4-42A1-83F0-A88EB50FE25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60BBDC9-EA98-4633-A9E0-69A1C94D05D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E78C8C0-DD52-4BD7-956D-46FF7301545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2BB852B-B1AF-4956-ACA2-1914F98CB3D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1945D34-FA75-4A22-A118-011EF2EF56D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A2CC82C-4C0F-47C9-8BB0-5897BB0AFD0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DCAB2EB-6565-4823-97AC-5E8712BCB65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428A188-899E-4E63-B2A0-62804DC6CF9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D8DA032-A08C-48F4-B0CB-CC4FCDF40CD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2B535E6-90B5-49E2-9D70-A1FB690DA08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FBF7C63-4B39-4175-A1A8-5047609405C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E422100-0283-4CF8-9659-747308F0691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540F626-7FAF-4E8D-A774-FB2F60EA05B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7262599-6712-4798-83AF-FB6B8BF5B88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18F9BDD-FED1-4AF2-8F6A-EBF5FF8CE9E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94695B2-96C9-48E8-821B-55A375CB604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5B63E16-DC29-459D-9D01-E3DE34A3D72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63FA865-7194-4C3D-939B-6215BE4DA80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79DCF3C-DA7D-4498-AB38-221CAC51025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6516B5F-A071-4D95-9587-2EEE88867B8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CC3595D-3890-44FF-AF55-A5A50B2E0B7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7E8BC0E-94CF-4D79-BB62-D40D4833E1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9B6F26A-7A98-424B-A4B5-59142C7811D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F500094-9553-4F04-9B12-AA794F33AB1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C6EFB21-EF4D-40D6-B79C-EAD6F710874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36CAF0D-F3C2-4F96-87A4-A9CB584B059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CD28102-F4C8-4544-B7CA-173C0CEE1D9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6F45CFD-DD50-4AE0-99AA-913C57164C8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A100C3A-EECC-4A7D-8619-7D3CC64D4E1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36A45CC-8280-492E-AB43-8FFCA788FE0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A256707-82E6-4F49-BD38-DDFC1B10CEC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0E91D96-8CBF-4433-994D-A789FB6B43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4DE0CA5-1E2E-46BB-81B7-EB980465492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EBF17BB-4E49-4AB4-B6E1-FA86C5078A2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564F127-C21D-4F68-9108-9C532A171025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1262783-E1AD-461C-B73E-E2AC5D78C4F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B35FF76-71B6-41B4-82B6-140969D5889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71F2702-364A-47AE-B5CD-48ED6804DEC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6C6427D-F90A-44DA-9174-3E389E80FEA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4201D4B-4A42-452C-92A1-C5895348766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7974994-B3B8-42E1-AF97-7D7A5979D8A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30B9421-9F4E-49FD-9980-A7FD8648B4C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3693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7F4B40A-F493-439C-BE6F-5E92B9B35FFF}" type="datetimeFigureOut">
              <a:rPr lang="zh-CN" altLang="en-US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AF226D8-EDBC-4B97-9996-467B6B6E643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7178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178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3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17AEEE0-5D75-4EF8-A16A-4C4CA40044AD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solidFill>
                  <a:srgbClr val="000000"/>
                </a:solidFill>
                <a:latin typeface="Arial Black" panose="020B0A04020102020204" pitchFamily="34" charset="0"/>
                <a:ea typeface="+mn-ea"/>
              </a:defRPr>
            </a:lvl1pPr>
          </a:lstStyle>
          <a:p>
            <a:pPr>
              <a:defRPr/>
            </a:pPr>
            <a:fld id="{2ED43025-303D-4737-AEF7-E27F9AEA2950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7434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638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1639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1639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639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639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639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639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1639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639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7434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434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3C392F1-3CA2-4677-9599-74D099C33127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40550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0550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551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56EB063-469A-42C8-B924-1D8EE9684ABC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430084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3008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3008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8" r:id="rId1"/>
    <p:sldLayoutId id="2147484069" r:id="rId2"/>
    <p:sldLayoutId id="2147484070" r:id="rId3"/>
    <p:sldLayoutId id="2147484071" r:id="rId4"/>
    <p:sldLayoutId id="2147484072" r:id="rId5"/>
    <p:sldLayoutId id="2147484073" r:id="rId6"/>
    <p:sldLayoutId id="2147484074" r:id="rId7"/>
    <p:sldLayoutId id="2147484075" r:id="rId8"/>
    <p:sldLayoutId id="2147484076" r:id="rId9"/>
    <p:sldLayoutId id="2147484077" r:id="rId10"/>
    <p:sldLayoutId id="214748407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B484CAC-4403-434C-BB08-32B3741B641F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454660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5466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5466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  <p:sldLayoutId id="2147484099" r:id="rId8"/>
    <p:sldLayoutId id="2147484100" r:id="rId9"/>
    <p:sldLayoutId id="2147484101" r:id="rId10"/>
    <p:sldLayoutId id="214748410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806D48A-56A5-4B77-B1AF-A544CEF8E900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479236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7923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7923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6" r:id="rId1"/>
    <p:sldLayoutId id="2147484117" r:id="rId2"/>
    <p:sldLayoutId id="2147484118" r:id="rId3"/>
    <p:sldLayoutId id="2147484119" r:id="rId4"/>
    <p:sldLayoutId id="2147484120" r:id="rId5"/>
    <p:sldLayoutId id="2147484121" r:id="rId6"/>
    <p:sldLayoutId id="2147484122" r:id="rId7"/>
    <p:sldLayoutId id="2147484123" r:id="rId8"/>
    <p:sldLayoutId id="2147484124" r:id="rId9"/>
    <p:sldLayoutId id="2147484125" r:id="rId10"/>
    <p:sldLayoutId id="214748412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 cstate="print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7267" name="Rectangle 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726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9788" y="6416675"/>
            <a:ext cx="684213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>
              <a:defRPr sz="2000">
                <a:solidFill>
                  <a:srgbClr val="FF0000"/>
                </a:solidFill>
                <a:latin typeface="Times New Roman" panose="02020603050405020304" pitchFamily="18" charset="0"/>
              </a:defRPr>
            </a:lvl1pPr>
          </a:lstStyle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2" r:id="rId1"/>
    <p:sldLayoutId id="2147484263" r:id="rId2"/>
    <p:sldLayoutId id="2147484264" r:id="rId3"/>
    <p:sldLayoutId id="2147484265" r:id="rId4"/>
    <p:sldLayoutId id="2147484266" r:id="rId5"/>
    <p:sldLayoutId id="2147484267" r:id="rId6"/>
    <p:sldLayoutId id="2147484268" r:id="rId7"/>
    <p:sldLayoutId id="2147484269" r:id="rId8"/>
    <p:sldLayoutId id="2147484270" r:id="rId9"/>
    <p:sldLayoutId id="2147484271" r:id="rId10"/>
    <p:sldLayoutId id="2147484272" r:id="rId11"/>
  </p:sldLayoutIdLst>
  <p:transition>
    <p:wipe dir="r"/>
  </p:transition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0.wmf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5.bin"/><Relationship Id="rId21" Type="http://schemas.openxmlformats.org/officeDocument/2006/relationships/image" Target="../media/image13.wmf"/><Relationship Id="rId7" Type="http://schemas.openxmlformats.org/officeDocument/2006/relationships/oleObject" Target="../embeddings/oleObject7.bin"/><Relationship Id="rId12" Type="http://schemas.openxmlformats.org/officeDocument/2006/relationships/oleObject" Target="../embeddings/oleObject10.bin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11.wmf"/><Relationship Id="rId20" Type="http://schemas.openxmlformats.org/officeDocument/2006/relationships/oleObject" Target="../embeddings/oleObject15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wmf"/><Relationship Id="rId11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2.bin"/><Relationship Id="rId10" Type="http://schemas.openxmlformats.org/officeDocument/2006/relationships/oleObject" Target="../embeddings/oleObject9.bin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Relationship Id="rId1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0.wmf"/><Relationship Id="rId18" Type="http://schemas.openxmlformats.org/officeDocument/2006/relationships/oleObject" Target="../embeddings/oleObject26.bin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0.bin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22.wmf"/><Relationship Id="rId2" Type="http://schemas.openxmlformats.org/officeDocument/2006/relationships/slideLayout" Target="../slideLayouts/slideLayout24.xml"/><Relationship Id="rId16" Type="http://schemas.openxmlformats.org/officeDocument/2006/relationships/oleObject" Target="../embeddings/oleObject25.bin"/><Relationship Id="rId20" Type="http://schemas.openxmlformats.org/officeDocument/2006/relationships/image" Target="../media/image23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image" Target="../media/image21.wmf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16.wmf"/><Relationship Id="rId9" Type="http://schemas.openxmlformats.org/officeDocument/2006/relationships/oleObject" Target="../embeddings/oleObject21.bin"/><Relationship Id="rId14" Type="http://schemas.openxmlformats.org/officeDocument/2006/relationships/oleObject" Target="../embeddings/oleObject2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34.bin"/><Relationship Id="rId18" Type="http://schemas.openxmlformats.org/officeDocument/2006/relationships/image" Target="../media/image31.wmf"/><Relationship Id="rId3" Type="http://schemas.openxmlformats.org/officeDocument/2006/relationships/oleObject" Target="../embeddings/oleObject29.bin"/><Relationship Id="rId21" Type="http://schemas.openxmlformats.org/officeDocument/2006/relationships/oleObject" Target="../embeddings/oleObject38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36.bin"/><Relationship Id="rId25" Type="http://schemas.openxmlformats.org/officeDocument/2006/relationships/oleObject" Target="../embeddings/oleObject40.bin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0.wmf"/><Relationship Id="rId20" Type="http://schemas.openxmlformats.org/officeDocument/2006/relationships/image" Target="../media/image32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33.bin"/><Relationship Id="rId24" Type="http://schemas.openxmlformats.org/officeDocument/2006/relationships/image" Target="../media/image34.wmf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23" Type="http://schemas.openxmlformats.org/officeDocument/2006/relationships/oleObject" Target="../embeddings/oleObject39.bin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37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29.wmf"/><Relationship Id="rId22" Type="http://schemas.openxmlformats.org/officeDocument/2006/relationships/image" Target="../media/image3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35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2060848"/>
            <a:ext cx="7772400" cy="1077640"/>
          </a:xfrm>
        </p:spPr>
        <p:txBody>
          <a:bodyPr/>
          <a:lstStyle/>
          <a:p>
            <a:pPr algn="ctr" eaLnBrk="1" hangingPunct="1"/>
            <a:r>
              <a:rPr kumimoji="1" lang="en-US" altLang="zh-CN" sz="4000" b="1" dirty="0">
                <a:solidFill>
                  <a:srgbClr val="CC0099"/>
                </a:solidFill>
                <a:latin typeface="楷体_GB2312"/>
                <a:ea typeface="楷体_GB2312"/>
                <a:cs typeface="楷体_GB2312"/>
              </a:rPr>
              <a:t>§</a:t>
            </a:r>
            <a:r>
              <a:rPr kumimoji="1" lang="en-US" altLang="zh-CN" sz="4000" b="1" dirty="0">
                <a:solidFill>
                  <a:srgbClr val="CC00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en-US" altLang="zh-CN" sz="4000" b="1" dirty="0">
                <a:solidFill>
                  <a:srgbClr val="CC0099"/>
                </a:solidFill>
                <a:latin typeface="楷体_GB2312"/>
                <a:ea typeface="楷体_GB2312"/>
                <a:cs typeface="楷体_GB2312"/>
              </a:rPr>
              <a:t>  </a:t>
            </a:r>
            <a:r>
              <a:rPr kumimoji="1" lang="zh-CN" altLang="en-US" sz="4000" b="1" dirty="0">
                <a:solidFill>
                  <a:srgbClr val="CC0099"/>
                </a:solidFill>
                <a:latin typeface="楷体_GB2312"/>
                <a:ea typeface="楷体_GB2312"/>
                <a:cs typeface="楷体_GB2312"/>
              </a:rPr>
              <a:t>全排列和对换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914400" y="1696367"/>
            <a:ext cx="14478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引例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981200" y="1682080"/>
            <a:ext cx="6477000" cy="946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用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、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、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三个数字，可以组成多少个没有重复数字的三位数？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914400" y="2825080"/>
            <a:ext cx="14478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解</a:t>
            </a:r>
          </a:p>
        </p:txBody>
      </p:sp>
      <p:grpSp>
        <p:nvGrpSpPr>
          <p:cNvPr id="18437" name="Group 5"/>
          <p:cNvGrpSpPr/>
          <p:nvPr/>
        </p:nvGrpSpPr>
        <p:grpSpPr bwMode="auto">
          <a:xfrm>
            <a:off x="1981200" y="3663280"/>
            <a:ext cx="1447800" cy="381000"/>
            <a:chOff x="1248" y="2400"/>
            <a:chExt cx="912" cy="240"/>
          </a:xfrm>
        </p:grpSpPr>
        <p:sp>
          <p:nvSpPr>
            <p:cNvPr id="11317" name="Rectangle 6"/>
            <p:cNvSpPr>
              <a:spLocks noChangeArrowheads="1"/>
            </p:cNvSpPr>
            <p:nvPr/>
          </p:nvSpPr>
          <p:spPr bwMode="auto">
            <a:xfrm>
              <a:off x="1248" y="240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18" name="Rectangle 7"/>
            <p:cNvSpPr>
              <a:spLocks noChangeArrowheads="1"/>
            </p:cNvSpPr>
            <p:nvPr/>
          </p:nvSpPr>
          <p:spPr bwMode="auto">
            <a:xfrm>
              <a:off x="1584" y="240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19" name="Rectangle 8"/>
            <p:cNvSpPr>
              <a:spLocks noChangeArrowheads="1"/>
            </p:cNvSpPr>
            <p:nvPr/>
          </p:nvSpPr>
          <p:spPr bwMode="auto">
            <a:xfrm>
              <a:off x="1920" y="240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41" name="Group 9"/>
          <p:cNvGrpSpPr/>
          <p:nvPr/>
        </p:nvGrpSpPr>
        <p:grpSpPr bwMode="auto">
          <a:xfrm>
            <a:off x="3886200" y="3663280"/>
            <a:ext cx="1447800" cy="381000"/>
            <a:chOff x="2448" y="2400"/>
            <a:chExt cx="912" cy="240"/>
          </a:xfrm>
        </p:grpSpPr>
        <p:sp>
          <p:nvSpPr>
            <p:cNvPr id="11314" name="Rectangle 10"/>
            <p:cNvSpPr>
              <a:spLocks noChangeArrowheads="1"/>
            </p:cNvSpPr>
            <p:nvPr/>
          </p:nvSpPr>
          <p:spPr bwMode="auto">
            <a:xfrm>
              <a:off x="2448" y="240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15" name="Rectangle 11"/>
            <p:cNvSpPr>
              <a:spLocks noChangeArrowheads="1"/>
            </p:cNvSpPr>
            <p:nvPr/>
          </p:nvSpPr>
          <p:spPr bwMode="auto">
            <a:xfrm>
              <a:off x="2784" y="240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16" name="Rectangle 12"/>
            <p:cNvSpPr>
              <a:spLocks noChangeArrowheads="1"/>
            </p:cNvSpPr>
            <p:nvPr/>
          </p:nvSpPr>
          <p:spPr bwMode="auto">
            <a:xfrm>
              <a:off x="3120" y="240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45" name="Group 13"/>
          <p:cNvGrpSpPr/>
          <p:nvPr/>
        </p:nvGrpSpPr>
        <p:grpSpPr bwMode="auto">
          <a:xfrm>
            <a:off x="5867400" y="3663280"/>
            <a:ext cx="1447800" cy="381000"/>
            <a:chOff x="3696" y="2400"/>
            <a:chExt cx="912" cy="240"/>
          </a:xfrm>
        </p:grpSpPr>
        <p:sp>
          <p:nvSpPr>
            <p:cNvPr id="11311" name="Rectangle 14"/>
            <p:cNvSpPr>
              <a:spLocks noChangeArrowheads="1"/>
            </p:cNvSpPr>
            <p:nvPr/>
          </p:nvSpPr>
          <p:spPr bwMode="auto">
            <a:xfrm>
              <a:off x="3696" y="240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12" name="Rectangle 15"/>
            <p:cNvSpPr>
              <a:spLocks noChangeArrowheads="1"/>
            </p:cNvSpPr>
            <p:nvPr/>
          </p:nvSpPr>
          <p:spPr bwMode="auto">
            <a:xfrm>
              <a:off x="4032" y="240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13" name="Rectangle 16"/>
            <p:cNvSpPr>
              <a:spLocks noChangeArrowheads="1"/>
            </p:cNvSpPr>
            <p:nvPr/>
          </p:nvSpPr>
          <p:spPr bwMode="auto">
            <a:xfrm>
              <a:off x="4368" y="240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3276600" y="2748880"/>
            <a:ext cx="2438400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1     2     3</a:t>
            </a:r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1981200" y="3525167"/>
            <a:ext cx="457200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51" name="Text Box 19"/>
          <p:cNvSpPr txBox="1">
            <a:spLocks noChangeArrowheads="1"/>
          </p:cNvSpPr>
          <p:nvPr/>
        </p:nvSpPr>
        <p:spPr bwMode="auto">
          <a:xfrm>
            <a:off x="3886200" y="3536280"/>
            <a:ext cx="381000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5867400" y="3525167"/>
            <a:ext cx="457200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8453" name="Text Box 21"/>
          <p:cNvSpPr txBox="1">
            <a:spLocks noChangeArrowheads="1"/>
          </p:cNvSpPr>
          <p:nvPr/>
        </p:nvSpPr>
        <p:spPr bwMode="auto">
          <a:xfrm>
            <a:off x="1066800" y="3622005"/>
            <a:ext cx="1219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百位</a:t>
            </a:r>
          </a:p>
        </p:txBody>
      </p:sp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7315200" y="3663280"/>
            <a:ext cx="1600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3</a:t>
            </a:r>
            <a:r>
              <a:rPr kumimoji="1" lang="zh-CN" altLang="en-US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种放法</a:t>
            </a:r>
          </a:p>
        </p:txBody>
      </p:sp>
      <p:sp>
        <p:nvSpPr>
          <p:cNvPr id="18455" name="Text Box 23"/>
          <p:cNvSpPr txBox="1">
            <a:spLocks noChangeArrowheads="1"/>
          </p:cNvSpPr>
          <p:nvPr/>
        </p:nvSpPr>
        <p:spPr bwMode="auto">
          <a:xfrm>
            <a:off x="1066800" y="4341142"/>
            <a:ext cx="1219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十位</a:t>
            </a:r>
          </a:p>
        </p:txBody>
      </p:sp>
      <p:grpSp>
        <p:nvGrpSpPr>
          <p:cNvPr id="18456" name="Group 24"/>
          <p:cNvGrpSpPr/>
          <p:nvPr/>
        </p:nvGrpSpPr>
        <p:grpSpPr bwMode="auto">
          <a:xfrm>
            <a:off x="3886200" y="4355430"/>
            <a:ext cx="1447800" cy="381000"/>
            <a:chOff x="2448" y="2880"/>
            <a:chExt cx="912" cy="240"/>
          </a:xfrm>
        </p:grpSpPr>
        <p:sp>
          <p:nvSpPr>
            <p:cNvPr id="11308" name="Rectangle 25"/>
            <p:cNvSpPr>
              <a:spLocks noChangeArrowheads="1"/>
            </p:cNvSpPr>
            <p:nvPr/>
          </p:nvSpPr>
          <p:spPr bwMode="auto">
            <a:xfrm>
              <a:off x="2448" y="288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09" name="Rectangle 26"/>
            <p:cNvSpPr>
              <a:spLocks noChangeArrowheads="1"/>
            </p:cNvSpPr>
            <p:nvPr/>
          </p:nvSpPr>
          <p:spPr bwMode="auto">
            <a:xfrm>
              <a:off x="2784" y="288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10" name="Rectangle 27"/>
            <p:cNvSpPr>
              <a:spLocks noChangeArrowheads="1"/>
            </p:cNvSpPr>
            <p:nvPr/>
          </p:nvSpPr>
          <p:spPr bwMode="auto">
            <a:xfrm>
              <a:off x="3120" y="288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60" name="Group 28"/>
          <p:cNvGrpSpPr/>
          <p:nvPr/>
        </p:nvGrpSpPr>
        <p:grpSpPr bwMode="auto">
          <a:xfrm>
            <a:off x="1981200" y="4355430"/>
            <a:ext cx="1447800" cy="381000"/>
            <a:chOff x="1248" y="2880"/>
            <a:chExt cx="912" cy="240"/>
          </a:xfrm>
        </p:grpSpPr>
        <p:sp>
          <p:nvSpPr>
            <p:cNvPr id="11305" name="Rectangle 29"/>
            <p:cNvSpPr>
              <a:spLocks noChangeArrowheads="1"/>
            </p:cNvSpPr>
            <p:nvPr/>
          </p:nvSpPr>
          <p:spPr bwMode="auto">
            <a:xfrm>
              <a:off x="1584" y="288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06" name="Rectangle 30"/>
            <p:cNvSpPr>
              <a:spLocks noChangeArrowheads="1"/>
            </p:cNvSpPr>
            <p:nvPr/>
          </p:nvSpPr>
          <p:spPr bwMode="auto">
            <a:xfrm>
              <a:off x="1920" y="288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07" name="Rectangle 31"/>
            <p:cNvSpPr>
              <a:spLocks noChangeArrowheads="1"/>
            </p:cNvSpPr>
            <p:nvPr/>
          </p:nvSpPr>
          <p:spPr bwMode="auto">
            <a:xfrm>
              <a:off x="1248" y="288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464" name="Text Box 32"/>
          <p:cNvSpPr txBox="1">
            <a:spLocks noChangeArrowheads="1"/>
          </p:cNvSpPr>
          <p:nvPr/>
        </p:nvSpPr>
        <p:spPr bwMode="auto">
          <a:xfrm>
            <a:off x="1998663" y="4244305"/>
            <a:ext cx="457200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65" name="Text Box 33"/>
          <p:cNvSpPr txBox="1">
            <a:spLocks noChangeArrowheads="1"/>
          </p:cNvSpPr>
          <p:nvPr/>
        </p:nvSpPr>
        <p:spPr bwMode="auto">
          <a:xfrm>
            <a:off x="2532063" y="4244305"/>
            <a:ext cx="381000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8466" name="Text Box 34"/>
          <p:cNvSpPr txBox="1">
            <a:spLocks noChangeArrowheads="1"/>
          </p:cNvSpPr>
          <p:nvPr/>
        </p:nvSpPr>
        <p:spPr bwMode="auto">
          <a:xfrm>
            <a:off x="4419600" y="4233192"/>
            <a:ext cx="457200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8467" name="Text Box 35"/>
          <p:cNvSpPr txBox="1">
            <a:spLocks noChangeArrowheads="1"/>
          </p:cNvSpPr>
          <p:nvPr/>
        </p:nvSpPr>
        <p:spPr bwMode="auto">
          <a:xfrm>
            <a:off x="3886200" y="4244305"/>
            <a:ext cx="457200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68" name="Text Box 36"/>
          <p:cNvSpPr txBox="1">
            <a:spLocks noChangeArrowheads="1"/>
          </p:cNvSpPr>
          <p:nvPr/>
        </p:nvSpPr>
        <p:spPr bwMode="auto">
          <a:xfrm>
            <a:off x="1066800" y="5061867"/>
            <a:ext cx="1219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个位</a:t>
            </a:r>
          </a:p>
        </p:txBody>
      </p:sp>
      <p:grpSp>
        <p:nvGrpSpPr>
          <p:cNvPr id="18469" name="Group 37"/>
          <p:cNvGrpSpPr/>
          <p:nvPr/>
        </p:nvGrpSpPr>
        <p:grpSpPr bwMode="auto">
          <a:xfrm>
            <a:off x="1981200" y="5065042"/>
            <a:ext cx="1447800" cy="393700"/>
            <a:chOff x="1248" y="3360"/>
            <a:chExt cx="912" cy="248"/>
          </a:xfrm>
        </p:grpSpPr>
        <p:sp>
          <p:nvSpPr>
            <p:cNvPr id="11302" name="Rectangle 38"/>
            <p:cNvSpPr>
              <a:spLocks noChangeArrowheads="1"/>
            </p:cNvSpPr>
            <p:nvPr/>
          </p:nvSpPr>
          <p:spPr bwMode="auto">
            <a:xfrm>
              <a:off x="1584" y="3360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03" name="Rectangle 39"/>
            <p:cNvSpPr>
              <a:spLocks noChangeArrowheads="1"/>
            </p:cNvSpPr>
            <p:nvPr/>
          </p:nvSpPr>
          <p:spPr bwMode="auto">
            <a:xfrm>
              <a:off x="1920" y="3368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04" name="Rectangle 40"/>
            <p:cNvSpPr>
              <a:spLocks noChangeArrowheads="1"/>
            </p:cNvSpPr>
            <p:nvPr/>
          </p:nvSpPr>
          <p:spPr bwMode="auto">
            <a:xfrm>
              <a:off x="1248" y="3368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473" name="Text Box 41"/>
          <p:cNvSpPr txBox="1">
            <a:spLocks noChangeArrowheads="1"/>
          </p:cNvSpPr>
          <p:nvPr/>
        </p:nvSpPr>
        <p:spPr bwMode="auto">
          <a:xfrm>
            <a:off x="1997075" y="4944392"/>
            <a:ext cx="457200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74" name="Text Box 42"/>
          <p:cNvSpPr txBox="1">
            <a:spLocks noChangeArrowheads="1"/>
          </p:cNvSpPr>
          <p:nvPr/>
        </p:nvSpPr>
        <p:spPr bwMode="auto">
          <a:xfrm>
            <a:off x="2530475" y="4944392"/>
            <a:ext cx="381000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8475" name="Text Box 43"/>
          <p:cNvSpPr txBox="1">
            <a:spLocks noChangeArrowheads="1"/>
          </p:cNvSpPr>
          <p:nvPr/>
        </p:nvSpPr>
        <p:spPr bwMode="auto">
          <a:xfrm>
            <a:off x="3055938" y="4950742"/>
            <a:ext cx="457200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8476" name="Text Box 44"/>
          <p:cNvSpPr txBox="1">
            <a:spLocks noChangeArrowheads="1"/>
          </p:cNvSpPr>
          <p:nvPr/>
        </p:nvSpPr>
        <p:spPr bwMode="auto">
          <a:xfrm>
            <a:off x="7315200" y="4290342"/>
            <a:ext cx="1600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种放法</a:t>
            </a:r>
          </a:p>
        </p:txBody>
      </p:sp>
      <p:sp>
        <p:nvSpPr>
          <p:cNvPr id="18477" name="Text Box 45"/>
          <p:cNvSpPr txBox="1">
            <a:spLocks noChangeArrowheads="1"/>
          </p:cNvSpPr>
          <p:nvPr/>
        </p:nvSpPr>
        <p:spPr bwMode="auto">
          <a:xfrm>
            <a:off x="7315200" y="4882480"/>
            <a:ext cx="1600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种放法</a:t>
            </a:r>
          </a:p>
        </p:txBody>
      </p:sp>
      <p:sp>
        <p:nvSpPr>
          <p:cNvPr id="18478" name="Text Box 46"/>
          <p:cNvSpPr txBox="1">
            <a:spLocks noChangeArrowheads="1"/>
          </p:cNvSpPr>
          <p:nvPr/>
        </p:nvSpPr>
        <p:spPr bwMode="auto">
          <a:xfrm>
            <a:off x="6506962" y="5485730"/>
            <a:ext cx="1600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种放法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</a:t>
            </a:r>
          </a:p>
        </p:txBody>
      </p:sp>
      <p:sp>
        <p:nvSpPr>
          <p:cNvPr id="18479" name="Text Box 47"/>
          <p:cNvSpPr txBox="1">
            <a:spLocks noChangeArrowheads="1"/>
          </p:cNvSpPr>
          <p:nvPr/>
        </p:nvSpPr>
        <p:spPr bwMode="auto">
          <a:xfrm>
            <a:off x="4038600" y="5485730"/>
            <a:ext cx="1600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共有</a:t>
            </a:r>
          </a:p>
        </p:txBody>
      </p:sp>
      <p:graphicFrame>
        <p:nvGraphicFramePr>
          <p:cNvPr id="1848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229158"/>
              </p:ext>
            </p:extLst>
          </p:nvPr>
        </p:nvGraphicFramePr>
        <p:xfrm>
          <a:off x="4800600" y="5561930"/>
          <a:ext cx="1676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6" name="Equation" r:id="rId4" imgW="40233600" imgH="7620000" progId="Equations">
                  <p:embed/>
                </p:oleObj>
              </mc:Choice>
              <mc:Fallback>
                <p:oleObj name="Equation" r:id="rId4" imgW="40233600" imgH="7620000" progId="Equations">
                  <p:embed/>
                  <p:pic>
                    <p:nvPicPr>
                      <p:cNvPr id="0" name="图片 11264" descr="image52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00600" y="5561930"/>
                        <a:ext cx="16764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81" name="AutoShape 49"/>
          <p:cNvSpPr/>
          <p:nvPr/>
        </p:nvSpPr>
        <p:spPr bwMode="auto">
          <a:xfrm rot="5400000">
            <a:off x="4076700" y="1262980"/>
            <a:ext cx="228600" cy="4267200"/>
          </a:xfrm>
          <a:prstGeom prst="leftBrace">
            <a:avLst>
              <a:gd name="adj1" fmla="val 94025"/>
              <a:gd name="adj2" fmla="val 50000"/>
            </a:avLst>
          </a:prstGeom>
          <a:noFill/>
          <a:ln w="9525">
            <a:solidFill>
              <a:srgbClr val="0606FA"/>
            </a:solidFill>
            <a:round/>
          </a:ln>
        </p:spPr>
        <p:txBody>
          <a:bodyPr rot="10800000" vert="eaVert" wrap="none" anchor="ctr"/>
          <a:lstStyle/>
          <a:p>
            <a:pPr algn="ctr"/>
            <a:endParaRPr kumimoji="1" lang="zh-CN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82" name="AutoShape 50"/>
          <p:cNvSpPr>
            <a:spLocks noChangeArrowheads="1"/>
          </p:cNvSpPr>
          <p:nvPr/>
        </p:nvSpPr>
        <p:spPr bwMode="auto">
          <a:xfrm>
            <a:off x="2632075" y="4079205"/>
            <a:ext cx="152400" cy="228600"/>
          </a:xfrm>
          <a:prstGeom prst="down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</p:spPr>
        <p:txBody>
          <a:bodyPr vert="eaVert"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8483" name="AutoShape 51"/>
          <p:cNvSpPr>
            <a:spLocks noChangeArrowheads="1"/>
          </p:cNvSpPr>
          <p:nvPr/>
        </p:nvSpPr>
        <p:spPr bwMode="auto">
          <a:xfrm>
            <a:off x="3141663" y="4790405"/>
            <a:ext cx="152400" cy="228600"/>
          </a:xfrm>
          <a:prstGeom prst="down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</p:spPr>
        <p:txBody>
          <a:bodyPr vert="eaVert"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2026" y="708010"/>
            <a:ext cx="343074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800" b="1">
                <a:solidFill>
                  <a:srgbClr val="0000FF"/>
                </a:solidFill>
                <a:latin typeface="楷体_GB2312"/>
                <a:ea typeface="楷体_GB2312"/>
                <a:cs typeface="楷体_GB2312"/>
              </a:defRPr>
            </a:lvl1pPr>
          </a:lstStyle>
          <a:p>
            <a:r>
              <a:rPr lang="zh-CN" altLang="en-US" dirty="0"/>
              <a:t>一、排列及其逆序数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35" grpId="0" autoUpdateAnimBg="0"/>
      <p:bldP spid="18436" grpId="0" autoUpdateAnimBg="0"/>
      <p:bldP spid="18449" grpId="0" autoUpdateAnimBg="0"/>
      <p:bldP spid="18450" grpId="0" autoUpdateAnimBg="0"/>
      <p:bldP spid="18451" grpId="0" autoUpdateAnimBg="0"/>
      <p:bldP spid="18452" grpId="0" autoUpdateAnimBg="0"/>
      <p:bldP spid="18453" grpId="0" autoUpdateAnimBg="0"/>
      <p:bldP spid="18454" grpId="0" autoUpdateAnimBg="0"/>
      <p:bldP spid="18455" grpId="0" autoUpdateAnimBg="0"/>
      <p:bldP spid="18464" grpId="0" autoUpdateAnimBg="0"/>
      <p:bldP spid="18465" grpId="0" autoUpdateAnimBg="0"/>
      <p:bldP spid="18466" grpId="0" autoUpdateAnimBg="0"/>
      <p:bldP spid="18467" grpId="0" autoUpdateAnimBg="0"/>
      <p:bldP spid="18468" grpId="0" autoUpdateAnimBg="0"/>
      <p:bldP spid="18473" grpId="0" autoUpdateAnimBg="0"/>
      <p:bldP spid="18474" grpId="0" autoUpdateAnimBg="0"/>
      <p:bldP spid="18475" grpId="0" autoUpdateAnimBg="0"/>
      <p:bldP spid="18476" grpId="0" autoUpdateAnimBg="0"/>
      <p:bldP spid="18477" grpId="0" autoUpdateAnimBg="0"/>
      <p:bldP spid="18478" grpId="0" autoUpdateAnimBg="0"/>
      <p:bldP spid="18479" grpId="0" autoUpdateAnimBg="0"/>
      <p:bldP spid="18481" grpId="0" animBg="1" autoUpdateAnimBg="0"/>
      <p:bldP spid="18482" grpId="0" animBg="1"/>
      <p:bldP spid="1848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Text Box 2"/>
          <p:cNvSpPr txBox="1">
            <a:spLocks noChangeArrowheads="1"/>
          </p:cNvSpPr>
          <p:nvPr/>
        </p:nvSpPr>
        <p:spPr bwMode="auto">
          <a:xfrm>
            <a:off x="152400" y="668338"/>
            <a:ext cx="8748713" cy="10747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Tahoma" panose="020B0604030504040204" pitchFamily="34" charset="0"/>
                <a:ea typeface="楷体_GB2312"/>
                <a:cs typeface="楷体_GB2312"/>
              </a:rPr>
              <a:t>问题</a:t>
            </a:r>
            <a:r>
              <a:rPr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   把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个不同的元素排成一列，共有多少种不同的</a:t>
            </a:r>
          </a:p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          排法？</a:t>
            </a:r>
          </a:p>
        </p:txBody>
      </p:sp>
      <p:sp>
        <p:nvSpPr>
          <p:cNvPr id="19459" name="AutoShape 3"/>
          <p:cNvSpPr>
            <a:spLocks noChangeArrowheads="1"/>
          </p:cNvSpPr>
          <p:nvPr/>
        </p:nvSpPr>
        <p:spPr bwMode="auto">
          <a:xfrm>
            <a:off x="187325" y="1727200"/>
            <a:ext cx="8824913" cy="1539875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  <a:cs typeface="楷体_GB2312"/>
              </a:rPr>
              <a:t>定义</a:t>
            </a:r>
            <a:r>
              <a:rPr lang="zh-CN" alt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   把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lang="zh-CN" alt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个不同的元素排成一列，叫做这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lang="zh-CN" alt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个元素的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全排列（</a:t>
            </a:r>
            <a:r>
              <a:rPr lang="zh-CN" altLang="en-US" sz="2800" b="1" dirty="0">
                <a:latin typeface="Tahoma" panose="020B0604030504040204" pitchFamily="34" charset="0"/>
                <a:ea typeface="楷体_GB2312"/>
                <a:cs typeface="楷体_GB2312"/>
              </a:rPr>
              <a:t>简称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排列）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  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lang="zh-CN" alt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个不同元素的所有排列的种数，通常用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</a:t>
            </a:r>
            <a:r>
              <a:rPr lang="en-US" altLang="zh-CN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表示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graphicFrame>
        <p:nvGraphicFramePr>
          <p:cNvPr id="19460" name="Object 6"/>
          <p:cNvGraphicFramePr>
            <a:graphicFrameLocks noChangeAspect="1"/>
          </p:cNvGraphicFramePr>
          <p:nvPr/>
        </p:nvGraphicFramePr>
        <p:xfrm>
          <a:off x="1262063" y="3617913"/>
          <a:ext cx="5595937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name="Equation" r:id="rId3" imgW="53644800" imgH="5486400" progId="">
                  <p:embed/>
                </p:oleObj>
              </mc:Choice>
              <mc:Fallback>
                <p:oleObj name="Equation" r:id="rId3" imgW="53644800" imgH="5486400" progId="">
                  <p:embed/>
                  <p:pic>
                    <p:nvPicPr>
                      <p:cNvPr id="0" name="图片 12288" descr="image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62063" y="3617913"/>
                        <a:ext cx="5595937" cy="5730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52400" y="3632200"/>
            <a:ext cx="10033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显然 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150813" y="4191000"/>
            <a:ext cx="8093075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457200" indent="-457200"/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即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个不同的元素一共有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!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种不同的排法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19461" grpId="0"/>
      <p:bldP spid="19462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/>
          <p:nvPr/>
        </p:nvGrpSpPr>
        <p:grpSpPr bwMode="auto">
          <a:xfrm>
            <a:off x="1403350" y="2744788"/>
            <a:ext cx="6769100" cy="3960812"/>
            <a:chOff x="2688" y="1536"/>
            <a:chExt cx="3024" cy="2367"/>
          </a:xfrm>
        </p:grpSpPr>
        <p:sp>
          <p:nvSpPr>
            <p:cNvPr id="661509" name="Line 3"/>
            <p:cNvSpPr>
              <a:spLocks noChangeShapeType="1"/>
            </p:cNvSpPr>
            <p:nvPr/>
          </p:nvSpPr>
          <p:spPr bwMode="auto">
            <a:xfrm>
              <a:off x="2688" y="1632"/>
              <a:ext cx="3024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1510" name="Line 4"/>
            <p:cNvSpPr>
              <a:spLocks noChangeShapeType="1"/>
            </p:cNvSpPr>
            <p:nvPr/>
          </p:nvSpPr>
          <p:spPr bwMode="auto">
            <a:xfrm>
              <a:off x="2688" y="1680"/>
              <a:ext cx="3024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1511" name="Line 5"/>
            <p:cNvSpPr>
              <a:spLocks noChangeShapeType="1"/>
            </p:cNvSpPr>
            <p:nvPr/>
          </p:nvSpPr>
          <p:spPr bwMode="auto">
            <a:xfrm>
              <a:off x="2688" y="3792"/>
              <a:ext cx="3024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1512" name="Line 6"/>
            <p:cNvSpPr>
              <a:spLocks noChangeShapeType="1"/>
            </p:cNvSpPr>
            <p:nvPr/>
          </p:nvSpPr>
          <p:spPr bwMode="auto">
            <a:xfrm>
              <a:off x="2688" y="3840"/>
              <a:ext cx="3024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1513" name="Line 7"/>
            <p:cNvSpPr>
              <a:spLocks noChangeShapeType="1"/>
            </p:cNvSpPr>
            <p:nvPr/>
          </p:nvSpPr>
          <p:spPr bwMode="auto">
            <a:xfrm rot="-5400000">
              <a:off x="1585" y="2720"/>
              <a:ext cx="2367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1514" name="Line 8"/>
            <p:cNvSpPr>
              <a:spLocks noChangeShapeType="1"/>
            </p:cNvSpPr>
            <p:nvPr/>
          </p:nvSpPr>
          <p:spPr bwMode="auto">
            <a:xfrm rot="-5400000">
              <a:off x="1551" y="2720"/>
              <a:ext cx="2367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1515" name="Line 9"/>
            <p:cNvSpPr>
              <a:spLocks noChangeShapeType="1"/>
            </p:cNvSpPr>
            <p:nvPr/>
          </p:nvSpPr>
          <p:spPr bwMode="auto">
            <a:xfrm rot="-5400000">
              <a:off x="4466" y="2720"/>
              <a:ext cx="2367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1516" name="Line 10"/>
            <p:cNvSpPr>
              <a:spLocks noChangeShapeType="1"/>
            </p:cNvSpPr>
            <p:nvPr/>
          </p:nvSpPr>
          <p:spPr bwMode="auto">
            <a:xfrm rot="-5400000">
              <a:off x="4432" y="2720"/>
              <a:ext cx="2367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1692275" y="3033713"/>
            <a:ext cx="6121400" cy="3382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所有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6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种不同的排法中，只有一种排法（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123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）中的数字是按从小到大的自然顺序排列的，而其他排列中都有大的数排在小的数之前</a:t>
            </a:r>
            <a:r>
              <a:rPr kumimoji="1" lang="en-US" altLang="zh-CN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因此大部分的排列都不是“顺序”，而是“逆序”</a:t>
            </a:r>
            <a:r>
              <a:rPr kumimoji="1" lang="en-US" altLang="zh-CN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661507" name="AutoShape 12"/>
          <p:cNvSpPr>
            <a:spLocks noChangeArrowheads="1"/>
          </p:cNvSpPr>
          <p:nvPr/>
        </p:nvSpPr>
        <p:spPr bwMode="auto">
          <a:xfrm>
            <a:off x="993775" y="1085850"/>
            <a:ext cx="7227888" cy="581025"/>
          </a:xfrm>
          <a:prstGeom prst="wedgeRoundRectCallout">
            <a:avLst>
              <a:gd name="adj1" fmla="val -33852"/>
              <a:gd name="adj2" fmla="val 14681"/>
              <a:gd name="adj3" fmla="val 16667"/>
            </a:avLst>
          </a:prstGeom>
          <a:noFill/>
          <a:ln w="28575">
            <a:solidFill>
              <a:srgbClr val="CC00CC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个不同的元素一共有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3! =6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种不同的排法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1508" name="Text Box 13"/>
          <p:cNvSpPr txBox="1">
            <a:spLocks noChangeArrowheads="1"/>
          </p:cNvSpPr>
          <p:nvPr/>
        </p:nvSpPr>
        <p:spPr bwMode="auto">
          <a:xfrm>
            <a:off x="1547813" y="2025650"/>
            <a:ext cx="662463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charset="-122"/>
                <a:cs typeface="Arial Unicode MS" panose="020B0604020202020204" charset="-122"/>
              </a:rPr>
              <a:t>123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charset="-122"/>
                <a:cs typeface="Arial Unicode MS" panose="020B0604020202020204" charset="-122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charset="-122"/>
                <a:cs typeface="Arial Unicode MS" panose="020B0604020202020204" charset="-122"/>
              </a:rPr>
              <a:t>132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charset="-122"/>
                <a:cs typeface="Arial Unicode MS" panose="020B0604020202020204" charset="-122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charset="-122"/>
                <a:cs typeface="Arial Unicode MS" panose="020B0604020202020204" charset="-122"/>
              </a:rPr>
              <a:t>213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charset="-122"/>
                <a:cs typeface="Arial Unicode MS" panose="020B0604020202020204" charset="-122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charset="-122"/>
                <a:cs typeface="Arial Unicode MS" panose="020B0604020202020204" charset="-122"/>
              </a:rPr>
              <a:t>231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charset="-122"/>
                <a:cs typeface="Arial Unicode MS" panose="020B0604020202020204" charset="-122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charset="-122"/>
                <a:cs typeface="Arial Unicode MS" panose="020B0604020202020204" charset="-122"/>
              </a:rPr>
              <a:t>312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charset="-122"/>
                <a:cs typeface="Arial Unicode MS" panose="020B0604020202020204" charset="-122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charset="-122"/>
                <a:cs typeface="Arial Unicode MS" panose="020B0604020202020204" charset="-122"/>
              </a:rPr>
              <a:t>321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0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20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1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47663" y="381000"/>
            <a:ext cx="8458200" cy="1203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457200" indent="-457200">
              <a:lnSpc>
                <a:spcPct val="130000"/>
              </a:lnSpc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对于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个不同的元素，可规定各元素之间的标准次序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  <a:p>
            <a:pPr marL="457200" indent="-457200">
              <a:lnSpc>
                <a:spcPct val="130000"/>
              </a:lnSpc>
            </a:pP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个不同的自然数，规定从小到大为标准次序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sp>
        <p:nvSpPr>
          <p:cNvPr id="22531" name="AutoShape 3"/>
          <p:cNvSpPr>
            <a:spLocks noChangeArrowheads="1"/>
          </p:cNvSpPr>
          <p:nvPr/>
        </p:nvSpPr>
        <p:spPr bwMode="auto">
          <a:xfrm>
            <a:off x="347663" y="1752600"/>
            <a:ext cx="8491537" cy="1209675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</p:spPr>
        <p:txBody>
          <a:bodyPr wrap="none"/>
          <a:lstStyle/>
          <a:p>
            <a:r>
              <a:rPr lang="zh-CN" altLang="en-US" sz="2800" b="1">
                <a:solidFill>
                  <a:srgbClr val="0000FF"/>
                </a:solidFill>
                <a:latin typeface="Tahoma" panose="020B0604030504040204" pitchFamily="34" charset="0"/>
                <a:ea typeface="楷体_GB2312"/>
                <a:cs typeface="楷体_GB2312"/>
              </a:rPr>
              <a:t>定义</a:t>
            </a:r>
            <a:r>
              <a:rPr lang="zh-CN" altLang="en-US" sz="2800" b="1">
                <a:solidFill>
                  <a:srgbClr val="6666FF"/>
                </a:solidFill>
                <a:latin typeface="Tahoma" panose="020B0604030504040204" pitchFamily="34" charset="0"/>
                <a:ea typeface="楷体_GB2312"/>
                <a:cs typeface="楷体_GB2312"/>
              </a:rPr>
              <a:t>   </a:t>
            </a:r>
            <a:r>
              <a:rPr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当某两个元素的先后次序与标准次序不同时，</a:t>
            </a:r>
          </a:p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就</a:t>
            </a:r>
            <a:r>
              <a:rPr lang="zh-CN" altLang="zh-CN" sz="2800" b="1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称这两个元素组成一个</a:t>
            </a:r>
            <a:r>
              <a:rPr lang="zh-CN" altLang="zh-CN" sz="2800" b="1">
                <a:solidFill>
                  <a:srgbClr val="FF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逆序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347663" y="3167063"/>
            <a:ext cx="3887787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例如   在排列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32514</a:t>
            </a:r>
            <a:r>
              <a:rPr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中，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3422650" y="4183063"/>
            <a:ext cx="213995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3   2   5   1   4</a:t>
            </a:r>
          </a:p>
        </p:txBody>
      </p:sp>
      <p:grpSp>
        <p:nvGrpSpPr>
          <p:cNvPr id="22534" name="Group 6"/>
          <p:cNvGrpSpPr/>
          <p:nvPr/>
        </p:nvGrpSpPr>
        <p:grpSpPr bwMode="auto">
          <a:xfrm>
            <a:off x="3346450" y="4564063"/>
            <a:ext cx="987425" cy="846137"/>
            <a:chOff x="1776" y="3321"/>
            <a:chExt cx="622" cy="533"/>
          </a:xfrm>
        </p:grpSpPr>
        <p:grpSp>
          <p:nvGrpSpPr>
            <p:cNvPr id="663570" name="Group 7"/>
            <p:cNvGrpSpPr/>
            <p:nvPr/>
          </p:nvGrpSpPr>
          <p:grpSpPr bwMode="auto">
            <a:xfrm>
              <a:off x="1872" y="3321"/>
              <a:ext cx="336" cy="192"/>
              <a:chOff x="1344" y="3024"/>
              <a:chExt cx="336" cy="192"/>
            </a:xfrm>
          </p:grpSpPr>
          <p:sp>
            <p:nvSpPr>
              <p:cNvPr id="663572" name="Line 8"/>
              <p:cNvSpPr>
                <a:spLocks noChangeShapeType="1"/>
              </p:cNvSpPr>
              <p:nvPr/>
            </p:nvSpPr>
            <p:spPr bwMode="auto">
              <a:xfrm>
                <a:off x="1344" y="3024"/>
                <a:ext cx="192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63573" name="Line 9"/>
              <p:cNvSpPr>
                <a:spLocks noChangeShapeType="1"/>
              </p:cNvSpPr>
              <p:nvPr/>
            </p:nvSpPr>
            <p:spPr bwMode="auto">
              <a:xfrm flipH="1">
                <a:off x="1488" y="3024"/>
                <a:ext cx="192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663571" name="Rectangle 10"/>
            <p:cNvSpPr>
              <a:spLocks noChangeArrowheads="1"/>
            </p:cNvSpPr>
            <p:nvPr/>
          </p:nvSpPr>
          <p:spPr bwMode="auto">
            <a:xfrm>
              <a:off x="1776" y="3527"/>
              <a:ext cx="622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逆序 </a:t>
              </a:r>
            </a:p>
          </p:txBody>
        </p:sp>
      </p:grpSp>
      <p:grpSp>
        <p:nvGrpSpPr>
          <p:cNvPr id="22539" name="Group 11"/>
          <p:cNvGrpSpPr/>
          <p:nvPr/>
        </p:nvGrpSpPr>
        <p:grpSpPr bwMode="auto">
          <a:xfrm>
            <a:off x="4184650" y="3581400"/>
            <a:ext cx="987425" cy="739775"/>
            <a:chOff x="2304" y="2702"/>
            <a:chExt cx="622" cy="466"/>
          </a:xfrm>
        </p:grpSpPr>
        <p:grpSp>
          <p:nvGrpSpPr>
            <p:cNvPr id="663566" name="Group 12"/>
            <p:cNvGrpSpPr/>
            <p:nvPr/>
          </p:nvGrpSpPr>
          <p:grpSpPr bwMode="auto">
            <a:xfrm rot="-10769307">
              <a:off x="2448" y="2976"/>
              <a:ext cx="336" cy="192"/>
              <a:chOff x="1344" y="3024"/>
              <a:chExt cx="336" cy="192"/>
            </a:xfrm>
          </p:grpSpPr>
          <p:sp>
            <p:nvSpPr>
              <p:cNvPr id="663568" name="Line 13"/>
              <p:cNvSpPr>
                <a:spLocks noChangeShapeType="1"/>
              </p:cNvSpPr>
              <p:nvPr/>
            </p:nvSpPr>
            <p:spPr bwMode="auto">
              <a:xfrm>
                <a:off x="1344" y="3024"/>
                <a:ext cx="192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63569" name="Line 14"/>
              <p:cNvSpPr>
                <a:spLocks noChangeShapeType="1"/>
              </p:cNvSpPr>
              <p:nvPr/>
            </p:nvSpPr>
            <p:spPr bwMode="auto">
              <a:xfrm flipH="1">
                <a:off x="1488" y="3024"/>
                <a:ext cx="192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663567" name="Rectangle 15"/>
            <p:cNvSpPr>
              <a:spLocks noChangeArrowheads="1"/>
            </p:cNvSpPr>
            <p:nvPr/>
          </p:nvSpPr>
          <p:spPr bwMode="auto">
            <a:xfrm>
              <a:off x="2304" y="2702"/>
              <a:ext cx="622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逆序 </a:t>
              </a:r>
            </a:p>
          </p:txBody>
        </p:sp>
      </p:grpSp>
      <p:grpSp>
        <p:nvGrpSpPr>
          <p:cNvPr id="22544" name="Group 16"/>
          <p:cNvGrpSpPr/>
          <p:nvPr/>
        </p:nvGrpSpPr>
        <p:grpSpPr bwMode="auto">
          <a:xfrm>
            <a:off x="4413250" y="4549775"/>
            <a:ext cx="1139825" cy="860425"/>
            <a:chOff x="2448" y="3312"/>
            <a:chExt cx="718" cy="542"/>
          </a:xfrm>
        </p:grpSpPr>
        <p:grpSp>
          <p:nvGrpSpPr>
            <p:cNvPr id="663562" name="Group 17"/>
            <p:cNvGrpSpPr/>
            <p:nvPr/>
          </p:nvGrpSpPr>
          <p:grpSpPr bwMode="auto">
            <a:xfrm>
              <a:off x="2448" y="3312"/>
              <a:ext cx="672" cy="192"/>
              <a:chOff x="1344" y="3024"/>
              <a:chExt cx="336" cy="192"/>
            </a:xfrm>
          </p:grpSpPr>
          <p:sp>
            <p:nvSpPr>
              <p:cNvPr id="663564" name="Line 18"/>
              <p:cNvSpPr>
                <a:spLocks noChangeShapeType="1"/>
              </p:cNvSpPr>
              <p:nvPr/>
            </p:nvSpPr>
            <p:spPr bwMode="auto">
              <a:xfrm>
                <a:off x="1344" y="3024"/>
                <a:ext cx="192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63565" name="Line 19"/>
              <p:cNvSpPr>
                <a:spLocks noChangeShapeType="1"/>
              </p:cNvSpPr>
              <p:nvPr/>
            </p:nvSpPr>
            <p:spPr bwMode="auto">
              <a:xfrm flipH="1">
                <a:off x="1488" y="3024"/>
                <a:ext cx="192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663563" name="Rectangle 20"/>
            <p:cNvSpPr>
              <a:spLocks noChangeArrowheads="1"/>
            </p:cNvSpPr>
            <p:nvPr/>
          </p:nvSpPr>
          <p:spPr bwMode="auto">
            <a:xfrm>
              <a:off x="2544" y="3527"/>
              <a:ext cx="622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逆序 </a:t>
              </a:r>
            </a:p>
          </p:txBody>
        </p:sp>
      </p:grp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315913" y="5500688"/>
            <a:ext cx="5184775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思考题：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还能找到其它逆序吗？</a:t>
            </a:r>
          </a:p>
        </p:txBody>
      </p: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315913" y="6110288"/>
            <a:ext cx="634365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答：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也构成逆序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 autoUpdateAnimBg="0"/>
      <p:bldP spid="22531" grpId="0" animBg="1"/>
      <p:bldP spid="22532" grpId="0"/>
      <p:bldP spid="22533" grpId="0" autoUpdateAnimBg="0"/>
      <p:bldP spid="22549" grpId="0" autoUpdateAnimBg="0"/>
      <p:bldP spid="2255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2"/>
          <p:cNvSpPr>
            <a:spLocks noChangeArrowheads="1"/>
          </p:cNvSpPr>
          <p:nvPr/>
        </p:nvSpPr>
        <p:spPr bwMode="auto">
          <a:xfrm>
            <a:off x="317500" y="635000"/>
            <a:ext cx="8521700" cy="7366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</p:spPr>
        <p:txBody>
          <a:bodyPr>
            <a:spAutoFit/>
          </a:bodyPr>
          <a:lstStyle/>
          <a:p>
            <a:pPr marL="457200" indent="-457200">
              <a:lnSpc>
                <a:spcPct val="130000"/>
              </a:lnSpc>
            </a:pPr>
            <a:r>
              <a:rPr kumimoji="1"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定义</a:t>
            </a:r>
            <a:r>
              <a:rPr kumimoji="1"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排列中所有逆序的总数称为此排列的</a:t>
            </a:r>
            <a:r>
              <a:rPr kumimoji="1" lang="zh-CN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逆序数</a:t>
            </a:r>
            <a:r>
              <a:rPr kumimoji="1"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1371600" y="1600200"/>
            <a:ext cx="688521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排列            的逆序数通常记为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</a:t>
            </a:r>
          </a:p>
        </p:txBody>
      </p:sp>
      <p:graphicFrame>
        <p:nvGraphicFramePr>
          <p:cNvPr id="2355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237164"/>
              </p:ext>
            </p:extLst>
          </p:nvPr>
        </p:nvGraphicFramePr>
        <p:xfrm>
          <a:off x="2267744" y="1631295"/>
          <a:ext cx="12192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3" name="Equation" r:id="rId3" imgW="12192000" imgH="5486400" progId="">
                  <p:embed/>
                </p:oleObj>
              </mc:Choice>
              <mc:Fallback>
                <p:oleObj name="Equation" r:id="rId3" imgW="12192000" imgH="5486400" progId="">
                  <p:embed/>
                  <p:pic>
                    <p:nvPicPr>
                      <p:cNvPr id="0" name="图片 13312" descr="image5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1631295"/>
                        <a:ext cx="1219200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876714"/>
              </p:ext>
            </p:extLst>
          </p:nvPr>
        </p:nvGraphicFramePr>
        <p:xfrm>
          <a:off x="6361662" y="1626395"/>
          <a:ext cx="160178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4" name="Equation" r:id="rId5" imgW="16459200" imgH="5486400" progId="">
                  <p:embed/>
                </p:oleObj>
              </mc:Choice>
              <mc:Fallback>
                <p:oleObj name="Equation" r:id="rId5" imgW="16459200" imgH="5486400" progId="">
                  <p:embed/>
                  <p:pic>
                    <p:nvPicPr>
                      <p:cNvPr id="0" name="图片 13322" descr="image5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61662" y="1626395"/>
                        <a:ext cx="1601787" cy="536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1371600" y="2452688"/>
            <a:ext cx="5006975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奇排列：</a:t>
            </a:r>
            <a:r>
              <a:rPr kumimoji="1" lang="zh-CN" altLang="en-US" sz="28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逆序数为奇数的排列</a:t>
            </a:r>
            <a:r>
              <a:rPr kumimoji="1" lang="en-US" altLang="zh-CN" sz="28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1371600" y="2986088"/>
            <a:ext cx="5006975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偶排列：</a:t>
            </a:r>
            <a:r>
              <a:rPr kumimoji="1" lang="zh-CN" altLang="en-US" sz="28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逆序数为偶数的排列</a:t>
            </a:r>
            <a:r>
              <a:rPr kumimoji="1" lang="en-US" altLang="zh-CN" sz="28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315913" y="3978275"/>
            <a:ext cx="8488362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思考题：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符合标准次序的排列是奇排列还是偶排列？ </a:t>
            </a: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315913" y="4540250"/>
            <a:ext cx="7924800" cy="1203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zh-CN" altLang="en-US" sz="28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答：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符合标准次序的排列（例如：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123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）的逆序数等于零，因而是偶排列</a:t>
            </a:r>
            <a:r>
              <a:rPr kumimoji="1" lang="en-US" altLang="zh-CN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 autoUpdateAnimBg="0"/>
      <p:bldP spid="23555" grpId="0"/>
      <p:bldP spid="23558" grpId="0" autoUpdateAnimBg="0"/>
      <p:bldP spid="23559" grpId="0" autoUpdateAnimBg="0"/>
      <p:bldP spid="23560" grpId="0" autoUpdateAnimBg="0"/>
      <p:bldP spid="2356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3" name="Text Box 2"/>
          <p:cNvSpPr txBox="1">
            <a:spLocks noChangeArrowheads="1"/>
          </p:cNvSpPr>
          <p:nvPr/>
        </p:nvSpPr>
        <p:spPr bwMode="auto">
          <a:xfrm>
            <a:off x="536575" y="690563"/>
            <a:ext cx="4122738" cy="528637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计算排列的逆序数的方法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912813" y="4587875"/>
            <a:ext cx="2941637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则此排列的逆序数为</a:t>
            </a:r>
          </a:p>
        </p:txBody>
      </p:sp>
      <p:graphicFrame>
        <p:nvGraphicFramePr>
          <p:cNvPr id="24580" name="Object 46"/>
          <p:cNvGraphicFramePr>
            <a:graphicFrameLocks noChangeAspect="1"/>
          </p:cNvGraphicFramePr>
          <p:nvPr/>
        </p:nvGraphicFramePr>
        <p:xfrm>
          <a:off x="3905250" y="4587875"/>
          <a:ext cx="25273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8" name="Equation" r:id="rId3" imgW="26822400" imgH="5486400" progId="">
                  <p:embed/>
                </p:oleObj>
              </mc:Choice>
              <mc:Fallback>
                <p:oleObj name="Equation" r:id="rId3" imgW="26822400" imgH="5486400" progId="">
                  <p:embed/>
                  <p:pic>
                    <p:nvPicPr>
                      <p:cNvPr id="0" name="图片 14336" descr="image5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05250" y="4587875"/>
                        <a:ext cx="2527300" cy="517525"/>
                      </a:xfrm>
                      <a:prstGeom prst="rect">
                        <a:avLst/>
                      </a:prstGeom>
                      <a:solidFill>
                        <a:srgbClr val="FFFFB9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914400" y="1457325"/>
            <a:ext cx="7620000" cy="294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设                    是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1, 2,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这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个自然数的任一排列，并规定由小到大为标准次序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 </a:t>
            </a:r>
          </a:p>
          <a:p>
            <a:pPr>
              <a:lnSpc>
                <a:spcPct val="130000"/>
              </a:lnSpc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先看有多少个比     大的数排在     前面，记为     ；</a:t>
            </a:r>
          </a:p>
          <a:p>
            <a:pPr>
              <a:lnSpc>
                <a:spcPct val="130000"/>
              </a:lnSpc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再看有多少个比     大的数排在     前面，记为    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;</a:t>
            </a:r>
          </a:p>
          <a:p>
            <a:pPr>
              <a:lnSpc>
                <a:spcPct val="130000"/>
              </a:lnSpc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……</a:t>
            </a:r>
          </a:p>
          <a:p>
            <a:pPr>
              <a:lnSpc>
                <a:spcPct val="130000"/>
              </a:lnSpc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最后看有多少个比     大的数排在     前面，记为    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;</a:t>
            </a:r>
          </a:p>
        </p:txBody>
      </p:sp>
      <p:graphicFrame>
        <p:nvGraphicFramePr>
          <p:cNvPr id="14383" name="Object 47"/>
          <p:cNvGraphicFramePr>
            <a:graphicFrameLocks noChangeAspect="1"/>
          </p:cNvGraphicFramePr>
          <p:nvPr/>
        </p:nvGraphicFramePr>
        <p:xfrm>
          <a:off x="1311275" y="1489075"/>
          <a:ext cx="15843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" name="Equation" r:id="rId5" imgW="15849600" imgH="5486400" progId="">
                  <p:embed/>
                </p:oleObj>
              </mc:Choice>
              <mc:Fallback>
                <p:oleObj name="Equation" r:id="rId5" imgW="15849600" imgH="5486400" progId="">
                  <p:embed/>
                  <p:pic>
                    <p:nvPicPr>
                      <p:cNvPr id="0" name="图片 14382" descr="image5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11275" y="1489075"/>
                        <a:ext cx="1584325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48"/>
          <p:cNvGraphicFramePr>
            <a:graphicFrameLocks noChangeAspect="1"/>
          </p:cNvGraphicFramePr>
          <p:nvPr/>
        </p:nvGraphicFramePr>
        <p:xfrm>
          <a:off x="3124200" y="2463800"/>
          <a:ext cx="4270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0" name="Equation" r:id="rId7" imgW="4267200" imgH="5486400" progId="">
                  <p:embed/>
                </p:oleObj>
              </mc:Choice>
              <mc:Fallback>
                <p:oleObj name="Equation" r:id="rId7" imgW="4267200" imgH="5486400" progId="">
                  <p:embed/>
                  <p:pic>
                    <p:nvPicPr>
                      <p:cNvPr id="0" name="图片 14383" descr="image5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24200" y="2463800"/>
                        <a:ext cx="427038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49"/>
          <p:cNvGraphicFramePr>
            <a:graphicFrameLocks noChangeAspect="1"/>
          </p:cNvGraphicFramePr>
          <p:nvPr/>
        </p:nvGraphicFramePr>
        <p:xfrm>
          <a:off x="5011738" y="2476500"/>
          <a:ext cx="42703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1" name="Equation" r:id="rId9" imgW="4267200" imgH="5486400" progId="">
                  <p:embed/>
                </p:oleObj>
              </mc:Choice>
              <mc:Fallback>
                <p:oleObj name="Equation" r:id="rId9" imgW="4267200" imgH="5486400" progId="">
                  <p:embed/>
                  <p:pic>
                    <p:nvPicPr>
                      <p:cNvPr id="0" name="图片 14384" descr="image5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11738" y="2476500"/>
                        <a:ext cx="427037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50"/>
          <p:cNvGraphicFramePr>
            <a:graphicFrameLocks noChangeAspect="1"/>
          </p:cNvGraphicFramePr>
          <p:nvPr/>
        </p:nvGraphicFramePr>
        <p:xfrm>
          <a:off x="7054850" y="2505075"/>
          <a:ext cx="3365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2" name="Equation" r:id="rId10" imgW="3352800" imgH="5486400" progId="">
                  <p:embed/>
                </p:oleObj>
              </mc:Choice>
              <mc:Fallback>
                <p:oleObj name="Equation" r:id="rId10" imgW="3352800" imgH="5486400" progId="">
                  <p:embed/>
                  <p:pic>
                    <p:nvPicPr>
                      <p:cNvPr id="0" name="图片 14385" descr="image59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054850" y="2505075"/>
                        <a:ext cx="336550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51"/>
          <p:cNvGraphicFramePr>
            <a:graphicFrameLocks noChangeAspect="1"/>
          </p:cNvGraphicFramePr>
          <p:nvPr/>
        </p:nvGraphicFramePr>
        <p:xfrm>
          <a:off x="3124200" y="2914650"/>
          <a:ext cx="4572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3" name="Equation" r:id="rId12" imgW="4572000" imgH="5486400" progId="">
                  <p:embed/>
                </p:oleObj>
              </mc:Choice>
              <mc:Fallback>
                <p:oleObj name="Equation" r:id="rId12" imgW="4572000" imgH="5486400" progId="">
                  <p:embed/>
                  <p:pic>
                    <p:nvPicPr>
                      <p:cNvPr id="0" name="图片 14386" descr="image60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124200" y="2914650"/>
                        <a:ext cx="457200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52"/>
          <p:cNvGraphicFramePr>
            <a:graphicFrameLocks noChangeAspect="1"/>
          </p:cNvGraphicFramePr>
          <p:nvPr/>
        </p:nvGraphicFramePr>
        <p:xfrm>
          <a:off x="5029200" y="2914650"/>
          <a:ext cx="45878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4" name="Equation" r:id="rId14" imgW="4572000" imgH="5486400" progId="">
                  <p:embed/>
                </p:oleObj>
              </mc:Choice>
              <mc:Fallback>
                <p:oleObj name="Equation" r:id="rId14" imgW="4572000" imgH="5486400" progId="">
                  <p:embed/>
                  <p:pic>
                    <p:nvPicPr>
                      <p:cNvPr id="0" name="图片 14387" descr="image60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29200" y="2914650"/>
                        <a:ext cx="458788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53"/>
          <p:cNvGraphicFramePr>
            <a:graphicFrameLocks noChangeAspect="1"/>
          </p:cNvGraphicFramePr>
          <p:nvPr/>
        </p:nvGraphicFramePr>
        <p:xfrm>
          <a:off x="7038975" y="2936875"/>
          <a:ext cx="3365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5" name="Equation" r:id="rId15" imgW="3352800" imgH="5486400" progId="">
                  <p:embed/>
                </p:oleObj>
              </mc:Choice>
              <mc:Fallback>
                <p:oleObj name="Equation" r:id="rId15" imgW="3352800" imgH="5486400" progId="">
                  <p:embed/>
                  <p:pic>
                    <p:nvPicPr>
                      <p:cNvPr id="0" name="图片 14388" descr="image6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38975" y="2936875"/>
                        <a:ext cx="336550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54"/>
          <p:cNvGraphicFramePr>
            <a:graphicFrameLocks noChangeAspect="1"/>
          </p:cNvGraphicFramePr>
          <p:nvPr/>
        </p:nvGraphicFramePr>
        <p:xfrm>
          <a:off x="3429000" y="3895725"/>
          <a:ext cx="4572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6" name="Equation" r:id="rId17" imgW="4572000" imgH="5486400" progId="">
                  <p:embed/>
                </p:oleObj>
              </mc:Choice>
              <mc:Fallback>
                <p:oleObj name="Equation" r:id="rId17" imgW="4572000" imgH="5486400" progId="">
                  <p:embed/>
                  <p:pic>
                    <p:nvPicPr>
                      <p:cNvPr id="0" name="图片 14389" descr="image6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29000" y="3895725"/>
                        <a:ext cx="457200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55"/>
          <p:cNvGraphicFramePr>
            <a:graphicFrameLocks noChangeAspect="1"/>
          </p:cNvGraphicFramePr>
          <p:nvPr/>
        </p:nvGraphicFramePr>
        <p:xfrm>
          <a:off x="5332413" y="3895725"/>
          <a:ext cx="45878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7" name="Equation" r:id="rId19" imgW="4572000" imgH="5486400" progId="">
                  <p:embed/>
                </p:oleObj>
              </mc:Choice>
              <mc:Fallback>
                <p:oleObj name="Equation" r:id="rId19" imgW="4572000" imgH="5486400" progId="">
                  <p:embed/>
                  <p:pic>
                    <p:nvPicPr>
                      <p:cNvPr id="0" name="图片 14390" descr="image6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332413" y="3895725"/>
                        <a:ext cx="458787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56"/>
          <p:cNvGraphicFramePr>
            <a:graphicFrameLocks noChangeAspect="1"/>
          </p:cNvGraphicFramePr>
          <p:nvPr/>
        </p:nvGraphicFramePr>
        <p:xfrm>
          <a:off x="7359650" y="3927475"/>
          <a:ext cx="3667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8" name="Equation" r:id="rId20" imgW="3657600" imgH="5486400" progId="">
                  <p:embed/>
                </p:oleObj>
              </mc:Choice>
              <mc:Fallback>
                <p:oleObj name="Equation" r:id="rId20" imgW="3657600" imgH="5486400" progId="">
                  <p:embed/>
                  <p:pic>
                    <p:nvPicPr>
                      <p:cNvPr id="0" name="图片 14391" descr="image63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359650" y="3927475"/>
                        <a:ext cx="366713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4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2" name="Text Box 2"/>
          <p:cNvSpPr txBox="1">
            <a:spLocks noChangeArrowheads="1"/>
          </p:cNvSpPr>
          <p:nvPr/>
        </p:nvSpPr>
        <p:spPr bwMode="auto">
          <a:xfrm>
            <a:off x="454025" y="457200"/>
            <a:ext cx="9493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3333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zh-CN" altLang="en-US" sz="2400" b="1">
                <a:solidFill>
                  <a:srgbClr val="3333FF"/>
                </a:solidFill>
                <a:latin typeface="楷体_GB2312"/>
                <a:ea typeface="楷体_GB2312"/>
                <a:cs typeface="楷体_GB2312"/>
              </a:rPr>
              <a:t>：</a:t>
            </a:r>
          </a:p>
        </p:txBody>
      </p:sp>
      <p:sp>
        <p:nvSpPr>
          <p:cNvPr id="15373" name="Text Box 3"/>
          <p:cNvSpPr txBox="1">
            <a:spLocks noChangeArrowheads="1"/>
          </p:cNvSpPr>
          <p:nvPr/>
        </p:nvSpPr>
        <p:spPr bwMode="auto">
          <a:xfrm>
            <a:off x="1771650" y="457200"/>
            <a:ext cx="33194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求排列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32514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的逆序数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454025" y="1095375"/>
            <a:ext cx="7969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3333FF"/>
                </a:solidFill>
                <a:latin typeface="楷体_GB2312"/>
                <a:ea typeface="楷体_GB2312"/>
                <a:cs typeface="楷体_GB2312"/>
              </a:rPr>
              <a:t>解：</a:t>
            </a:r>
          </a:p>
        </p:txBody>
      </p:sp>
      <p:graphicFrame>
        <p:nvGraphicFramePr>
          <p:cNvPr id="25605" name="Object 10"/>
          <p:cNvGraphicFramePr>
            <a:graphicFrameLocks noChangeAspect="1"/>
          </p:cNvGraphicFramePr>
          <p:nvPr/>
        </p:nvGraphicFramePr>
        <p:xfrm>
          <a:off x="1841500" y="1143000"/>
          <a:ext cx="39449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1" name="Equation" r:id="rId3" imgW="45415200" imgH="4876800" progId="">
                  <p:embed/>
                </p:oleObj>
              </mc:Choice>
              <mc:Fallback>
                <p:oleObj name="Equation" r:id="rId3" imgW="45415200" imgH="4876800" progId="">
                  <p:embed/>
                  <p:pic>
                    <p:nvPicPr>
                      <p:cNvPr id="0" name="图片 15360" descr="image6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1500" y="1143000"/>
                        <a:ext cx="3944938" cy="425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457200" y="2341563"/>
            <a:ext cx="11033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3333FF"/>
                </a:solidFill>
                <a:latin typeface="楷体_GB2312"/>
                <a:ea typeface="楷体_GB2312"/>
                <a:cs typeface="楷体_GB2312"/>
              </a:rPr>
              <a:t>练习：</a:t>
            </a: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1774825" y="2341563"/>
            <a:ext cx="34718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求排列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453162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的逆序数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graphicFrame>
        <p:nvGraphicFramePr>
          <p:cNvPr id="25608" name="Object 11"/>
          <p:cNvGraphicFramePr>
            <a:graphicFrameLocks noChangeAspect="1"/>
          </p:cNvGraphicFramePr>
          <p:nvPr/>
        </p:nvGraphicFramePr>
        <p:xfrm>
          <a:off x="1841500" y="3165475"/>
          <a:ext cx="69532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2" name="Equation" r:id="rId5" imgW="7924800" imgH="4267200" progId="">
                  <p:embed/>
                </p:oleObj>
              </mc:Choice>
              <mc:Fallback>
                <p:oleObj name="Equation" r:id="rId5" imgW="7924800" imgH="4267200" progId="">
                  <p:embed/>
                  <p:pic>
                    <p:nvPicPr>
                      <p:cNvPr id="0" name="图片 15370" descr="image6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41500" y="3165475"/>
                        <a:ext cx="695325" cy="376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454025" y="3124200"/>
            <a:ext cx="7969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3333FF"/>
                </a:solidFill>
                <a:latin typeface="楷体_GB2312"/>
                <a:ea typeface="楷体_GB2312"/>
                <a:cs typeface="楷体_GB2312"/>
              </a:rPr>
              <a:t>解：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 autoUpdateAnimBg="0"/>
      <p:bldP spid="25606" grpId="0"/>
      <p:bldP spid="25607" grpId="0"/>
      <p:bldP spid="2560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/>
        </p:nvSpPr>
        <p:spPr bwMode="auto">
          <a:xfrm>
            <a:off x="-2556792" y="540544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b="1" dirty="0">
                <a:solidFill>
                  <a:srgbClr val="6600FF"/>
                </a:solidFill>
                <a:ea typeface="华文楷体" panose="02010600040101010101" pitchFamily="2" charset="-122"/>
              </a:rPr>
              <a:t>二、对换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2833688"/>
            <a:ext cx="7150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6600FF"/>
                </a:solidFill>
                <a:latin typeface="楷体_GB2312" pitchFamily="49" charset="-122"/>
                <a:ea typeface="楷体_GB2312" pitchFamily="49" charset="-122"/>
              </a:rPr>
              <a:t>特别：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将相邻两个元素对换，叫做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相邻对换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lang="zh-CN" altLang="en-US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0" y="1766888"/>
            <a:ext cx="9050338" cy="976312"/>
            <a:chOff x="0" y="1766888"/>
            <a:chExt cx="9050338" cy="976312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0" y="1766888"/>
              <a:ext cx="90601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rgbClr val="6600FF"/>
                  </a:solidFill>
                  <a:latin typeface="楷体_GB2312" pitchFamily="49" charset="-122"/>
                  <a:ea typeface="楷体_GB2312" pitchFamily="49" charset="-122"/>
                </a:rPr>
                <a:t>定义</a:t>
              </a:r>
              <a:endParaRPr lang="en-US" altLang="zh-CN" b="1" dirty="0">
                <a:solidFill>
                  <a:srgbClr val="6600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914400" y="1797050"/>
              <a:ext cx="8135938" cy="946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在排列中，将任意两个元素对调，其余元素不动，这种作出新排列的操作叫做</a:t>
              </a:r>
              <a:r>
                <a:rPr lang="zh-CN" altLang="en-US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对换</a:t>
              </a:r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</p:grp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-76200" y="3443288"/>
            <a:ext cx="929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如对换排列21354中的元素1和4的位置后，得到排列24351。</a:t>
            </a:r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381000" y="4343400"/>
            <a:ext cx="4572000" cy="609600"/>
            <a:chOff x="240" y="2544"/>
            <a:chExt cx="2880" cy="384"/>
          </a:xfrm>
        </p:grpSpPr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240" y="2544"/>
              <a:ext cx="2880" cy="384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53" y="2550"/>
              <a:ext cx="28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kumimoji="0" lang="zh-CN" altLang="en-US" b="1" dirty="0">
                  <a:solidFill>
                    <a:srgbClr val="66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对换与排列的奇偶性的关系</a:t>
              </a:r>
            </a:p>
          </p:txBody>
        </p:sp>
      </p:grp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617538" y="5149850"/>
            <a:ext cx="79930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定理1</a:t>
            </a:r>
            <a:r>
              <a:rPr lang="zh-CN" altLang="en-US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任意一个排列经过一个对换后，排列改变 </a:t>
            </a:r>
          </a:p>
          <a:p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 奇偶性。</a:t>
            </a:r>
          </a:p>
        </p:txBody>
      </p:sp>
    </p:spTree>
    <p:extLst>
      <p:ext uri="{BB962C8B-B14F-4D97-AF65-F5344CB8AC3E}">
        <p14:creationId xmlns:p14="http://schemas.microsoft.com/office/powerpoint/2010/main" val="12847434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683099"/>
              </p:ext>
            </p:extLst>
          </p:nvPr>
        </p:nvGraphicFramePr>
        <p:xfrm>
          <a:off x="1013479" y="2612861"/>
          <a:ext cx="2578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785" name="Equation" r:id="rId3" imgW="2577960" imgH="431640" progId="Equation.DSMT4">
                  <p:embed/>
                </p:oleObj>
              </mc:Choice>
              <mc:Fallback>
                <p:oleObj name="Equation" r:id="rId3" imgW="2577960" imgH="431640" progId="Equation.DSMT4">
                  <p:embed/>
                  <p:pic>
                    <p:nvPicPr>
                      <p:cNvPr id="593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479" y="2612861"/>
                        <a:ext cx="2578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657772"/>
              </p:ext>
            </p:extLst>
          </p:nvPr>
        </p:nvGraphicFramePr>
        <p:xfrm>
          <a:off x="5383866" y="2650961"/>
          <a:ext cx="2578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786" name="Equation" r:id="rId5" imgW="2577960" imgH="431640" progId="Equation.DSMT4">
                  <p:embed/>
                </p:oleObj>
              </mc:Choice>
              <mc:Fallback>
                <p:oleObj name="Equation" r:id="rId5" imgW="2577960" imgH="431640" progId="Equation.DSMT4">
                  <p:embed/>
                  <p:pic>
                    <p:nvPicPr>
                      <p:cNvPr id="593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866" y="2650961"/>
                        <a:ext cx="2578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691240" y="799306"/>
            <a:ext cx="318548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证明：</a:t>
            </a:r>
            <a:r>
              <a:rPr lang="zh-CN" altLang="en-US" b="1" dirty="0">
                <a:solidFill>
                  <a:schemeClr val="tx2"/>
                </a:solidFill>
                <a:ea typeface="华文楷体" panose="02010600040101010101" pitchFamily="2" charset="-122"/>
              </a:rPr>
              <a:t>先证相邻对换的情形。</a:t>
            </a:r>
          </a:p>
          <a:p>
            <a:pPr>
              <a:spcBef>
                <a:spcPts val="2400"/>
              </a:spcBef>
            </a:pP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设排列为</a:t>
            </a:r>
          </a:p>
        </p:txBody>
      </p:sp>
      <p:grpSp>
        <p:nvGrpSpPr>
          <p:cNvPr id="59397" name="Group 5"/>
          <p:cNvGrpSpPr>
            <a:grpSpLocks/>
          </p:cNvGrpSpPr>
          <p:nvPr/>
        </p:nvGrpSpPr>
        <p:grpSpPr bwMode="auto">
          <a:xfrm>
            <a:off x="607847" y="3450489"/>
            <a:ext cx="4660901" cy="369887"/>
            <a:chOff x="431" y="2115"/>
            <a:chExt cx="2936" cy="233"/>
          </a:xfrm>
        </p:grpSpPr>
        <p:sp>
          <p:nvSpPr>
            <p:cNvPr id="59398" name="Rectangle 6"/>
            <p:cNvSpPr>
              <a:spLocks noChangeArrowheads="1"/>
            </p:cNvSpPr>
            <p:nvPr/>
          </p:nvSpPr>
          <p:spPr bwMode="auto">
            <a:xfrm>
              <a:off x="431" y="2115"/>
              <a:ext cx="29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易见除        外，其它元素的逆序数不改变，</a:t>
              </a:r>
            </a:p>
          </p:txBody>
        </p:sp>
        <p:graphicFrame>
          <p:nvGraphicFramePr>
            <p:cNvPr id="5939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6212851"/>
                </p:ext>
              </p:extLst>
            </p:nvPr>
          </p:nvGraphicFramePr>
          <p:xfrm>
            <a:off x="944" y="2144"/>
            <a:ext cx="269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7787" name="Equation" r:id="rId7" imgW="520560" imgH="368280" progId="Equation.DSMT4">
                    <p:embed/>
                  </p:oleObj>
                </mc:Choice>
                <mc:Fallback>
                  <p:oleObj name="Equation" r:id="rId7" imgW="520560" imgH="368280" progId="Equation.DSMT4">
                    <p:embed/>
                    <p:pic>
                      <p:nvPicPr>
                        <p:cNvPr id="5939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4" y="2144"/>
                          <a:ext cx="269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94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904290"/>
              </p:ext>
            </p:extLst>
          </p:nvPr>
        </p:nvGraphicFramePr>
        <p:xfrm>
          <a:off x="1416477" y="4167172"/>
          <a:ext cx="8112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788" name="Equation" r:id="rId9" imgW="812520" imgH="330120" progId="Equation.DSMT4">
                  <p:embed/>
                </p:oleObj>
              </mc:Choice>
              <mc:Fallback>
                <p:oleObj name="Equation" r:id="rId9" imgW="812520" imgH="330120" progId="Equation.DSMT4">
                  <p:embed/>
                  <p:pic>
                    <p:nvPicPr>
                      <p:cNvPr id="594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477" y="4167172"/>
                        <a:ext cx="811212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1" name="Text Box 9"/>
          <p:cNvSpPr txBox="1">
            <a:spLocks noChangeArrowheads="1"/>
          </p:cNvSpPr>
          <p:nvPr/>
        </p:nvSpPr>
        <p:spPr bwMode="auto">
          <a:xfrm>
            <a:off x="1046292" y="4191586"/>
            <a:ext cx="15424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若             ，</a:t>
            </a:r>
          </a:p>
        </p:txBody>
      </p:sp>
      <p:grpSp>
        <p:nvGrpSpPr>
          <p:cNvPr id="59402" name="Group 10"/>
          <p:cNvGrpSpPr>
            <a:grpSpLocks/>
          </p:cNvGrpSpPr>
          <p:nvPr/>
        </p:nvGrpSpPr>
        <p:grpSpPr bwMode="auto">
          <a:xfrm>
            <a:off x="3697941" y="2522374"/>
            <a:ext cx="1600200" cy="519112"/>
            <a:chOff x="2384" y="1183"/>
            <a:chExt cx="1008" cy="327"/>
          </a:xfrm>
        </p:grpSpPr>
        <p:sp>
          <p:nvSpPr>
            <p:cNvPr id="59403" name="Line 11"/>
            <p:cNvSpPr>
              <a:spLocks noChangeShapeType="1"/>
            </p:cNvSpPr>
            <p:nvPr/>
          </p:nvSpPr>
          <p:spPr bwMode="auto">
            <a:xfrm>
              <a:off x="2384" y="1415"/>
              <a:ext cx="1008" cy="0"/>
            </a:xfrm>
            <a:prstGeom prst="line">
              <a:avLst/>
            </a:prstGeom>
            <a:noFill/>
            <a:ln w="28575">
              <a:solidFill>
                <a:srgbClr val="F9070D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9404" name="Group 12"/>
            <p:cNvGrpSpPr>
              <a:grpSpLocks/>
            </p:cNvGrpSpPr>
            <p:nvPr/>
          </p:nvGrpSpPr>
          <p:grpSpPr bwMode="auto">
            <a:xfrm>
              <a:off x="2483" y="1183"/>
              <a:ext cx="715" cy="327"/>
              <a:chOff x="2626" y="1641"/>
              <a:chExt cx="715" cy="327"/>
            </a:xfrm>
          </p:grpSpPr>
          <p:sp>
            <p:nvSpPr>
              <p:cNvPr id="59405" name="Text Box 13"/>
              <p:cNvSpPr txBox="1">
                <a:spLocks noChangeArrowheads="1"/>
              </p:cNvSpPr>
              <p:nvPr/>
            </p:nvSpPr>
            <p:spPr bwMode="auto">
              <a:xfrm>
                <a:off x="2626" y="1641"/>
                <a:ext cx="56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rPr>
                  <a:t>对换</a:t>
                </a:r>
              </a:p>
            </p:txBody>
          </p:sp>
          <p:graphicFrame>
            <p:nvGraphicFramePr>
              <p:cNvPr id="59406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76632641"/>
                  </p:ext>
                </p:extLst>
              </p:nvPr>
            </p:nvGraphicFramePr>
            <p:xfrm>
              <a:off x="3013" y="1641"/>
              <a:ext cx="328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7789" name="Equation" r:id="rId11" imgW="520560" imgH="368280" progId="Equation.DSMT4">
                      <p:embed/>
                    </p:oleObj>
                  </mc:Choice>
                  <mc:Fallback>
                    <p:oleObj name="Equation" r:id="rId11" imgW="520560" imgH="368280" progId="Equation.DSMT4">
                      <p:embed/>
                      <p:pic>
                        <p:nvPicPr>
                          <p:cNvPr id="59406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13" y="1641"/>
                            <a:ext cx="328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9407" name="Rectangle 15"/>
          <p:cNvSpPr>
            <a:spLocks noChangeArrowheads="1"/>
          </p:cNvSpPr>
          <p:nvPr/>
        </p:nvSpPr>
        <p:spPr bwMode="auto">
          <a:xfrm>
            <a:off x="2444879" y="4138515"/>
            <a:ext cx="125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对换后</a:t>
            </a:r>
          </a:p>
        </p:txBody>
      </p:sp>
      <p:grpSp>
        <p:nvGrpSpPr>
          <p:cNvPr id="59408" name="Group 16"/>
          <p:cNvGrpSpPr>
            <a:grpSpLocks/>
          </p:cNvGrpSpPr>
          <p:nvPr/>
        </p:nvGrpSpPr>
        <p:grpSpPr bwMode="auto">
          <a:xfrm>
            <a:off x="3246568" y="4131150"/>
            <a:ext cx="3994150" cy="369888"/>
            <a:chOff x="1256" y="2745"/>
            <a:chExt cx="2516" cy="233"/>
          </a:xfrm>
        </p:grpSpPr>
        <p:sp>
          <p:nvSpPr>
            <p:cNvPr id="59409" name="Rectangle 17"/>
            <p:cNvSpPr>
              <a:spLocks noChangeArrowheads="1"/>
            </p:cNvSpPr>
            <p:nvPr/>
          </p:nvSpPr>
          <p:spPr bwMode="auto">
            <a:xfrm>
              <a:off x="1356" y="2745"/>
              <a:ext cx="241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的逆序数不变，而    的逆序数减1；</a:t>
              </a:r>
            </a:p>
          </p:txBody>
        </p:sp>
        <p:graphicFrame>
          <p:nvGraphicFramePr>
            <p:cNvPr id="5941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6357309"/>
                </p:ext>
              </p:extLst>
            </p:nvPr>
          </p:nvGraphicFramePr>
          <p:xfrm>
            <a:off x="1256" y="280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7790" name="Equation" r:id="rId12" imgW="228600" imgH="241200" progId="Equation.DSMT4">
                    <p:embed/>
                  </p:oleObj>
                </mc:Choice>
                <mc:Fallback>
                  <p:oleObj name="Equation" r:id="rId12" imgW="228600" imgH="241200" progId="Equation.DSMT4">
                    <p:embed/>
                    <p:pic>
                      <p:nvPicPr>
                        <p:cNvPr id="5941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6" y="280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11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3367848"/>
                </p:ext>
              </p:extLst>
            </p:nvPr>
          </p:nvGraphicFramePr>
          <p:xfrm>
            <a:off x="2589" y="2764"/>
            <a:ext cx="13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7791" name="Equation" r:id="rId14" imgW="215640" imgH="317160" progId="Equation.DSMT4">
                    <p:embed/>
                  </p:oleObj>
                </mc:Choice>
                <mc:Fallback>
                  <p:oleObj name="Equation" r:id="rId14" imgW="215640" imgH="317160" progId="Equation.DSMT4">
                    <p:embed/>
                    <p:pic>
                      <p:nvPicPr>
                        <p:cNvPr id="59411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9" y="2764"/>
                          <a:ext cx="136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941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658817"/>
              </p:ext>
            </p:extLst>
          </p:nvPr>
        </p:nvGraphicFramePr>
        <p:xfrm>
          <a:off x="1441582" y="4818565"/>
          <a:ext cx="760412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792" name="Equation" r:id="rId16" imgW="761760" imgH="317160" progId="Equation.DSMT4">
                  <p:embed/>
                </p:oleObj>
              </mc:Choice>
              <mc:Fallback>
                <p:oleObj name="Equation" r:id="rId16" imgW="761760" imgH="317160" progId="Equation.DSMT4">
                  <p:embed/>
                  <p:pic>
                    <p:nvPicPr>
                      <p:cNvPr id="5941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582" y="4818565"/>
                        <a:ext cx="760412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3" name="Text Box 21"/>
          <p:cNvSpPr txBox="1">
            <a:spLocks noChangeArrowheads="1"/>
          </p:cNvSpPr>
          <p:nvPr/>
        </p:nvSpPr>
        <p:spPr bwMode="auto">
          <a:xfrm>
            <a:off x="1071397" y="4796539"/>
            <a:ext cx="14734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若            ，</a:t>
            </a:r>
          </a:p>
        </p:txBody>
      </p:sp>
      <p:sp>
        <p:nvSpPr>
          <p:cNvPr id="59414" name="Rectangle 22"/>
          <p:cNvSpPr>
            <a:spLocks noChangeArrowheads="1"/>
          </p:cNvSpPr>
          <p:nvPr/>
        </p:nvSpPr>
        <p:spPr bwMode="auto">
          <a:xfrm>
            <a:off x="2470146" y="4814220"/>
            <a:ext cx="125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对换后</a:t>
            </a:r>
          </a:p>
        </p:txBody>
      </p:sp>
      <p:grpSp>
        <p:nvGrpSpPr>
          <p:cNvPr id="59415" name="Group 23"/>
          <p:cNvGrpSpPr>
            <a:grpSpLocks/>
          </p:cNvGrpSpPr>
          <p:nvPr/>
        </p:nvGrpSpPr>
        <p:grpSpPr bwMode="auto">
          <a:xfrm>
            <a:off x="3282950" y="4803109"/>
            <a:ext cx="3841751" cy="369888"/>
            <a:chOff x="1263" y="3322"/>
            <a:chExt cx="2420" cy="233"/>
          </a:xfrm>
        </p:grpSpPr>
        <p:sp>
          <p:nvSpPr>
            <p:cNvPr id="59416" name="Rectangle 24"/>
            <p:cNvSpPr>
              <a:spLocks noChangeArrowheads="1"/>
            </p:cNvSpPr>
            <p:nvPr/>
          </p:nvSpPr>
          <p:spPr bwMode="auto">
            <a:xfrm>
              <a:off x="1328" y="3322"/>
              <a:ext cx="235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的逆序数增1，而    的逆序数不变.</a:t>
              </a:r>
            </a:p>
          </p:txBody>
        </p:sp>
        <p:graphicFrame>
          <p:nvGraphicFramePr>
            <p:cNvPr id="59417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2847403"/>
                </p:ext>
              </p:extLst>
            </p:nvPr>
          </p:nvGraphicFramePr>
          <p:xfrm>
            <a:off x="1263" y="3387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7793" name="Equation" r:id="rId18" imgW="228600" imgH="241200" progId="Equation.DSMT4">
                    <p:embed/>
                  </p:oleObj>
                </mc:Choice>
                <mc:Fallback>
                  <p:oleObj name="Equation" r:id="rId18" imgW="228600" imgH="241200" progId="Equation.DSMT4">
                    <p:embed/>
                    <p:pic>
                      <p:nvPicPr>
                        <p:cNvPr id="59417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3" y="3387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18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3137276"/>
                </p:ext>
              </p:extLst>
            </p:nvPr>
          </p:nvGraphicFramePr>
          <p:xfrm>
            <a:off x="2532" y="3333"/>
            <a:ext cx="13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7794" name="Equation" r:id="rId19" imgW="215640" imgH="317160" progId="Equation.DSMT4">
                    <p:embed/>
                  </p:oleObj>
                </mc:Choice>
                <mc:Fallback>
                  <p:oleObj name="Equation" r:id="rId19" imgW="215640" imgH="317160" progId="Equation.DSMT4">
                    <p:embed/>
                    <p:pic>
                      <p:nvPicPr>
                        <p:cNvPr id="59418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2" y="3333"/>
                          <a:ext cx="136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419" name="Rectangle 27"/>
          <p:cNvSpPr>
            <a:spLocks noChangeArrowheads="1"/>
          </p:cNvSpPr>
          <p:nvPr/>
        </p:nvSpPr>
        <p:spPr bwMode="auto">
          <a:xfrm>
            <a:off x="626590" y="5446799"/>
            <a:ext cx="46609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因此对换相邻两个元素，排列改变奇偶性。</a:t>
            </a:r>
          </a:p>
        </p:txBody>
      </p:sp>
      <p:graphicFrame>
        <p:nvGraphicFramePr>
          <p:cNvPr id="5942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924868"/>
              </p:ext>
            </p:extLst>
          </p:nvPr>
        </p:nvGraphicFramePr>
        <p:xfrm>
          <a:off x="3282950" y="1901337"/>
          <a:ext cx="2578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795" name="Equation" r:id="rId21" imgW="2577960" imgH="431640" progId="Equation.DSMT4">
                  <p:embed/>
                </p:oleObj>
              </mc:Choice>
              <mc:Fallback>
                <p:oleObj name="Equation" r:id="rId21" imgW="2577960" imgH="431640" progId="Equation.DSMT4">
                  <p:embed/>
                  <p:pic>
                    <p:nvPicPr>
                      <p:cNvPr id="5942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1901337"/>
                        <a:ext cx="2578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21" name="Text Box 29"/>
          <p:cNvSpPr txBox="1">
            <a:spLocks noChangeArrowheads="1"/>
          </p:cNvSpPr>
          <p:nvPr/>
        </p:nvSpPr>
        <p:spPr bwMode="auto">
          <a:xfrm>
            <a:off x="793584" y="6193383"/>
            <a:ext cx="2673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ea typeface="华文楷体" panose="02010600040101010101" pitchFamily="2" charset="-122"/>
              </a:rPr>
              <a:t>再证一般情形。</a:t>
            </a:r>
          </a:p>
        </p:txBody>
      </p:sp>
    </p:spTree>
    <p:extLst>
      <p:ext uri="{BB962C8B-B14F-4D97-AF65-F5344CB8AC3E}">
        <p14:creationId xmlns:p14="http://schemas.microsoft.com/office/powerpoint/2010/main" val="346060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9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9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autoUpdateAnimBg="0"/>
      <p:bldP spid="59401" grpId="0" autoUpdateAnimBg="0"/>
      <p:bldP spid="59407" grpId="0" autoUpdateAnimBg="0"/>
      <p:bldP spid="59413" grpId="0" autoUpdateAnimBg="0"/>
      <p:bldP spid="59414" grpId="0" autoUpdateAnimBg="0"/>
      <p:bldP spid="59419" grpId="0" autoUpdateAnimBg="0"/>
      <p:bldP spid="5942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ct 2"/>
          <p:cNvGraphicFramePr>
            <a:graphicFrameLocks noChangeAspect="1"/>
          </p:cNvGraphicFramePr>
          <p:nvPr/>
        </p:nvGraphicFramePr>
        <p:xfrm>
          <a:off x="855663" y="1204913"/>
          <a:ext cx="361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30" name="Equation" r:id="rId3" imgW="3619440" imgH="431640" progId="Equation.DSMT4">
                  <p:embed/>
                </p:oleObj>
              </mc:Choice>
              <mc:Fallback>
                <p:oleObj name="Equation" r:id="rId3" imgW="3619440" imgH="431640" progId="Equation.DSMT4">
                  <p:embed/>
                  <p:pic>
                    <p:nvPicPr>
                      <p:cNvPr id="604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1204913"/>
                        <a:ext cx="3619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9" name="Object 3"/>
          <p:cNvGraphicFramePr>
            <a:graphicFrameLocks noChangeAspect="1"/>
          </p:cNvGraphicFramePr>
          <p:nvPr/>
        </p:nvGraphicFramePr>
        <p:xfrm>
          <a:off x="5299075" y="1781175"/>
          <a:ext cx="3581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31" name="Equation" r:id="rId5" imgW="3581280" imgH="431640" progId="Equation.DSMT4">
                  <p:embed/>
                </p:oleObj>
              </mc:Choice>
              <mc:Fallback>
                <p:oleObj name="Equation" r:id="rId5" imgW="3581280" imgH="431640" progId="Equation.DSMT4">
                  <p:embed/>
                  <p:pic>
                    <p:nvPicPr>
                      <p:cNvPr id="604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075" y="1781175"/>
                        <a:ext cx="3581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827088" y="404813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设排列为</a:t>
            </a:r>
          </a:p>
        </p:txBody>
      </p:sp>
      <p:grpSp>
        <p:nvGrpSpPr>
          <p:cNvPr id="60421" name="Group 5"/>
          <p:cNvGrpSpPr>
            <a:grpSpLocks/>
          </p:cNvGrpSpPr>
          <p:nvPr/>
        </p:nvGrpSpPr>
        <p:grpSpPr bwMode="auto">
          <a:xfrm>
            <a:off x="4430713" y="1231900"/>
            <a:ext cx="1320800" cy="2844800"/>
            <a:chOff x="2791" y="682"/>
            <a:chExt cx="832" cy="1792"/>
          </a:xfrm>
        </p:grpSpPr>
        <p:sp>
          <p:nvSpPr>
            <p:cNvPr id="60422" name="Text Box 6"/>
            <p:cNvSpPr txBox="1">
              <a:spLocks noChangeArrowheads="1"/>
            </p:cNvSpPr>
            <p:nvPr/>
          </p:nvSpPr>
          <p:spPr bwMode="auto">
            <a:xfrm>
              <a:off x="2946" y="687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对换</a:t>
              </a:r>
            </a:p>
          </p:txBody>
        </p:sp>
        <p:graphicFrame>
          <p:nvGraphicFramePr>
            <p:cNvPr id="6042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5031059"/>
                </p:ext>
              </p:extLst>
            </p:nvPr>
          </p:nvGraphicFramePr>
          <p:xfrm>
            <a:off x="3295" y="682"/>
            <a:ext cx="32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8832" name="Equation" r:id="rId7" imgW="520560" imgH="368280" progId="Equation.DSMT4">
                    <p:embed/>
                  </p:oleObj>
                </mc:Choice>
                <mc:Fallback>
                  <p:oleObj name="Equation" r:id="rId7" imgW="520560" imgH="368280" progId="Equation.DSMT4">
                    <p:embed/>
                    <p:pic>
                      <p:nvPicPr>
                        <p:cNvPr id="6042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5" y="682"/>
                          <a:ext cx="328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0424" name="AutoShape 8"/>
            <p:cNvCxnSpPr>
              <a:cxnSpLocks noChangeShapeType="1"/>
              <a:stCxn id="0" idx="3"/>
              <a:endCxn id="60445" idx="1"/>
            </p:cNvCxnSpPr>
            <p:nvPr/>
          </p:nvCxnSpPr>
          <p:spPr bwMode="auto">
            <a:xfrm>
              <a:off x="2791" y="799"/>
              <a:ext cx="617" cy="1675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0425" name="Group 9"/>
          <p:cNvGrpSpPr>
            <a:grpSpLocks/>
          </p:cNvGrpSpPr>
          <p:nvPr/>
        </p:nvGrpSpPr>
        <p:grpSpPr bwMode="auto">
          <a:xfrm>
            <a:off x="2339975" y="2970213"/>
            <a:ext cx="2247901" cy="519113"/>
            <a:chOff x="975" y="1811"/>
            <a:chExt cx="1416" cy="327"/>
          </a:xfrm>
        </p:grpSpPr>
        <p:sp>
          <p:nvSpPr>
            <p:cNvPr id="60426" name="Rectangle 10"/>
            <p:cNvSpPr>
              <a:spLocks noChangeArrowheads="1"/>
            </p:cNvSpPr>
            <p:nvPr/>
          </p:nvSpPr>
          <p:spPr bwMode="auto">
            <a:xfrm>
              <a:off x="1150" y="1811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次相邻对换</a:t>
              </a:r>
            </a:p>
          </p:txBody>
        </p:sp>
        <p:graphicFrame>
          <p:nvGraphicFramePr>
            <p:cNvPr id="60427" name="Object 11"/>
            <p:cNvGraphicFramePr>
              <a:graphicFrameLocks noChangeAspect="1"/>
            </p:cNvGraphicFramePr>
            <p:nvPr/>
          </p:nvGraphicFramePr>
          <p:xfrm>
            <a:off x="975" y="1842"/>
            <a:ext cx="215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8833" name="公式" r:id="rId9" imgW="342720" imgH="253800" progId="Equation.3">
                    <p:embed/>
                  </p:oleObj>
                </mc:Choice>
                <mc:Fallback>
                  <p:oleObj name="公式" r:id="rId9" imgW="342720" imgH="253800" progId="Equation.3">
                    <p:embed/>
                    <p:pic>
                      <p:nvPicPr>
                        <p:cNvPr id="60427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1842"/>
                          <a:ext cx="215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428" name="Object 12"/>
          <p:cNvGraphicFramePr>
            <a:graphicFrameLocks noChangeAspect="1"/>
          </p:cNvGraphicFramePr>
          <p:nvPr/>
        </p:nvGraphicFramePr>
        <p:xfrm>
          <a:off x="5076825" y="3149600"/>
          <a:ext cx="35226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34" name="Equation" r:id="rId11" imgW="3860640" imgH="431640" progId="Equation.DSMT4">
                  <p:embed/>
                </p:oleObj>
              </mc:Choice>
              <mc:Fallback>
                <p:oleObj name="Equation" r:id="rId11" imgW="3860640" imgH="431640" progId="Equation.DSMT4">
                  <p:embed/>
                  <p:pic>
                    <p:nvPicPr>
                      <p:cNvPr id="604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149600"/>
                        <a:ext cx="35226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9" name="Object 13"/>
          <p:cNvGraphicFramePr>
            <a:graphicFrameLocks noChangeAspect="1"/>
          </p:cNvGraphicFramePr>
          <p:nvPr/>
        </p:nvGraphicFramePr>
        <p:xfrm>
          <a:off x="468313" y="5021263"/>
          <a:ext cx="3924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35" name="Equation" r:id="rId13" imgW="3924000" imgH="431640" progId="Equation.DSMT4">
                  <p:embed/>
                </p:oleObj>
              </mc:Choice>
              <mc:Fallback>
                <p:oleObj name="Equation" r:id="rId13" imgW="3924000" imgH="431640" progId="Equation.DSMT4">
                  <p:embed/>
                  <p:pic>
                    <p:nvPicPr>
                      <p:cNvPr id="6042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021263"/>
                        <a:ext cx="3924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0" name="Object 14"/>
          <p:cNvGraphicFramePr>
            <a:graphicFrameLocks noChangeAspect="1"/>
          </p:cNvGraphicFramePr>
          <p:nvPr/>
        </p:nvGraphicFramePr>
        <p:xfrm>
          <a:off x="5640388" y="5381625"/>
          <a:ext cx="3267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36" name="Equation" r:id="rId15" imgW="3365280" imgH="431640" progId="Equation.DSMT4">
                  <p:embed/>
                </p:oleObj>
              </mc:Choice>
              <mc:Fallback>
                <p:oleObj name="Equation" r:id="rId15" imgW="3365280" imgH="431640" progId="Equation.DSMT4">
                  <p:embed/>
                  <p:pic>
                    <p:nvPicPr>
                      <p:cNvPr id="6043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0388" y="5381625"/>
                        <a:ext cx="32670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1" name="Rectangle 15"/>
          <p:cNvSpPr>
            <a:spLocks noChangeArrowheads="1"/>
          </p:cNvSpPr>
          <p:nvPr/>
        </p:nvSpPr>
        <p:spPr bwMode="auto">
          <a:xfrm>
            <a:off x="611188" y="5957888"/>
            <a:ext cx="44656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所以任意两个元素对换，排列改变奇偶性.</a:t>
            </a:r>
          </a:p>
        </p:txBody>
      </p:sp>
      <p:graphicFrame>
        <p:nvGraphicFramePr>
          <p:cNvPr id="60432" name="Object 16"/>
          <p:cNvGraphicFramePr>
            <a:graphicFrameLocks noChangeAspect="1"/>
          </p:cNvGraphicFramePr>
          <p:nvPr/>
        </p:nvGraphicFramePr>
        <p:xfrm>
          <a:off x="758825" y="2286000"/>
          <a:ext cx="34988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37" name="Equation" r:id="rId17" imgW="3924000" imgH="431640" progId="Equation.DSMT4">
                  <p:embed/>
                </p:oleObj>
              </mc:Choice>
              <mc:Fallback>
                <p:oleObj name="Equation" r:id="rId17" imgW="3924000" imgH="431640" progId="Equation.DSMT4">
                  <p:embed/>
                  <p:pic>
                    <p:nvPicPr>
                      <p:cNvPr id="6043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2286000"/>
                        <a:ext cx="34988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3" name="Freeform 17"/>
          <p:cNvSpPr>
            <a:spLocks/>
          </p:cNvSpPr>
          <p:nvPr/>
        </p:nvSpPr>
        <p:spPr bwMode="auto">
          <a:xfrm>
            <a:off x="2051050" y="2644775"/>
            <a:ext cx="1214438" cy="317500"/>
          </a:xfrm>
          <a:custGeom>
            <a:avLst/>
            <a:gdLst>
              <a:gd name="T0" fmla="*/ 720 w 720"/>
              <a:gd name="T1" fmla="*/ 48 h 200"/>
              <a:gd name="T2" fmla="*/ 336 w 720"/>
              <a:gd name="T3" fmla="*/ 192 h 200"/>
              <a:gd name="T4" fmla="*/ 0 w 720"/>
              <a:gd name="T5" fmla="*/ 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200">
                <a:moveTo>
                  <a:pt x="720" y="48"/>
                </a:moveTo>
                <a:cubicBezTo>
                  <a:pt x="588" y="124"/>
                  <a:pt x="456" y="200"/>
                  <a:pt x="336" y="192"/>
                </a:cubicBezTo>
                <a:cubicBezTo>
                  <a:pt x="216" y="184"/>
                  <a:pt x="56" y="32"/>
                  <a:pt x="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34" name="Freeform 18"/>
          <p:cNvSpPr>
            <a:spLocks/>
          </p:cNvSpPr>
          <p:nvPr/>
        </p:nvSpPr>
        <p:spPr bwMode="auto">
          <a:xfrm>
            <a:off x="6137275" y="2822575"/>
            <a:ext cx="1470025" cy="431800"/>
          </a:xfrm>
          <a:custGeom>
            <a:avLst/>
            <a:gdLst>
              <a:gd name="T0" fmla="*/ 0 w 816"/>
              <a:gd name="T1" fmla="*/ 240 h 240"/>
              <a:gd name="T2" fmla="*/ 336 w 816"/>
              <a:gd name="T3" fmla="*/ 0 h 240"/>
              <a:gd name="T4" fmla="*/ 816 w 816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16" h="240">
                <a:moveTo>
                  <a:pt x="0" y="240"/>
                </a:moveTo>
                <a:cubicBezTo>
                  <a:pt x="100" y="120"/>
                  <a:pt x="200" y="0"/>
                  <a:pt x="336" y="0"/>
                </a:cubicBezTo>
                <a:cubicBezTo>
                  <a:pt x="472" y="0"/>
                  <a:pt x="736" y="200"/>
                  <a:pt x="816" y="240"/>
                </a:cubicBezTo>
              </a:path>
            </a:pathLst>
          </a:custGeom>
          <a:noFill/>
          <a:ln w="28575" cmpd="sng">
            <a:solidFill>
              <a:srgbClr val="F9070D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60435" name="AutoShape 19"/>
          <p:cNvCxnSpPr>
            <a:cxnSpLocks noChangeShapeType="1"/>
            <a:stCxn id="0" idx="3"/>
            <a:endCxn id="0" idx="1"/>
          </p:cNvCxnSpPr>
          <p:nvPr/>
        </p:nvCxnSpPr>
        <p:spPr bwMode="auto">
          <a:xfrm>
            <a:off x="4257675" y="2501900"/>
            <a:ext cx="819150" cy="8636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60436" name="Object 20"/>
          <p:cNvGraphicFramePr>
            <a:graphicFrameLocks noChangeAspect="1"/>
          </p:cNvGraphicFramePr>
          <p:nvPr/>
        </p:nvGraphicFramePr>
        <p:xfrm>
          <a:off x="584200" y="4013200"/>
          <a:ext cx="33178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38" name="Equation" r:id="rId19" imgW="3720960" imgH="431640" progId="Equation.DSMT4">
                  <p:embed/>
                </p:oleObj>
              </mc:Choice>
              <mc:Fallback>
                <p:oleObj name="Equation" r:id="rId19" imgW="3720960" imgH="431640" progId="Equation.DSMT4">
                  <p:embed/>
                  <p:pic>
                    <p:nvPicPr>
                      <p:cNvPr id="6043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4013200"/>
                        <a:ext cx="33178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437" name="AutoShape 21"/>
          <p:cNvCxnSpPr>
            <a:cxnSpLocks noChangeShapeType="1"/>
            <a:stCxn id="0" idx="3"/>
            <a:endCxn id="0" idx="3"/>
          </p:cNvCxnSpPr>
          <p:nvPr/>
        </p:nvCxnSpPr>
        <p:spPr bwMode="auto">
          <a:xfrm flipH="1">
            <a:off x="3902075" y="3365500"/>
            <a:ext cx="4697413" cy="863600"/>
          </a:xfrm>
          <a:prstGeom prst="bentConnector3">
            <a:avLst>
              <a:gd name="adj1" fmla="val -4866"/>
            </a:avLst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0438" name="Group 22"/>
          <p:cNvGrpSpPr>
            <a:grpSpLocks/>
          </p:cNvGrpSpPr>
          <p:nvPr/>
        </p:nvGrpSpPr>
        <p:grpSpPr bwMode="auto">
          <a:xfrm>
            <a:off x="4916489" y="4760913"/>
            <a:ext cx="2906713" cy="519113"/>
            <a:chOff x="3097" y="2903"/>
            <a:chExt cx="1831" cy="327"/>
          </a:xfrm>
        </p:grpSpPr>
        <p:sp>
          <p:nvSpPr>
            <p:cNvPr id="60439" name="Rectangle 23"/>
            <p:cNvSpPr>
              <a:spLocks noChangeArrowheads="1"/>
            </p:cNvSpPr>
            <p:nvPr/>
          </p:nvSpPr>
          <p:spPr bwMode="auto">
            <a:xfrm>
              <a:off x="3687" y="2903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次相邻对换</a:t>
              </a:r>
            </a:p>
          </p:txBody>
        </p:sp>
        <p:graphicFrame>
          <p:nvGraphicFramePr>
            <p:cNvPr id="60440" name="Object 24"/>
            <p:cNvGraphicFramePr>
              <a:graphicFrameLocks noChangeAspect="1"/>
            </p:cNvGraphicFramePr>
            <p:nvPr/>
          </p:nvGraphicFramePr>
          <p:xfrm>
            <a:off x="3097" y="2910"/>
            <a:ext cx="62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8839" name="Equation" r:id="rId21" imgW="990360" imgH="317160" progId="Equation.DSMT4">
                    <p:embed/>
                  </p:oleObj>
                </mc:Choice>
                <mc:Fallback>
                  <p:oleObj name="Equation" r:id="rId21" imgW="990360" imgH="317160" progId="Equation.DSMT4">
                    <p:embed/>
                    <p:pic>
                      <p:nvPicPr>
                        <p:cNvPr id="6044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7" y="2910"/>
                          <a:ext cx="62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60441" name="AutoShape 25"/>
          <p:cNvCxnSpPr>
            <a:cxnSpLocks noChangeShapeType="1"/>
            <a:stCxn id="0" idx="3"/>
          </p:cNvCxnSpPr>
          <p:nvPr/>
        </p:nvCxnSpPr>
        <p:spPr bwMode="auto">
          <a:xfrm>
            <a:off x="4392613" y="5237163"/>
            <a:ext cx="1181100" cy="360362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442" name="Rectangle 26"/>
          <p:cNvSpPr>
            <a:spLocks noChangeArrowheads="1"/>
          </p:cNvSpPr>
          <p:nvPr/>
        </p:nvSpPr>
        <p:spPr bwMode="auto">
          <a:xfrm>
            <a:off x="250825" y="1133475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欲</a:t>
            </a:r>
          </a:p>
        </p:txBody>
      </p:sp>
      <p:sp>
        <p:nvSpPr>
          <p:cNvPr id="60443" name="Rectangle 27"/>
          <p:cNvSpPr>
            <a:spLocks noChangeArrowheads="1"/>
          </p:cNvSpPr>
          <p:nvPr/>
        </p:nvSpPr>
        <p:spPr bwMode="auto">
          <a:xfrm>
            <a:off x="227013" y="2212975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即</a:t>
            </a:r>
          </a:p>
        </p:txBody>
      </p:sp>
      <p:grpSp>
        <p:nvGrpSpPr>
          <p:cNvPr id="60444" name="Group 28"/>
          <p:cNvGrpSpPr>
            <a:grpSpLocks/>
          </p:cNvGrpSpPr>
          <p:nvPr/>
        </p:nvGrpSpPr>
        <p:grpSpPr bwMode="auto">
          <a:xfrm>
            <a:off x="4622800" y="3817938"/>
            <a:ext cx="2757488" cy="519112"/>
            <a:chOff x="2912" y="2309"/>
            <a:chExt cx="1737" cy="327"/>
          </a:xfrm>
        </p:grpSpPr>
        <p:sp>
          <p:nvSpPr>
            <p:cNvPr id="60445" name="Rectangle 29"/>
            <p:cNvSpPr>
              <a:spLocks noChangeArrowheads="1"/>
            </p:cNvSpPr>
            <p:nvPr/>
          </p:nvSpPr>
          <p:spPr bwMode="auto">
            <a:xfrm>
              <a:off x="3408" y="2309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次相邻对换</a:t>
              </a:r>
            </a:p>
          </p:txBody>
        </p:sp>
        <p:graphicFrame>
          <p:nvGraphicFramePr>
            <p:cNvPr id="60446" name="Object 30"/>
            <p:cNvGraphicFramePr>
              <a:graphicFrameLocks noChangeAspect="1"/>
            </p:cNvGraphicFramePr>
            <p:nvPr/>
          </p:nvGraphicFramePr>
          <p:xfrm>
            <a:off x="2912" y="2323"/>
            <a:ext cx="51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8840" name="Equation" r:id="rId23" imgW="812520" imgH="317160" progId="Equation.DSMT4">
                    <p:embed/>
                  </p:oleObj>
                </mc:Choice>
                <mc:Fallback>
                  <p:oleObj name="Equation" r:id="rId23" imgW="812520" imgH="317160" progId="Equation.DSMT4">
                    <p:embed/>
                    <p:pic>
                      <p:nvPicPr>
                        <p:cNvPr id="60446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2" y="2323"/>
                          <a:ext cx="51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447" name="Object 31"/>
          <p:cNvGraphicFramePr>
            <a:graphicFrameLocks noChangeAspect="1"/>
          </p:cNvGraphicFramePr>
          <p:nvPr/>
        </p:nvGraphicFramePr>
        <p:xfrm>
          <a:off x="2438400" y="457200"/>
          <a:ext cx="361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41" name="Equation" r:id="rId25" imgW="3619440" imgH="431640" progId="Equation.DSMT4">
                  <p:embed/>
                </p:oleObj>
              </mc:Choice>
              <mc:Fallback>
                <p:oleObj name="Equation" r:id="rId25" imgW="3619440" imgH="431640" progId="Equation.DSMT4">
                  <p:embed/>
                  <p:pic>
                    <p:nvPicPr>
                      <p:cNvPr id="6044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57200"/>
                        <a:ext cx="3619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992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autoUpdateAnimBg="0"/>
      <p:bldP spid="60431" grpId="0" autoUpdateAnimBg="0"/>
      <p:bldP spid="60442" grpId="0" autoUpdateAnimBg="0"/>
      <p:bldP spid="6044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531846" y="601524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6600FF"/>
                </a:solidFill>
                <a:latin typeface="楷体_GB2312" pitchFamily="49" charset="-122"/>
                <a:ea typeface="楷体_GB2312" pitchFamily="49" charset="-122"/>
              </a:rPr>
              <a:t>推论</a:t>
            </a: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1486237" y="609600"/>
            <a:ext cx="60324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奇排列对换成标准排列的对换次数为奇数，</a:t>
            </a:r>
          </a:p>
          <a:p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偶排列对换成标准排列的对换次数为偶数.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325438" y="1557338"/>
            <a:ext cx="9589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6600FF"/>
                </a:solidFill>
                <a:latin typeface="楷体_GB2312" pitchFamily="49" charset="-122"/>
                <a:ea typeface="楷体_GB2312" pitchFamily="49" charset="-122"/>
              </a:rPr>
              <a:t>定理2</a:t>
            </a: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1455651" y="1546929"/>
            <a:ext cx="70564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ｎ个自然数(ｎ＞１)共有ｎ!个ｎ阶排列，其中奇、偶排列各占一半.</a:t>
            </a:r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468313" y="2636838"/>
            <a:ext cx="8280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6600FF"/>
                </a:solidFill>
                <a:latin typeface="楷体_GB2312" pitchFamily="49" charset="-122"/>
                <a:ea typeface="楷体_GB2312" pitchFamily="49" charset="-122"/>
              </a:rPr>
              <a:t>证明:</a:t>
            </a:r>
            <a:r>
              <a:rPr lang="zh-CN" altLang="en-US" sz="2400" b="1" dirty="0">
                <a:solidFill>
                  <a:srgbClr val="4044F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共有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ｓ个奇排列,ｔ个偶排列，现证ｓ＝ｔ.</a:t>
            </a:r>
          </a:p>
        </p:txBody>
      </p:sp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1476375" y="5445125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故必有</a:t>
            </a:r>
          </a:p>
        </p:txBody>
      </p:sp>
      <p:graphicFrame>
        <p:nvGraphicFramePr>
          <p:cNvPr id="614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612694"/>
              </p:ext>
            </p:extLst>
          </p:nvPr>
        </p:nvGraphicFramePr>
        <p:xfrm>
          <a:off x="2589180" y="5536257"/>
          <a:ext cx="774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65" name="Equation" r:id="rId3" imgW="774360" imgH="279360" progId="Equation.3">
                  <p:embed/>
                </p:oleObj>
              </mc:Choice>
              <mc:Fallback>
                <p:oleObj name="Equation" r:id="rId3" imgW="774360" imgH="279360" progId="Equation.3">
                  <p:embed/>
                  <p:pic>
                    <p:nvPicPr>
                      <p:cNvPr id="614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180" y="5536257"/>
                        <a:ext cx="7747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1330325" y="3630613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奇排列</a:t>
            </a:r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5724525" y="3630613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偶排列</a:t>
            </a:r>
          </a:p>
        </p:txBody>
      </p:sp>
      <p:grpSp>
        <p:nvGrpSpPr>
          <p:cNvPr id="61451" name="Group 11"/>
          <p:cNvGrpSpPr>
            <a:grpSpLocks/>
          </p:cNvGrpSpPr>
          <p:nvPr/>
        </p:nvGrpSpPr>
        <p:grpSpPr bwMode="auto">
          <a:xfrm>
            <a:off x="7019925" y="3616326"/>
            <a:ext cx="1444625" cy="461963"/>
            <a:chOff x="4264" y="2840"/>
            <a:chExt cx="910" cy="291"/>
          </a:xfrm>
        </p:grpSpPr>
        <p:graphicFrame>
          <p:nvGraphicFramePr>
            <p:cNvPr id="61452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342215"/>
                </p:ext>
              </p:extLst>
            </p:nvPr>
          </p:nvGraphicFramePr>
          <p:xfrm>
            <a:off x="4742" y="2874"/>
            <a:ext cx="43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66" name="Equation" r:id="rId5" imgW="685800" imgH="291960" progId="Equation.DSMT4">
                    <p:embed/>
                  </p:oleObj>
                </mc:Choice>
                <mc:Fallback>
                  <p:oleObj name="Equation" r:id="rId5" imgW="685800" imgH="291960" progId="Equation.DSMT4">
                    <p:embed/>
                    <p:pic>
                      <p:nvPicPr>
                        <p:cNvPr id="6145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2" y="2874"/>
                          <a:ext cx="43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53" name="Rectangle 13"/>
            <p:cNvSpPr>
              <a:spLocks noChangeArrowheads="1"/>
            </p:cNvSpPr>
            <p:nvPr/>
          </p:nvSpPr>
          <p:spPr bwMode="auto">
            <a:xfrm>
              <a:off x="4264" y="2840"/>
              <a:ext cx="5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solidFill>
                    <a:schemeClr val="tx2"/>
                  </a:solidFill>
                  <a:latin typeface="Arial" panose="020B0604020202020204" pitchFamily="34" charset="0"/>
                  <a:ea typeface="楷体_GB2312" pitchFamily="49" charset="-122"/>
                </a:rPr>
                <a:t>所以</a:t>
              </a:r>
            </a:p>
          </p:txBody>
        </p:sp>
      </p:grpSp>
      <p:sp>
        <p:nvSpPr>
          <p:cNvPr id="61454" name="AutoShape 14"/>
          <p:cNvSpPr>
            <a:spLocks noChangeArrowheads="1"/>
          </p:cNvSpPr>
          <p:nvPr/>
        </p:nvSpPr>
        <p:spPr bwMode="auto">
          <a:xfrm>
            <a:off x="2555875" y="3846513"/>
            <a:ext cx="2519363" cy="215900"/>
          </a:xfrm>
          <a:prstGeom prst="notchedRightArrow">
            <a:avLst>
              <a:gd name="adj1" fmla="val 50000"/>
              <a:gd name="adj2" fmla="val 29172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2749549" y="3385493"/>
            <a:ext cx="20409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前两个数对换</a:t>
            </a:r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539750" y="3630613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ｓ个</a:t>
            </a:r>
          </a:p>
        </p:txBody>
      </p:sp>
      <p:sp>
        <p:nvSpPr>
          <p:cNvPr id="61457" name="Rectangle 17"/>
          <p:cNvSpPr>
            <a:spLocks noChangeArrowheads="1"/>
          </p:cNvSpPr>
          <p:nvPr/>
        </p:nvSpPr>
        <p:spPr bwMode="auto">
          <a:xfrm>
            <a:off x="4932363" y="3630613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ｓ个</a:t>
            </a:r>
          </a:p>
        </p:txBody>
      </p:sp>
      <p:sp>
        <p:nvSpPr>
          <p:cNvPr id="61458" name="Rectangle 18"/>
          <p:cNvSpPr>
            <a:spLocks noChangeArrowheads="1"/>
          </p:cNvSpPr>
          <p:nvPr/>
        </p:nvSpPr>
        <p:spPr bwMode="auto">
          <a:xfrm>
            <a:off x="1330325" y="4508500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偶排列</a:t>
            </a:r>
          </a:p>
        </p:txBody>
      </p:sp>
      <p:sp>
        <p:nvSpPr>
          <p:cNvPr id="61459" name="Rectangle 19"/>
          <p:cNvSpPr>
            <a:spLocks noChangeArrowheads="1"/>
          </p:cNvSpPr>
          <p:nvPr/>
        </p:nvSpPr>
        <p:spPr bwMode="auto">
          <a:xfrm>
            <a:off x="5724525" y="4508500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奇排列</a:t>
            </a:r>
          </a:p>
        </p:txBody>
      </p:sp>
      <p:grpSp>
        <p:nvGrpSpPr>
          <p:cNvPr id="61460" name="Group 20"/>
          <p:cNvGrpSpPr>
            <a:grpSpLocks/>
          </p:cNvGrpSpPr>
          <p:nvPr/>
        </p:nvGrpSpPr>
        <p:grpSpPr bwMode="auto">
          <a:xfrm>
            <a:off x="7019925" y="4494212"/>
            <a:ext cx="1492250" cy="461962"/>
            <a:chOff x="4264" y="2840"/>
            <a:chExt cx="940" cy="291"/>
          </a:xfrm>
        </p:grpSpPr>
        <p:graphicFrame>
          <p:nvGraphicFramePr>
            <p:cNvPr id="61461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2314049"/>
                </p:ext>
              </p:extLst>
            </p:nvPr>
          </p:nvGraphicFramePr>
          <p:xfrm>
            <a:off x="4772" y="2893"/>
            <a:ext cx="43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67" name="Equation" r:id="rId7" imgW="685800" imgH="291960" progId="Equation.DSMT4">
                    <p:embed/>
                  </p:oleObj>
                </mc:Choice>
                <mc:Fallback>
                  <p:oleObj name="Equation" r:id="rId7" imgW="685800" imgH="291960" progId="Equation.DSMT4">
                    <p:embed/>
                    <p:pic>
                      <p:nvPicPr>
                        <p:cNvPr id="61461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2" y="2893"/>
                          <a:ext cx="43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62" name="Rectangle 22"/>
            <p:cNvSpPr>
              <a:spLocks noChangeArrowheads="1"/>
            </p:cNvSpPr>
            <p:nvPr/>
          </p:nvSpPr>
          <p:spPr bwMode="auto">
            <a:xfrm>
              <a:off x="4264" y="2840"/>
              <a:ext cx="5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solidFill>
                    <a:schemeClr val="tx2"/>
                  </a:solidFill>
                  <a:latin typeface="Arial" panose="020B0604020202020204" pitchFamily="34" charset="0"/>
                  <a:ea typeface="楷体_GB2312" pitchFamily="49" charset="-122"/>
                </a:rPr>
                <a:t>所以</a:t>
              </a:r>
            </a:p>
          </p:txBody>
        </p:sp>
      </p:grpSp>
      <p:sp>
        <p:nvSpPr>
          <p:cNvPr id="61463" name="AutoShape 23"/>
          <p:cNvSpPr>
            <a:spLocks noChangeArrowheads="1"/>
          </p:cNvSpPr>
          <p:nvPr/>
        </p:nvSpPr>
        <p:spPr bwMode="auto">
          <a:xfrm>
            <a:off x="2514600" y="4724400"/>
            <a:ext cx="2519363" cy="215900"/>
          </a:xfrm>
          <a:prstGeom prst="notchedRightArrow">
            <a:avLst>
              <a:gd name="adj1" fmla="val 50000"/>
              <a:gd name="adj2" fmla="val 29172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1464" name="Rectangle 24"/>
          <p:cNvSpPr>
            <a:spLocks noChangeArrowheads="1"/>
          </p:cNvSpPr>
          <p:nvPr/>
        </p:nvSpPr>
        <p:spPr bwMode="auto">
          <a:xfrm>
            <a:off x="2755042" y="4308178"/>
            <a:ext cx="20409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前两个数对换</a:t>
            </a:r>
          </a:p>
        </p:txBody>
      </p:sp>
      <p:sp>
        <p:nvSpPr>
          <p:cNvPr id="61465" name="Rectangle 25"/>
          <p:cNvSpPr>
            <a:spLocks noChangeArrowheads="1"/>
          </p:cNvSpPr>
          <p:nvPr/>
        </p:nvSpPr>
        <p:spPr bwMode="auto">
          <a:xfrm>
            <a:off x="539750" y="4508500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ｔ个</a:t>
            </a:r>
          </a:p>
        </p:txBody>
      </p:sp>
      <p:sp>
        <p:nvSpPr>
          <p:cNvPr id="61466" name="Rectangle 26"/>
          <p:cNvSpPr>
            <a:spLocks noChangeArrowheads="1"/>
          </p:cNvSpPr>
          <p:nvPr/>
        </p:nvSpPr>
        <p:spPr bwMode="auto">
          <a:xfrm>
            <a:off x="4932363" y="4508500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ｔ个</a:t>
            </a:r>
          </a:p>
        </p:txBody>
      </p:sp>
    </p:spTree>
    <p:extLst>
      <p:ext uri="{BB962C8B-B14F-4D97-AF65-F5344CB8AC3E}">
        <p14:creationId xmlns:p14="http://schemas.microsoft.com/office/powerpoint/2010/main" val="336106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autoUpdateAnimBg="0"/>
      <p:bldP spid="61443" grpId="0" autoUpdateAnimBg="0"/>
      <p:bldP spid="61444" grpId="0" autoUpdateAnimBg="0"/>
      <p:bldP spid="61445" grpId="0" autoUpdateAnimBg="0"/>
      <p:bldP spid="61446" grpId="0" autoUpdateAnimBg="0"/>
      <p:bldP spid="61447" grpId="0" autoUpdateAnimBg="0"/>
      <p:bldP spid="61449" grpId="0" autoUpdateAnimBg="0"/>
      <p:bldP spid="61450" grpId="0" autoUpdateAnimBg="0"/>
      <p:bldP spid="61455" grpId="0" autoUpdateAnimBg="0"/>
      <p:bldP spid="61456" grpId="0" autoUpdateAnimBg="0"/>
      <p:bldP spid="61457" grpId="0" autoUpdateAnimBg="0"/>
      <p:bldP spid="61458" grpId="0" autoUpdateAnimBg="0"/>
      <p:bldP spid="61459" grpId="0" autoUpdateAnimBg="0"/>
      <p:bldP spid="61464" grpId="0" autoUpdateAnimBg="0"/>
      <p:bldP spid="61465" grpId="0" autoUpdateAnimBg="0"/>
      <p:bldP spid="6146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3059832" y="1916832"/>
            <a:ext cx="194316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作业   </a:t>
            </a:r>
            <a:r>
              <a:rPr lang="en-US" altLang="zh-CN" sz="2800" b="1" dirty="0"/>
              <a:t>P21 </a:t>
            </a:r>
          </a:p>
          <a:p>
            <a:endParaRPr lang="en-US" altLang="zh-CN" sz="2800" b="1" dirty="0"/>
          </a:p>
          <a:p>
            <a:r>
              <a:rPr lang="zh-CN" altLang="en-US" sz="2800" b="1" dirty="0"/>
              <a:t>习题一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en-US" altLang="zh-CN" sz="2800" b="1" dirty="0"/>
              <a:t>2.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33800411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22d0017e-3dd8-45ca-93c8-a8678e1dff08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5">
      <a:dk1>
        <a:srgbClr val="000000"/>
      </a:dk1>
      <a:lt1>
        <a:srgbClr val="FFFFFF"/>
      </a:lt1>
      <a:dk2>
        <a:srgbClr val="000066"/>
      </a:dk2>
      <a:lt2>
        <a:srgbClr val="333333"/>
      </a:lt2>
      <a:accent1>
        <a:srgbClr val="C4709A"/>
      </a:accent1>
      <a:accent2>
        <a:srgbClr val="4B4EB5"/>
      </a:accent2>
      <a:accent3>
        <a:srgbClr val="FFFFFF"/>
      </a:accent3>
      <a:accent4>
        <a:srgbClr val="000000"/>
      </a:accent4>
      <a:accent5>
        <a:srgbClr val="DEBBCA"/>
      </a:accent5>
      <a:accent6>
        <a:srgbClr val="4346A4"/>
      </a:accent6>
      <a:hlink>
        <a:srgbClr val="C481CF"/>
      </a:hlink>
      <a:folHlink>
        <a:srgbClr val="76B749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5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6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7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8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B2B2B2"/>
      </a:folHlink>
    </a:clrScheme>
    <a:fontScheme name="1_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49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49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1_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808</Words>
  <Application>Microsoft Office PowerPoint</Application>
  <PresentationFormat>全屏显示(4:3)</PresentationFormat>
  <Paragraphs>117</Paragraphs>
  <Slides>13</Slides>
  <Notes>2</Notes>
  <HiddenSlides>1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华文楷体</vt:lpstr>
      <vt:lpstr>楷体_GB2312</vt:lpstr>
      <vt:lpstr>宋体</vt:lpstr>
      <vt:lpstr>Arial</vt:lpstr>
      <vt:lpstr>Arial Black</vt:lpstr>
      <vt:lpstr>Calibri</vt:lpstr>
      <vt:lpstr>Tahoma</vt:lpstr>
      <vt:lpstr>Times New Roman</vt:lpstr>
      <vt:lpstr>Wingdings</vt:lpstr>
      <vt:lpstr>Office 主题</vt:lpstr>
      <vt:lpstr>1_Blends</vt:lpstr>
      <vt:lpstr>1_Pixel</vt:lpstr>
      <vt:lpstr>15_Pixel</vt:lpstr>
      <vt:lpstr>16_Pixel</vt:lpstr>
      <vt:lpstr>17_Pixel</vt:lpstr>
      <vt:lpstr>18_Pixel</vt:lpstr>
      <vt:lpstr>1_模板</vt:lpstr>
      <vt:lpstr>Equation</vt:lpstr>
      <vt:lpstr>公式</vt:lpstr>
      <vt:lpstr>§2  全排列和对换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线性代数（第五版）</dc:title>
  <dc:creator>卢浩杰</dc:creator>
  <cp:lastModifiedBy>Lenovo</cp:lastModifiedBy>
  <cp:revision>136</cp:revision>
  <dcterms:created xsi:type="dcterms:W3CDTF">2012-04-21T04:49:00Z</dcterms:created>
  <dcterms:modified xsi:type="dcterms:W3CDTF">2023-10-07T01:33:32Z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