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7" r:id="rId1"/>
    <p:sldMasterId id="2147484019" r:id="rId2"/>
    <p:sldMasterId id="2147484031" r:id="rId3"/>
    <p:sldMasterId id="2147484043" r:id="rId4"/>
  </p:sldMasterIdLst>
  <p:notesMasterIdLst>
    <p:notesMasterId r:id="rId42"/>
  </p:notesMasterIdLst>
  <p:sldIdLst>
    <p:sldId id="567" r:id="rId5"/>
    <p:sldId id="568" r:id="rId6"/>
    <p:sldId id="569" r:id="rId7"/>
    <p:sldId id="570" r:id="rId8"/>
    <p:sldId id="571" r:id="rId9"/>
    <p:sldId id="572" r:id="rId10"/>
    <p:sldId id="573" r:id="rId11"/>
    <p:sldId id="574" r:id="rId12"/>
    <p:sldId id="575" r:id="rId13"/>
    <p:sldId id="576" r:id="rId14"/>
    <p:sldId id="577" r:id="rId15"/>
    <p:sldId id="578" r:id="rId16"/>
    <p:sldId id="579" r:id="rId17"/>
    <p:sldId id="580" r:id="rId18"/>
    <p:sldId id="581" r:id="rId19"/>
    <p:sldId id="582" r:id="rId20"/>
    <p:sldId id="583" r:id="rId21"/>
    <p:sldId id="584" r:id="rId22"/>
    <p:sldId id="585" r:id="rId23"/>
    <p:sldId id="606" r:id="rId24"/>
    <p:sldId id="586" r:id="rId25"/>
    <p:sldId id="587" r:id="rId26"/>
    <p:sldId id="589" r:id="rId27"/>
    <p:sldId id="590" r:id="rId28"/>
    <p:sldId id="591" r:id="rId29"/>
    <p:sldId id="592" r:id="rId30"/>
    <p:sldId id="593" r:id="rId31"/>
    <p:sldId id="594" r:id="rId32"/>
    <p:sldId id="607" r:id="rId33"/>
    <p:sldId id="598" r:id="rId34"/>
    <p:sldId id="599" r:id="rId35"/>
    <p:sldId id="600" r:id="rId36"/>
    <p:sldId id="601" r:id="rId37"/>
    <p:sldId id="602" r:id="rId38"/>
    <p:sldId id="603" r:id="rId39"/>
    <p:sldId id="604" r:id="rId40"/>
    <p:sldId id="605" r:id="rId4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9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21.wmf"/><Relationship Id="rId4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B4F9F8EE-7994-4CD3-ACE9-6AFF018A4ED6}" type="datetimeFigureOut">
              <a:rPr lang="zh-CN" altLang="en-US"/>
              <a:pPr>
                <a:defRPr/>
              </a:pPr>
              <a:t>2023/11/20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D66DC4F-202E-4AAB-B09E-49422805CC2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5739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94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94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64CD2A2-2456-44C8-8FF3-1F94EB3B7B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9367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229048A-7993-4FC0-9B7F-7A0B524EC7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194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B35A726-985C-4894-9CDA-E2355B0606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85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05F83BD-8505-4CAC-9D3F-711DCD36E1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77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CC71781-B4AB-44A3-9A2A-0C0A048CD9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132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6753D20-9E49-42CE-952D-F0AD0249E2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063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8B119D0-90A9-4554-B596-7466ECAF75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580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797C610-5805-488F-8C51-A88AE3AFC7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49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C5EC030-DEBD-485A-97C6-8BE242F3F9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297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E45EB3B-03BE-4ECD-BFD9-B9C431729B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698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8779AB8-93E0-427E-9889-FE5BE5B9C8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8416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b="1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12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2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9EA0D2C3-22B8-4A78-8C4C-BDA5F0B64F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740144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C34FD27-8E88-43B1-9448-8E44ED39C9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8784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DAD322C-52EE-48A1-B4C6-6FD054F699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8202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36D480A-3408-4E10-89F2-B9F9E11C10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7384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FEF70FD-B198-46FC-BBD3-297583E69B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925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D787B65-A13E-4818-896F-D1B36BBC6B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389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43AEC5E-B89C-4B93-827D-70369759AB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0888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F3DB976-31A6-469B-9E06-765E02FB0A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1574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02F4B6D-7067-4CFE-80D3-7AF6DB49A5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42997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89FBD81-9099-4A28-8176-1FB9D67D34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1639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4F6D951-466A-4CAD-9588-C537DF86BF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0932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</p:grpSp>
      <p:sp>
        <p:nvSpPr>
          <p:cNvPr id="92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AC1AB46F-1318-4A4B-BCB7-E53A2E23E5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62051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C34B345-3C91-4DA7-B9B4-D387F37B77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39992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95189A5-2C95-4EFE-9CAB-5E4DF659FD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41922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331F87C-EE12-451A-8FC4-847C227772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000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39732A2-F999-48EE-AD46-D960D90315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2576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5AA07EE-2DD5-43C8-AC89-7604C558C4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19836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DF5FB75-3F7D-4DBF-83A6-006D8C5161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75602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B06BE18-97AA-4771-B1CE-4DBB0361CD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17349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3ADC994-D788-4BEE-9C9D-215EA1C8E4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50039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3CFEDE-D059-49E5-B40B-83D9861D04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85660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04ABC71-0BA9-44C2-9F06-54CACE7817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3386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6FE1D00-E017-4AD1-AAD8-4052E48E1B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63970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2611C26-BA17-4767-B69E-7458FD447D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53199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5AEA0EE-CD8C-4EBB-829A-20255B474A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87738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BF23AC2-4084-4D00-8CF8-CA39E1FDBC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15967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F3F0B41-4737-457B-B2FB-0CEB9AFAD8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52631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027F63B-DA21-4D26-ADD9-B9DE8EA214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75606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336BC57-9C58-4F97-843E-A67DB7E165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31509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FD7B41F-310E-4D8A-9262-F10450B724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03425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1A6D5B3-4932-44F0-B422-676282DB6A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4959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308102D-57C9-4359-8B83-3BB7151428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592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5A2C883-4D15-4ED6-B37F-2F58FE1FE9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362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30E8A15-6009-4064-BDB6-0772CE98E9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9731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9731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731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9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0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51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83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834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4D0CAC9-4289-46D7-A1F3-E01F1214BA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9" r:id="rId1"/>
    <p:sldLayoutId id="2147485100" r:id="rId2"/>
    <p:sldLayoutId id="2147485101" r:id="rId3"/>
    <p:sldLayoutId id="2147485102" r:id="rId4"/>
    <p:sldLayoutId id="2147485103" r:id="rId5"/>
    <p:sldLayoutId id="2147485104" r:id="rId6"/>
    <p:sldLayoutId id="2147485105" r:id="rId7"/>
    <p:sldLayoutId id="2147485106" r:id="rId8"/>
    <p:sldLayoutId id="2147485107" r:id="rId9"/>
    <p:sldLayoutId id="2147485108" r:id="rId10"/>
    <p:sldLayoutId id="214748510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39936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937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EE03FE-407D-44E0-9A8A-B4A91A8FB0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10" r:id="rId1"/>
    <p:sldLayoutId id="2147485111" r:id="rId2"/>
    <p:sldLayoutId id="2147485112" r:id="rId3"/>
    <p:sldLayoutId id="2147485113" r:id="rId4"/>
    <p:sldLayoutId id="2147485114" r:id="rId5"/>
    <p:sldLayoutId id="2147485115" r:id="rId6"/>
    <p:sldLayoutId id="2147485116" r:id="rId7"/>
    <p:sldLayoutId id="2147485117" r:id="rId8"/>
    <p:sldLayoutId id="2147485118" r:id="rId9"/>
    <p:sldLayoutId id="2147485119" r:id="rId10"/>
    <p:sldLayoutId id="21474851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54D3D2-0991-4132-974C-56839CCF45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038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038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039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1" r:id="rId1"/>
    <p:sldLayoutId id="2147485122" r:id="rId2"/>
    <p:sldLayoutId id="2147485123" r:id="rId3"/>
    <p:sldLayoutId id="2147485124" r:id="rId4"/>
    <p:sldLayoutId id="2147485125" r:id="rId5"/>
    <p:sldLayoutId id="2147485126" r:id="rId6"/>
    <p:sldLayoutId id="2147485127" r:id="rId7"/>
    <p:sldLayoutId id="2147485128" r:id="rId8"/>
    <p:sldLayoutId id="2147485129" r:id="rId9"/>
    <p:sldLayoutId id="2147485130" r:id="rId10"/>
    <p:sldLayoutId id="21474851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5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9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3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36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40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39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1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4000">
                <a:latin typeface="楷体_GB2312" pitchFamily="49" charset="-122"/>
              </a:rPr>
              <a:t>第四章</a:t>
            </a:r>
            <a:br>
              <a:rPr lang="zh-CN" altLang="en-US" sz="4000">
                <a:latin typeface="楷体_GB2312" pitchFamily="49" charset="-122"/>
              </a:rPr>
            </a:br>
            <a:r>
              <a:rPr lang="zh-CN" altLang="en-US" sz="4000">
                <a:latin typeface="楷体_GB2312" pitchFamily="49" charset="-122"/>
              </a:rPr>
              <a:t>向量组的线性相关性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 b="1">
                <a:solidFill>
                  <a:srgbClr val="CC0099"/>
                </a:solidFill>
                <a:latin typeface="楷体_GB2312" pitchFamily="49" charset="-122"/>
              </a:rPr>
              <a:t>§</a:t>
            </a:r>
            <a:r>
              <a:rPr kumimoji="1" lang="en-US" altLang="zh-CN" sz="3600" b="1">
                <a:solidFill>
                  <a:srgbClr val="CC0099"/>
                </a:solidFill>
              </a:rPr>
              <a:t>1</a:t>
            </a:r>
            <a:r>
              <a:rPr kumimoji="1" lang="en-US" altLang="zh-CN" sz="3600" b="1">
                <a:solidFill>
                  <a:srgbClr val="CC0099"/>
                </a:solidFill>
                <a:latin typeface="楷体_GB2312" pitchFamily="49" charset="-122"/>
              </a:rPr>
              <a:t>  </a:t>
            </a:r>
            <a:r>
              <a:rPr kumimoji="1" lang="zh-CN" altLang="en-US" sz="3600" b="1">
                <a:solidFill>
                  <a:srgbClr val="CC0099"/>
                </a:solidFill>
                <a:latin typeface="楷体_GB2312" pitchFamily="49" charset="-122"/>
              </a:rPr>
              <a:t>向量组及其线性组合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55613"/>
            <a:ext cx="8229600" cy="5780044"/>
          </a:xfrm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dirty="0">
                <a:solidFill>
                  <a:srgbClr val="0000FF"/>
                </a:solidFill>
              </a:rPr>
              <a:t>定义：</a:t>
            </a:r>
            <a:r>
              <a:rPr kumimoji="1" lang="en-US" altLang="zh-CN" i="1" dirty="0"/>
              <a:t>n </a:t>
            </a:r>
            <a:r>
              <a:rPr kumimoji="1" lang="zh-CN" altLang="en-US" dirty="0"/>
              <a:t>个数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/>
              <a:t>a</a:t>
            </a:r>
            <a:r>
              <a:rPr kumimoji="1" lang="en-US" altLang="zh-CN" i="1" baseline="-25000" dirty="0"/>
              <a:t>n </a:t>
            </a:r>
            <a:r>
              <a:rPr kumimoji="1" lang="zh-CN" altLang="en-US" dirty="0"/>
              <a:t>所组成有次序的数组称为</a:t>
            </a:r>
            <a:r>
              <a:rPr kumimoji="1" lang="en-US" altLang="zh-CN" i="1" dirty="0">
                <a:solidFill>
                  <a:srgbClr val="FF0000"/>
                </a:solidFill>
              </a:rPr>
              <a:t>n </a:t>
            </a:r>
            <a:r>
              <a:rPr kumimoji="1" lang="zh-CN" altLang="en-US" dirty="0">
                <a:solidFill>
                  <a:srgbClr val="FF0000"/>
                </a:solidFill>
              </a:rPr>
              <a:t>维向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FF0000"/>
                </a:solidFill>
              </a:rPr>
              <a:t>量</a:t>
            </a:r>
            <a:r>
              <a:rPr kumimoji="1" lang="zh-CN" altLang="en-US" dirty="0"/>
              <a:t>，这 </a:t>
            </a:r>
            <a:r>
              <a:rPr kumimoji="1" lang="en-US" altLang="zh-CN" i="1" dirty="0"/>
              <a:t>n </a:t>
            </a:r>
            <a:r>
              <a:rPr kumimoji="1" lang="zh-CN" altLang="en-US" dirty="0"/>
              <a:t>个数称为该向量的 </a:t>
            </a:r>
            <a:r>
              <a:rPr kumimoji="1" lang="en-US" altLang="zh-CN" i="1" dirty="0"/>
              <a:t>n </a:t>
            </a:r>
            <a:r>
              <a:rPr kumimoji="1" lang="zh-CN" altLang="en-US" dirty="0"/>
              <a:t>个</a:t>
            </a:r>
            <a:r>
              <a:rPr kumimoji="1" lang="zh-CN" altLang="en-US" dirty="0">
                <a:solidFill>
                  <a:srgbClr val="FF0000"/>
                </a:solidFill>
              </a:rPr>
              <a:t>分量</a:t>
            </a:r>
            <a:r>
              <a:rPr kumimoji="1" lang="zh-CN" altLang="en-US" dirty="0"/>
              <a:t>，第 </a:t>
            </a:r>
            <a:r>
              <a:rPr kumimoji="1" lang="en-US" altLang="zh-CN" i="1" dirty="0" err="1"/>
              <a:t>i</a:t>
            </a:r>
            <a:r>
              <a:rPr kumimoji="1" lang="en-US" altLang="zh-CN" i="1" dirty="0"/>
              <a:t> </a:t>
            </a:r>
            <a:r>
              <a:rPr kumimoji="1" lang="zh-CN" altLang="en-US" dirty="0"/>
              <a:t>个数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i</a:t>
            </a:r>
            <a:r>
              <a:rPr kumimoji="1" lang="en-US" altLang="zh-CN" i="1" baseline="-25000" dirty="0"/>
              <a:t> </a:t>
            </a:r>
            <a:r>
              <a:rPr kumimoji="1" lang="zh-CN" altLang="en-US" dirty="0"/>
              <a:t>称为第 </a:t>
            </a:r>
            <a:r>
              <a:rPr kumimoji="1" lang="en-US" altLang="zh-CN" i="1" dirty="0" err="1"/>
              <a:t>i</a:t>
            </a:r>
            <a:r>
              <a:rPr kumimoji="1" lang="en-US" altLang="zh-CN" i="1" dirty="0"/>
              <a:t>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/>
              <a:t>个分量．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Font typeface="Wingdings" pitchFamily="2" charset="2"/>
              <a:buChar char="p"/>
            </a:pPr>
            <a:r>
              <a:rPr kumimoji="1" lang="zh-CN" altLang="en-US" dirty="0"/>
              <a:t>分量全为实数的向量称为</a:t>
            </a:r>
            <a:r>
              <a:rPr kumimoji="1" lang="zh-CN" altLang="en-US" dirty="0">
                <a:solidFill>
                  <a:srgbClr val="FF0000"/>
                </a:solidFill>
              </a:rPr>
              <a:t>实向量</a:t>
            </a:r>
            <a:r>
              <a:rPr kumimoji="1" lang="zh-CN" altLang="en-US" dirty="0"/>
              <a:t>．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Font typeface="Wingdings" pitchFamily="2" charset="2"/>
              <a:buChar char="p"/>
            </a:pPr>
            <a:r>
              <a:rPr kumimoji="1" lang="zh-CN" altLang="en-US" dirty="0"/>
              <a:t>分量全为复数的向量称为</a:t>
            </a:r>
            <a:r>
              <a:rPr kumimoji="1" lang="zh-CN" altLang="en-US" dirty="0">
                <a:solidFill>
                  <a:srgbClr val="FF0000"/>
                </a:solidFill>
              </a:rPr>
              <a:t>复向量</a:t>
            </a:r>
            <a:r>
              <a:rPr kumimoji="1" lang="zh-CN" altLang="en-US" dirty="0"/>
              <a:t>．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</a:rPr>
              <a:t>备注：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 typeface="Wingdings" pitchFamily="2" charset="2"/>
              <a:buChar char="ü"/>
            </a:pPr>
            <a:r>
              <a:rPr kumimoji="1" lang="zh-CN" altLang="en-US" dirty="0"/>
              <a:t>本书一般只讨论实向量（特别说明的除外）．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 typeface="Wingdings" pitchFamily="2" charset="2"/>
              <a:buChar char="ü"/>
            </a:pPr>
            <a:r>
              <a:rPr kumimoji="1" lang="zh-CN" altLang="en-US" dirty="0"/>
              <a:t>行向量和列向量总被看作是两个不同的向量．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 typeface="Wingdings" pitchFamily="2" charset="2"/>
              <a:buChar char="ü"/>
            </a:pPr>
            <a:r>
              <a:rPr kumimoji="1" lang="zh-CN" altLang="en-US" dirty="0"/>
              <a:t>所讨论的向量在没有指明是行向量还是列向量时，都当作列向量．</a:t>
            </a:r>
          </a:p>
          <a:p>
            <a:pPr eaLnBrk="1" hangingPunct="1">
              <a:lnSpc>
                <a:spcPct val="130000"/>
              </a:lnSpc>
              <a:buClr>
                <a:srgbClr val="0000FF"/>
              </a:buClr>
              <a:buSzTx/>
              <a:buFont typeface="Wingdings" pitchFamily="2" charset="2"/>
              <a:buChar char="ü"/>
            </a:pPr>
            <a:r>
              <a:rPr kumimoji="1" lang="zh-CN" altLang="en-US" dirty="0"/>
              <a:t>本书中，列向量用黑色小写字母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b</a:t>
            </a:r>
            <a:r>
              <a:rPr kumimoji="1" lang="en-US" altLang="zh-CN" dirty="0"/>
              <a:t>, </a:t>
            </a:r>
            <a:r>
              <a:rPr kumimoji="1" lang="en-US" altLang="zh-CN" i="1" dirty="0">
                <a:latin typeface="Symbol" pitchFamily="18" charset="2"/>
              </a:rPr>
              <a:t>a</a:t>
            </a:r>
            <a:r>
              <a:rPr kumimoji="1" lang="en-US" altLang="zh-CN" dirty="0"/>
              <a:t>, </a:t>
            </a:r>
            <a:r>
              <a:rPr kumimoji="1" lang="en-US" altLang="zh-CN" i="1" dirty="0">
                <a:latin typeface="Symbol" pitchFamily="18" charset="2"/>
              </a:rPr>
              <a:t>b </a:t>
            </a:r>
            <a:r>
              <a:rPr kumimoji="1" lang="zh-CN" altLang="en-US" dirty="0"/>
              <a:t>等表示，行向量则用 </a:t>
            </a:r>
            <a:r>
              <a:rPr kumimoji="1" lang="en-US" altLang="zh-CN" i="1" dirty="0" err="1"/>
              <a:t>a</a:t>
            </a:r>
            <a:r>
              <a:rPr kumimoji="1" lang="en-US" altLang="zh-CN" baseline="30000" dirty="0" err="1"/>
              <a:t>T</a:t>
            </a:r>
            <a:r>
              <a:rPr kumimoji="1" lang="en-US" altLang="zh-CN" dirty="0"/>
              <a:t>, </a:t>
            </a:r>
            <a:r>
              <a:rPr kumimoji="1" lang="en-US" altLang="zh-CN" i="1" dirty="0" err="1"/>
              <a:t>b</a:t>
            </a:r>
            <a:r>
              <a:rPr kumimoji="1" lang="en-US" altLang="zh-CN" baseline="30000" dirty="0" err="1"/>
              <a:t>T</a:t>
            </a:r>
            <a:r>
              <a:rPr kumimoji="1" lang="en-US" altLang="zh-CN" dirty="0"/>
              <a:t>, </a:t>
            </a:r>
            <a:r>
              <a:rPr kumimoji="1" lang="en-US" altLang="zh-CN" i="1" dirty="0" err="1">
                <a:latin typeface="Symbol" pitchFamily="18" charset="2"/>
              </a:rPr>
              <a:t>a</a:t>
            </a:r>
            <a:r>
              <a:rPr kumimoji="1" lang="en-US" altLang="zh-CN" baseline="30000" dirty="0" err="1"/>
              <a:t>T</a:t>
            </a:r>
            <a:r>
              <a:rPr kumimoji="1" lang="en-US" altLang="zh-CN" dirty="0"/>
              <a:t>, </a:t>
            </a:r>
            <a:r>
              <a:rPr kumimoji="1" lang="en-US" altLang="zh-CN" i="1" dirty="0" err="1">
                <a:latin typeface="Symbol" pitchFamily="18" charset="2"/>
              </a:rPr>
              <a:t>b</a:t>
            </a:r>
            <a:r>
              <a:rPr kumimoji="1" lang="en-US" altLang="zh-CN" baseline="30000" dirty="0" err="1"/>
              <a:t>T</a:t>
            </a:r>
            <a:r>
              <a:rPr kumimoji="1" lang="en-US" altLang="zh-CN" i="1" dirty="0">
                <a:latin typeface="Symbol" pitchFamily="18" charset="2"/>
              </a:rPr>
              <a:t> </a:t>
            </a:r>
            <a:r>
              <a:rPr kumimoji="1" lang="zh-CN" altLang="en-US" dirty="0"/>
              <a:t>表示．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9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5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457200" y="455613"/>
            <a:ext cx="82296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若干个同维数的列向量（行向量）所组成的集合称为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当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en-US" altLang="zh-CN" sz="2400" b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&lt;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时，齐次线性方程组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的全体解组成的向量组含有无穷多个向量．</a:t>
            </a:r>
          </a:p>
        </p:txBody>
      </p:sp>
      <p:graphicFrame>
        <p:nvGraphicFramePr>
          <p:cNvPr id="140293" name="Object 8"/>
          <p:cNvGraphicFramePr>
            <a:graphicFrameLocks noChangeAspect="1"/>
          </p:cNvGraphicFramePr>
          <p:nvPr/>
        </p:nvGraphicFramePr>
        <p:xfrm>
          <a:off x="457200" y="2728913"/>
          <a:ext cx="3452813" cy="142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4" name="Equation" r:id="rId3" imgW="1727200" imgH="711200" progId="">
                  <p:embed/>
                </p:oleObj>
              </mc:Choice>
              <mc:Fallback>
                <p:oleObj name="Equation" r:id="rId3" imgW="1727200" imgH="7112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28913"/>
                        <a:ext cx="3452813" cy="142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4" name="Object 9"/>
          <p:cNvGraphicFramePr>
            <a:graphicFrameLocks noChangeAspect="1"/>
          </p:cNvGraphicFramePr>
          <p:nvPr/>
        </p:nvGraphicFramePr>
        <p:xfrm>
          <a:off x="3879850" y="3178175"/>
          <a:ext cx="2157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5" name="Equation" r:id="rId5" imgW="1422720" imgH="330120" progId="">
                  <p:embed/>
                </p:oleObj>
              </mc:Choice>
              <mc:Fallback>
                <p:oleObj name="Equation" r:id="rId5" imgW="1422720" imgH="33012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3178175"/>
                        <a:ext cx="2157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5" name="Object 10"/>
          <p:cNvGraphicFramePr>
            <a:graphicFrameLocks noChangeAspect="1"/>
          </p:cNvGraphicFramePr>
          <p:nvPr/>
        </p:nvGraphicFramePr>
        <p:xfrm>
          <a:off x="6026150" y="2701925"/>
          <a:ext cx="10414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6" name="Equation" r:id="rId7" imgW="685800" imgH="965520" progId="">
                  <p:embed/>
                </p:oleObj>
              </mc:Choice>
              <mc:Fallback>
                <p:oleObj name="Equation" r:id="rId7" imgW="685800" imgH="96552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2701925"/>
                        <a:ext cx="10414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8" name="Line 10"/>
          <p:cNvSpPr>
            <a:spLocks noChangeShapeType="1"/>
          </p:cNvSpPr>
          <p:nvPr/>
        </p:nvSpPr>
        <p:spPr bwMode="auto">
          <a:xfrm>
            <a:off x="1879600" y="2774950"/>
            <a:ext cx="0" cy="1295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9" name="Line 11"/>
          <p:cNvSpPr>
            <a:spLocks noChangeShapeType="1"/>
          </p:cNvSpPr>
          <p:nvPr/>
        </p:nvSpPr>
        <p:spPr bwMode="auto">
          <a:xfrm>
            <a:off x="2505075" y="2774950"/>
            <a:ext cx="0" cy="1295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0" name="Line 12"/>
          <p:cNvSpPr>
            <a:spLocks noChangeShapeType="1"/>
          </p:cNvSpPr>
          <p:nvPr/>
        </p:nvSpPr>
        <p:spPr bwMode="auto">
          <a:xfrm>
            <a:off x="3132138" y="2774950"/>
            <a:ext cx="0" cy="1295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6" name="Line 8"/>
          <p:cNvSpPr>
            <a:spLocks noChangeShapeType="1"/>
          </p:cNvSpPr>
          <p:nvPr/>
        </p:nvSpPr>
        <p:spPr bwMode="auto">
          <a:xfrm>
            <a:off x="1258888" y="3249613"/>
            <a:ext cx="259238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297" name="Line 9"/>
          <p:cNvSpPr>
            <a:spLocks noChangeShapeType="1"/>
          </p:cNvSpPr>
          <p:nvPr/>
        </p:nvSpPr>
        <p:spPr bwMode="auto">
          <a:xfrm>
            <a:off x="1258888" y="3711575"/>
            <a:ext cx="259238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1" name="Rectangle 13"/>
          <p:cNvSpPr>
            <a:spLocks noChangeArrowheads="1"/>
          </p:cNvSpPr>
          <p:nvPr/>
        </p:nvSpPr>
        <p:spPr bwMode="auto">
          <a:xfrm>
            <a:off x="457200" y="4340225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结论：含有限个向量的有序向量组与矩阵一一对应．</a:t>
            </a:r>
          </a:p>
        </p:txBody>
      </p:sp>
      <p:sp>
        <p:nvSpPr>
          <p:cNvPr id="140302" name="AutoShape 14"/>
          <p:cNvSpPr>
            <a:spLocks noChangeArrowheads="1"/>
          </p:cNvSpPr>
          <p:nvPr/>
        </p:nvSpPr>
        <p:spPr bwMode="auto">
          <a:xfrm>
            <a:off x="6948488" y="2125663"/>
            <a:ext cx="2124075" cy="1152525"/>
          </a:xfrm>
          <a:prstGeom prst="cloudCallout">
            <a:avLst>
              <a:gd name="adj1" fmla="val -38343"/>
              <a:gd name="adj2" fmla="val 84023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有限向量组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0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8" grpId="0" animBg="1"/>
      <p:bldP spid="140298" grpId="1" animBg="1"/>
      <p:bldP spid="140299" grpId="0" animBg="1"/>
      <p:bldP spid="140299" grpId="1" animBg="1"/>
      <p:bldP spid="140300" grpId="0" animBg="1"/>
      <p:bldP spid="140300" grpId="1" animBg="1"/>
      <p:bldP spid="140296" grpId="0" animBg="1"/>
      <p:bldP spid="140297" grpId="0" animBg="1"/>
      <p:bldP spid="140301" grpId="0"/>
      <p:bldP spid="1403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457200" y="455613"/>
            <a:ext cx="82296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给定向量组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对于任何一组实数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，表达式</a:t>
            </a: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… 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endParaRPr kumimoji="1" lang="en-US" altLang="zh-CN" sz="2400" b="1" baseline="-25000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称为向量组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线性组合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称为这个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线性组合的系数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给定向量组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和向量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，如果存在一组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实数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，使得</a:t>
            </a: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… 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则向量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的线性组合，这时称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向量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能由向量组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线性表示（线性表出）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41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41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41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41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1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41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413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12" name="Rectangle 28"/>
          <p:cNvSpPr>
            <a:spLocks noChangeArrowheads="1"/>
          </p:cNvSpPr>
          <p:nvPr/>
        </p:nvSpPr>
        <p:spPr bwMode="auto">
          <a:xfrm>
            <a:off x="5322888" y="2611438"/>
            <a:ext cx="214312" cy="36036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44413" name="Rectangle 29"/>
          <p:cNvSpPr>
            <a:spLocks noChangeArrowheads="1"/>
          </p:cNvSpPr>
          <p:nvPr/>
        </p:nvSpPr>
        <p:spPr bwMode="auto">
          <a:xfrm>
            <a:off x="5991225" y="2611438"/>
            <a:ext cx="214313" cy="36036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44414" name="Rectangle 30"/>
          <p:cNvSpPr>
            <a:spLocks noChangeArrowheads="1"/>
          </p:cNvSpPr>
          <p:nvPr/>
        </p:nvSpPr>
        <p:spPr bwMode="auto">
          <a:xfrm>
            <a:off x="6688138" y="2611438"/>
            <a:ext cx="214312" cy="36036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57035" name="Text Box 2"/>
          <p:cNvSpPr txBox="1">
            <a:spLocks noChangeArrowheads="1"/>
          </p:cNvSpPr>
          <p:nvPr/>
        </p:nvSpPr>
        <p:spPr bwMode="auto">
          <a:xfrm>
            <a:off x="455613" y="1019175"/>
            <a:ext cx="7920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257026" name="Object 14"/>
          <p:cNvGraphicFramePr>
            <a:graphicFrameLocks noChangeAspect="1"/>
          </p:cNvGraphicFramePr>
          <p:nvPr/>
        </p:nvGraphicFramePr>
        <p:xfrm>
          <a:off x="1476375" y="592138"/>
          <a:ext cx="352901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0" name="Equation" r:id="rId3" imgW="1765300" imgH="698500" progId="">
                  <p:embed/>
                </p:oleObj>
              </mc:Choice>
              <mc:Fallback>
                <p:oleObj name="Equation" r:id="rId3" imgW="1765300" imgH="6985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92138"/>
                        <a:ext cx="3529013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8" name="Object 15"/>
          <p:cNvGraphicFramePr>
            <a:graphicFrameLocks noChangeAspect="1"/>
          </p:cNvGraphicFramePr>
          <p:nvPr/>
        </p:nvGraphicFramePr>
        <p:xfrm>
          <a:off x="2254250" y="2143125"/>
          <a:ext cx="284321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1" name="Equation" r:id="rId5" imgW="1422400" imgH="698500" progId="">
                  <p:embed/>
                </p:oleObj>
              </mc:Choice>
              <mc:Fallback>
                <p:oleObj name="Equation" r:id="rId5" imgW="1422400" imgH="6985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2143125"/>
                        <a:ext cx="2843213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16"/>
          <p:cNvGraphicFramePr>
            <a:graphicFrameLocks noChangeAspect="1"/>
          </p:cNvGraphicFramePr>
          <p:nvPr/>
        </p:nvGraphicFramePr>
        <p:xfrm>
          <a:off x="5091113" y="2627313"/>
          <a:ext cx="210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2" name="Equation" r:id="rId7" imgW="1054100" imgH="228600" progId="">
                  <p:embed/>
                </p:oleObj>
              </mc:Choice>
              <mc:Fallback>
                <p:oleObj name="Equation" r:id="rId7" imgW="1054100" imgH="2286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113" y="2627313"/>
                        <a:ext cx="2108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1" name="Object 17"/>
          <p:cNvGraphicFramePr>
            <a:graphicFrameLocks noChangeAspect="1"/>
          </p:cNvGraphicFramePr>
          <p:nvPr/>
        </p:nvGraphicFramePr>
        <p:xfrm>
          <a:off x="1243013" y="2143125"/>
          <a:ext cx="10144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3" name="Equation" r:id="rId9" imgW="508000" imgH="698500" progId="">
                  <p:embed/>
                </p:oleObj>
              </mc:Choice>
              <mc:Fallback>
                <p:oleObj name="Equation" r:id="rId9" imgW="508000" imgH="6985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2143125"/>
                        <a:ext cx="1014412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455613" y="2587625"/>
            <a:ext cx="7920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那么</a:t>
            </a:r>
          </a:p>
        </p:txBody>
      </p:sp>
      <p:sp>
        <p:nvSpPr>
          <p:cNvPr id="144397" name="Text Box 13"/>
          <p:cNvSpPr txBox="1">
            <a:spLocks noChangeArrowheads="1"/>
          </p:cNvSpPr>
          <p:nvPr/>
        </p:nvSpPr>
        <p:spPr bwMode="auto">
          <a:xfrm>
            <a:off x="4787900" y="3403600"/>
            <a:ext cx="2744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线性组合的系数</a:t>
            </a:r>
          </a:p>
        </p:txBody>
      </p:sp>
      <p:sp>
        <p:nvSpPr>
          <p:cNvPr id="257038" name="Line 14"/>
          <p:cNvSpPr>
            <a:spLocks noChangeShapeType="1"/>
          </p:cNvSpPr>
          <p:nvPr/>
        </p:nvSpPr>
        <p:spPr bwMode="auto">
          <a:xfrm>
            <a:off x="4068763" y="657225"/>
            <a:ext cx="0" cy="12588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39" name="Line 15"/>
          <p:cNvSpPr>
            <a:spLocks noChangeShapeType="1"/>
          </p:cNvSpPr>
          <p:nvPr/>
        </p:nvSpPr>
        <p:spPr bwMode="auto">
          <a:xfrm>
            <a:off x="4529138" y="657225"/>
            <a:ext cx="0" cy="12588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401" name="AutoShape 17"/>
          <p:cNvSpPr>
            <a:spLocks noChangeArrowheads="1"/>
          </p:cNvSpPr>
          <p:nvPr/>
        </p:nvSpPr>
        <p:spPr bwMode="auto">
          <a:xfrm>
            <a:off x="6084888" y="523875"/>
            <a:ext cx="2489200" cy="1354138"/>
          </a:xfrm>
          <a:prstGeom prst="cloudCallout">
            <a:avLst>
              <a:gd name="adj1" fmla="val -44514"/>
              <a:gd name="adj2" fmla="val 101468"/>
            </a:avLst>
          </a:prstGeom>
          <a:noFill/>
          <a:ln w="28575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线性组合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348288" y="3086100"/>
            <a:ext cx="1800225" cy="71438"/>
            <a:chOff x="1791" y="3394"/>
            <a:chExt cx="1633" cy="45"/>
          </a:xfrm>
        </p:grpSpPr>
        <p:sp>
          <p:nvSpPr>
            <p:cNvPr id="257047" name="Line 18"/>
            <p:cNvSpPr>
              <a:spLocks noChangeShapeType="1"/>
            </p:cNvSpPr>
            <p:nvPr/>
          </p:nvSpPr>
          <p:spPr bwMode="auto">
            <a:xfrm>
              <a:off x="1791" y="3394"/>
              <a:ext cx="163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57048" name="Line 19"/>
            <p:cNvSpPr>
              <a:spLocks noChangeShapeType="1"/>
            </p:cNvSpPr>
            <p:nvPr/>
          </p:nvSpPr>
          <p:spPr bwMode="auto">
            <a:xfrm>
              <a:off x="1791" y="3439"/>
              <a:ext cx="163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435600" y="3116263"/>
            <a:ext cx="1441450" cy="331787"/>
            <a:chOff x="3424" y="2024"/>
            <a:chExt cx="908" cy="209"/>
          </a:xfrm>
        </p:grpSpPr>
        <p:sp>
          <p:nvSpPr>
            <p:cNvPr id="257044" name="Line 24"/>
            <p:cNvSpPr>
              <a:spLocks noChangeShapeType="1"/>
            </p:cNvSpPr>
            <p:nvPr/>
          </p:nvSpPr>
          <p:spPr bwMode="auto">
            <a:xfrm>
              <a:off x="3424" y="2024"/>
              <a:ext cx="363" cy="20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45" name="Line 25"/>
            <p:cNvSpPr>
              <a:spLocks noChangeShapeType="1"/>
            </p:cNvSpPr>
            <p:nvPr/>
          </p:nvSpPr>
          <p:spPr bwMode="auto">
            <a:xfrm flipH="1">
              <a:off x="3969" y="2024"/>
              <a:ext cx="363" cy="20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46" name="Line 26"/>
            <p:cNvSpPr>
              <a:spLocks noChangeShapeType="1"/>
            </p:cNvSpPr>
            <p:nvPr/>
          </p:nvSpPr>
          <p:spPr bwMode="auto">
            <a:xfrm>
              <a:off x="3878" y="2024"/>
              <a:ext cx="0" cy="20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4415" name="Text Box 31"/>
          <p:cNvSpPr txBox="1">
            <a:spLocks noChangeArrowheads="1"/>
          </p:cNvSpPr>
          <p:nvPr/>
        </p:nvSpPr>
        <p:spPr bwMode="auto">
          <a:xfrm>
            <a:off x="455613" y="3933825"/>
            <a:ext cx="7920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一般地，对于任意的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维向量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，必有</a:t>
            </a:r>
          </a:p>
        </p:txBody>
      </p:sp>
      <p:graphicFrame>
        <p:nvGraphicFramePr>
          <p:cNvPr id="144416" name="Object 18"/>
          <p:cNvGraphicFramePr>
            <a:graphicFrameLocks noChangeAspect="1"/>
          </p:cNvGraphicFramePr>
          <p:nvPr/>
        </p:nvGraphicFramePr>
        <p:xfrm>
          <a:off x="2384425" y="4406900"/>
          <a:ext cx="4492625" cy="230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4" name="Equation" r:id="rId11" imgW="2247900" imgH="1155700" progId="">
                  <p:embed/>
                </p:oleObj>
              </mc:Choice>
              <mc:Fallback>
                <p:oleObj name="Equation" r:id="rId11" imgW="2247900" imgH="11557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4406900"/>
                        <a:ext cx="4492625" cy="230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18" name="Object 19"/>
          <p:cNvGraphicFramePr>
            <a:graphicFrameLocks noChangeAspect="1"/>
          </p:cNvGraphicFramePr>
          <p:nvPr/>
        </p:nvGraphicFramePr>
        <p:xfrm>
          <a:off x="1254125" y="4406900"/>
          <a:ext cx="1143000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5" name="Equation" r:id="rId13" imgW="571252" imgH="1167893" progId="">
                  <p:embed/>
                </p:oleObj>
              </mc:Choice>
              <mc:Fallback>
                <p:oleObj name="Equation" r:id="rId13" imgW="571252" imgH="1167893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4406900"/>
                        <a:ext cx="1143000" cy="233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12" grpId="0" animBg="1"/>
      <p:bldP spid="144413" grpId="0" animBg="1"/>
      <p:bldP spid="144414" grpId="0" animBg="1"/>
      <p:bldP spid="144392" grpId="0"/>
      <p:bldP spid="144397" grpId="0"/>
      <p:bldP spid="144401" grpId="0" animBg="1"/>
      <p:bldP spid="1444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Rectangle 4"/>
          <p:cNvSpPr>
            <a:spLocks noChangeArrowheads="1"/>
          </p:cNvSpPr>
          <p:nvPr/>
        </p:nvSpPr>
        <p:spPr bwMode="auto">
          <a:xfrm>
            <a:off x="436563" y="5589588"/>
            <a:ext cx="8229600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阶单位矩阵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的列向量组叫做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维单位坐标向量组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258050" name="Object 8"/>
          <p:cNvGraphicFramePr>
            <a:graphicFrameLocks noChangeAspect="1"/>
          </p:cNvGraphicFramePr>
          <p:nvPr/>
        </p:nvGraphicFramePr>
        <p:xfrm>
          <a:off x="2309813" y="442913"/>
          <a:ext cx="4494212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05" name="Equation" r:id="rId3" imgW="2247900" imgH="1155700" progId="">
                  <p:embed/>
                </p:oleObj>
              </mc:Choice>
              <mc:Fallback>
                <p:oleObj name="Equation" r:id="rId3" imgW="2247900" imgH="11557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442913"/>
                        <a:ext cx="4494212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1" name="Object 9"/>
          <p:cNvGraphicFramePr>
            <a:graphicFrameLocks noChangeAspect="1"/>
          </p:cNvGraphicFramePr>
          <p:nvPr/>
        </p:nvGraphicFramePr>
        <p:xfrm>
          <a:off x="1179513" y="444500"/>
          <a:ext cx="1141412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06" name="Equation" r:id="rId5" imgW="571252" imgH="1167893" progId="">
                  <p:embed/>
                </p:oleObj>
              </mc:Choice>
              <mc:Fallback>
                <p:oleObj name="Equation" r:id="rId5" imgW="571252" imgH="1167893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444500"/>
                        <a:ext cx="1141412" cy="233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2" name="Object 10"/>
          <p:cNvGraphicFramePr>
            <a:graphicFrameLocks noChangeAspect="1"/>
          </p:cNvGraphicFramePr>
          <p:nvPr/>
        </p:nvGraphicFramePr>
        <p:xfrm>
          <a:off x="3019425" y="3133725"/>
          <a:ext cx="30734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07" name="Equation" r:id="rId7" imgW="1536700" imgH="1155700" progId="">
                  <p:embed/>
                </p:oleObj>
              </mc:Choice>
              <mc:Fallback>
                <p:oleObj name="Equation" r:id="rId7" imgW="1536700" imgH="11557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3133725"/>
                        <a:ext cx="3073400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5" name="Line 9"/>
          <p:cNvSpPr>
            <a:spLocks noChangeShapeType="1"/>
          </p:cNvSpPr>
          <p:nvPr/>
        </p:nvSpPr>
        <p:spPr bwMode="auto">
          <a:xfrm>
            <a:off x="3132138" y="2771775"/>
            <a:ext cx="647700" cy="3746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6" name="Line 10"/>
          <p:cNvSpPr>
            <a:spLocks noChangeShapeType="1"/>
          </p:cNvSpPr>
          <p:nvPr/>
        </p:nvSpPr>
        <p:spPr bwMode="auto">
          <a:xfrm>
            <a:off x="4140200" y="2771775"/>
            <a:ext cx="207963" cy="3746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7" name="Line 11"/>
          <p:cNvSpPr>
            <a:spLocks noChangeShapeType="1"/>
          </p:cNvSpPr>
          <p:nvPr/>
        </p:nvSpPr>
        <p:spPr bwMode="auto">
          <a:xfrm flipH="1">
            <a:off x="4940300" y="2771775"/>
            <a:ext cx="207963" cy="3746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8" name="Line 12"/>
          <p:cNvSpPr>
            <a:spLocks noChangeShapeType="1"/>
          </p:cNvSpPr>
          <p:nvPr/>
        </p:nvSpPr>
        <p:spPr bwMode="auto">
          <a:xfrm flipH="1">
            <a:off x="5867400" y="2771775"/>
            <a:ext cx="647700" cy="3746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0" name="Rectangle 14"/>
          <p:cNvSpPr>
            <a:spLocks noChangeArrowheads="1"/>
          </p:cNvSpPr>
          <p:nvPr/>
        </p:nvSpPr>
        <p:spPr bwMode="auto">
          <a:xfrm>
            <a:off x="3851275" y="3213100"/>
            <a:ext cx="215900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3071" name="Rectangle 15"/>
          <p:cNvSpPr>
            <a:spLocks noChangeArrowheads="1"/>
          </p:cNvSpPr>
          <p:nvPr/>
        </p:nvSpPr>
        <p:spPr bwMode="auto">
          <a:xfrm>
            <a:off x="4284663" y="3213100"/>
            <a:ext cx="215900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3072" name="Rectangle 16"/>
          <p:cNvSpPr>
            <a:spLocks noChangeArrowheads="1"/>
          </p:cNvSpPr>
          <p:nvPr/>
        </p:nvSpPr>
        <p:spPr bwMode="auto">
          <a:xfrm>
            <a:off x="4716463" y="3213100"/>
            <a:ext cx="215900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3073" name="Rectangle 17"/>
          <p:cNvSpPr>
            <a:spLocks noChangeArrowheads="1"/>
          </p:cNvSpPr>
          <p:nvPr/>
        </p:nvSpPr>
        <p:spPr bwMode="auto">
          <a:xfrm>
            <a:off x="5148263" y="3213100"/>
            <a:ext cx="360362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3074" name="Rectangle 18"/>
          <p:cNvSpPr>
            <a:spLocks noChangeArrowheads="1"/>
          </p:cNvSpPr>
          <p:nvPr/>
        </p:nvSpPr>
        <p:spPr bwMode="auto">
          <a:xfrm>
            <a:off x="5695950" y="3213100"/>
            <a:ext cx="215900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3075" name="Rectangle 19"/>
          <p:cNvSpPr>
            <a:spLocks noChangeArrowheads="1"/>
          </p:cNvSpPr>
          <p:nvPr/>
        </p:nvSpPr>
        <p:spPr bwMode="auto">
          <a:xfrm>
            <a:off x="3030538" y="4076700"/>
            <a:ext cx="647700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17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73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0" grpId="0" build="p"/>
      <p:bldP spid="173065" grpId="0" animBg="1"/>
      <p:bldP spid="173066" grpId="0" animBg="1"/>
      <p:bldP spid="173067" grpId="0" animBg="1"/>
      <p:bldP spid="173068" grpId="0" animBg="1"/>
      <p:bldP spid="173070" grpId="0" animBg="1"/>
      <p:bldP spid="173071" grpId="0" animBg="1"/>
      <p:bldP spid="173072" grpId="0" animBg="1"/>
      <p:bldP spid="173073" grpId="0" animBg="1"/>
      <p:bldP spid="173074" grpId="0" animBg="1"/>
      <p:bldP spid="17307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回顾：线性方程组的表达式</a:t>
            </a:r>
          </a:p>
        </p:txBody>
      </p:sp>
      <p:sp>
        <p:nvSpPr>
          <p:cNvPr id="2590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038600" cy="4454525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</a:rPr>
              <a:t>一般形式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endParaRPr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endParaRPr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AutoNum type="arabicPeriod"/>
            </a:pPr>
            <a:endParaRPr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endParaRPr kumimoji="1" lang="zh-CN" altLang="en-US" sz="2400" dirty="0">
              <a:solidFill>
                <a:srgbClr val="0000FF"/>
              </a:solidFill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itchFamily="2" charset="2"/>
              <a:buAutoNum type="arabicPeriod" startAt="3"/>
            </a:pPr>
            <a:r>
              <a:rPr kumimoji="1" lang="zh-CN" altLang="en-US" sz="2400" dirty="0">
                <a:solidFill>
                  <a:srgbClr val="0000FF"/>
                </a:solidFill>
              </a:rPr>
              <a:t> 矩阵乘法形式</a:t>
            </a:r>
            <a:endParaRPr kumimoji="1" lang="zh-CN" altLang="en-US" sz="2400" dirty="0"/>
          </a:p>
        </p:txBody>
      </p:sp>
      <p:sp>
        <p:nvSpPr>
          <p:cNvPr id="25908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295400"/>
            <a:ext cx="4038600" cy="4454525"/>
          </a:xfrm>
        </p:spPr>
        <p:txBody>
          <a:bodyPr/>
          <a:lstStyle/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2"/>
            </a:pPr>
            <a:r>
              <a:rPr kumimoji="1" lang="zh-CN" altLang="en-US" sz="2400">
                <a:solidFill>
                  <a:srgbClr val="0000FF"/>
                </a:solidFill>
              </a:rPr>
              <a:t>增广矩阵的形式</a:t>
            </a:r>
          </a:p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2"/>
            </a:pPr>
            <a:endParaRPr kumimoji="1" lang="zh-CN" altLang="en-US" sz="2400">
              <a:solidFill>
                <a:srgbClr val="0000FF"/>
              </a:solidFill>
            </a:endParaRPr>
          </a:p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2"/>
            </a:pPr>
            <a:endParaRPr kumimoji="1" lang="zh-CN" altLang="en-US" sz="2400">
              <a:solidFill>
                <a:srgbClr val="0000FF"/>
              </a:solidFill>
            </a:endParaRPr>
          </a:p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2"/>
            </a:pPr>
            <a:endParaRPr kumimoji="1" lang="zh-CN" altLang="en-US" sz="2400">
              <a:solidFill>
                <a:srgbClr val="0000FF"/>
              </a:solidFill>
            </a:endParaRPr>
          </a:p>
          <a:p>
            <a:pPr marL="381000" indent="-381000" eaLnBrk="1" hangingPunct="1">
              <a:buClr>
                <a:srgbClr val="0000FF"/>
              </a:buClr>
              <a:buSzTx/>
              <a:buFont typeface="Wingdings" pitchFamily="2" charset="2"/>
              <a:buAutoNum type="arabicPeriod" startAt="4"/>
            </a:pPr>
            <a:r>
              <a:rPr kumimoji="1" lang="zh-CN" altLang="en-US" sz="2400">
                <a:solidFill>
                  <a:srgbClr val="0000FF"/>
                </a:solidFill>
              </a:rPr>
              <a:t>向量组线性组合的形式</a:t>
            </a:r>
          </a:p>
        </p:txBody>
      </p:sp>
      <p:graphicFrame>
        <p:nvGraphicFramePr>
          <p:cNvPr id="259074" name="Object 14"/>
          <p:cNvGraphicFramePr>
            <a:graphicFrameLocks noChangeAspect="1"/>
          </p:cNvGraphicFramePr>
          <p:nvPr/>
        </p:nvGraphicFramePr>
        <p:xfrm>
          <a:off x="1198563" y="1857375"/>
          <a:ext cx="26400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7" name="Equation" r:id="rId3" imgW="1320227" imgH="482391" progId="">
                  <p:embed/>
                </p:oleObj>
              </mc:Choice>
              <mc:Fallback>
                <p:oleObj name="Equation" r:id="rId3" imgW="1320227" imgH="482391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1857375"/>
                        <a:ext cx="26400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5" name="Object 15"/>
          <p:cNvGraphicFramePr>
            <a:graphicFrameLocks noChangeAspect="1"/>
          </p:cNvGraphicFramePr>
          <p:nvPr/>
        </p:nvGraphicFramePr>
        <p:xfrm>
          <a:off x="5553075" y="1857375"/>
          <a:ext cx="23606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8" name="Equation" r:id="rId5" imgW="1180588" imgH="469696" progId="">
                  <p:embed/>
                </p:oleObj>
              </mc:Choice>
              <mc:Fallback>
                <p:oleObj name="Equation" r:id="rId5" imgW="1180588" imgH="469696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075" y="1857375"/>
                        <a:ext cx="23606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6" name="Object 16"/>
          <p:cNvGraphicFramePr>
            <a:graphicFrameLocks noChangeAspect="1"/>
          </p:cNvGraphicFramePr>
          <p:nvPr/>
        </p:nvGraphicFramePr>
        <p:xfrm>
          <a:off x="836613" y="3659188"/>
          <a:ext cx="3365500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9" name="Equation" r:id="rId7" imgW="1676400" imgH="711200" progId="">
                  <p:embed/>
                </p:oleObj>
              </mc:Choice>
              <mc:Fallback>
                <p:oleObj name="Equation" r:id="rId7" imgW="1676400" imgH="7112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3659188"/>
                        <a:ext cx="3365500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7" name="Object 17"/>
          <p:cNvGraphicFramePr>
            <a:graphicFrameLocks noChangeAspect="1"/>
          </p:cNvGraphicFramePr>
          <p:nvPr/>
        </p:nvGraphicFramePr>
        <p:xfrm>
          <a:off x="4575175" y="3902075"/>
          <a:ext cx="4318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70" name="Equation" r:id="rId9" imgW="2159000" imgH="469900" progId="">
                  <p:embed/>
                </p:oleObj>
              </mc:Choice>
              <mc:Fallback>
                <p:oleObj name="Equation" r:id="rId9" imgW="2159000" imgH="4699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175" y="3902075"/>
                        <a:ext cx="4318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7" name="Rectangle 13"/>
          <p:cNvSpPr>
            <a:spLocks noChangeArrowheads="1"/>
          </p:cNvSpPr>
          <p:nvPr/>
        </p:nvSpPr>
        <p:spPr bwMode="auto">
          <a:xfrm>
            <a:off x="152400" y="547211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方程组有解</a:t>
            </a:r>
          </a:p>
        </p:txBody>
      </p:sp>
      <p:sp>
        <p:nvSpPr>
          <p:cNvPr id="149518" name="Rectangle 14"/>
          <p:cNvSpPr>
            <a:spLocks noChangeArrowheads="1"/>
          </p:cNvSpPr>
          <p:nvPr/>
        </p:nvSpPr>
        <p:spPr bwMode="auto">
          <a:xfrm>
            <a:off x="2627313" y="5472113"/>
            <a:ext cx="568910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        能用                         线性表示</a:t>
            </a:r>
          </a:p>
        </p:txBody>
      </p:sp>
      <p:graphicFrame>
        <p:nvGraphicFramePr>
          <p:cNvPr id="1495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68308"/>
              </p:ext>
            </p:extLst>
          </p:nvPr>
        </p:nvGraphicFramePr>
        <p:xfrm>
          <a:off x="4716016" y="5226050"/>
          <a:ext cx="2108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71" name="Equation" r:id="rId11" imgW="1054100" imgH="469900" progId="">
                  <p:embed/>
                </p:oleObj>
              </mc:Choice>
              <mc:Fallback>
                <p:oleObj name="Equation" r:id="rId11" imgW="1054100" imgH="4699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5226050"/>
                        <a:ext cx="2108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0" name="Object 19"/>
          <p:cNvGraphicFramePr>
            <a:graphicFrameLocks noChangeAspect="1"/>
          </p:cNvGraphicFramePr>
          <p:nvPr/>
        </p:nvGraphicFramePr>
        <p:xfrm>
          <a:off x="3351213" y="5226050"/>
          <a:ext cx="711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72" name="Equation" r:id="rId13" imgW="355446" imgH="469696" progId="">
                  <p:embed/>
                </p:oleObj>
              </mc:Choice>
              <mc:Fallback>
                <p:oleObj name="Equation" r:id="rId13" imgW="355446" imgH="469696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1213" y="5226050"/>
                        <a:ext cx="711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1" name="AutoShape 17"/>
          <p:cNvSpPr>
            <a:spLocks noChangeArrowheads="1"/>
          </p:cNvSpPr>
          <p:nvPr/>
        </p:nvSpPr>
        <p:spPr bwMode="auto">
          <a:xfrm>
            <a:off x="2051050" y="5473700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7" grpId="0"/>
      <p:bldP spid="149518" grpId="0"/>
      <p:bldP spid="1495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0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952077"/>
              </p:ext>
            </p:extLst>
          </p:nvPr>
        </p:nvGraphicFramePr>
        <p:xfrm>
          <a:off x="323850" y="764704"/>
          <a:ext cx="844391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32" name="Equation" r:id="rId3" imgW="4699000" imgH="939800" progId="">
                  <p:embed/>
                </p:oleObj>
              </mc:Choice>
              <mc:Fallback>
                <p:oleObj name="Equation" r:id="rId3" imgW="4699000" imgH="9398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764704"/>
                        <a:ext cx="844391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808778"/>
              </p:ext>
            </p:extLst>
          </p:nvPr>
        </p:nvGraphicFramePr>
        <p:xfrm>
          <a:off x="323850" y="3384079"/>
          <a:ext cx="30130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33" name="Equation" r:id="rId5" imgW="1676400" imgH="228600" progId="">
                  <p:embed/>
                </p:oleObj>
              </mc:Choice>
              <mc:Fallback>
                <p:oleObj name="Equation" r:id="rId5" imgW="1676400" imgH="2286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384079"/>
                        <a:ext cx="30130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42899"/>
              </p:ext>
            </p:extLst>
          </p:nvPr>
        </p:nvGraphicFramePr>
        <p:xfrm>
          <a:off x="4787900" y="2744316"/>
          <a:ext cx="349091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34" name="Equation" r:id="rId7" imgW="1943100" imgH="939800" progId="">
                  <p:embed/>
                </p:oleObj>
              </mc:Choice>
              <mc:Fallback>
                <p:oleObj name="Equation" r:id="rId7" imgW="1943100" imgH="9398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744316"/>
                        <a:ext cx="349091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AutoShape 8"/>
          <p:cNvSpPr>
            <a:spLocks noChangeArrowheads="1"/>
          </p:cNvSpPr>
          <p:nvPr/>
        </p:nvSpPr>
        <p:spPr bwMode="auto">
          <a:xfrm>
            <a:off x="3773488" y="3361854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5258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969221"/>
              </p:ext>
            </p:extLst>
          </p:nvPr>
        </p:nvGraphicFramePr>
        <p:xfrm>
          <a:off x="6780213" y="5222404"/>
          <a:ext cx="20113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435" name="Equation" r:id="rId9" imgW="1002865" imgH="203112" progId="">
                  <p:embed/>
                </p:oleObj>
              </mc:Choice>
              <mc:Fallback>
                <p:oleObj name="Equation" r:id="rId9" imgW="1002865" imgH="203112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213" y="5222404"/>
                        <a:ext cx="20113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9" name="Rectangle 13"/>
          <p:cNvSpPr>
            <a:spLocks noChangeArrowheads="1"/>
          </p:cNvSpPr>
          <p:nvPr/>
        </p:nvSpPr>
        <p:spPr bwMode="auto">
          <a:xfrm>
            <a:off x="439738" y="4758854"/>
            <a:ext cx="1900237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能由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线性表示</a:t>
            </a:r>
          </a:p>
        </p:txBody>
      </p:sp>
      <p:sp>
        <p:nvSpPr>
          <p:cNvPr id="152592" name="Rectangle 16"/>
          <p:cNvSpPr>
            <a:spLocks noChangeArrowheads="1"/>
          </p:cNvSpPr>
          <p:nvPr/>
        </p:nvSpPr>
        <p:spPr bwMode="auto">
          <a:xfrm>
            <a:off x="3609975" y="4758854"/>
            <a:ext cx="1900238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线性方程组        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有解</a:t>
            </a:r>
          </a:p>
        </p:txBody>
      </p:sp>
      <p:sp>
        <p:nvSpPr>
          <p:cNvPr id="152595" name="AutoShape 19"/>
          <p:cNvSpPr>
            <a:spLocks noChangeArrowheads="1"/>
          </p:cNvSpPr>
          <p:nvPr/>
        </p:nvSpPr>
        <p:spPr bwMode="auto">
          <a:xfrm>
            <a:off x="2686050" y="5197004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2596" name="AutoShape 20"/>
          <p:cNvSpPr>
            <a:spLocks noChangeArrowheads="1"/>
          </p:cNvSpPr>
          <p:nvPr/>
        </p:nvSpPr>
        <p:spPr bwMode="auto">
          <a:xfrm>
            <a:off x="5856288" y="5197004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2598" name="Rectangle 22"/>
          <p:cNvSpPr>
            <a:spLocks noChangeArrowheads="1"/>
          </p:cNvSpPr>
          <p:nvPr/>
        </p:nvSpPr>
        <p:spPr bwMode="auto">
          <a:xfrm>
            <a:off x="2916238" y="764704"/>
            <a:ext cx="2519362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2599" name="Rectangle 23"/>
          <p:cNvSpPr>
            <a:spLocks noChangeArrowheads="1"/>
          </p:cNvSpPr>
          <p:nvPr/>
        </p:nvSpPr>
        <p:spPr bwMode="auto">
          <a:xfrm>
            <a:off x="5435600" y="764704"/>
            <a:ext cx="3313113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52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52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5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5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2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2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5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4" grpId="0" animBg="1"/>
      <p:bldP spid="152589" grpId="0"/>
      <p:bldP spid="152592" grpId="0"/>
      <p:bldP spid="152595" grpId="0" animBg="1"/>
      <p:bldP spid="152596" grpId="0" animBg="1"/>
      <p:bldP spid="152598" grpId="0" animBg="1"/>
      <p:bldP spid="15259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457200" y="455613"/>
            <a:ext cx="8229600" cy="275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设有向量组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及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若</a:t>
            </a: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中的每个向量都能由向量组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线性表示，则称</a:t>
            </a:r>
            <a:r>
              <a:rPr kumimoji="1" lang="zh-CN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向</a:t>
            </a:r>
            <a:endParaRPr kumimoji="1" lang="zh-CN" altLang="en-US" sz="2400" b="1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量组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能由向量组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线性表示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若向量组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与向量组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能互相线性表示，则称这两个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向量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组等价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4" name="Rectangle 2"/>
          <p:cNvSpPr>
            <a:spLocks noChangeArrowheads="1"/>
          </p:cNvSpPr>
          <p:nvPr/>
        </p:nvSpPr>
        <p:spPr bwMode="auto">
          <a:xfrm>
            <a:off x="457200" y="455613"/>
            <a:ext cx="82296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设有向量组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及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若向量组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线性表示，即</a:t>
            </a: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261122" name="Object 6"/>
          <p:cNvGraphicFramePr>
            <a:graphicFrameLocks noChangeAspect="1"/>
          </p:cNvGraphicFramePr>
          <p:nvPr/>
        </p:nvGraphicFramePr>
        <p:xfrm>
          <a:off x="2671763" y="1708150"/>
          <a:ext cx="37576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96" name="Equation" r:id="rId3" imgW="1879600" imgH="927100" progId="">
                  <p:embed/>
                </p:oleObj>
              </mc:Choice>
              <mc:Fallback>
                <p:oleObj name="Equation" r:id="rId3" imgW="1879600" imgH="9271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1708150"/>
                        <a:ext cx="37576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7"/>
          <p:cNvGraphicFramePr>
            <a:graphicFrameLocks noChangeAspect="1"/>
          </p:cNvGraphicFramePr>
          <p:nvPr/>
        </p:nvGraphicFramePr>
        <p:xfrm>
          <a:off x="1123950" y="3922713"/>
          <a:ext cx="68548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97" name="Equation" r:id="rId5" imgW="3429000" imgH="939800" progId="">
                  <p:embed/>
                </p:oleObj>
              </mc:Choice>
              <mc:Fallback>
                <p:oleObj name="Equation" r:id="rId5" imgW="3429000" imgH="9398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3922713"/>
                        <a:ext cx="6854825" cy="1882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2" name="Rectangle 6"/>
          <p:cNvSpPr>
            <a:spLocks noChangeArrowheads="1"/>
          </p:cNvSpPr>
          <p:nvPr/>
        </p:nvSpPr>
        <p:spPr bwMode="auto">
          <a:xfrm>
            <a:off x="2627313" y="1700213"/>
            <a:ext cx="3744912" cy="433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03" name="Rectangle 7"/>
          <p:cNvSpPr>
            <a:spLocks noChangeArrowheads="1"/>
          </p:cNvSpPr>
          <p:nvPr/>
        </p:nvSpPr>
        <p:spPr bwMode="auto">
          <a:xfrm>
            <a:off x="2627313" y="2179638"/>
            <a:ext cx="3744912" cy="433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04" name="Rectangle 8"/>
          <p:cNvSpPr>
            <a:spLocks noChangeArrowheads="1"/>
          </p:cNvSpPr>
          <p:nvPr/>
        </p:nvSpPr>
        <p:spPr bwMode="auto">
          <a:xfrm>
            <a:off x="2627313" y="2660650"/>
            <a:ext cx="3744912" cy="433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05" name="Rectangle 9"/>
          <p:cNvSpPr>
            <a:spLocks noChangeArrowheads="1"/>
          </p:cNvSpPr>
          <p:nvPr/>
        </p:nvSpPr>
        <p:spPr bwMode="auto">
          <a:xfrm>
            <a:off x="2627313" y="3141663"/>
            <a:ext cx="3744912" cy="433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06" name="Rectangle 10"/>
          <p:cNvSpPr>
            <a:spLocks noChangeArrowheads="1"/>
          </p:cNvSpPr>
          <p:nvPr/>
        </p:nvSpPr>
        <p:spPr bwMode="auto">
          <a:xfrm>
            <a:off x="1908175" y="4652963"/>
            <a:ext cx="733425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07" name="Rectangle 11"/>
          <p:cNvSpPr>
            <a:spLocks noChangeArrowheads="1"/>
          </p:cNvSpPr>
          <p:nvPr/>
        </p:nvSpPr>
        <p:spPr bwMode="auto">
          <a:xfrm>
            <a:off x="1533525" y="4652963"/>
            <a:ext cx="503238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08" name="Rectangle 12"/>
          <p:cNvSpPr>
            <a:spLocks noChangeArrowheads="1"/>
          </p:cNvSpPr>
          <p:nvPr/>
        </p:nvSpPr>
        <p:spPr bwMode="auto">
          <a:xfrm>
            <a:off x="5651500" y="3933825"/>
            <a:ext cx="576263" cy="1871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09" name="Rectangle 13"/>
          <p:cNvSpPr>
            <a:spLocks noChangeArrowheads="1"/>
          </p:cNvSpPr>
          <p:nvPr/>
        </p:nvSpPr>
        <p:spPr bwMode="auto">
          <a:xfrm>
            <a:off x="6270625" y="3933825"/>
            <a:ext cx="1152525" cy="1871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10" name="Rectangle 14"/>
          <p:cNvSpPr>
            <a:spLocks noChangeArrowheads="1"/>
          </p:cNvSpPr>
          <p:nvPr/>
        </p:nvSpPr>
        <p:spPr bwMode="auto">
          <a:xfrm>
            <a:off x="7596188" y="5589588"/>
            <a:ext cx="360362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7701" name="AutoShape 5"/>
          <p:cNvSpPr>
            <a:spLocks noChangeArrowheads="1"/>
          </p:cNvSpPr>
          <p:nvPr/>
        </p:nvSpPr>
        <p:spPr bwMode="auto">
          <a:xfrm>
            <a:off x="6516688" y="2482850"/>
            <a:ext cx="2447925" cy="1296988"/>
          </a:xfrm>
          <a:prstGeom prst="cloudCallout">
            <a:avLst>
              <a:gd name="adj1" fmla="val -51167"/>
              <a:gd name="adj2" fmla="val 6884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线性表示的</a:t>
            </a:r>
          </a:p>
          <a:p>
            <a:pPr algn="ctr"/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系数矩阵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157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157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2" grpId="0" animBg="1"/>
      <p:bldP spid="157703" grpId="0" animBg="1"/>
      <p:bldP spid="157704" grpId="0" animBg="1"/>
      <p:bldP spid="157705" grpId="0" animBg="1"/>
      <p:bldP spid="157706" grpId="0" animBg="1"/>
      <p:bldP spid="157707" grpId="0" animBg="1"/>
      <p:bldP spid="157708" grpId="0" animBg="1"/>
      <p:bldP spid="157709" grpId="0" animBg="1"/>
      <p:bldP spid="157710" grpId="0" animBg="1"/>
      <p:bldP spid="15770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ChangeArrowheads="1"/>
          </p:cNvSpPr>
          <p:nvPr/>
        </p:nvSpPr>
        <p:spPr bwMode="auto">
          <a:xfrm>
            <a:off x="457200" y="455613"/>
            <a:ext cx="8229600" cy="494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设有向量组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及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若向量组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线性表示，即</a:t>
            </a: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对于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，存在一组实数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，使得</a:t>
            </a:r>
          </a:p>
          <a:p>
            <a:pPr algn="ctr"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… 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  <a:endParaRPr kumimoji="1" lang="zh-CN" altLang="en-US" sz="2400" b="1" i="1" baseline="-2500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对于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，存在一组实数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，使得</a:t>
            </a:r>
          </a:p>
          <a:p>
            <a:pPr algn="ctr"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… 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  <a:endParaRPr kumimoji="1" lang="zh-CN" altLang="en-US" sz="2400" b="1" i="1" baseline="-2500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……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对于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，存在一组实数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，使得</a:t>
            </a:r>
          </a:p>
          <a:p>
            <a:pPr algn="ctr"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… 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5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55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55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55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55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55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55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8" name="Rectangle 2"/>
          <p:cNvSpPr>
            <a:spLocks noChangeArrowheads="1"/>
          </p:cNvSpPr>
          <p:nvPr/>
        </p:nvSpPr>
        <p:spPr bwMode="auto">
          <a:xfrm>
            <a:off x="436563" y="455613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en-US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en-US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en-US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，即</a:t>
            </a:r>
          </a:p>
        </p:txBody>
      </p:sp>
      <p:sp>
        <p:nvSpPr>
          <p:cNvPr id="158724" name="Line 4"/>
          <p:cNvSpPr>
            <a:spLocks noChangeShapeType="1"/>
          </p:cNvSpPr>
          <p:nvPr/>
        </p:nvSpPr>
        <p:spPr bwMode="auto">
          <a:xfrm>
            <a:off x="1116013" y="1193800"/>
            <a:ext cx="0" cy="172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8725" name="Line 5"/>
          <p:cNvSpPr>
            <a:spLocks noChangeShapeType="1"/>
          </p:cNvSpPr>
          <p:nvPr/>
        </p:nvSpPr>
        <p:spPr bwMode="auto">
          <a:xfrm>
            <a:off x="1763713" y="1193800"/>
            <a:ext cx="0" cy="172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8726" name="Line 6"/>
          <p:cNvSpPr>
            <a:spLocks noChangeShapeType="1"/>
          </p:cNvSpPr>
          <p:nvPr/>
        </p:nvSpPr>
        <p:spPr bwMode="auto">
          <a:xfrm>
            <a:off x="2411413" y="1193800"/>
            <a:ext cx="0" cy="172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8727" name="Line 7"/>
          <p:cNvSpPr>
            <a:spLocks noChangeShapeType="1"/>
          </p:cNvSpPr>
          <p:nvPr/>
        </p:nvSpPr>
        <p:spPr bwMode="auto">
          <a:xfrm>
            <a:off x="4111625" y="1193800"/>
            <a:ext cx="0" cy="172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8728" name="Line 8"/>
          <p:cNvSpPr>
            <a:spLocks noChangeShapeType="1"/>
          </p:cNvSpPr>
          <p:nvPr/>
        </p:nvSpPr>
        <p:spPr bwMode="auto">
          <a:xfrm>
            <a:off x="4759325" y="1193800"/>
            <a:ext cx="0" cy="172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8729" name="Line 9"/>
          <p:cNvSpPr>
            <a:spLocks noChangeShapeType="1"/>
          </p:cNvSpPr>
          <p:nvPr/>
        </p:nvSpPr>
        <p:spPr bwMode="auto">
          <a:xfrm>
            <a:off x="5407025" y="1193800"/>
            <a:ext cx="0" cy="172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8730" name="Rectangle 10"/>
          <p:cNvSpPr>
            <a:spLocks noChangeArrowheads="1"/>
          </p:cNvSpPr>
          <p:nvPr/>
        </p:nvSpPr>
        <p:spPr bwMode="auto">
          <a:xfrm>
            <a:off x="457200" y="3914775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58731" name="Object 6"/>
          <p:cNvGraphicFramePr>
            <a:graphicFrameLocks noChangeAspect="1"/>
          </p:cNvGraphicFramePr>
          <p:nvPr/>
        </p:nvGraphicFramePr>
        <p:xfrm>
          <a:off x="1416050" y="3201988"/>
          <a:ext cx="62706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18" name="Equation" r:id="rId3" imgW="3136900" imgH="939800" progId="">
                  <p:embed/>
                </p:oleObj>
              </mc:Choice>
              <mc:Fallback>
                <p:oleObj name="Equation" r:id="rId3" imgW="3136900" imgH="939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3201988"/>
                        <a:ext cx="6270625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2" name="Rectangle 12"/>
          <p:cNvSpPr>
            <a:spLocks noChangeArrowheads="1"/>
          </p:cNvSpPr>
          <p:nvPr/>
        </p:nvSpPr>
        <p:spPr bwMode="auto">
          <a:xfrm>
            <a:off x="338138" y="5267325"/>
            <a:ext cx="84359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结论：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的列向量组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能由矩阵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的列向量组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线性表示，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为这一线性表示的系数矩阵．</a:t>
            </a:r>
          </a:p>
        </p:txBody>
      </p:sp>
      <p:graphicFrame>
        <p:nvGraphicFramePr>
          <p:cNvPr id="262147" name="Object 7"/>
          <p:cNvGraphicFramePr>
            <a:graphicFrameLocks noChangeAspect="1"/>
          </p:cNvGraphicFramePr>
          <p:nvPr/>
        </p:nvGraphicFramePr>
        <p:xfrm>
          <a:off x="412750" y="1116013"/>
          <a:ext cx="82772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19" name="Equation" r:id="rId5" imgW="4140200" imgH="939800" progId="">
                  <p:embed/>
                </p:oleObj>
              </mc:Choice>
              <mc:Fallback>
                <p:oleObj name="Equation" r:id="rId5" imgW="4140200" imgH="9398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1116013"/>
                        <a:ext cx="8277225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5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animBg="1"/>
      <p:bldP spid="158725" grpId="0" animBg="1"/>
      <p:bldP spid="158726" grpId="0" animBg="1"/>
      <p:bldP spid="158727" grpId="0" animBg="1"/>
      <p:bldP spid="158728" grpId="0" animBg="1"/>
      <p:bldP spid="158729" grpId="0" animBg="1"/>
      <p:bldP spid="158730" grpId="0"/>
      <p:bldP spid="1587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2" name="Rectangle 2"/>
          <p:cNvSpPr>
            <a:spLocks noChangeArrowheads="1"/>
          </p:cNvSpPr>
          <p:nvPr/>
        </p:nvSpPr>
        <p:spPr bwMode="auto">
          <a:xfrm>
            <a:off x="436563" y="455613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en-US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en-US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en-US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，即</a:t>
            </a:r>
          </a:p>
        </p:txBody>
      </p:sp>
      <p:graphicFrame>
        <p:nvGraphicFramePr>
          <p:cNvPr id="263170" name="Object 6"/>
          <p:cNvGraphicFramePr>
            <a:graphicFrameLocks noChangeAspect="1"/>
          </p:cNvGraphicFramePr>
          <p:nvPr/>
        </p:nvGraphicFramePr>
        <p:xfrm>
          <a:off x="412750" y="1116013"/>
          <a:ext cx="82772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42" name="Equation" r:id="rId3" imgW="4140200" imgH="939800" progId="">
                  <p:embed/>
                </p:oleObj>
              </mc:Choice>
              <mc:Fallback>
                <p:oleObj name="Equation" r:id="rId3" imgW="4140200" imgH="939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1116013"/>
                        <a:ext cx="8277225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4" name="Rectangle 10"/>
          <p:cNvSpPr>
            <a:spLocks noChangeArrowheads="1"/>
          </p:cNvSpPr>
          <p:nvPr/>
        </p:nvSpPr>
        <p:spPr bwMode="auto">
          <a:xfrm>
            <a:off x="457200" y="3914775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59755" name="Object 7"/>
          <p:cNvGraphicFramePr>
            <a:graphicFrameLocks noChangeAspect="1"/>
          </p:cNvGraphicFramePr>
          <p:nvPr/>
        </p:nvGraphicFramePr>
        <p:xfrm>
          <a:off x="2366963" y="3189288"/>
          <a:ext cx="4367212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43" name="Equation" r:id="rId5" imgW="2184400" imgH="952500" progId="">
                  <p:embed/>
                </p:oleObj>
              </mc:Choice>
              <mc:Fallback>
                <p:oleObj name="Equation" r:id="rId5" imgW="2184400" imgH="9525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3189288"/>
                        <a:ext cx="4367212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7" name="Line 13"/>
          <p:cNvSpPr>
            <a:spLocks noChangeShapeType="1"/>
          </p:cNvSpPr>
          <p:nvPr/>
        </p:nvSpPr>
        <p:spPr bwMode="auto">
          <a:xfrm>
            <a:off x="482600" y="1600200"/>
            <a:ext cx="2590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58" name="Line 14"/>
          <p:cNvSpPr>
            <a:spLocks noChangeShapeType="1"/>
          </p:cNvSpPr>
          <p:nvPr/>
        </p:nvSpPr>
        <p:spPr bwMode="auto">
          <a:xfrm>
            <a:off x="482600" y="2068513"/>
            <a:ext cx="2590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59" name="Line 15"/>
          <p:cNvSpPr>
            <a:spLocks noChangeShapeType="1"/>
          </p:cNvSpPr>
          <p:nvPr/>
        </p:nvSpPr>
        <p:spPr bwMode="auto">
          <a:xfrm>
            <a:off x="482600" y="2536825"/>
            <a:ext cx="2590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60" name="Line 16"/>
          <p:cNvSpPr>
            <a:spLocks noChangeShapeType="1"/>
          </p:cNvSpPr>
          <p:nvPr/>
        </p:nvSpPr>
        <p:spPr bwMode="auto">
          <a:xfrm>
            <a:off x="6156325" y="1600200"/>
            <a:ext cx="24479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61" name="Line 17"/>
          <p:cNvSpPr>
            <a:spLocks noChangeShapeType="1"/>
          </p:cNvSpPr>
          <p:nvPr/>
        </p:nvSpPr>
        <p:spPr bwMode="auto">
          <a:xfrm>
            <a:off x="6156325" y="2068513"/>
            <a:ext cx="24479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62" name="Line 18"/>
          <p:cNvSpPr>
            <a:spLocks noChangeShapeType="1"/>
          </p:cNvSpPr>
          <p:nvPr/>
        </p:nvSpPr>
        <p:spPr bwMode="auto">
          <a:xfrm>
            <a:off x="6156325" y="2536825"/>
            <a:ext cx="24479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63" name="Rectangle 19"/>
          <p:cNvSpPr>
            <a:spLocks noChangeArrowheads="1"/>
          </p:cNvSpPr>
          <p:nvPr/>
        </p:nvSpPr>
        <p:spPr bwMode="auto">
          <a:xfrm>
            <a:off x="338138" y="5267325"/>
            <a:ext cx="84359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结论：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的行向量组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能由矩阵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的行向量组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线性表示，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为这一线性表示的系数矩阵．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4" grpId="0"/>
      <p:bldP spid="159757" grpId="0" animBg="1"/>
      <p:bldP spid="159758" grpId="0" animBg="1"/>
      <p:bldP spid="159759" grpId="0" animBg="1"/>
      <p:bldP spid="159760" grpId="0" animBg="1"/>
      <p:bldP spid="159761" grpId="0" animBg="1"/>
      <p:bldP spid="159762" grpId="0" animBg="1"/>
      <p:bldP spid="1597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口诀：左行右列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057775"/>
          </a:xfrm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</a:rPr>
              <a:t>定理：</a:t>
            </a:r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zh-CN" altLang="en-US" dirty="0"/>
              <a:t>是一个 </a:t>
            </a:r>
            <a:r>
              <a:rPr lang="en-US" altLang="zh-CN" i="1" dirty="0" err="1"/>
              <a:t>m</a:t>
            </a:r>
            <a:r>
              <a:rPr lang="en-US" altLang="en-US" dirty="0" err="1"/>
              <a:t>×</a:t>
            </a:r>
            <a:r>
              <a:rPr lang="en-US" altLang="zh-CN" i="1" dirty="0" err="1"/>
              <a:t>n</a:t>
            </a:r>
            <a:r>
              <a:rPr lang="en-US" altLang="zh-CN" i="1" dirty="0"/>
              <a:t> </a:t>
            </a:r>
            <a:r>
              <a:rPr lang="zh-CN" altLang="en-US" dirty="0"/>
              <a:t>矩阵，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0000FF"/>
              </a:buClr>
              <a:buSzTx/>
              <a:buFont typeface="Wingdings" pitchFamily="2" charset="2"/>
              <a:buChar char="ü"/>
            </a:pPr>
            <a:r>
              <a:rPr lang="zh-CN" altLang="en-US" dirty="0"/>
              <a:t>对 </a:t>
            </a:r>
            <a:r>
              <a:rPr lang="en-US" altLang="zh-CN" i="1" dirty="0"/>
              <a:t>A </a:t>
            </a:r>
            <a:r>
              <a:rPr lang="zh-CN" altLang="en-US" dirty="0"/>
              <a:t>施行一次</a:t>
            </a:r>
            <a:r>
              <a:rPr lang="zh-CN" altLang="en-US" dirty="0">
                <a:solidFill>
                  <a:srgbClr val="FF0000"/>
                </a:solidFill>
              </a:rPr>
              <a:t>初等行变换</a:t>
            </a:r>
            <a:r>
              <a:rPr lang="zh-CN" altLang="en-US" dirty="0"/>
              <a:t>，相当于在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zh-CN" altLang="en-US" dirty="0">
                <a:solidFill>
                  <a:srgbClr val="FF0000"/>
                </a:solidFill>
              </a:rPr>
              <a:t>的左边</a:t>
            </a:r>
            <a:r>
              <a:rPr lang="zh-CN" altLang="en-US" dirty="0"/>
              <a:t>乘以相应的 </a:t>
            </a:r>
            <a:r>
              <a:rPr lang="en-US" altLang="zh-CN" i="1" dirty="0"/>
              <a:t>m </a:t>
            </a:r>
            <a:r>
              <a:rPr lang="zh-CN" altLang="en-US" dirty="0"/>
              <a:t>阶初等矩阵；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0000FF"/>
              </a:buClr>
              <a:buSzTx/>
              <a:buFont typeface="Wingdings" pitchFamily="2" charset="2"/>
              <a:buChar char="ü"/>
            </a:pPr>
            <a:r>
              <a:rPr lang="zh-CN" altLang="en-US" dirty="0"/>
              <a:t>对 </a:t>
            </a:r>
            <a:r>
              <a:rPr lang="en-US" altLang="zh-CN" i="1" dirty="0"/>
              <a:t>A </a:t>
            </a:r>
            <a:r>
              <a:rPr lang="zh-CN" altLang="en-US" dirty="0"/>
              <a:t>施行一次</a:t>
            </a:r>
            <a:r>
              <a:rPr lang="zh-CN" altLang="en-US" dirty="0">
                <a:solidFill>
                  <a:srgbClr val="FF0000"/>
                </a:solidFill>
              </a:rPr>
              <a:t>初等列变换</a:t>
            </a:r>
            <a:r>
              <a:rPr lang="zh-CN" altLang="en-US" dirty="0"/>
              <a:t>，相当于在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zh-CN" altLang="en-US" dirty="0">
                <a:solidFill>
                  <a:srgbClr val="FF0000"/>
                </a:solidFill>
              </a:rPr>
              <a:t>的右边</a:t>
            </a:r>
            <a:r>
              <a:rPr lang="zh-CN" altLang="en-US" dirty="0"/>
              <a:t>乘以相应的 </a:t>
            </a:r>
            <a:r>
              <a:rPr lang="en-US" altLang="zh-CN" i="1" dirty="0"/>
              <a:t>n </a:t>
            </a:r>
            <a:r>
              <a:rPr lang="zh-CN" altLang="en-US" dirty="0"/>
              <a:t>阶初等矩阵</a:t>
            </a:r>
            <a:r>
              <a:rPr lang="en-US" altLang="zh-CN" dirty="0">
                <a:latin typeface="楷体_GB2312" pitchFamily="49" charset="-122"/>
              </a:rPr>
              <a:t>.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结论：</a:t>
            </a:r>
            <a:r>
              <a:rPr kumimoji="1" lang="zh-CN" altLang="en-US" dirty="0"/>
              <a:t>若 </a:t>
            </a:r>
            <a:r>
              <a:rPr kumimoji="1" lang="en-US" altLang="zh-CN" i="1" dirty="0"/>
              <a:t>C </a:t>
            </a:r>
            <a:r>
              <a:rPr kumimoji="1" lang="en-US" altLang="zh-CN" dirty="0"/>
              <a:t>= </a:t>
            </a:r>
            <a:r>
              <a:rPr kumimoji="1" lang="en-US" altLang="zh-CN" i="1" dirty="0"/>
              <a:t>AB </a:t>
            </a:r>
            <a:r>
              <a:rPr kumimoji="1" lang="zh-CN" altLang="en-US" dirty="0"/>
              <a:t>，那么</a:t>
            </a:r>
          </a:p>
          <a:p>
            <a:pPr eaLnBrk="1" hangingPunct="1">
              <a:lnSpc>
                <a:spcPct val="130000"/>
              </a:lnSpc>
              <a:buClr>
                <a:srgbClr val="0000FF"/>
              </a:buClr>
              <a:buFont typeface="Wingdings" pitchFamily="2" charset="2"/>
              <a:buChar char="p"/>
            </a:pPr>
            <a:r>
              <a:rPr kumimoji="1" lang="zh-CN" altLang="en-US" dirty="0"/>
              <a:t>矩阵 </a:t>
            </a:r>
            <a:r>
              <a:rPr kumimoji="1" lang="en-US" altLang="zh-CN" i="1" dirty="0">
                <a:solidFill>
                  <a:srgbClr val="FF0000"/>
                </a:solidFill>
              </a:rPr>
              <a:t>C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</a:rPr>
              <a:t>的行向量组</a:t>
            </a:r>
            <a:r>
              <a:rPr kumimoji="1" lang="zh-CN" altLang="en-US" dirty="0"/>
              <a:t>能由矩阵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</a:rPr>
              <a:t>的行向量组</a:t>
            </a:r>
            <a:r>
              <a:rPr kumimoji="1" lang="zh-CN" altLang="en-US" dirty="0"/>
              <a:t>线性表示，</a:t>
            </a:r>
            <a:r>
              <a:rPr kumimoji="1" lang="en-US" altLang="zh-CN" i="1" dirty="0">
                <a:solidFill>
                  <a:srgbClr val="FF0000"/>
                </a:solidFill>
              </a:rPr>
              <a:t>A</a:t>
            </a:r>
            <a:r>
              <a:rPr kumimoji="1" lang="zh-CN" altLang="en-US" dirty="0"/>
              <a:t>为这一线性表示的系数矩阵．</a:t>
            </a:r>
            <a:r>
              <a:rPr kumimoji="1" lang="zh-CN" altLang="en-US" dirty="0">
                <a:solidFill>
                  <a:srgbClr val="0000FF"/>
                </a:solidFill>
              </a:rPr>
              <a:t>（</a:t>
            </a:r>
            <a:r>
              <a:rPr kumimoji="1" lang="en-US" altLang="zh-CN" i="1" dirty="0">
                <a:solidFill>
                  <a:srgbClr val="0000FF"/>
                </a:solidFill>
              </a:rPr>
              <a:t>A</a:t>
            </a:r>
            <a:r>
              <a:rPr kumimoji="1" lang="en-US" altLang="zh-CN" dirty="0">
                <a:solidFill>
                  <a:srgbClr val="0000FF"/>
                </a:solidFill>
              </a:rPr>
              <a:t> </a:t>
            </a:r>
            <a:r>
              <a:rPr kumimoji="1" lang="zh-CN" altLang="en-US" dirty="0">
                <a:solidFill>
                  <a:srgbClr val="0000FF"/>
                </a:solidFill>
              </a:rPr>
              <a:t>在左边）</a:t>
            </a:r>
          </a:p>
          <a:p>
            <a:pPr eaLnBrk="1" hangingPunct="1">
              <a:lnSpc>
                <a:spcPct val="130000"/>
              </a:lnSpc>
              <a:buClr>
                <a:srgbClr val="0000FF"/>
              </a:buClr>
              <a:buFont typeface="Wingdings" pitchFamily="2" charset="2"/>
              <a:buChar char="p"/>
            </a:pPr>
            <a:r>
              <a:rPr kumimoji="1" lang="zh-CN" altLang="en-US" dirty="0"/>
              <a:t>矩阵 </a:t>
            </a:r>
            <a:r>
              <a:rPr kumimoji="1" lang="en-US" altLang="zh-CN" i="1" dirty="0">
                <a:solidFill>
                  <a:srgbClr val="FF0000"/>
                </a:solidFill>
              </a:rPr>
              <a:t>C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</a:rPr>
              <a:t>的列向量组</a:t>
            </a:r>
            <a:r>
              <a:rPr kumimoji="1" lang="zh-CN" altLang="en-US" dirty="0"/>
              <a:t>能由矩阵 </a:t>
            </a:r>
            <a:r>
              <a:rPr kumimoji="1" lang="en-US" altLang="zh-CN" i="1" dirty="0">
                <a:solidFill>
                  <a:srgbClr val="FF0000"/>
                </a:solidFill>
              </a:rPr>
              <a:t>A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</a:rPr>
              <a:t>的列向量组</a:t>
            </a:r>
            <a:r>
              <a:rPr kumimoji="1" lang="zh-CN" altLang="en-US" dirty="0"/>
              <a:t>线性表示，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zh-CN" altLang="en-US" dirty="0"/>
              <a:t>为这一线性表示的系数矩阵．</a:t>
            </a:r>
            <a:r>
              <a:rPr kumimoji="1" lang="zh-CN" altLang="en-US" dirty="0">
                <a:solidFill>
                  <a:srgbClr val="0000FF"/>
                </a:solidFill>
              </a:rPr>
              <a:t>（</a:t>
            </a:r>
            <a:r>
              <a:rPr kumimoji="1" lang="en-US" altLang="zh-CN" i="1" dirty="0">
                <a:solidFill>
                  <a:srgbClr val="0000FF"/>
                </a:solidFill>
              </a:rPr>
              <a:t>B</a:t>
            </a:r>
            <a:r>
              <a:rPr kumimoji="1" lang="en-US" altLang="zh-CN" dirty="0">
                <a:solidFill>
                  <a:srgbClr val="0000FF"/>
                </a:solidFill>
              </a:rPr>
              <a:t> </a:t>
            </a:r>
            <a:r>
              <a:rPr kumimoji="1" lang="zh-CN" altLang="en-US" dirty="0">
                <a:solidFill>
                  <a:srgbClr val="0000FF"/>
                </a:solidFill>
              </a:rPr>
              <a:t>在右边）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7" name="AutoShape 5"/>
          <p:cNvSpPr>
            <a:spLocks noChangeArrowheads="1"/>
          </p:cNvSpPr>
          <p:nvPr/>
        </p:nvSpPr>
        <p:spPr bwMode="auto">
          <a:xfrm>
            <a:off x="930275" y="3259138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264194" name="Object 6"/>
          <p:cNvGraphicFramePr>
            <a:graphicFrameLocks noChangeAspect="1"/>
          </p:cNvGraphicFramePr>
          <p:nvPr/>
        </p:nvGraphicFramePr>
        <p:xfrm>
          <a:off x="107950" y="725488"/>
          <a:ext cx="7921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67" name="Equation" r:id="rId4" imgW="393359" imgH="266469" progId="">
                  <p:embed/>
                </p:oleObj>
              </mc:Choice>
              <mc:Fallback>
                <p:oleObj name="Equation" r:id="rId4" imgW="393359" imgH="266469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725488"/>
                        <a:ext cx="7921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9" name="Rectangle 7"/>
          <p:cNvSpPr>
            <a:spLocks noChangeArrowheads="1"/>
          </p:cNvSpPr>
          <p:nvPr/>
        </p:nvSpPr>
        <p:spPr bwMode="auto">
          <a:xfrm>
            <a:off x="1495425" y="868363"/>
            <a:ext cx="7419975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经过有限次初等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列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变换变成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</a:p>
          <a:p>
            <a:endParaRPr lang="en-US" altLang="zh-CN" sz="2400" b="1" i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存在有限个初等矩阵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，使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AP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…,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</a:p>
          <a:p>
            <a:endParaRPr lang="en-US" altLang="zh-CN" sz="2400" b="1" i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存在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可逆矩阵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，使得 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en-US" altLang="zh-CN" sz="2400" b="1" i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的列向量组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与矩阵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的列向量组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等价</a:t>
            </a:r>
          </a:p>
        </p:txBody>
      </p:sp>
      <p:sp>
        <p:nvSpPr>
          <p:cNvPr id="161800" name="AutoShape 8"/>
          <p:cNvSpPr>
            <a:spLocks noChangeArrowheads="1"/>
          </p:cNvSpPr>
          <p:nvPr/>
        </p:nvSpPr>
        <p:spPr bwMode="auto">
          <a:xfrm>
            <a:off x="930275" y="854075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1801" name="AutoShape 9"/>
          <p:cNvSpPr>
            <a:spLocks noChangeArrowheads="1"/>
          </p:cNvSpPr>
          <p:nvPr/>
        </p:nvSpPr>
        <p:spPr bwMode="auto">
          <a:xfrm>
            <a:off x="930275" y="1655763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1802" name="AutoShape 10"/>
          <p:cNvSpPr>
            <a:spLocks noChangeArrowheads="1"/>
          </p:cNvSpPr>
          <p:nvPr/>
        </p:nvSpPr>
        <p:spPr bwMode="auto">
          <a:xfrm>
            <a:off x="930275" y="2457450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61807" name="Object 7"/>
          <p:cNvGraphicFramePr>
            <a:graphicFrameLocks noChangeAspect="1"/>
          </p:cNvGraphicFramePr>
          <p:nvPr/>
        </p:nvGraphicFramePr>
        <p:xfrm>
          <a:off x="107950" y="4773613"/>
          <a:ext cx="7921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368" name="Equation" r:id="rId6" imgW="393359" imgH="266469" progId="">
                  <p:embed/>
                </p:oleObj>
              </mc:Choice>
              <mc:Fallback>
                <p:oleObj name="Equation" r:id="rId6" imgW="393359" imgH="266469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773613"/>
                        <a:ext cx="7921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8" name="Rectangle 16"/>
          <p:cNvSpPr>
            <a:spLocks noChangeArrowheads="1"/>
          </p:cNvSpPr>
          <p:nvPr/>
        </p:nvSpPr>
        <p:spPr bwMode="auto">
          <a:xfrm>
            <a:off x="1495425" y="4916488"/>
            <a:ext cx="6605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的行向量组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与矩阵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的行向量组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等价 </a:t>
            </a:r>
          </a:p>
        </p:txBody>
      </p:sp>
      <p:sp>
        <p:nvSpPr>
          <p:cNvPr id="161809" name="AutoShape 17"/>
          <p:cNvSpPr>
            <a:spLocks noChangeArrowheads="1"/>
          </p:cNvSpPr>
          <p:nvPr/>
        </p:nvSpPr>
        <p:spPr bwMode="auto">
          <a:xfrm>
            <a:off x="930275" y="4902200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1810" name="Rectangle 18"/>
          <p:cNvSpPr>
            <a:spLocks noChangeArrowheads="1"/>
          </p:cNvSpPr>
          <p:nvPr/>
        </p:nvSpPr>
        <p:spPr bwMode="auto">
          <a:xfrm>
            <a:off x="107950" y="4175125"/>
            <a:ext cx="158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同理可得 </a:t>
            </a:r>
          </a:p>
        </p:txBody>
      </p:sp>
      <p:sp>
        <p:nvSpPr>
          <p:cNvPr id="161811" name="AutoShape 19"/>
          <p:cNvSpPr>
            <a:spLocks noChangeArrowheads="1"/>
          </p:cNvSpPr>
          <p:nvPr/>
        </p:nvSpPr>
        <p:spPr bwMode="auto">
          <a:xfrm>
            <a:off x="6203950" y="600075"/>
            <a:ext cx="2551113" cy="525463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口诀：左行右列</a:t>
            </a:r>
            <a:r>
              <a:rPr lang="en-US" altLang="zh-CN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61812" name="AutoShape 20"/>
          <p:cNvSpPr>
            <a:spLocks noChangeArrowheads="1"/>
          </p:cNvSpPr>
          <p:nvPr/>
        </p:nvSpPr>
        <p:spPr bwMode="auto">
          <a:xfrm>
            <a:off x="6829794" y="2046288"/>
            <a:ext cx="2332956" cy="1441450"/>
          </a:xfrm>
          <a:prstGeom prst="cloudCallout">
            <a:avLst>
              <a:gd name="adj1" fmla="val -101282"/>
              <a:gd name="adj2" fmla="val 14759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把</a:t>
            </a:r>
            <a:r>
              <a:rPr lang="zh-CN" altLang="en-US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看成是</a:t>
            </a:r>
          </a:p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线性表示的</a:t>
            </a:r>
          </a:p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系数矩阵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1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1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61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61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6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61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6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16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 animBg="1"/>
      <p:bldP spid="161800" grpId="0" animBg="1"/>
      <p:bldP spid="161801" grpId="0" animBg="1"/>
      <p:bldP spid="161802" grpId="0" animBg="1"/>
      <p:bldP spid="161808" grpId="0"/>
      <p:bldP spid="161809" grpId="0" animBg="1"/>
      <p:bldP spid="161810" grpId="0"/>
      <p:bldP spid="161811" grpId="0" animBg="1" autoUpdateAnimBg="0"/>
      <p:bldP spid="1618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457200" y="455613"/>
            <a:ext cx="8507288" cy="275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存在矩阵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，使得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AK = 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矩阵方程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 = 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有解</a:t>
            </a:r>
            <a:r>
              <a:rPr kumimoji="1" lang="zh-CN" altLang="en-US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endParaRPr kumimoji="1" lang="zh-CN" altLang="en-US" sz="2400" b="1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≤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endParaRPr kumimoji="1" lang="zh-CN" altLang="en-US" sz="2400" b="1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8967" name="AutoShape 7"/>
          <p:cNvSpPr>
            <a:spLocks noChangeAspect="1" noChangeArrowheads="1"/>
          </p:cNvSpPr>
          <p:nvPr/>
        </p:nvSpPr>
        <p:spPr bwMode="auto">
          <a:xfrm>
            <a:off x="611188" y="1111250"/>
            <a:ext cx="496887" cy="395288"/>
          </a:xfrm>
          <a:prstGeom prst="leftRightArrow">
            <a:avLst>
              <a:gd name="adj1" fmla="val 50000"/>
              <a:gd name="adj2" fmla="val 25141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8968" name="AutoShape 8"/>
          <p:cNvSpPr>
            <a:spLocks noChangeAspect="1" noChangeArrowheads="1"/>
          </p:cNvSpPr>
          <p:nvPr/>
        </p:nvSpPr>
        <p:spPr bwMode="auto">
          <a:xfrm>
            <a:off x="611188" y="1670050"/>
            <a:ext cx="496887" cy="395288"/>
          </a:xfrm>
          <a:prstGeom prst="leftRightArrow">
            <a:avLst>
              <a:gd name="adj1" fmla="val 50000"/>
              <a:gd name="adj2" fmla="val 25141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8969" name="Rectangle 9"/>
          <p:cNvSpPr>
            <a:spLocks noChangeArrowheads="1"/>
          </p:cNvSpPr>
          <p:nvPr/>
        </p:nvSpPr>
        <p:spPr bwMode="auto">
          <a:xfrm>
            <a:off x="457200" y="3500438"/>
            <a:ext cx="8291513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推论：</a:t>
            </a: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 </a:t>
            </a: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及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等价的充分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必要条件是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证明：</a:t>
            </a: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等价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</a:t>
            </a: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能由向量组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</a:t>
            </a:r>
            <a:r>
              <a:rPr kumimoji="1" lang="zh-CN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能由向量组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),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所以有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8971" name="AutoShape 11"/>
          <p:cNvSpPr>
            <a:spLocks noChangeAspect="1" noChangeArrowheads="1"/>
          </p:cNvSpPr>
          <p:nvPr/>
        </p:nvSpPr>
        <p:spPr bwMode="auto">
          <a:xfrm>
            <a:off x="611188" y="2787650"/>
            <a:ext cx="517525" cy="411163"/>
          </a:xfrm>
          <a:prstGeom prst="rightArrow">
            <a:avLst>
              <a:gd name="adj1" fmla="val 50000"/>
              <a:gd name="adj2" fmla="val 314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8972" name="AutoShape 12"/>
          <p:cNvSpPr>
            <a:spLocks noChangeAspect="1" noChangeArrowheads="1"/>
          </p:cNvSpPr>
          <p:nvPr/>
        </p:nvSpPr>
        <p:spPr bwMode="auto">
          <a:xfrm>
            <a:off x="611188" y="2228850"/>
            <a:ext cx="496887" cy="395288"/>
          </a:xfrm>
          <a:prstGeom prst="leftRightArrow">
            <a:avLst>
              <a:gd name="adj1" fmla="val 50000"/>
              <a:gd name="adj2" fmla="val 25141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0" name="AutoShape 19"/>
          <p:cNvSpPr>
            <a:spLocks noChangeArrowheads="1"/>
          </p:cNvSpPr>
          <p:nvPr/>
        </p:nvSpPr>
        <p:spPr bwMode="auto">
          <a:xfrm>
            <a:off x="5378450" y="2687638"/>
            <a:ext cx="2908300" cy="511175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因为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en-US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≤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endParaRPr lang="en-US" altLang="zh-CN" sz="24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AutoShape 7"/>
          <p:cNvSpPr>
            <a:spLocks noChangeAspect="1" noChangeArrowheads="1"/>
          </p:cNvSpPr>
          <p:nvPr/>
        </p:nvSpPr>
        <p:spPr bwMode="auto">
          <a:xfrm>
            <a:off x="611188" y="5410200"/>
            <a:ext cx="496887" cy="395288"/>
          </a:xfrm>
          <a:prstGeom prst="leftRightArrow">
            <a:avLst>
              <a:gd name="adj1" fmla="val 50000"/>
              <a:gd name="adj2" fmla="val 25141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2" name="AutoShape 7"/>
          <p:cNvSpPr>
            <a:spLocks noChangeAspect="1" noChangeArrowheads="1"/>
          </p:cNvSpPr>
          <p:nvPr/>
        </p:nvSpPr>
        <p:spPr bwMode="auto">
          <a:xfrm>
            <a:off x="6289675" y="5072063"/>
            <a:ext cx="496888" cy="395287"/>
          </a:xfrm>
          <a:prstGeom prst="leftRightArrow">
            <a:avLst>
              <a:gd name="adj1" fmla="val 50000"/>
              <a:gd name="adj2" fmla="val 25141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" name="左大括号 12"/>
          <p:cNvSpPr>
            <a:spLocks/>
          </p:cNvSpPr>
          <p:nvPr/>
        </p:nvSpPr>
        <p:spPr bwMode="auto">
          <a:xfrm>
            <a:off x="1285875" y="5265738"/>
            <a:ext cx="144463" cy="720725"/>
          </a:xfrm>
          <a:prstGeom prst="leftBrace">
            <a:avLst>
              <a:gd name="adj1" fmla="val 8315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4" name="AutoShape 7"/>
          <p:cNvSpPr>
            <a:spLocks noChangeAspect="1" noChangeArrowheads="1"/>
          </p:cNvSpPr>
          <p:nvPr/>
        </p:nvSpPr>
        <p:spPr bwMode="auto">
          <a:xfrm>
            <a:off x="6289675" y="5643563"/>
            <a:ext cx="496888" cy="395287"/>
          </a:xfrm>
          <a:prstGeom prst="leftRightArrow">
            <a:avLst>
              <a:gd name="adj1" fmla="val 50000"/>
              <a:gd name="adj2" fmla="val 25141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6754813" y="5086350"/>
            <a:ext cx="2103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endParaRPr lang="en-US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754813" y="5645150"/>
            <a:ext cx="2104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endParaRPr lang="en-US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8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8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8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8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8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8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68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689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689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89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89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1689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68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8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7" grpId="0" animBg="1"/>
      <p:bldP spid="168968" grpId="0" animBg="1"/>
      <p:bldP spid="168969" grpId="0" build="p"/>
      <p:bldP spid="168971" grpId="0" animBg="1"/>
      <p:bldP spid="168972" grpId="0" animBg="1"/>
      <p:bldP spid="10" grpId="0" animBg="1" autoUpdateAnimBg="0"/>
      <p:bldP spid="11" grpId="0" animBg="1"/>
      <p:bldP spid="12" grpId="0" animBg="1"/>
      <p:bldP spid="13" grpId="0" animBg="1"/>
      <p:bldP spid="14" grpId="0" animBg="1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20" name="Rectangle 6"/>
          <p:cNvSpPr>
            <a:spLocks noChangeArrowheads="1"/>
          </p:cNvSpPr>
          <p:nvPr/>
        </p:nvSpPr>
        <p:spPr bwMode="auto">
          <a:xfrm>
            <a:off x="457200" y="1063625"/>
            <a:ext cx="8229600" cy="179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证明向量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线性表示，并求出表示式．</a:t>
            </a:r>
          </a:p>
        </p:txBody>
      </p:sp>
      <p:graphicFrame>
        <p:nvGraphicFramePr>
          <p:cNvPr id="2652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195029"/>
              </p:ext>
            </p:extLst>
          </p:nvPr>
        </p:nvGraphicFramePr>
        <p:xfrm>
          <a:off x="1691680" y="479143"/>
          <a:ext cx="5045075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4" name="Equation" r:id="rId3" imgW="2514600" imgH="927100" progId="">
                  <p:embed/>
                </p:oleObj>
              </mc:Choice>
              <mc:Fallback>
                <p:oleObj name="Equation" r:id="rId3" imgW="2514600" imgH="9271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79143"/>
                        <a:ext cx="5045075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4" name="Rectangle 8"/>
          <p:cNvSpPr>
            <a:spLocks noChangeArrowheads="1"/>
          </p:cNvSpPr>
          <p:nvPr/>
        </p:nvSpPr>
        <p:spPr bwMode="auto">
          <a:xfrm>
            <a:off x="457200" y="2987675"/>
            <a:ext cx="8229600" cy="5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线性表示当且仅当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167945" name="Object 7"/>
          <p:cNvGraphicFramePr>
            <a:graphicFrameLocks noChangeAspect="1"/>
          </p:cNvGraphicFramePr>
          <p:nvPr/>
        </p:nvGraphicFramePr>
        <p:xfrm>
          <a:off x="1835150" y="3733800"/>
          <a:ext cx="5426075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85" name="Equation" r:id="rId5" imgW="2705100" imgH="927100" progId="">
                  <p:embed/>
                </p:oleObj>
              </mc:Choice>
              <mc:Fallback>
                <p:oleObj name="Equation" r:id="rId5" imgW="2705100" imgH="9271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733800"/>
                        <a:ext cx="5426075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6" name="Rectangle 10"/>
          <p:cNvSpPr>
            <a:spLocks noChangeArrowheads="1"/>
          </p:cNvSpPr>
          <p:nvPr/>
        </p:nvSpPr>
        <p:spPr bwMode="auto">
          <a:xfrm>
            <a:off x="457200" y="5661025"/>
            <a:ext cx="850741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所以向量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4" grpId="0"/>
      <p:bldP spid="1679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42" name="Object 8"/>
          <p:cNvGraphicFramePr>
            <a:graphicFrameLocks noChangeAspect="1"/>
          </p:cNvGraphicFramePr>
          <p:nvPr/>
        </p:nvGraphicFramePr>
        <p:xfrm>
          <a:off x="1835150" y="430213"/>
          <a:ext cx="5426075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7" name="Equation" r:id="rId3" imgW="2705100" imgH="927100" progId="">
                  <p:embed/>
                </p:oleObj>
              </mc:Choice>
              <mc:Fallback>
                <p:oleObj name="Equation" r:id="rId3" imgW="2705100" imgH="9271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30213"/>
                        <a:ext cx="5426075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3" name="Rectangle 9"/>
          <p:cNvSpPr>
            <a:spLocks noChangeArrowheads="1"/>
          </p:cNvSpPr>
          <p:nvPr/>
        </p:nvSpPr>
        <p:spPr bwMode="auto">
          <a:xfrm>
            <a:off x="457200" y="2692400"/>
            <a:ext cx="8229600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行最简形矩阵对应的方程组为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通解为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所以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+ 2)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(2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1)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 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169994" name="Object 9"/>
          <p:cNvGraphicFramePr>
            <a:graphicFrameLocks noChangeAspect="1"/>
          </p:cNvGraphicFramePr>
          <p:nvPr/>
        </p:nvGraphicFramePr>
        <p:xfrm>
          <a:off x="4572000" y="2492375"/>
          <a:ext cx="2446338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8" name="Equation" r:id="rId5" imgW="1218671" imgH="482391" progId="">
                  <p:embed/>
                </p:oleObj>
              </mc:Choice>
              <mc:Fallback>
                <p:oleObj name="Equation" r:id="rId5" imgW="1218671" imgH="482391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92375"/>
                        <a:ext cx="2446338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5" name="Object 10"/>
          <p:cNvGraphicFramePr>
            <a:graphicFrameLocks noChangeAspect="1"/>
          </p:cNvGraphicFramePr>
          <p:nvPr/>
        </p:nvGraphicFramePr>
        <p:xfrm>
          <a:off x="1547813" y="3543300"/>
          <a:ext cx="3873500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9" name="Equation" r:id="rId7" imgW="1930400" imgH="698500" progId="">
                  <p:embed/>
                </p:oleObj>
              </mc:Choice>
              <mc:Fallback>
                <p:oleObj name="Equation" r:id="rId7" imgW="1930400" imgH="6985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543300"/>
                        <a:ext cx="3873500" cy="139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9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99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457200" y="1579215"/>
            <a:ext cx="8229600" cy="179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证明向量组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与向量组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等价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.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165403"/>
              </p:ext>
            </p:extLst>
          </p:nvPr>
        </p:nvGraphicFramePr>
        <p:xfrm>
          <a:off x="1691680" y="908720"/>
          <a:ext cx="6499225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216" name="Equation" r:id="rId3" imgW="3238200" imgH="927000" progId="Equation.DSMT4">
                  <p:embed/>
                </p:oleObj>
              </mc:Choice>
              <mc:Fallback>
                <p:oleObj name="Equation" r:id="rId3" imgW="3238200" imgH="927000" progId="Equation.DSMT4">
                  <p:embed/>
                  <p:pic>
                    <p:nvPicPr>
                      <p:cNvPr id="2652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908720"/>
                        <a:ext cx="6499225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9334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457200" y="692696"/>
            <a:ext cx="8229600" cy="234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阶单位矩阵的列向量组叫做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维单位坐标向量组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设有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×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，试证：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维单位坐标向量组能由矩阵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的列向量组线性表示的充分必要条件是</a:t>
            </a: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auto">
          <a:xfrm>
            <a:off x="457200" y="2903538"/>
            <a:ext cx="82296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维单位坐标向量组能由矩阵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的列向量组线性表示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r>
              <a:rPr kumimoji="1" lang="zh-CN" altLang="en-US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171014" name="AutoShape 6"/>
          <p:cNvSpPr>
            <a:spLocks noChangeAspect="1" noChangeArrowheads="1"/>
          </p:cNvSpPr>
          <p:nvPr/>
        </p:nvSpPr>
        <p:spPr bwMode="auto">
          <a:xfrm>
            <a:off x="611188" y="3970338"/>
            <a:ext cx="496887" cy="395287"/>
          </a:xfrm>
          <a:prstGeom prst="leftRightArrow">
            <a:avLst>
              <a:gd name="adj1" fmla="val 50000"/>
              <a:gd name="adj2" fmla="val 25141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1018" name="AutoShape 10"/>
          <p:cNvSpPr>
            <a:spLocks noChangeAspect="1" noChangeArrowheads="1"/>
          </p:cNvSpPr>
          <p:nvPr/>
        </p:nvSpPr>
        <p:spPr bwMode="auto">
          <a:xfrm>
            <a:off x="611188" y="4473575"/>
            <a:ext cx="496887" cy="395288"/>
          </a:xfrm>
          <a:prstGeom prst="leftRightArrow">
            <a:avLst>
              <a:gd name="adj1" fmla="val 50000"/>
              <a:gd name="adj2" fmla="val 25141"/>
            </a:avLst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1020" name="Rectangle 12"/>
          <p:cNvSpPr>
            <a:spLocks noChangeArrowheads="1"/>
          </p:cNvSpPr>
          <p:nvPr/>
        </p:nvSpPr>
        <p:spPr bwMode="auto">
          <a:xfrm>
            <a:off x="2854325" y="4437063"/>
            <a:ext cx="5102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（注意到：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一定成立）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1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71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7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7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7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7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2" grpId="0" build="p"/>
      <p:bldP spid="171013" grpId="0" build="p"/>
      <p:bldP spid="171014" grpId="0" animBg="1"/>
      <p:bldP spid="171018" grpId="0" animBg="1"/>
      <p:bldP spid="1710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graphicFrame>
        <p:nvGraphicFramePr>
          <p:cNvPr id="176131" name="Object 10"/>
          <p:cNvGraphicFramePr>
            <a:graphicFrameLocks noChangeAspect="1"/>
          </p:cNvGraphicFramePr>
          <p:nvPr/>
        </p:nvGraphicFramePr>
        <p:xfrm>
          <a:off x="6780213" y="2236788"/>
          <a:ext cx="20113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03" name="Equation" r:id="rId3" imgW="1002865" imgH="203112" progId="">
                  <p:embed/>
                </p:oleObj>
              </mc:Choice>
              <mc:Fallback>
                <p:oleObj name="Equation" r:id="rId3" imgW="1002865" imgH="203112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213" y="2236788"/>
                        <a:ext cx="20113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439738" y="1773238"/>
            <a:ext cx="1900237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能由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线性表示</a:t>
            </a: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3609975" y="1773238"/>
            <a:ext cx="1900238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线性方程组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有解</a:t>
            </a:r>
          </a:p>
        </p:txBody>
      </p:sp>
      <p:sp>
        <p:nvSpPr>
          <p:cNvPr id="176134" name="AutoShape 6"/>
          <p:cNvSpPr>
            <a:spLocks noChangeArrowheads="1"/>
          </p:cNvSpPr>
          <p:nvPr/>
        </p:nvSpPr>
        <p:spPr bwMode="auto">
          <a:xfrm>
            <a:off x="2686050" y="2211388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6135" name="AutoShape 7"/>
          <p:cNvSpPr>
            <a:spLocks noChangeArrowheads="1"/>
          </p:cNvSpPr>
          <p:nvPr/>
        </p:nvSpPr>
        <p:spPr bwMode="auto">
          <a:xfrm>
            <a:off x="5856288" y="2211388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76136" name="Object 11"/>
          <p:cNvGraphicFramePr>
            <a:graphicFrameLocks noChangeAspect="1"/>
          </p:cNvGraphicFramePr>
          <p:nvPr/>
        </p:nvGraphicFramePr>
        <p:xfrm>
          <a:off x="6742113" y="3965575"/>
          <a:ext cx="20875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04" name="Equation" r:id="rId5" imgW="1040948" imgH="203112" progId="">
                  <p:embed/>
                </p:oleObj>
              </mc:Choice>
              <mc:Fallback>
                <p:oleObj name="Equation" r:id="rId5" imgW="1040948" imgH="203112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2113" y="3965575"/>
                        <a:ext cx="20875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7" name="Rectangle 9"/>
          <p:cNvSpPr>
            <a:spLocks noChangeArrowheads="1"/>
          </p:cNvSpPr>
          <p:nvPr/>
        </p:nvSpPr>
        <p:spPr bwMode="auto">
          <a:xfrm>
            <a:off x="439738" y="3500438"/>
            <a:ext cx="1900237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能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线性表示</a:t>
            </a:r>
          </a:p>
        </p:txBody>
      </p:sp>
      <p:sp>
        <p:nvSpPr>
          <p:cNvPr id="176138" name="Rectangle 10"/>
          <p:cNvSpPr>
            <a:spLocks noChangeArrowheads="1"/>
          </p:cNvSpPr>
          <p:nvPr/>
        </p:nvSpPr>
        <p:spPr bwMode="auto">
          <a:xfrm>
            <a:off x="3609975" y="3500438"/>
            <a:ext cx="1900238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矩阵方程组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有解</a:t>
            </a:r>
          </a:p>
        </p:txBody>
      </p:sp>
      <p:sp>
        <p:nvSpPr>
          <p:cNvPr id="176139" name="AutoShape 11"/>
          <p:cNvSpPr>
            <a:spLocks noChangeArrowheads="1"/>
          </p:cNvSpPr>
          <p:nvPr/>
        </p:nvSpPr>
        <p:spPr bwMode="auto">
          <a:xfrm>
            <a:off x="2686050" y="3940175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6140" name="AutoShape 12"/>
          <p:cNvSpPr>
            <a:spLocks noChangeArrowheads="1"/>
          </p:cNvSpPr>
          <p:nvPr/>
        </p:nvSpPr>
        <p:spPr bwMode="auto">
          <a:xfrm>
            <a:off x="5856288" y="3940175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76141" name="AutoShape 13"/>
          <p:cNvSpPr>
            <a:spLocks noChangeAspect="1" noChangeArrowheads="1"/>
          </p:cNvSpPr>
          <p:nvPr/>
        </p:nvSpPr>
        <p:spPr bwMode="auto">
          <a:xfrm>
            <a:off x="5915025" y="4652963"/>
            <a:ext cx="517525" cy="411162"/>
          </a:xfrm>
          <a:prstGeom prst="rightArrow">
            <a:avLst>
              <a:gd name="adj1" fmla="val 50000"/>
              <a:gd name="adj2" fmla="val 314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76142" name="Object 12"/>
          <p:cNvGraphicFramePr>
            <a:graphicFrameLocks noChangeAspect="1"/>
          </p:cNvGraphicFramePr>
          <p:nvPr/>
        </p:nvGraphicFramePr>
        <p:xfrm>
          <a:off x="6742113" y="4656138"/>
          <a:ext cx="17303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05" name="Equation" r:id="rId7" imgW="863225" imgH="203112" progId="">
                  <p:embed/>
                </p:oleObj>
              </mc:Choice>
              <mc:Fallback>
                <p:oleObj name="Equation" r:id="rId7" imgW="863225" imgH="203112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2113" y="4656138"/>
                        <a:ext cx="17303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43" name="Object 13"/>
          <p:cNvGraphicFramePr>
            <a:graphicFrameLocks noChangeAspect="1"/>
          </p:cNvGraphicFramePr>
          <p:nvPr/>
        </p:nvGraphicFramePr>
        <p:xfrm>
          <a:off x="3609975" y="5692775"/>
          <a:ext cx="30559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06" name="Equation" r:id="rId9" imgW="1524000" imgH="203200" progId="">
                  <p:embed/>
                </p:oleObj>
              </mc:Choice>
              <mc:Fallback>
                <p:oleObj name="Equation" r:id="rId9" imgW="1524000" imgH="2032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975" y="5692775"/>
                        <a:ext cx="30559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44" name="Rectangle 16"/>
          <p:cNvSpPr>
            <a:spLocks noChangeArrowheads="1"/>
          </p:cNvSpPr>
          <p:nvPr/>
        </p:nvSpPr>
        <p:spPr bwMode="auto">
          <a:xfrm>
            <a:off x="439738" y="5229225"/>
            <a:ext cx="1900237" cy="133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等价</a:t>
            </a:r>
          </a:p>
        </p:txBody>
      </p:sp>
      <p:sp>
        <p:nvSpPr>
          <p:cNvPr id="176145" name="AutoShape 17"/>
          <p:cNvSpPr>
            <a:spLocks noChangeArrowheads="1"/>
          </p:cNvSpPr>
          <p:nvPr/>
        </p:nvSpPr>
        <p:spPr bwMode="auto">
          <a:xfrm>
            <a:off x="2686050" y="5667375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7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7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7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/>
      <p:bldP spid="176133" grpId="0"/>
      <p:bldP spid="176134" grpId="0" animBg="1"/>
      <p:bldP spid="176135" grpId="0" animBg="1"/>
      <p:bldP spid="176137" grpId="0"/>
      <p:bldP spid="176138" grpId="0"/>
      <p:bldP spid="176139" grpId="0" animBg="1"/>
      <p:bldP spid="176140" grpId="0" animBg="1"/>
      <p:bldP spid="176141" grpId="0" animBg="1"/>
      <p:bldP spid="176144" grpId="0"/>
      <p:bldP spid="17614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>
                <a:solidFill>
                  <a:srgbClr val="CC0099"/>
                </a:solidFill>
                <a:latin typeface="楷体_GB2312" pitchFamily="49" charset="-122"/>
              </a:rPr>
              <a:t>§</a:t>
            </a:r>
            <a:r>
              <a:rPr kumimoji="1" lang="en-US" altLang="zh-CN" sz="3600">
                <a:solidFill>
                  <a:srgbClr val="CC0099"/>
                </a:solidFill>
              </a:rPr>
              <a:t>2</a:t>
            </a:r>
            <a:r>
              <a:rPr kumimoji="1" lang="en-US" altLang="zh-CN" sz="3600">
                <a:solidFill>
                  <a:srgbClr val="CC0099"/>
                </a:solidFill>
                <a:latin typeface="楷体_GB2312" pitchFamily="49" charset="-122"/>
              </a:rPr>
              <a:t>  </a:t>
            </a:r>
            <a:r>
              <a:rPr kumimoji="1" lang="zh-CN" altLang="en-US" sz="3600">
                <a:solidFill>
                  <a:srgbClr val="CC0099"/>
                </a:solidFill>
                <a:latin typeface="楷体_GB2312" pitchFamily="49" charset="-122"/>
              </a:rPr>
              <a:t>向量组的线性相关性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410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回顾：向量组的线性组合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437063"/>
          </a:xfrm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定义：</a:t>
            </a:r>
            <a:r>
              <a:rPr kumimoji="1" lang="zh-CN" altLang="en-US" dirty="0"/>
              <a:t>给定向量组 </a:t>
            </a:r>
            <a:r>
              <a:rPr kumimoji="1" lang="en-US" altLang="zh-CN" i="1" dirty="0"/>
              <a:t>A</a:t>
            </a:r>
            <a:r>
              <a:rPr kumimoji="1" lang="zh-CN" altLang="en-US" dirty="0"/>
              <a:t>：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/>
              <a:t>a</a:t>
            </a:r>
            <a:r>
              <a:rPr kumimoji="1" lang="en-US" altLang="zh-CN" i="1" baseline="-25000" dirty="0"/>
              <a:t>m </a:t>
            </a:r>
            <a:r>
              <a:rPr kumimoji="1" lang="zh-CN" altLang="en-US" dirty="0"/>
              <a:t>， 对于任何一组实数 </a:t>
            </a:r>
            <a:r>
              <a:rPr kumimoji="1" lang="en-US" altLang="zh-CN" i="1" dirty="0"/>
              <a:t>k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dirty="0"/>
              <a:t> </a:t>
            </a:r>
            <a:r>
              <a:rPr kumimoji="1" lang="en-US" altLang="zh-CN" i="1" dirty="0"/>
              <a:t>k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/>
              <a:t>k</a:t>
            </a:r>
            <a:r>
              <a:rPr kumimoji="1" lang="en-US" altLang="zh-CN" i="1" baseline="-25000" dirty="0"/>
              <a:t>m</a:t>
            </a:r>
            <a:r>
              <a:rPr kumimoji="1" lang="en-US" altLang="zh-CN" dirty="0"/>
              <a:t> </a:t>
            </a:r>
            <a:r>
              <a:rPr kumimoji="1" lang="zh-CN" altLang="en-US" dirty="0"/>
              <a:t>，表达式</a:t>
            </a:r>
          </a:p>
          <a:p>
            <a:pPr algn="ctr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i="1" dirty="0"/>
              <a:t>k</a:t>
            </a:r>
            <a:r>
              <a:rPr kumimoji="1" lang="en-US" altLang="zh-CN" baseline="-25000" dirty="0"/>
              <a:t>1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 </a:t>
            </a:r>
            <a:r>
              <a:rPr kumimoji="1" lang="en-US" altLang="zh-CN" dirty="0"/>
              <a:t>+ </a:t>
            </a:r>
            <a:r>
              <a:rPr kumimoji="1" lang="en-US" altLang="zh-CN" i="1" dirty="0"/>
              <a:t>k</a:t>
            </a:r>
            <a:r>
              <a:rPr kumimoji="1" lang="en-US" altLang="zh-CN" baseline="-25000" dirty="0"/>
              <a:t>2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 </a:t>
            </a:r>
            <a:r>
              <a:rPr kumimoji="1" lang="en-US" altLang="zh-CN" dirty="0"/>
              <a:t>+ … + </a:t>
            </a:r>
            <a:r>
              <a:rPr kumimoji="1" lang="en-US" altLang="zh-CN" i="1" dirty="0" err="1"/>
              <a:t>k</a:t>
            </a:r>
            <a:r>
              <a:rPr kumimoji="1" lang="en-US" altLang="zh-CN" i="1" baseline="-25000" dirty="0" err="1"/>
              <a:t>m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m</a:t>
            </a:r>
            <a:endParaRPr kumimoji="1" lang="en-US" altLang="zh-CN" baseline="-25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zh-CN" altLang="en-US" dirty="0"/>
              <a:t>称为向量组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的一个</a:t>
            </a:r>
            <a:r>
              <a:rPr kumimoji="1" lang="zh-CN" altLang="en-US" dirty="0">
                <a:solidFill>
                  <a:srgbClr val="FF0000"/>
                </a:solidFill>
              </a:rPr>
              <a:t>线性组合</a:t>
            </a:r>
            <a:r>
              <a:rPr kumimoji="1" lang="zh-CN" altLang="en-US" dirty="0"/>
              <a:t>．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i="1" dirty="0"/>
              <a:t>k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k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/>
              <a:t>k</a:t>
            </a:r>
            <a:r>
              <a:rPr kumimoji="1" lang="en-US" altLang="zh-CN" i="1" baseline="-25000" dirty="0"/>
              <a:t>m </a:t>
            </a:r>
            <a:r>
              <a:rPr kumimoji="1" lang="zh-CN" altLang="en-US" dirty="0"/>
              <a:t>称为这个</a:t>
            </a:r>
            <a:r>
              <a:rPr kumimoji="1" lang="zh-CN" altLang="en-US" dirty="0">
                <a:solidFill>
                  <a:srgbClr val="FF0000"/>
                </a:solidFill>
              </a:rPr>
              <a:t>线性组合的系数</a:t>
            </a:r>
            <a:r>
              <a:rPr kumimoji="1" lang="zh-CN" altLang="en-US" dirty="0"/>
              <a:t>．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</a:rPr>
              <a:t>定义：</a:t>
            </a:r>
            <a:r>
              <a:rPr kumimoji="1" lang="zh-CN" altLang="en-US" dirty="0"/>
              <a:t>给定向量组 </a:t>
            </a:r>
            <a:r>
              <a:rPr kumimoji="1" lang="en-US" altLang="zh-CN" i="1" dirty="0"/>
              <a:t>A</a:t>
            </a:r>
            <a:r>
              <a:rPr kumimoji="1" lang="zh-CN" altLang="en-US" dirty="0"/>
              <a:t>：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/>
              <a:t>a</a:t>
            </a:r>
            <a:r>
              <a:rPr kumimoji="1" lang="en-US" altLang="zh-CN" i="1" baseline="-25000" dirty="0"/>
              <a:t>m </a:t>
            </a:r>
            <a:r>
              <a:rPr kumimoji="1" lang="zh-CN" altLang="en-US" dirty="0"/>
              <a:t>和向量 </a:t>
            </a:r>
            <a:r>
              <a:rPr kumimoji="1" lang="en-US" altLang="zh-CN" i="1" dirty="0"/>
              <a:t>b</a:t>
            </a:r>
            <a:r>
              <a:rPr kumimoji="1" lang="zh-CN" altLang="en-US" dirty="0"/>
              <a:t>，如果存在一组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zh-CN" altLang="en-US" dirty="0"/>
              <a:t>实数 </a:t>
            </a:r>
            <a:r>
              <a:rPr kumimoji="1" lang="en-US" altLang="zh-CN" i="1" dirty="0">
                <a:latin typeface="Symbol" pitchFamily="18" charset="2"/>
              </a:rPr>
              <a:t>l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>
                <a:latin typeface="Symbol" pitchFamily="18" charset="2"/>
              </a:rPr>
              <a:t>l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 err="1">
                <a:latin typeface="Symbol" pitchFamily="18" charset="2"/>
              </a:rPr>
              <a:t>l</a:t>
            </a:r>
            <a:r>
              <a:rPr kumimoji="1" lang="en-US" altLang="zh-CN" i="1" baseline="-25000" dirty="0" err="1"/>
              <a:t>m</a:t>
            </a:r>
            <a:r>
              <a:rPr kumimoji="1" lang="en-US" altLang="zh-CN" dirty="0"/>
              <a:t> </a:t>
            </a:r>
            <a:r>
              <a:rPr kumimoji="1" lang="zh-CN" altLang="en-US" dirty="0"/>
              <a:t>，使得</a:t>
            </a:r>
          </a:p>
          <a:p>
            <a:pPr algn="ctr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i="1" dirty="0"/>
              <a:t>b</a:t>
            </a:r>
            <a:r>
              <a:rPr kumimoji="1" lang="en-US" altLang="zh-CN" b="0" dirty="0"/>
              <a:t> = </a:t>
            </a:r>
            <a:r>
              <a:rPr kumimoji="1" lang="en-US" altLang="zh-CN" i="1" dirty="0">
                <a:latin typeface="Symbol" pitchFamily="18" charset="2"/>
              </a:rPr>
              <a:t>l</a:t>
            </a:r>
            <a:r>
              <a:rPr kumimoji="1" lang="en-US" altLang="zh-CN" baseline="-25000" dirty="0"/>
              <a:t>1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 </a:t>
            </a:r>
            <a:r>
              <a:rPr kumimoji="1" lang="en-US" altLang="zh-CN" dirty="0"/>
              <a:t>+ </a:t>
            </a:r>
            <a:r>
              <a:rPr kumimoji="1" lang="en-US" altLang="zh-CN" i="1" dirty="0">
                <a:latin typeface="Symbol" pitchFamily="18" charset="2"/>
              </a:rPr>
              <a:t>l</a:t>
            </a:r>
            <a:r>
              <a:rPr kumimoji="1" lang="en-US" altLang="zh-CN" baseline="-25000" dirty="0"/>
              <a:t>2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 </a:t>
            </a:r>
            <a:r>
              <a:rPr kumimoji="1" lang="en-US" altLang="zh-CN" dirty="0"/>
              <a:t>+ … + </a:t>
            </a:r>
            <a:r>
              <a:rPr kumimoji="1" lang="en-US" altLang="zh-CN" i="1" dirty="0" err="1">
                <a:latin typeface="Symbol" pitchFamily="18" charset="2"/>
              </a:rPr>
              <a:t>l</a:t>
            </a:r>
            <a:r>
              <a:rPr kumimoji="1" lang="en-US" altLang="zh-CN" i="1" baseline="-25000" dirty="0" err="1"/>
              <a:t>m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m</a:t>
            </a:r>
            <a:endParaRPr kumimoji="1" lang="en-US" altLang="zh-CN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zh-CN" altLang="en-US" dirty="0"/>
              <a:t>则称</a:t>
            </a:r>
            <a:r>
              <a:rPr kumimoji="1" lang="zh-CN" altLang="en-US" dirty="0">
                <a:solidFill>
                  <a:srgbClr val="FF0000"/>
                </a:solidFill>
              </a:rPr>
              <a:t>向量 </a:t>
            </a:r>
            <a:r>
              <a:rPr kumimoji="1" lang="en-US" altLang="zh-CN" i="1" dirty="0">
                <a:solidFill>
                  <a:srgbClr val="FF0000"/>
                </a:solidFill>
              </a:rPr>
              <a:t>b </a:t>
            </a:r>
            <a:r>
              <a:rPr kumimoji="1" lang="zh-CN" altLang="en-US" dirty="0">
                <a:solidFill>
                  <a:srgbClr val="FF0000"/>
                </a:solidFill>
              </a:rPr>
              <a:t>能由向量组 </a:t>
            </a:r>
            <a:r>
              <a:rPr kumimoji="1" lang="en-US" altLang="zh-CN" i="1" dirty="0">
                <a:solidFill>
                  <a:srgbClr val="FF0000"/>
                </a:solidFill>
              </a:rPr>
              <a:t>A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</a:rPr>
              <a:t>线性表示</a:t>
            </a:r>
            <a:r>
              <a:rPr kumimoji="1" lang="zh-CN" altLang="en-US" dirty="0"/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3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3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3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引言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问题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kumimoji="1" lang="zh-CN" altLang="en-US" dirty="0"/>
              <a:t>给定向量组 </a:t>
            </a:r>
            <a:r>
              <a:rPr kumimoji="1" lang="en-US" altLang="zh-CN" i="1" dirty="0"/>
              <a:t>A</a:t>
            </a:r>
            <a:r>
              <a:rPr kumimoji="1" lang="zh-CN" altLang="en-US" dirty="0"/>
              <a:t>，</a:t>
            </a:r>
            <a:r>
              <a:rPr lang="zh-CN" altLang="en-US" dirty="0"/>
              <a:t>零向量是否可以由</a:t>
            </a:r>
            <a:r>
              <a:rPr kumimoji="1" lang="zh-CN" altLang="en-US" dirty="0"/>
              <a:t>向量组 </a:t>
            </a:r>
            <a:r>
              <a:rPr kumimoji="1" lang="en-US" altLang="zh-CN" i="1" dirty="0"/>
              <a:t>A </a:t>
            </a:r>
            <a:r>
              <a:rPr kumimoji="1" lang="zh-CN" altLang="en-US" dirty="0"/>
              <a:t>线性表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/>
              <a:t>		  示？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</a:rPr>
              <a:t>问题</a:t>
            </a:r>
            <a:r>
              <a:rPr kumimoji="1" lang="en-US" altLang="zh-CN" dirty="0">
                <a:solidFill>
                  <a:srgbClr val="0000FF"/>
                </a:solidFill>
              </a:rPr>
              <a:t>2</a:t>
            </a:r>
            <a:r>
              <a:rPr kumimoji="1" lang="zh-CN" altLang="en-US" dirty="0">
                <a:solidFill>
                  <a:srgbClr val="0000FF"/>
                </a:solidFill>
              </a:rPr>
              <a:t>：</a:t>
            </a:r>
            <a:r>
              <a:rPr kumimoji="1" lang="zh-CN" altLang="en-US" dirty="0"/>
              <a:t>如果</a:t>
            </a:r>
            <a:r>
              <a:rPr lang="zh-CN" altLang="en-US" dirty="0"/>
              <a:t>零向量可以由</a:t>
            </a:r>
            <a:r>
              <a:rPr kumimoji="1" lang="zh-CN" altLang="en-US" dirty="0"/>
              <a:t>向量组 </a:t>
            </a:r>
            <a:r>
              <a:rPr kumimoji="1" lang="en-US" altLang="zh-CN" i="1" dirty="0"/>
              <a:t>A </a:t>
            </a:r>
            <a:r>
              <a:rPr kumimoji="1" lang="zh-CN" altLang="en-US" dirty="0"/>
              <a:t>线性表示，线性组合的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>
                <a:latin typeface="楷体_GB2312" pitchFamily="49" charset="-122"/>
              </a:rPr>
              <a:t>            </a:t>
            </a:r>
            <a:r>
              <a:rPr kumimoji="1" lang="zh-CN" altLang="en-US" dirty="0"/>
              <a:t>系数是否不全为零？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5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1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6529388" y="1477963"/>
          <a:ext cx="20113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78" name="Equation" r:id="rId3" imgW="1002865" imgH="203112" progId="">
                  <p:embed/>
                </p:oleObj>
              </mc:Choice>
              <mc:Fallback>
                <p:oleObj name="Equation" r:id="rId3" imgW="1002865" imgH="203112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9388" y="1477963"/>
                        <a:ext cx="20113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188913" y="1014413"/>
            <a:ext cx="1900237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能由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向量组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线性表示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3359150" y="1014413"/>
            <a:ext cx="1900238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线性方程组        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有解</a:t>
            </a:r>
          </a:p>
        </p:txBody>
      </p:sp>
      <p:sp>
        <p:nvSpPr>
          <p:cNvPr id="23559" name="AutoShape 7"/>
          <p:cNvSpPr>
            <a:spLocks noChangeArrowheads="1"/>
          </p:cNvSpPr>
          <p:nvPr/>
        </p:nvSpPr>
        <p:spPr bwMode="auto">
          <a:xfrm>
            <a:off x="2435225" y="1452563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3560" name="AutoShape 8"/>
          <p:cNvSpPr>
            <a:spLocks noChangeArrowheads="1"/>
          </p:cNvSpPr>
          <p:nvPr/>
        </p:nvSpPr>
        <p:spPr bwMode="auto">
          <a:xfrm>
            <a:off x="5605463" y="1452563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247650" y="2420938"/>
            <a:ext cx="863123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给定向量组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零向量是否可以由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线性表示？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1′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是否存在解？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回答：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一定存在解．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事实上，可令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 … =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</a:t>
            </a: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… 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=0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（零向量）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3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58" grpId="0"/>
      <p:bldP spid="23559" grpId="0" animBg="1"/>
      <p:bldP spid="2356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206375" y="455613"/>
            <a:ext cx="86741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问题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如果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零向量可以由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线性表示，线性组合的系数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是否不全为零？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2′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是否存在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非零解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？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回答：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齐次线性方程组不一定有非零解，从而线性组合的系数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不一定不全为零．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206375" y="3297238"/>
            <a:ext cx="7920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30733" name="Object 6"/>
          <p:cNvGraphicFramePr>
            <a:graphicFrameLocks noChangeAspect="1"/>
          </p:cNvGraphicFramePr>
          <p:nvPr/>
        </p:nvGraphicFramePr>
        <p:xfrm>
          <a:off x="1258888" y="2870200"/>
          <a:ext cx="35290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83" name="Equation" r:id="rId3" imgW="1765300" imgH="698500" progId="">
                  <p:embed/>
                </p:oleObj>
              </mc:Choice>
              <mc:Fallback>
                <p:oleObj name="Equation" r:id="rId3" imgW="1765300" imgH="6985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870200"/>
                        <a:ext cx="3529012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7"/>
          <p:cNvGraphicFramePr>
            <a:graphicFrameLocks noChangeAspect="1"/>
          </p:cNvGraphicFramePr>
          <p:nvPr/>
        </p:nvGraphicFramePr>
        <p:xfrm>
          <a:off x="1263650" y="4508500"/>
          <a:ext cx="7053263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84" name="Equation" r:id="rId5" imgW="3530600" imgH="711200" progId="">
                  <p:embed/>
                </p:oleObj>
              </mc:Choice>
              <mc:Fallback>
                <p:oleObj name="Equation" r:id="rId5" imgW="3530600" imgH="7112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4508500"/>
                        <a:ext cx="7053263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827088" y="4951413"/>
            <a:ext cx="7920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</a:t>
            </a:r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>
            <a:off x="3851275" y="2935288"/>
            <a:ext cx="0" cy="12588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4311650" y="2935288"/>
            <a:ext cx="0" cy="12588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827088" y="6211888"/>
            <a:ext cx="7920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则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=0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2" grpId="0"/>
      <p:bldP spid="30735" grpId="0"/>
      <p:bldP spid="30736" grpId="0" animBg="1"/>
      <p:bldP spid="30737" grpId="0" animBg="1"/>
      <p:bldP spid="307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向量组的线性相关性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1917700"/>
          </a:xfrm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定义：</a:t>
            </a:r>
            <a:r>
              <a:rPr kumimoji="1" lang="zh-CN" altLang="en-US"/>
              <a:t>给定向量组 </a:t>
            </a:r>
            <a:r>
              <a:rPr kumimoji="1" lang="en-US" altLang="zh-CN" i="1"/>
              <a:t>A</a:t>
            </a:r>
            <a:r>
              <a:rPr kumimoji="1" lang="zh-CN" altLang="en-US"/>
              <a:t>：</a:t>
            </a:r>
            <a:r>
              <a:rPr kumimoji="1" lang="en-US" altLang="zh-CN" i="1"/>
              <a:t>a</a:t>
            </a:r>
            <a:r>
              <a:rPr kumimoji="1" lang="en-US" altLang="zh-CN" baseline="-25000"/>
              <a:t>1</a:t>
            </a:r>
            <a:r>
              <a:rPr kumimoji="1" lang="en-US" altLang="zh-CN"/>
              <a:t>, </a:t>
            </a:r>
            <a:r>
              <a:rPr kumimoji="1" lang="en-US" altLang="zh-CN" i="1"/>
              <a:t>a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</a:t>
            </a:r>
            <a:r>
              <a:rPr kumimoji="1" lang="en-US" altLang="zh-CN" i="1"/>
              <a:t>a</a:t>
            </a:r>
            <a:r>
              <a:rPr kumimoji="1" lang="en-US" altLang="zh-CN" i="1" baseline="-25000"/>
              <a:t>m </a:t>
            </a:r>
            <a:r>
              <a:rPr kumimoji="1" lang="zh-CN" altLang="en-US"/>
              <a:t>，如果存在</a:t>
            </a:r>
            <a:r>
              <a:rPr kumimoji="1" lang="zh-CN" altLang="en-US">
                <a:solidFill>
                  <a:srgbClr val="0000FF"/>
                </a:solidFill>
              </a:rPr>
              <a:t>不全为零</a:t>
            </a:r>
            <a:r>
              <a:rPr kumimoji="1" lang="zh-CN" altLang="en-US"/>
              <a:t>的实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/>
              <a:t>数 </a:t>
            </a:r>
            <a:r>
              <a:rPr kumimoji="1" lang="en-US" altLang="zh-CN" i="1"/>
              <a:t>k</a:t>
            </a:r>
            <a:r>
              <a:rPr kumimoji="1" lang="en-US" altLang="zh-CN" baseline="-25000"/>
              <a:t>1</a:t>
            </a:r>
            <a:r>
              <a:rPr kumimoji="1" lang="en-US" altLang="zh-CN"/>
              <a:t>, </a:t>
            </a:r>
            <a:r>
              <a:rPr kumimoji="1" lang="en-US" altLang="zh-CN" i="1"/>
              <a:t>k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</a:t>
            </a:r>
            <a:r>
              <a:rPr kumimoji="1" lang="en-US" altLang="zh-CN" i="1"/>
              <a:t>k</a:t>
            </a:r>
            <a:r>
              <a:rPr kumimoji="1" lang="en-US" altLang="zh-CN" i="1" baseline="-25000"/>
              <a:t>m</a:t>
            </a:r>
            <a:r>
              <a:rPr kumimoji="1" lang="en-US" altLang="zh-CN"/>
              <a:t> </a:t>
            </a:r>
            <a:r>
              <a:rPr kumimoji="1" lang="zh-CN" altLang="en-US"/>
              <a:t>，使得</a:t>
            </a:r>
          </a:p>
          <a:p>
            <a:pPr algn="ctr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i="1"/>
              <a:t>k</a:t>
            </a:r>
            <a:r>
              <a:rPr kumimoji="1" lang="en-US" altLang="zh-CN" baseline="-25000"/>
              <a:t>1</a:t>
            </a:r>
            <a:r>
              <a:rPr kumimoji="1" lang="en-US" altLang="zh-CN" i="1"/>
              <a:t>a</a:t>
            </a:r>
            <a:r>
              <a:rPr kumimoji="1" lang="en-US" altLang="zh-CN" baseline="-25000"/>
              <a:t>1 </a:t>
            </a:r>
            <a:r>
              <a:rPr kumimoji="1" lang="en-US" altLang="zh-CN"/>
              <a:t>+ </a:t>
            </a:r>
            <a:r>
              <a:rPr kumimoji="1" lang="en-US" altLang="zh-CN" i="1"/>
              <a:t>k</a:t>
            </a:r>
            <a:r>
              <a:rPr kumimoji="1" lang="en-US" altLang="zh-CN" baseline="-25000"/>
              <a:t>2</a:t>
            </a:r>
            <a:r>
              <a:rPr kumimoji="1" lang="en-US" altLang="zh-CN" i="1"/>
              <a:t>a</a:t>
            </a:r>
            <a:r>
              <a:rPr kumimoji="1" lang="en-US" altLang="zh-CN" baseline="-25000"/>
              <a:t>2 </a:t>
            </a:r>
            <a:r>
              <a:rPr kumimoji="1" lang="en-US" altLang="zh-CN"/>
              <a:t>+ … + </a:t>
            </a:r>
            <a:r>
              <a:rPr kumimoji="1" lang="en-US" altLang="zh-CN" i="1"/>
              <a:t>k</a:t>
            </a:r>
            <a:r>
              <a:rPr kumimoji="1" lang="en-US" altLang="zh-CN" i="1" baseline="-25000"/>
              <a:t>m</a:t>
            </a:r>
            <a:r>
              <a:rPr kumimoji="1" lang="en-US" altLang="zh-CN" i="1"/>
              <a:t>a</a:t>
            </a:r>
            <a:r>
              <a:rPr kumimoji="1" lang="en-US" altLang="zh-CN" i="1" baseline="-25000"/>
              <a:t>m </a:t>
            </a:r>
            <a:r>
              <a:rPr kumimoji="1" lang="en-US" altLang="zh-CN"/>
              <a:t>=0</a:t>
            </a:r>
            <a:r>
              <a:rPr kumimoji="1" lang="zh-CN" altLang="en-US">
                <a:solidFill>
                  <a:srgbClr val="0000FF"/>
                </a:solidFill>
              </a:rPr>
              <a:t>（零向量）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/>
              <a:t>则称</a:t>
            </a:r>
            <a:r>
              <a:rPr kumimoji="1" lang="zh-CN" altLang="en-US"/>
              <a:t>向量组 </a:t>
            </a:r>
            <a:r>
              <a:rPr kumimoji="1" lang="en-US" altLang="zh-CN" i="1"/>
              <a:t>A 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线性相关</a:t>
            </a:r>
            <a:r>
              <a:rPr lang="zh-CN" altLang="en-US"/>
              <a:t>的，否则称它是</a:t>
            </a:r>
            <a:r>
              <a:rPr lang="zh-CN" altLang="en-US">
                <a:solidFill>
                  <a:srgbClr val="FF0000"/>
                </a:solidFill>
              </a:rPr>
              <a:t>线性无关</a:t>
            </a:r>
            <a:r>
              <a:rPr lang="zh-CN" altLang="en-US"/>
              <a:t>的．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511175" y="4078288"/>
            <a:ext cx="2332038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endParaRPr kumimoji="1" lang="en-US" altLang="zh-CN" sz="24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线性相关</a:t>
            </a: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3546475" y="4076700"/>
            <a:ext cx="3016250" cy="133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元齐次线性方程组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</a:t>
            </a:r>
          </a:p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有非零解</a:t>
            </a:r>
          </a:p>
        </p:txBody>
      </p:sp>
      <p:sp>
        <p:nvSpPr>
          <p:cNvPr id="24588" name="AutoShape 12"/>
          <p:cNvSpPr>
            <a:spLocks noChangeArrowheads="1"/>
          </p:cNvSpPr>
          <p:nvPr/>
        </p:nvSpPr>
        <p:spPr bwMode="auto">
          <a:xfrm>
            <a:off x="2906713" y="4516438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7267575" y="4516438"/>
            <a:ext cx="139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lang="en-US" altLang="zh-CN" sz="2400" b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&lt;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endParaRPr kumimoji="1" lang="en-US" altLang="zh-CN" sz="2400" b="1" i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90" name="AutoShape 14"/>
          <p:cNvSpPr>
            <a:spLocks noChangeArrowheads="1"/>
          </p:cNvSpPr>
          <p:nvPr/>
        </p:nvSpPr>
        <p:spPr bwMode="auto">
          <a:xfrm>
            <a:off x="6626225" y="4516438"/>
            <a:ext cx="576263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24586" grpId="0"/>
      <p:bldP spid="24587" grpId="0"/>
      <p:bldP spid="24588" grpId="0" animBg="1"/>
      <p:bldP spid="24589" grpId="0"/>
      <p:bldP spid="2459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58775" y="1196752"/>
            <a:ext cx="8042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ea typeface="楷体_GB2312" pitchFamily="1" charset="-122"/>
              </a:rPr>
              <a:t>②</a:t>
            </a:r>
            <a:r>
              <a:rPr lang="zh-CN" altLang="zh-CN" sz="2800" b="1" dirty="0">
                <a:latin typeface="楷体_GB2312" pitchFamily="1" charset="-122"/>
                <a:ea typeface="楷体_GB2312" pitchFamily="1" charset="-122"/>
              </a:rPr>
              <a:t>　单独一个向量线性相关当且仅当它是零向量．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358775" y="1757759"/>
            <a:ext cx="8399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 dirty="0">
                <a:ea typeface="楷体_GB2312" pitchFamily="1" charset="-122"/>
              </a:rPr>
              <a:t>③　</a:t>
            </a:r>
            <a:r>
              <a:rPr lang="zh-CN" altLang="zh-CN" sz="2800" b="1" dirty="0">
                <a:latin typeface="楷体_GB2312" pitchFamily="1" charset="-122"/>
                <a:ea typeface="楷体_GB2312" pitchFamily="1" charset="-122"/>
              </a:rPr>
              <a:t>单独一个向量线性无关当且仅当它是非零向量．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358775" y="2276872"/>
            <a:ext cx="8399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 dirty="0">
                <a:ea typeface="楷体_GB2312" pitchFamily="1" charset="-122"/>
              </a:rPr>
              <a:t>④　一向量组中存在一个</a:t>
            </a:r>
            <a:r>
              <a:rPr lang="zh-CN" altLang="zh-CN" sz="2800" b="1" i="1" dirty="0">
                <a:ea typeface="楷体_GB2312" pitchFamily="1" charset="-122"/>
              </a:rPr>
              <a:t>Ｏ</a:t>
            </a:r>
            <a:r>
              <a:rPr lang="zh-CN" altLang="zh-CN" sz="2800" b="1" dirty="0">
                <a:ea typeface="楷体_GB2312" pitchFamily="1" charset="-122"/>
              </a:rPr>
              <a:t>向量，则一定线性相关</a:t>
            </a:r>
            <a:r>
              <a:rPr lang="zh-CN" altLang="zh-CN" sz="2800" b="1" dirty="0">
                <a:latin typeface="楷体_GB2312" pitchFamily="1" charset="-122"/>
                <a:ea typeface="楷体_GB2312" pitchFamily="1" charset="-122"/>
              </a:rPr>
              <a:t>．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58775" y="692696"/>
            <a:ext cx="8042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latin typeface="楷体_GB2312" pitchFamily="1" charset="-122"/>
                <a:ea typeface="楷体_GB2312" pitchFamily="1" charset="-122"/>
              </a:rPr>
              <a:t>①　对于一组向量，不是线性相关就是线性无关．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395536" y="5373216"/>
            <a:ext cx="74190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 dirty="0">
                <a:latin typeface="Times New Roman" panose="02020603050405020304" pitchFamily="18" charset="0"/>
                <a:ea typeface="楷体_GB2312" pitchFamily="1" charset="-122"/>
              </a:rPr>
              <a:t>⑧</a:t>
            </a:r>
            <a:r>
              <a:rPr lang="zh-CN" altLang="zh-CN" sz="2800" b="1" dirty="0">
                <a:ea typeface="楷体_GB2312" pitchFamily="1" charset="-122"/>
              </a:rPr>
              <a:t>　几何上：两向量线性相关</a:t>
            </a:r>
            <a:r>
              <a:rPr lang="zh-CN" altLang="zh-CN" sz="2800" b="1" dirty="0">
                <a:ea typeface="楷体_GB2312" pitchFamily="1" charset="-122"/>
                <a:sym typeface="Wingdings" panose="05000000000000000000" pitchFamily="2" charset="2"/>
              </a:rPr>
              <a:t></a:t>
            </a:r>
            <a:r>
              <a:rPr lang="zh-CN" altLang="zh-CN" sz="2800" b="1" dirty="0">
                <a:ea typeface="楷体_GB2312" pitchFamily="1" charset="-122"/>
              </a:rPr>
              <a:t>两向量共线；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395288" y="2852936"/>
            <a:ext cx="6723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 dirty="0">
                <a:latin typeface="Times New Roman" panose="02020603050405020304" pitchFamily="18" charset="0"/>
                <a:ea typeface="楷体_GB2312" pitchFamily="1" charset="-122"/>
              </a:rPr>
              <a:t>⑤</a:t>
            </a:r>
            <a:r>
              <a:rPr lang="zh-CN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zh-CN" sz="2800" b="1" dirty="0">
                <a:ea typeface="楷体_GB2312" pitchFamily="1" charset="-122"/>
              </a:rPr>
              <a:t>　两向量线性相关</a:t>
            </a:r>
            <a:r>
              <a:rPr lang="zh-CN" altLang="zh-CN" sz="2800" b="1" dirty="0">
                <a:ea typeface="楷体_GB2312" pitchFamily="1" charset="-122"/>
                <a:sym typeface="Wingdings" panose="05000000000000000000" pitchFamily="2" charset="2"/>
              </a:rPr>
              <a:t></a:t>
            </a:r>
            <a:r>
              <a:rPr lang="zh-CN" altLang="zh-CN" sz="2800" b="1" dirty="0">
                <a:ea typeface="楷体_GB2312" pitchFamily="1" charset="-122"/>
              </a:rPr>
              <a:t>两向量对应成比例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2528888" y="5921363"/>
            <a:ext cx="494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 dirty="0">
                <a:ea typeface="楷体_GB2312" pitchFamily="1" charset="-122"/>
              </a:rPr>
              <a:t>三向量线性相关</a:t>
            </a:r>
            <a:r>
              <a:rPr lang="zh-CN" altLang="zh-CN" sz="2800" b="1" dirty="0">
                <a:ea typeface="楷体_GB2312" pitchFamily="1" charset="-122"/>
                <a:sym typeface="Wingdings" panose="05000000000000000000" pitchFamily="2" charset="2"/>
              </a:rPr>
              <a:t></a:t>
            </a:r>
            <a:r>
              <a:rPr lang="zh-CN" altLang="zh-CN" sz="2800" b="1" dirty="0">
                <a:ea typeface="楷体_GB2312" pitchFamily="1" charset="-122"/>
              </a:rPr>
              <a:t>三向量共面.</a:t>
            </a:r>
            <a:endParaRPr lang="zh-CN" altLang="zh-CN" sz="2800" b="1" dirty="0">
              <a:ea typeface="楷体_GB2312" pitchFamily="1" charset="-122"/>
              <a:sym typeface="Wingdings" panose="05000000000000000000" pitchFamily="2" charset="2"/>
            </a:endParaRP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395288" y="3485951"/>
            <a:ext cx="708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 dirty="0">
                <a:latin typeface="Times New Roman" panose="02020603050405020304" pitchFamily="18" charset="0"/>
                <a:ea typeface="楷体_GB2312" pitchFamily="1" charset="-122"/>
              </a:rPr>
              <a:t>⑥</a:t>
            </a:r>
            <a:r>
              <a:rPr lang="zh-CN" altLang="zh-CN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zh-CN" sz="2800" b="1" dirty="0">
                <a:ea typeface="楷体_GB2312" pitchFamily="1" charset="-122"/>
              </a:rPr>
              <a:t>　两向量线性无关</a:t>
            </a:r>
            <a:r>
              <a:rPr lang="zh-CN" altLang="zh-CN" sz="2800" b="1" dirty="0">
                <a:ea typeface="楷体_GB2312" pitchFamily="1" charset="-122"/>
                <a:sym typeface="Wingdings" panose="05000000000000000000" pitchFamily="2" charset="2"/>
              </a:rPr>
              <a:t></a:t>
            </a:r>
            <a:r>
              <a:rPr lang="zh-CN" altLang="zh-CN" sz="2800" b="1" dirty="0">
                <a:ea typeface="楷体_GB2312" pitchFamily="1" charset="-122"/>
              </a:rPr>
              <a:t>两向量不对应成比例</a:t>
            </a:r>
          </a:p>
        </p:txBody>
      </p:sp>
      <p:pic>
        <p:nvPicPr>
          <p:cNvPr id="5130" name="Picture 10" descr="GIF1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60350"/>
            <a:ext cx="180022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384497" y="4116907"/>
            <a:ext cx="8651999" cy="1040285"/>
            <a:chOff x="384497" y="4116907"/>
            <a:chExt cx="8651999" cy="1040285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84497" y="4116907"/>
              <a:ext cx="8651999" cy="1040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ct val="20000"/>
                </a:spcBef>
                <a:buClr>
                  <a:srgbClr val="0000FF"/>
                </a:buClr>
              </a:pPr>
              <a:r>
                <a:rPr kumimoji="1"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⑦  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向量组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A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：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 baseline="-25000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1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,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 baseline="-25000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2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, …,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 i="1" baseline="-25000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m 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(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m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 ≥2) 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线性相关     向量组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中至少有一个向量能由其余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m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－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1 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个向量线性表示．</a:t>
              </a:r>
            </a:p>
          </p:txBody>
        </p:sp>
        <p:sp>
          <p:nvSpPr>
            <p:cNvPr id="12" name="AutoShape 12"/>
            <p:cNvSpPr>
              <a:spLocks noChangeArrowheads="1"/>
            </p:cNvSpPr>
            <p:nvPr/>
          </p:nvSpPr>
          <p:spPr bwMode="auto">
            <a:xfrm>
              <a:off x="7457265" y="4293096"/>
              <a:ext cx="351134" cy="248494"/>
            </a:xfrm>
            <a:prstGeom prst="leftRightArrow">
              <a:avLst>
                <a:gd name="adj1" fmla="val 50000"/>
                <a:gd name="adj2" fmla="val 2520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7951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5" dur="8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6" dur="8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80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2" dur="80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3" dur="80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80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  <p:bldP spid="512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457200" y="455613"/>
            <a:ext cx="8435975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向量组线性相关性的判定（重点、难点）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线性相关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存在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不全为零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的实数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，使得</a:t>
            </a:r>
          </a:p>
          <a:p>
            <a:pPr algn="ctr"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… 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=0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（零向量）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endParaRPr kumimoji="1" lang="zh-CN" altLang="en-US" sz="2400" b="1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元齐次线性方程组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有非零解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矩阵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的秩小于向量的个数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向量组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中至少有一个向量能由其余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个向量线性	表示．</a:t>
            </a:r>
          </a:p>
        </p:txBody>
      </p:sp>
      <p:sp>
        <p:nvSpPr>
          <p:cNvPr id="45059" name="AutoShape 3"/>
          <p:cNvSpPr>
            <a:spLocks noChangeArrowheads="1"/>
          </p:cNvSpPr>
          <p:nvPr/>
        </p:nvSpPr>
        <p:spPr bwMode="auto">
          <a:xfrm>
            <a:off x="684213" y="1844675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5060" name="AutoShape 4"/>
          <p:cNvSpPr>
            <a:spLocks noChangeArrowheads="1"/>
          </p:cNvSpPr>
          <p:nvPr/>
        </p:nvSpPr>
        <p:spPr bwMode="auto">
          <a:xfrm>
            <a:off x="684213" y="3211513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5061" name="AutoShape 5"/>
          <p:cNvSpPr>
            <a:spLocks noChangeArrowheads="1"/>
          </p:cNvSpPr>
          <p:nvPr/>
        </p:nvSpPr>
        <p:spPr bwMode="auto">
          <a:xfrm>
            <a:off x="684213" y="3895725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5062" name="AutoShape 6"/>
          <p:cNvSpPr>
            <a:spLocks noChangeArrowheads="1"/>
          </p:cNvSpPr>
          <p:nvPr/>
        </p:nvSpPr>
        <p:spPr bwMode="auto">
          <a:xfrm>
            <a:off x="684213" y="4579938"/>
            <a:ext cx="576262" cy="457200"/>
          </a:xfrm>
          <a:prstGeom prst="leftRightArrow">
            <a:avLst>
              <a:gd name="adj1" fmla="val 50000"/>
              <a:gd name="adj2" fmla="val 25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A2EA21-8E25-427D-B161-A168D88AE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455613"/>
            <a:ext cx="8435975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向量组线性无关性的判定（重点、难点）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线性无关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		如果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+ … + </a:t>
            </a:r>
            <a:r>
              <a:rPr kumimoji="1"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=0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（零向量），则必有</a:t>
            </a:r>
          </a:p>
          <a:p>
            <a:pPr algn="ctr"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=  … = 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=0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元齐次线性方程组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只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有零解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		矩阵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= (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的秩等于向量的个数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7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		向量组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中任何一个向量都不能由其余 </a:t>
            </a:r>
            <a:r>
              <a:rPr kumimoji="1"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－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个向量线	性表示．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indefinite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indefinite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indefinite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indefinite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indefinite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indefinite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40" name="Rectangle 6"/>
          <p:cNvSpPr>
            <a:spLocks noChangeArrowheads="1"/>
          </p:cNvSpPr>
          <p:nvPr/>
        </p:nvSpPr>
        <p:spPr bwMode="auto">
          <a:xfrm>
            <a:off x="457200" y="5334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试讨论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维单位坐标向量组的线性相关性．</a:t>
            </a: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457200" y="2133600"/>
            <a:ext cx="8229600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已知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试讨论向量组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及向量组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的线性相关性．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可见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，故向量组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线性相关；</a:t>
            </a:r>
          </a:p>
          <a:p>
            <a:pPr>
              <a:lnSpc>
                <a:spcPct val="14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同时，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，故向量组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线性无关．</a:t>
            </a:r>
          </a:p>
        </p:txBody>
      </p:sp>
      <p:graphicFrame>
        <p:nvGraphicFramePr>
          <p:cNvPr id="389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342714"/>
              </p:ext>
            </p:extLst>
          </p:nvPr>
        </p:nvGraphicFramePr>
        <p:xfrm>
          <a:off x="1979712" y="1615455"/>
          <a:ext cx="3932238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03" name="Equation" r:id="rId3" imgW="1968500" imgH="698500" progId="">
                  <p:embed/>
                </p:oleObj>
              </mc:Choice>
              <mc:Fallback>
                <p:oleObj name="Equation" r:id="rId3" imgW="1968500" imgH="6985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615455"/>
                        <a:ext cx="3932238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Object 7"/>
          <p:cNvGraphicFramePr>
            <a:graphicFrameLocks noChangeAspect="1"/>
          </p:cNvGraphicFramePr>
          <p:nvPr/>
        </p:nvGraphicFramePr>
        <p:xfrm>
          <a:off x="3092450" y="3860800"/>
          <a:ext cx="2992438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04" name="Equation" r:id="rId5" imgW="1498600" imgH="698500" progId="">
                  <p:embed/>
                </p:oleObj>
              </mc:Choice>
              <mc:Fallback>
                <p:oleObj name="Equation" r:id="rId5" imgW="1498600" imgH="6985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3860800"/>
                        <a:ext cx="2992438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9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89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89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89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457200" y="455613"/>
            <a:ext cx="8229600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已知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线性无关，且</a:t>
            </a: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试证明向量组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解题思路：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转化为齐次线性方程组的问题；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Font typeface="Wingdings" pitchFamily="2" charset="2"/>
              <a:buChar char="ü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转化为矩阵的秩的问题．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457200" y="455613"/>
            <a:ext cx="8229600" cy="589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已知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线性无关，且</a:t>
            </a: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试证明向量组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线性无关．</a:t>
            </a: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解法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转化为齐次线性方程组的问题．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已知                                                          ，记作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AK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AK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线性无关，所以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Kx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又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|K| = 2 </a:t>
            </a:r>
            <a:r>
              <a:rPr kumimoji="1" lang="en-US" altLang="zh-CN" sz="2400" b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  <a:sym typeface="Symbol" panose="05050102010706020507" pitchFamily="18" charset="2"/>
              </a:rPr>
              <a:t>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，那么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Kx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只有零解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从而向量组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线性无关．</a:t>
            </a:r>
          </a:p>
        </p:txBody>
      </p:sp>
      <p:graphicFrame>
        <p:nvGraphicFramePr>
          <p:cNvPr id="47107" name="Object 4"/>
          <p:cNvGraphicFramePr>
            <a:graphicFrameLocks noChangeAspect="1"/>
          </p:cNvGraphicFramePr>
          <p:nvPr/>
        </p:nvGraphicFramePr>
        <p:xfrm>
          <a:off x="1225550" y="2824163"/>
          <a:ext cx="421005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45" name="Equation" r:id="rId3" imgW="2108200" imgH="698500" progId="">
                  <p:embed/>
                </p:oleObj>
              </mc:Choice>
              <mc:Fallback>
                <p:oleObj name="Equation" r:id="rId3" imgW="2108200" imgH="6985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2824163"/>
                        <a:ext cx="421005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71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7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71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457200" y="455613"/>
            <a:ext cx="8229600" cy="538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已知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线性无关，且</a:t>
            </a: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试证明向量组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线性无关．</a:t>
            </a: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解法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转化为矩阵的秩的问题．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已知                                                          ，记作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AK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因为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 = 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≠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，所以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可逆，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又向量组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线性无关，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从而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线性无关．</a:t>
            </a:r>
          </a:p>
        </p:txBody>
      </p:sp>
      <p:graphicFrame>
        <p:nvGraphicFramePr>
          <p:cNvPr id="48131" name="Object 4"/>
          <p:cNvGraphicFramePr>
            <a:graphicFrameLocks noChangeAspect="1"/>
          </p:cNvGraphicFramePr>
          <p:nvPr/>
        </p:nvGraphicFramePr>
        <p:xfrm>
          <a:off x="1225550" y="2824163"/>
          <a:ext cx="421005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69" name="Equation" r:id="rId3" imgW="2108200" imgH="698500" progId="">
                  <p:embed/>
                </p:oleObj>
              </mc:Choice>
              <mc:Fallback>
                <p:oleObj name="Equation" r:id="rId3" imgW="2108200" imgH="6985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2824163"/>
                        <a:ext cx="421005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8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81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467544" y="332656"/>
            <a:ext cx="8231187" cy="582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定理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线性相关， 则向量组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+1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也线性相关．</a:t>
            </a: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其逆否命题也成立，即若向量组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线性无关，则向量组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也线性无关．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（部分相关整体相关，整体无关部分无关。）</a:t>
            </a: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维向量组成的向量组，当维数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小于向量个数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时，一定线性相关．</a:t>
            </a: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特别地，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个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维向量一定线性相关．</a:t>
            </a: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线性无关， 而向量组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线性相关，则向量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必能由向量组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线性表示，且表示式是唯一的．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39552" y="764704"/>
            <a:ext cx="8229600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已知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线性相关，向量组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   关，证明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能由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线性表示；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4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不能由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线性表示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.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70686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59832" y="1484784"/>
            <a:ext cx="248497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作业     习题四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en-US" altLang="zh-CN" sz="2800" b="1" dirty="0"/>
              <a:t>1. </a:t>
            </a:r>
          </a:p>
          <a:p>
            <a:r>
              <a:rPr lang="en-US" altLang="zh-CN" sz="2800" b="1" dirty="0"/>
              <a:t>2. </a:t>
            </a:r>
          </a:p>
          <a:p>
            <a:r>
              <a:rPr lang="en-US" altLang="zh-CN" sz="2800" b="1" dirty="0"/>
              <a:t>3. </a:t>
            </a:r>
          </a:p>
          <a:p>
            <a:r>
              <a:rPr lang="en-US" altLang="zh-CN" sz="2800" b="1" dirty="0"/>
              <a:t>4. </a:t>
            </a:r>
          </a:p>
          <a:p>
            <a:r>
              <a:rPr lang="en-US" altLang="zh-CN" sz="2800" b="1" dirty="0"/>
              <a:t>11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56947950"/>
      </p:ext>
    </p:extLst>
  </p:cSld>
  <p:clrMapOvr>
    <a:masterClrMapping/>
  </p:clrMapOvr>
</p:sld>
</file>

<file path=ppt/theme/theme1.xml><?xml version="1.0" encoding="utf-8"?>
<a:theme xmlns:a="http://schemas.openxmlformats.org/drawingml/2006/main" name="14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4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5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5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ppt/theme/themeOverride2.xml><?xml version="1.0" encoding="utf-8"?>
<a:themeOverride xmlns:a="http://schemas.openxmlformats.org/drawingml/2006/main">
  <a:clrScheme name="2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1725</TotalTime>
  <Words>2769</Words>
  <Application>Microsoft Office PowerPoint</Application>
  <PresentationFormat>全屏显示(4:3)</PresentationFormat>
  <Paragraphs>280</Paragraphs>
  <Slides>37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楷体_GB2312</vt:lpstr>
      <vt:lpstr>宋体</vt:lpstr>
      <vt:lpstr>Arial</vt:lpstr>
      <vt:lpstr>Calibri</vt:lpstr>
      <vt:lpstr>Symbol</vt:lpstr>
      <vt:lpstr>Times New Roman</vt:lpstr>
      <vt:lpstr>Wingdings</vt:lpstr>
      <vt:lpstr>14_Pixel</vt:lpstr>
      <vt:lpstr>14_Blends</vt:lpstr>
      <vt:lpstr>15_Blends</vt:lpstr>
      <vt:lpstr>15_Pixel</vt:lpstr>
      <vt:lpstr>Equation</vt:lpstr>
      <vt:lpstr>第四章 向量组的线性相关性</vt:lpstr>
      <vt:lpstr>§1  向量组及其线性组合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回顾：线性方程组的表达式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口诀：左行右列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§2  向量组的线性相关性</vt:lpstr>
      <vt:lpstr>回顾：向量组的线性组合</vt:lpstr>
      <vt:lpstr>引言</vt:lpstr>
      <vt:lpstr>PowerPoint 演示文稿</vt:lpstr>
      <vt:lpstr>PowerPoint 演示文稿</vt:lpstr>
      <vt:lpstr>向量组的线性相关性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60</cp:revision>
  <dcterms:created xsi:type="dcterms:W3CDTF">2012-04-21T04:49:10Z</dcterms:created>
  <dcterms:modified xsi:type="dcterms:W3CDTF">2023-11-20T08:05:46Z</dcterms:modified>
</cp:coreProperties>
</file>