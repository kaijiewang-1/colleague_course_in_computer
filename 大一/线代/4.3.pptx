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5" r:id="rId1"/>
    <p:sldMasterId id="2147484067" r:id="rId2"/>
  </p:sldMasterIdLst>
  <p:notesMasterIdLst>
    <p:notesMasterId r:id="rId23"/>
  </p:notesMasterIdLst>
  <p:sldIdLst>
    <p:sldId id="605" r:id="rId3"/>
    <p:sldId id="607" r:id="rId4"/>
    <p:sldId id="604" r:id="rId5"/>
    <p:sldId id="634" r:id="rId6"/>
    <p:sldId id="635" r:id="rId7"/>
    <p:sldId id="609" r:id="rId8"/>
    <p:sldId id="629" r:id="rId9"/>
    <p:sldId id="630" r:id="rId10"/>
    <p:sldId id="640" r:id="rId11"/>
    <p:sldId id="641" r:id="rId12"/>
    <p:sldId id="631" r:id="rId13"/>
    <p:sldId id="636" r:id="rId14"/>
    <p:sldId id="632" r:id="rId15"/>
    <p:sldId id="633" r:id="rId16"/>
    <p:sldId id="637" r:id="rId17"/>
    <p:sldId id="638" r:id="rId18"/>
    <p:sldId id="618" r:id="rId19"/>
    <p:sldId id="619" r:id="rId20"/>
    <p:sldId id="642" r:id="rId21"/>
    <p:sldId id="643" r:id="rId2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05" autoAdjust="0"/>
    <p:restoredTop sz="96379" autoAdjust="0"/>
  </p:normalViewPr>
  <p:slideViewPr>
    <p:cSldViewPr>
      <p:cViewPr varScale="1">
        <p:scale>
          <a:sx n="114" d="100"/>
          <a:sy n="114" d="100"/>
        </p:scale>
        <p:origin x="14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4" Type="http://schemas.openxmlformats.org/officeDocument/2006/relationships/image" Target="../media/image13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image" Target="../media/image16.wmf"/><Relationship Id="rId7" Type="http://schemas.openxmlformats.org/officeDocument/2006/relationships/image" Target="../media/image20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10" Type="http://schemas.openxmlformats.org/officeDocument/2006/relationships/image" Target="../media/image23.wmf"/><Relationship Id="rId4" Type="http://schemas.openxmlformats.org/officeDocument/2006/relationships/image" Target="../media/image17.wmf"/><Relationship Id="rId9" Type="http://schemas.openxmlformats.org/officeDocument/2006/relationships/image" Target="../media/image2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B4F9F8EE-7994-4CD3-ACE9-6AFF018A4ED6}" type="datetimeFigureOut">
              <a:rPr lang="zh-CN" altLang="en-US"/>
              <a:pPr>
                <a:defRPr/>
              </a:pPr>
              <a:t>2023/12/5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1D66DC4F-202E-4AAB-B09E-49422805CC2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5739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D66DC4F-202E-4AAB-B09E-49422805CC2C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5034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922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922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fld id="{3A80B412-7490-426D-A5D2-B9C3611E86D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3964146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1D838D9-47DE-4B1F-98C8-1539D24F0C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36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8E2954F-90CC-4E95-9361-6F4EBFEB62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3116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8D8E2A3-F611-40AF-87CC-100229DD14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7692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635BFA2-A537-47D3-92A3-3FE5187D12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4333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D5D90A1-44B9-4A8C-8F54-73905E7606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1724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0AF2434-761A-4624-80C3-42B3454B55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1870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9153288-6E41-478C-ABA6-5DB5DADD631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9520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F13BEE2-1806-4AC0-997D-78E24E69F1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4059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1FBA0FB-4CB8-43FD-AE3B-E8CB322EEF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866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D959AEC-6DC8-4AC4-A3FC-77EAA767B0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3981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44EECE4-32CA-4586-A5DD-911E7E3A679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3157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C763267-BA03-4D8A-8841-CF4FE81443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9349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85D6DA3-48F6-482B-A320-05308220B7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10404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AD17E92-22D5-4399-B842-71977DB2786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18041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73E4D37-7A50-493E-9739-9AF933F9BE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55113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6BCA3BD-9EA0-4F01-A5E6-4C18ABE113F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26683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163BA0F-0C91-4CC3-BEB7-FBC125E123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21075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71ECA01-4319-4535-BBB5-6836184874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31225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1496868-58D0-4860-8B31-4451E467577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08958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552C27D-3E11-4C89-8E30-5EF0C41DAC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10700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3DB6186-1681-4CEB-91F8-4B90FE665F5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1859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40141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0141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20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0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0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476DEAD-D40B-4393-99D0-B7B3AD1F3B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32" r:id="rId1"/>
    <p:sldLayoutId id="2147485133" r:id="rId2"/>
    <p:sldLayoutId id="2147485134" r:id="rId3"/>
    <p:sldLayoutId id="2147485135" r:id="rId4"/>
    <p:sldLayoutId id="2147485136" r:id="rId5"/>
    <p:sldLayoutId id="2147485137" r:id="rId6"/>
    <p:sldLayoutId id="2147485138" r:id="rId7"/>
    <p:sldLayoutId id="2147485139" r:id="rId8"/>
    <p:sldLayoutId id="2147485140" r:id="rId9"/>
    <p:sldLayoutId id="2147485141" r:id="rId10"/>
    <p:sldLayoutId id="2147485142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F8FCAA7-DEB9-432D-8ABB-101B2081D6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402436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512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3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3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402437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02438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7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138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139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43" r:id="rId1"/>
    <p:sldLayoutId id="2147485144" r:id="rId2"/>
    <p:sldLayoutId id="2147485145" r:id="rId3"/>
    <p:sldLayoutId id="2147485146" r:id="rId4"/>
    <p:sldLayoutId id="2147485147" r:id="rId5"/>
    <p:sldLayoutId id="2147485148" r:id="rId6"/>
    <p:sldLayoutId id="2147485149" r:id="rId7"/>
    <p:sldLayoutId id="2147485150" r:id="rId8"/>
    <p:sldLayoutId id="2147485151" r:id="rId9"/>
    <p:sldLayoutId id="2147485152" r:id="rId10"/>
    <p:sldLayoutId id="214748515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4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6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9.gi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3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18.wmf"/><Relationship Id="rId18" Type="http://schemas.openxmlformats.org/officeDocument/2006/relationships/image" Target="../media/image20.wmf"/><Relationship Id="rId3" Type="http://schemas.openxmlformats.org/officeDocument/2006/relationships/image" Target="../media/image24.gif"/><Relationship Id="rId21" Type="http://schemas.openxmlformats.org/officeDocument/2006/relationships/oleObject" Target="../embeddings/oleObject22.bin"/><Relationship Id="rId7" Type="http://schemas.openxmlformats.org/officeDocument/2006/relationships/image" Target="../media/image15.wmf"/><Relationship Id="rId12" Type="http://schemas.openxmlformats.org/officeDocument/2006/relationships/oleObject" Target="../embeddings/oleObject18.bin"/><Relationship Id="rId17" Type="http://schemas.openxmlformats.org/officeDocument/2006/relationships/oleObject" Target="../embeddings/oleObject20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9.wmf"/><Relationship Id="rId20" Type="http://schemas.openxmlformats.org/officeDocument/2006/relationships/image" Target="../media/image21.wmf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7.wmf"/><Relationship Id="rId24" Type="http://schemas.openxmlformats.org/officeDocument/2006/relationships/image" Target="../media/image23.wmf"/><Relationship Id="rId5" Type="http://schemas.openxmlformats.org/officeDocument/2006/relationships/image" Target="../media/image14.wmf"/><Relationship Id="rId15" Type="http://schemas.openxmlformats.org/officeDocument/2006/relationships/oleObject" Target="../embeddings/oleObject19.bin"/><Relationship Id="rId23" Type="http://schemas.openxmlformats.org/officeDocument/2006/relationships/oleObject" Target="../embeddings/oleObject23.bin"/><Relationship Id="rId10" Type="http://schemas.openxmlformats.org/officeDocument/2006/relationships/oleObject" Target="../embeddings/oleObject17.bin"/><Relationship Id="rId19" Type="http://schemas.openxmlformats.org/officeDocument/2006/relationships/oleObject" Target="../embeddings/oleObject21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6.wmf"/><Relationship Id="rId14" Type="http://schemas.openxmlformats.org/officeDocument/2006/relationships/image" Target="../media/image25.gif"/><Relationship Id="rId22" Type="http://schemas.openxmlformats.org/officeDocument/2006/relationships/image" Target="../media/image22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6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7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3128963" y="542925"/>
            <a:ext cx="1428750" cy="1071563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矩阵</a:t>
            </a:r>
          </a:p>
        </p:txBody>
      </p:sp>
      <p:sp>
        <p:nvSpPr>
          <p:cNvPr id="6" name="椭圆 5"/>
          <p:cNvSpPr/>
          <p:nvPr/>
        </p:nvSpPr>
        <p:spPr>
          <a:xfrm>
            <a:off x="1214438" y="2857500"/>
            <a:ext cx="1428750" cy="1071563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线性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algn="ctr"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方程组</a:t>
            </a:r>
          </a:p>
        </p:txBody>
      </p:sp>
      <p:sp>
        <p:nvSpPr>
          <p:cNvPr id="7" name="椭圆 6"/>
          <p:cNvSpPr/>
          <p:nvPr/>
        </p:nvSpPr>
        <p:spPr>
          <a:xfrm>
            <a:off x="5043488" y="2857500"/>
            <a:ext cx="1428750" cy="1071563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有限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algn="ctr"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向量组</a:t>
            </a:r>
          </a:p>
        </p:txBody>
      </p:sp>
      <p:cxnSp>
        <p:nvCxnSpPr>
          <p:cNvPr id="10" name="直接连接符 9"/>
          <p:cNvCxnSpPr>
            <a:stCxn id="5" idx="3"/>
            <a:endCxn id="6" idx="0"/>
          </p:cNvCxnSpPr>
          <p:nvPr/>
        </p:nvCxnSpPr>
        <p:spPr>
          <a:xfrm rot="5400000">
            <a:off x="1933575" y="1452563"/>
            <a:ext cx="1400175" cy="140970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stCxn id="5" idx="5"/>
            <a:endCxn id="7" idx="0"/>
          </p:cNvCxnSpPr>
          <p:nvPr/>
        </p:nvCxnSpPr>
        <p:spPr>
          <a:xfrm rot="16200000" flipH="1">
            <a:off x="4352925" y="1452563"/>
            <a:ext cx="1400175" cy="140970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stCxn id="6" idx="6"/>
            <a:endCxn id="7" idx="2"/>
          </p:cNvCxnSpPr>
          <p:nvPr/>
        </p:nvCxnSpPr>
        <p:spPr>
          <a:xfrm>
            <a:off x="2643188" y="3392488"/>
            <a:ext cx="2400300" cy="3175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03338" y="1571625"/>
            <a:ext cx="1209675" cy="8080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</a:rPr>
              <a:t>系数矩阵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</a:rPr>
              <a:t>增广矩阵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6050" y="1571625"/>
            <a:ext cx="3262313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</a:rPr>
              <a:t>有限向量组与矩阵一一对应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941513" y="3638550"/>
            <a:ext cx="4522787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000" b="1" i="1" dirty="0">
                <a:solidFill>
                  <a:srgbClr val="000000"/>
                </a:solidFill>
                <a:latin typeface="+mn-lt"/>
                <a:ea typeface="+mn-ea"/>
              </a:rPr>
              <a:t>Ax</a:t>
            </a:r>
            <a:r>
              <a:rPr lang="en-US" altLang="zh-CN" sz="2000" b="1" dirty="0">
                <a:solidFill>
                  <a:srgbClr val="000000"/>
                </a:solidFill>
                <a:latin typeface="+mn-lt"/>
                <a:ea typeface="+mn-ea"/>
              </a:rPr>
              <a:t> = </a:t>
            </a:r>
            <a:r>
              <a:rPr lang="en-US" altLang="zh-CN" sz="2000" b="1" i="1" dirty="0">
                <a:solidFill>
                  <a:srgbClr val="000000"/>
                </a:solidFill>
                <a:latin typeface="+mn-lt"/>
                <a:ea typeface="+mn-ea"/>
              </a:rPr>
              <a:t>b</a:t>
            </a:r>
            <a:r>
              <a:rPr lang="zh-CN" altLang="en-US" sz="2000" b="1" i="1" dirty="0">
                <a:solidFill>
                  <a:srgbClr val="000000"/>
                </a:solidFill>
                <a:latin typeface="+mn-lt"/>
                <a:ea typeface="+mn-ea"/>
              </a:rPr>
              <a:t> </a:t>
            </a:r>
            <a:r>
              <a:rPr lang="zh-CN" altLang="en-US" sz="2000" b="1" dirty="0">
                <a:solidFill>
                  <a:srgbClr val="000000"/>
                </a:solidFill>
                <a:latin typeface="+mn-lt"/>
                <a:ea typeface="+mn-ea"/>
              </a:rPr>
              <a:t>有解</a:t>
            </a:r>
            <a:endParaRPr lang="en-US" altLang="zh-CN" sz="2000" b="1" dirty="0">
              <a:solidFill>
                <a:srgbClr val="000000"/>
              </a:solidFill>
              <a:latin typeface="+mn-lt"/>
              <a:ea typeface="+mn-ea"/>
            </a:endParaRPr>
          </a:p>
          <a:p>
            <a:pPr algn="ctr"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+mn-lt"/>
                <a:ea typeface="+mn-ea"/>
              </a:rPr>
              <a:t>当且仅当</a:t>
            </a:r>
            <a:endParaRPr lang="en-US" altLang="zh-CN" sz="2000" b="1" dirty="0">
              <a:solidFill>
                <a:srgbClr val="000000"/>
              </a:solidFill>
              <a:latin typeface="+mn-lt"/>
              <a:ea typeface="+mn-ea"/>
            </a:endParaRPr>
          </a:p>
          <a:p>
            <a:pPr algn="ctr"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+mn-lt"/>
                <a:ea typeface="+mn-ea"/>
              </a:rPr>
              <a:t>向量 </a:t>
            </a:r>
            <a:r>
              <a:rPr lang="en-US" altLang="zh-CN" sz="2000" b="1" i="1" dirty="0">
                <a:solidFill>
                  <a:srgbClr val="000000"/>
                </a:solidFill>
                <a:latin typeface="+mn-lt"/>
                <a:ea typeface="+mn-ea"/>
              </a:rPr>
              <a:t>b</a:t>
            </a:r>
            <a:r>
              <a:rPr lang="zh-CN" altLang="en-US" sz="2000" b="1" i="1" dirty="0">
                <a:solidFill>
                  <a:srgbClr val="000000"/>
                </a:solidFill>
                <a:latin typeface="+mn-lt"/>
                <a:ea typeface="+mn-ea"/>
              </a:rPr>
              <a:t> </a:t>
            </a:r>
            <a:r>
              <a:rPr lang="zh-CN" altLang="en-US" sz="2000" b="1" dirty="0">
                <a:solidFill>
                  <a:srgbClr val="000000"/>
                </a:solidFill>
                <a:latin typeface="+mn-lt"/>
                <a:ea typeface="+mn-ea"/>
              </a:rPr>
              <a:t>可由矩阵 </a:t>
            </a:r>
            <a:r>
              <a:rPr lang="en-US" altLang="zh-CN" sz="2000" b="1" i="1" dirty="0">
                <a:solidFill>
                  <a:srgbClr val="000000"/>
                </a:solidFill>
                <a:latin typeface="+mn-lt"/>
                <a:ea typeface="+mn-ea"/>
              </a:rPr>
              <a:t>A</a:t>
            </a:r>
            <a:r>
              <a:rPr lang="zh-CN" altLang="en-US" sz="2000" b="1" dirty="0">
                <a:solidFill>
                  <a:srgbClr val="000000"/>
                </a:solidFill>
                <a:latin typeface="+mn-lt"/>
                <a:ea typeface="+mn-ea"/>
              </a:rPr>
              <a:t>的列向量组线性表示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7" name="Rectangle 17"/>
          <p:cNvSpPr>
            <a:spLocks noChangeArrowheads="1"/>
          </p:cNvSpPr>
          <p:nvPr/>
        </p:nvSpPr>
        <p:spPr bwMode="auto">
          <a:xfrm>
            <a:off x="457200" y="4953000"/>
            <a:ext cx="8229600" cy="173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kumimoji="1" lang="zh-CN" altLang="en-US" sz="20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定理：</a:t>
            </a:r>
            <a:endParaRPr kumimoji="1" lang="en-US" altLang="zh-CN" sz="2000" b="1" dirty="0">
              <a:solidFill>
                <a:srgbClr val="FF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20000"/>
              </a:spcBef>
              <a:buClr>
                <a:srgbClr val="00007D"/>
              </a:buClr>
              <a:buSzPct val="100000"/>
              <a:buFont typeface="Arial" charset="0"/>
              <a:buChar char="•"/>
            </a:pPr>
            <a:r>
              <a:rPr kumimoji="1" lang="zh-CN" altLang="en-US" sz="20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向量组 </a:t>
            </a:r>
            <a:r>
              <a:rPr kumimoji="1"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0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0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0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 </a:t>
            </a:r>
            <a:r>
              <a:rPr kumimoji="1" lang="zh-CN" altLang="en-US" sz="20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线性相关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的充要条件是矩阵 </a:t>
            </a:r>
            <a:r>
              <a:rPr kumimoji="1"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 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= (</a:t>
            </a:r>
            <a:r>
              <a:rPr kumimoji="1"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0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0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0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 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的秩</a:t>
            </a:r>
            <a:r>
              <a:rPr kumimoji="1" lang="zh-CN" altLang="en-US" sz="20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小于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向量的个数 </a:t>
            </a:r>
            <a:r>
              <a:rPr kumimoji="1" lang="en-US" altLang="zh-CN" sz="20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m 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；</a:t>
            </a:r>
            <a:endParaRPr kumimoji="1" lang="en-US" altLang="zh-CN" sz="20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20000"/>
              </a:spcBef>
              <a:buClr>
                <a:srgbClr val="00007D"/>
              </a:buClr>
              <a:buSzPct val="100000"/>
              <a:buFont typeface="Arial" charset="0"/>
              <a:buChar char="•"/>
            </a:pPr>
            <a:r>
              <a:rPr kumimoji="1" lang="zh-CN" altLang="en-US" sz="20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向量组 </a:t>
            </a:r>
            <a:r>
              <a:rPr kumimoji="1"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0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0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0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 </a:t>
            </a:r>
            <a:r>
              <a:rPr kumimoji="1" lang="zh-CN" altLang="en-US" sz="20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线性无关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的充要条件是矩阵 </a:t>
            </a:r>
            <a:r>
              <a:rPr kumimoji="1"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 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= (</a:t>
            </a:r>
            <a:r>
              <a:rPr kumimoji="1"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0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000" b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, …, </a:t>
            </a:r>
            <a:r>
              <a:rPr kumimoji="1"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000" b="1" i="1" baseline="-25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m 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 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的秩</a:t>
            </a:r>
            <a:r>
              <a:rPr kumimoji="1" lang="zh-CN" altLang="en-US" sz="20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等于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向量的个数 </a:t>
            </a:r>
            <a:r>
              <a:rPr kumimoji="1" lang="en-US" altLang="zh-CN" sz="20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m 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  <p:bldP spid="21" grpId="0"/>
      <p:bldP spid="25" grpId="0" build="allAtOnce"/>
      <p:bldP spid="27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163316"/>
              </p:ext>
            </p:extLst>
          </p:nvPr>
        </p:nvGraphicFramePr>
        <p:xfrm>
          <a:off x="214313" y="571500"/>
          <a:ext cx="8643936" cy="57419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0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08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04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908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71661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9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900" b="1" i="1" dirty="0">
                          <a:solidFill>
                            <a:schemeClr val="tx1"/>
                          </a:solidFill>
                        </a:rPr>
                        <a:t>m</a:t>
                      </a:r>
                      <a:r>
                        <a:rPr lang="zh-CN" altLang="en-US" sz="1900" b="1" dirty="0">
                          <a:solidFill>
                            <a:schemeClr val="tx1"/>
                          </a:solidFill>
                        </a:rPr>
                        <a:t>元线性方程组</a:t>
                      </a:r>
                      <a:endParaRPr lang="en-US" altLang="zh-CN" sz="19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CN" altLang="en-US" sz="19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900" b="1" i="1" dirty="0">
                          <a:solidFill>
                            <a:schemeClr val="tx1"/>
                          </a:solidFill>
                        </a:rPr>
                        <a:t>Ax</a:t>
                      </a:r>
                      <a:r>
                        <a:rPr lang="en-US" altLang="zh-CN" sz="1900" b="1" dirty="0">
                          <a:solidFill>
                            <a:schemeClr val="tx1"/>
                          </a:solidFill>
                        </a:rPr>
                        <a:t> = </a:t>
                      </a:r>
                      <a:r>
                        <a:rPr lang="en-US" altLang="zh-CN" sz="1900" b="1" i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  <a:p>
                      <a:pPr algn="ctr"/>
                      <a:r>
                        <a:rPr lang="zh-CN" altLang="en-US" sz="1900" b="1" i="0" dirty="0">
                          <a:solidFill>
                            <a:schemeClr val="tx1"/>
                          </a:solidFill>
                        </a:rPr>
                        <a:t>其中 </a:t>
                      </a:r>
                      <a:r>
                        <a:rPr lang="en-US" altLang="zh-CN" sz="1900" b="1" i="1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zh-CN" altLang="en-US" sz="1900" b="1" i="0" dirty="0">
                          <a:solidFill>
                            <a:schemeClr val="tx1"/>
                          </a:solidFill>
                        </a:rPr>
                        <a:t> 是 </a:t>
                      </a:r>
                      <a:r>
                        <a:rPr lang="en-US" altLang="zh-CN" sz="1900" b="1" i="1" dirty="0" err="1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en-US" altLang="zh-CN" sz="1900" b="1" i="0" dirty="0" err="1">
                          <a:solidFill>
                            <a:schemeClr val="tx1"/>
                          </a:solidFill>
                        </a:rPr>
                        <a:t>×</a:t>
                      </a:r>
                      <a:r>
                        <a:rPr lang="en-US" altLang="zh-CN" sz="1900" b="1" i="1" dirty="0" err="1">
                          <a:solidFill>
                            <a:schemeClr val="tx1"/>
                          </a:solidFill>
                        </a:rPr>
                        <a:t>m</a:t>
                      </a:r>
                      <a:r>
                        <a:rPr lang="zh-CN" altLang="en-US" sz="1900" b="1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CN" altLang="en-US" sz="1900" b="1" i="0" dirty="0">
                          <a:solidFill>
                            <a:schemeClr val="tx1"/>
                          </a:solidFill>
                        </a:rPr>
                        <a:t>矩阵</a:t>
                      </a:r>
                    </a:p>
                  </a:txBody>
                  <a:tcPr marL="91439" marR="91439" marT="43767" marB="43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900" b="1" dirty="0">
                          <a:solidFill>
                            <a:schemeClr val="tx1"/>
                          </a:solidFill>
                        </a:rPr>
                        <a:t>矩阵  </a:t>
                      </a:r>
                      <a:r>
                        <a:rPr lang="en-US" altLang="zh-CN" sz="19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zh-CN" sz="1900" b="1" i="1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CN" sz="19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zh-CN" sz="1900" b="1" i="1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US" altLang="zh-CN" sz="19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CN" altLang="en-US" sz="19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3767" marB="43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900" b="1" dirty="0">
                          <a:solidFill>
                            <a:schemeClr val="tx1"/>
                          </a:solidFill>
                        </a:rPr>
                        <a:t>向量组 </a:t>
                      </a:r>
                      <a:r>
                        <a:rPr lang="en-US" altLang="zh-CN" sz="1900" b="1" i="1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CN" sz="1900" b="1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zh-CN" sz="1900" b="1" i="1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CN" sz="1900" b="1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CN" sz="19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zh-CN" sz="1900" b="1" i="1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CN" sz="1900" b="1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altLang="zh-CN" sz="19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zh-CN" sz="1900" b="1">
                          <a:solidFill>
                            <a:schemeClr val="tx1"/>
                          </a:solidFill>
                        </a:rPr>
                        <a:t>…,</a:t>
                      </a:r>
                      <a:r>
                        <a:rPr lang="en-US" altLang="zh-CN" sz="1900" b="1" i="1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CN" sz="1900" b="1" i="1" baseline="-25000">
                          <a:solidFill>
                            <a:schemeClr val="tx1"/>
                          </a:solidFill>
                        </a:rPr>
                        <a:t>m </a:t>
                      </a:r>
                      <a:r>
                        <a:rPr lang="en-US" altLang="zh-CN" sz="1900" b="1" i="1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CN" altLang="en-US" sz="1900" b="1" i="0" baseline="0" dirty="0">
                          <a:solidFill>
                            <a:schemeClr val="tx1"/>
                          </a:solidFill>
                        </a:rPr>
                        <a:t>及向量 </a:t>
                      </a:r>
                      <a:r>
                        <a:rPr lang="en-US" altLang="zh-CN" sz="1900" b="1" i="1" baseline="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91439" marR="91439" marT="43767" marB="43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5097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900" b="1" dirty="0">
                          <a:solidFill>
                            <a:schemeClr val="tx1"/>
                          </a:solidFill>
                        </a:rPr>
                        <a:t>是否存在解？</a:t>
                      </a:r>
                      <a:endParaRPr lang="en-US" altLang="zh-CN" sz="19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3767" marB="43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900" b="1" i="1" dirty="0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lang="en-US" altLang="zh-CN" sz="1900" b="1" i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zh-CN" sz="1900" b="1" i="1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CN" sz="1900" b="1" i="0" dirty="0">
                          <a:solidFill>
                            <a:schemeClr val="tx1"/>
                          </a:solidFill>
                        </a:rPr>
                        <a:t>) = </a:t>
                      </a:r>
                      <a:r>
                        <a:rPr lang="en-US" altLang="zh-CN" sz="1900" b="1" i="1" dirty="0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lang="en-US" altLang="zh-CN" sz="19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zh-CN" sz="1900" b="1" i="1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CN" sz="19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zh-CN" sz="1900" b="1" i="1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US" altLang="zh-CN" sz="1900" b="1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zh-CN" altLang="en-US" sz="1900" b="1" dirty="0">
                          <a:solidFill>
                            <a:schemeClr val="tx1"/>
                          </a:solidFill>
                        </a:rPr>
                        <a:t>成立？</a:t>
                      </a:r>
                    </a:p>
                  </a:txBody>
                  <a:tcPr marL="91439" marR="91439" marT="43767" marB="43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900" b="1" i="0" baseline="0" dirty="0">
                          <a:solidFill>
                            <a:schemeClr val="tx1"/>
                          </a:solidFill>
                        </a:rPr>
                        <a:t>向量 </a:t>
                      </a:r>
                      <a:r>
                        <a:rPr lang="en-US" altLang="zh-CN" sz="1900" b="1" i="1" baseline="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zh-CN" altLang="en-US" sz="1900" b="1" i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CN" altLang="en-US" sz="1900" b="1" i="0" baseline="0" dirty="0">
                          <a:solidFill>
                            <a:schemeClr val="tx1"/>
                          </a:solidFill>
                        </a:rPr>
                        <a:t>能否由向量组 </a:t>
                      </a:r>
                      <a:r>
                        <a:rPr lang="en-US" altLang="zh-CN" sz="1900" b="1" i="1" baseline="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zh-CN" altLang="en-US" sz="1900" b="1" i="0" baseline="0" dirty="0">
                          <a:solidFill>
                            <a:schemeClr val="tx1"/>
                          </a:solidFill>
                        </a:rPr>
                        <a:t>线性表示？</a:t>
                      </a:r>
                      <a:endParaRPr lang="zh-CN" altLang="en-US" sz="1900" b="1" i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3767" marB="43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533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900" b="1" dirty="0">
                          <a:solidFill>
                            <a:schemeClr val="tx1"/>
                          </a:solidFill>
                        </a:rPr>
                        <a:t>无解</a:t>
                      </a:r>
                    </a:p>
                  </a:txBody>
                  <a:tcPr marL="91439" marR="91439" marT="43767" marB="43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900" b="1" i="1" dirty="0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lang="en-US" altLang="zh-CN" sz="1900" b="1" i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zh-CN" sz="1900" b="1" i="1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CN" sz="1900" b="1" i="0" dirty="0">
                          <a:solidFill>
                            <a:schemeClr val="tx1"/>
                          </a:solidFill>
                        </a:rPr>
                        <a:t>) &lt; </a:t>
                      </a:r>
                      <a:r>
                        <a:rPr lang="en-US" altLang="zh-CN" sz="1900" b="1" i="1" dirty="0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lang="en-US" altLang="zh-CN" sz="19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zh-CN" sz="1900" b="1" i="1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CN" sz="19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zh-CN" sz="1900" b="1" i="1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US" altLang="zh-CN" sz="1900" b="1" dirty="0">
                          <a:solidFill>
                            <a:schemeClr val="tx1"/>
                          </a:solidFill>
                        </a:rPr>
                        <a:t>) </a:t>
                      </a:r>
                      <a:endParaRPr lang="zh-CN" altLang="en-US" sz="19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3767" marB="43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900" b="1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zh-CN" altLang="en-US" sz="19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3767" marB="43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4514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900" b="1" dirty="0">
                          <a:solidFill>
                            <a:schemeClr val="tx1"/>
                          </a:solidFill>
                        </a:rPr>
                        <a:t>有解</a:t>
                      </a:r>
                    </a:p>
                  </a:txBody>
                  <a:tcPr marL="91439" marR="91439" marT="43767" marB="43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900" b="1" i="1" dirty="0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lang="en-US" altLang="zh-CN" sz="1900" b="1" i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zh-CN" sz="1900" b="1" i="1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CN" sz="1900" b="1" i="0" dirty="0">
                          <a:solidFill>
                            <a:schemeClr val="tx1"/>
                          </a:solidFill>
                        </a:rPr>
                        <a:t>) = </a:t>
                      </a:r>
                      <a:r>
                        <a:rPr lang="en-US" altLang="zh-CN" sz="1900" b="1" i="1" dirty="0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lang="en-US" altLang="zh-CN" sz="19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zh-CN" sz="1900" b="1" i="1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CN" sz="19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zh-CN" sz="1900" b="1" i="1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US" altLang="zh-CN" sz="1900" b="1" dirty="0">
                          <a:solidFill>
                            <a:schemeClr val="tx1"/>
                          </a:solidFill>
                        </a:rPr>
                        <a:t>) </a:t>
                      </a:r>
                      <a:endParaRPr lang="zh-CN" altLang="en-US" sz="19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3767" marB="43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900" b="1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  <a:p>
                      <a:pPr algn="ctr"/>
                      <a:r>
                        <a:rPr lang="en-US" altLang="zh-CN" sz="1700" b="1" i="1" dirty="0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zh-CN" altLang="en-US" sz="1700" b="1" dirty="0">
                          <a:solidFill>
                            <a:srgbClr val="FF0000"/>
                          </a:solidFill>
                        </a:rPr>
                        <a:t> 的分量是线性组合的系数</a:t>
                      </a:r>
                    </a:p>
                  </a:txBody>
                  <a:tcPr marL="91439" marR="91439" marT="43767" marB="43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1091">
                <a:tc>
                  <a:txBody>
                    <a:bodyPr/>
                    <a:lstStyle/>
                    <a:p>
                      <a:pPr algn="ctr"/>
                      <a:endParaRPr lang="zh-CN" altLang="en-US" sz="19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3767" marB="43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b="1" dirty="0">
                          <a:solidFill>
                            <a:schemeClr val="tx1"/>
                          </a:solidFill>
                        </a:rPr>
                        <a:t>唯一解</a:t>
                      </a:r>
                    </a:p>
                  </a:txBody>
                  <a:tcPr marL="91439" marR="91439" marT="43767" marB="43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9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3767" marB="43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900" b="1" i="1" dirty="0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lang="en-US" altLang="zh-CN" sz="1900" b="1" i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zh-CN" sz="1900" b="1" i="1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CN" sz="1900" b="1" i="0" dirty="0">
                          <a:solidFill>
                            <a:schemeClr val="tx1"/>
                          </a:solidFill>
                        </a:rPr>
                        <a:t>) = </a:t>
                      </a:r>
                      <a:r>
                        <a:rPr lang="en-US" altLang="zh-CN" sz="1900" b="1" i="1" dirty="0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lang="en-US" altLang="zh-CN" sz="19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zh-CN" sz="1900" b="1" i="1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CN" sz="19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zh-CN" sz="1900" b="1" i="1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US" altLang="zh-CN" sz="1900" b="1" dirty="0">
                          <a:solidFill>
                            <a:schemeClr val="tx1"/>
                          </a:solidFill>
                        </a:rPr>
                        <a:t>) </a:t>
                      </a:r>
                    </a:p>
                    <a:p>
                      <a:pPr algn="l"/>
                      <a:r>
                        <a:rPr lang="zh-CN" altLang="en-US" sz="1900" b="1" dirty="0">
                          <a:solidFill>
                            <a:schemeClr val="tx1"/>
                          </a:solidFill>
                        </a:rPr>
                        <a:t>         </a:t>
                      </a:r>
                      <a:r>
                        <a:rPr lang="en-US" altLang="zh-CN" sz="1900" b="1" dirty="0">
                          <a:solidFill>
                            <a:schemeClr val="tx1"/>
                          </a:solidFill>
                        </a:rPr>
                        <a:t>=</a:t>
                      </a:r>
                      <a:r>
                        <a:rPr lang="en-US" altLang="zh-CN" sz="1900" b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CN" altLang="en-US" sz="1900" b="1" baseline="0" dirty="0">
                          <a:solidFill>
                            <a:schemeClr val="tx1"/>
                          </a:solidFill>
                        </a:rPr>
                        <a:t>未知数个数</a:t>
                      </a:r>
                      <a:endParaRPr lang="zh-CN" altLang="en-US" sz="19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3767" marB="43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9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3767" marB="43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b="1" dirty="0">
                          <a:solidFill>
                            <a:schemeClr val="tx1"/>
                          </a:solidFill>
                        </a:rPr>
                        <a:t>表达式唯一</a:t>
                      </a:r>
                    </a:p>
                  </a:txBody>
                  <a:tcPr marL="91439" marR="91439" marT="43767" marB="43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1091">
                <a:tc>
                  <a:txBody>
                    <a:bodyPr/>
                    <a:lstStyle/>
                    <a:p>
                      <a:pPr algn="ctr"/>
                      <a:endParaRPr lang="zh-CN" altLang="en-US" sz="19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3767" marB="43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b="1" dirty="0">
                          <a:solidFill>
                            <a:schemeClr val="tx1"/>
                          </a:solidFill>
                        </a:rPr>
                        <a:t>无穷解</a:t>
                      </a:r>
                    </a:p>
                  </a:txBody>
                  <a:tcPr marL="91439" marR="91439" marT="43767" marB="43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9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3767" marB="43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900" b="1" i="1" dirty="0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lang="en-US" altLang="zh-CN" sz="1900" b="1" i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zh-CN" sz="1900" b="1" i="1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CN" sz="1900" b="1" i="0" dirty="0">
                          <a:solidFill>
                            <a:schemeClr val="tx1"/>
                          </a:solidFill>
                        </a:rPr>
                        <a:t>) = </a:t>
                      </a:r>
                      <a:r>
                        <a:rPr lang="en-US" altLang="zh-CN" sz="1900" b="1" i="1" dirty="0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lang="en-US" altLang="zh-CN" sz="19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zh-CN" sz="1900" b="1" i="1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CN" sz="19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zh-CN" sz="1900" b="1" i="1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US" altLang="zh-CN" sz="1900" b="1" dirty="0">
                          <a:solidFill>
                            <a:schemeClr val="tx1"/>
                          </a:solidFill>
                        </a:rPr>
                        <a:t>) </a:t>
                      </a:r>
                    </a:p>
                    <a:p>
                      <a:pPr algn="l"/>
                      <a:r>
                        <a:rPr lang="zh-CN" altLang="en-US" sz="1900" b="1" dirty="0">
                          <a:solidFill>
                            <a:schemeClr val="tx1"/>
                          </a:solidFill>
                        </a:rPr>
                        <a:t>         </a:t>
                      </a:r>
                      <a:r>
                        <a:rPr lang="en-US" altLang="zh-CN" sz="19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altLang="zh-CN" sz="1900" b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CN" altLang="en-US" sz="1900" b="1" baseline="0" dirty="0">
                          <a:solidFill>
                            <a:schemeClr val="tx1"/>
                          </a:solidFill>
                        </a:rPr>
                        <a:t>未知数个数</a:t>
                      </a:r>
                      <a:endParaRPr lang="zh-CN" altLang="en-US" sz="19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3767" marB="43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9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3767" marB="43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b="1" dirty="0">
                          <a:solidFill>
                            <a:schemeClr val="tx1"/>
                          </a:solidFill>
                        </a:rPr>
                        <a:t>表达式不唯一</a:t>
                      </a:r>
                    </a:p>
                  </a:txBody>
                  <a:tcPr marL="91439" marR="91439" marT="43767" marB="437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62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/>
            <a:r>
              <a:rPr kumimoji="1" lang="en-US" altLang="zh-CN" sz="3600">
                <a:solidFill>
                  <a:srgbClr val="CC0099"/>
                </a:solidFill>
                <a:latin typeface="楷体_GB2312" pitchFamily="49" charset="-122"/>
              </a:rPr>
              <a:t>§</a:t>
            </a:r>
            <a:r>
              <a:rPr kumimoji="1" lang="en-US" altLang="zh-CN" sz="3600">
                <a:solidFill>
                  <a:srgbClr val="CC0099"/>
                </a:solidFill>
              </a:rPr>
              <a:t>3</a:t>
            </a:r>
            <a:r>
              <a:rPr kumimoji="1" lang="en-US" altLang="zh-CN" sz="3600">
                <a:solidFill>
                  <a:srgbClr val="CC0099"/>
                </a:solidFill>
                <a:latin typeface="楷体_GB2312" pitchFamily="49" charset="-122"/>
              </a:rPr>
              <a:t>  </a:t>
            </a:r>
            <a:r>
              <a:rPr kumimoji="1" lang="zh-CN" altLang="en-US" sz="3600">
                <a:solidFill>
                  <a:srgbClr val="CC0099"/>
                </a:solidFill>
                <a:latin typeface="楷体_GB2312" pitchFamily="49" charset="-122"/>
              </a:rPr>
              <a:t>向量组的秩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1352266"/>
              </p:ext>
            </p:extLst>
          </p:nvPr>
        </p:nvGraphicFramePr>
        <p:xfrm>
          <a:off x="147638" y="1700808"/>
          <a:ext cx="8848725" cy="36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22" r:id="rId3" imgW="8862840" imgH="3763800" progId="Word.Document.8">
                  <p:embed/>
                </p:oleObj>
              </mc:Choice>
              <mc:Fallback>
                <p:oleObj r:id="rId3" imgW="8862840" imgH="3763800" progId="Word.Document.8">
                  <p:embed/>
                  <p:pic>
                    <p:nvPicPr>
                      <p:cNvPr id="717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8" y="1700808"/>
                        <a:ext cx="8848725" cy="360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932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147638" y="1500188"/>
          <a:ext cx="8848725" cy="2576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46" r:id="rId3" imgW="8862840" imgH="2575080" progId="Word.Document.8">
                  <p:embed/>
                </p:oleObj>
              </mc:Choice>
              <mc:Fallback>
                <p:oleObj r:id="rId3" imgW="8862840" imgH="2575080" progId="Word.Document.8">
                  <p:embed/>
                  <p:pic>
                    <p:nvPicPr>
                      <p:cNvPr id="409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8" y="1500188"/>
                        <a:ext cx="8848725" cy="2576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74567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257200"/>
            <a:ext cx="8229600" cy="1371600"/>
          </a:xfrm>
        </p:spPr>
        <p:txBody>
          <a:bodyPr/>
          <a:lstStyle/>
          <a:p>
            <a:pPr eaLnBrk="1" hangingPunct="1"/>
            <a:r>
              <a:rPr lang="zh-CN" altLang="en-US" dirty="0"/>
              <a:t>最大（极大）无关组和向量组的秩的概念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28775"/>
            <a:ext cx="8229600" cy="4108450"/>
          </a:xfrm>
        </p:spPr>
        <p:txBody>
          <a:bodyPr/>
          <a:lstStyle/>
          <a:p>
            <a:pPr marL="457200" indent="-457200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dirty="0">
                <a:solidFill>
                  <a:srgbClr val="0000FF"/>
                </a:solidFill>
              </a:rPr>
              <a:t>定义：</a:t>
            </a:r>
            <a:r>
              <a:rPr kumimoji="1" lang="zh-CN" altLang="en-US" dirty="0"/>
              <a:t>设有向量组 </a:t>
            </a:r>
            <a:r>
              <a:rPr kumimoji="1" lang="en-US" altLang="zh-CN" i="1" dirty="0"/>
              <a:t>A</a:t>
            </a:r>
            <a:r>
              <a:rPr kumimoji="1" lang="en-US" altLang="zh-CN" dirty="0"/>
              <a:t> </a:t>
            </a:r>
            <a:r>
              <a:rPr kumimoji="1" lang="zh-CN" altLang="en-US" dirty="0"/>
              <a:t>，如果在 </a:t>
            </a:r>
            <a:r>
              <a:rPr kumimoji="1" lang="en-US" altLang="zh-CN" i="1" dirty="0"/>
              <a:t>A</a:t>
            </a:r>
            <a:r>
              <a:rPr kumimoji="1" lang="en-US" altLang="zh-CN" dirty="0"/>
              <a:t> </a:t>
            </a:r>
            <a:r>
              <a:rPr kumimoji="1" lang="zh-CN" altLang="en-US" dirty="0"/>
              <a:t>中能选出 </a:t>
            </a:r>
            <a:r>
              <a:rPr kumimoji="1" lang="en-US" altLang="zh-CN" i="1" dirty="0"/>
              <a:t>r </a:t>
            </a:r>
            <a:r>
              <a:rPr kumimoji="1" lang="zh-CN" altLang="en-US" dirty="0"/>
              <a:t>个向量</a:t>
            </a:r>
            <a:r>
              <a:rPr kumimoji="1" lang="en-US" altLang="zh-CN" i="1" dirty="0"/>
              <a:t>a</a:t>
            </a:r>
            <a:r>
              <a:rPr kumimoji="1" lang="en-US" altLang="zh-CN" baseline="-25000" dirty="0"/>
              <a:t>1</a:t>
            </a:r>
            <a:r>
              <a:rPr kumimoji="1" lang="en-US" altLang="zh-CN" dirty="0"/>
              <a:t>, </a:t>
            </a:r>
            <a:r>
              <a:rPr kumimoji="1" lang="en-US" altLang="zh-CN" i="1" dirty="0"/>
              <a:t>a</a:t>
            </a:r>
            <a:r>
              <a:rPr kumimoji="1" lang="en-US" altLang="zh-CN" baseline="-25000" dirty="0"/>
              <a:t>2</a:t>
            </a:r>
            <a:r>
              <a:rPr kumimoji="1" lang="en-US" altLang="zh-CN" dirty="0"/>
              <a:t>, …,</a:t>
            </a:r>
          </a:p>
          <a:p>
            <a:pPr marL="457200" indent="-457200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dirty="0"/>
              <a:t> </a:t>
            </a:r>
            <a:r>
              <a:rPr kumimoji="1" lang="en-US" altLang="zh-CN" i="1" dirty="0" err="1"/>
              <a:t>a</a:t>
            </a:r>
            <a:r>
              <a:rPr kumimoji="1" lang="en-US" altLang="zh-CN" i="1" baseline="-25000" dirty="0" err="1"/>
              <a:t>r</a:t>
            </a:r>
            <a:r>
              <a:rPr kumimoji="1" lang="zh-CN" altLang="en-US" dirty="0"/>
              <a:t>，满足</a:t>
            </a:r>
          </a:p>
          <a:p>
            <a:pPr marL="457200" indent="-457200" eaLnBrk="1" hangingPunct="1">
              <a:spcBef>
                <a:spcPct val="50000"/>
              </a:spcBef>
              <a:buClr>
                <a:srgbClr val="0000FF"/>
              </a:buClr>
              <a:buSzTx/>
              <a:buFont typeface="Wingdings" pitchFamily="2" charset="2"/>
              <a:buAutoNum type="circleNumDbPlain"/>
            </a:pPr>
            <a:r>
              <a:rPr kumimoji="1" lang="zh-CN" altLang="en-US" dirty="0"/>
              <a:t>向量组 </a:t>
            </a:r>
            <a:r>
              <a:rPr kumimoji="1" lang="en-US" altLang="zh-CN" i="1" dirty="0"/>
              <a:t>A</a:t>
            </a:r>
            <a:r>
              <a:rPr kumimoji="1" lang="en-US" altLang="zh-CN" baseline="-25000" dirty="0"/>
              <a:t>0 </a:t>
            </a:r>
            <a:r>
              <a:rPr kumimoji="1" lang="zh-CN" altLang="en-US" dirty="0"/>
              <a:t>：</a:t>
            </a:r>
            <a:r>
              <a:rPr kumimoji="1" lang="en-US" altLang="zh-CN" i="1" dirty="0"/>
              <a:t>a</a:t>
            </a:r>
            <a:r>
              <a:rPr kumimoji="1" lang="en-US" altLang="zh-CN" baseline="-25000" dirty="0"/>
              <a:t>1</a:t>
            </a:r>
            <a:r>
              <a:rPr kumimoji="1" lang="en-US" altLang="zh-CN" dirty="0"/>
              <a:t>, </a:t>
            </a:r>
            <a:r>
              <a:rPr kumimoji="1" lang="en-US" altLang="zh-CN" i="1" dirty="0"/>
              <a:t>a</a:t>
            </a:r>
            <a:r>
              <a:rPr kumimoji="1" lang="en-US" altLang="zh-CN" baseline="-25000" dirty="0"/>
              <a:t>2</a:t>
            </a:r>
            <a:r>
              <a:rPr kumimoji="1" lang="en-US" altLang="zh-CN" dirty="0"/>
              <a:t>, …, </a:t>
            </a:r>
            <a:r>
              <a:rPr kumimoji="1" lang="en-US" altLang="zh-CN" i="1" dirty="0" err="1"/>
              <a:t>a</a:t>
            </a:r>
            <a:r>
              <a:rPr kumimoji="1" lang="en-US" altLang="zh-CN" i="1" baseline="-25000" dirty="0" err="1"/>
              <a:t>r</a:t>
            </a:r>
            <a:r>
              <a:rPr kumimoji="1" lang="en-US" altLang="zh-CN" i="1" baseline="-25000" dirty="0"/>
              <a:t> </a:t>
            </a:r>
            <a:r>
              <a:rPr kumimoji="1" lang="zh-CN" altLang="en-US" dirty="0"/>
              <a:t>线性无关；</a:t>
            </a:r>
          </a:p>
          <a:p>
            <a:pPr marL="457200" indent="-457200" eaLnBrk="1" hangingPunct="1">
              <a:spcBef>
                <a:spcPct val="50000"/>
              </a:spcBef>
              <a:buClr>
                <a:srgbClr val="0000FF"/>
              </a:buClr>
              <a:buSzTx/>
              <a:buFont typeface="Wingdings" pitchFamily="2" charset="2"/>
              <a:buAutoNum type="circleNumDbPlain"/>
            </a:pPr>
            <a:r>
              <a:rPr kumimoji="1" lang="zh-CN" altLang="en-US" dirty="0"/>
              <a:t>向量组 </a:t>
            </a:r>
            <a:r>
              <a:rPr kumimoji="1" lang="en-US" altLang="zh-CN" i="1" dirty="0"/>
              <a:t>A</a:t>
            </a:r>
            <a:r>
              <a:rPr kumimoji="1" lang="en-US" altLang="zh-CN" dirty="0"/>
              <a:t> </a:t>
            </a:r>
            <a:r>
              <a:rPr kumimoji="1" lang="zh-CN" altLang="en-US" dirty="0"/>
              <a:t>中任意 </a:t>
            </a:r>
            <a:r>
              <a:rPr kumimoji="1" lang="en-US" altLang="zh-CN" i="1" dirty="0"/>
              <a:t>r </a:t>
            </a:r>
            <a:r>
              <a:rPr kumimoji="1" lang="en-US" altLang="zh-CN" dirty="0"/>
              <a:t>+ 1</a:t>
            </a:r>
            <a:r>
              <a:rPr kumimoji="1" lang="zh-CN" altLang="en-US" dirty="0"/>
              <a:t>个向量（如果 </a:t>
            </a:r>
            <a:r>
              <a:rPr kumimoji="1" lang="en-US" altLang="zh-CN" i="1" dirty="0"/>
              <a:t>A</a:t>
            </a:r>
            <a:r>
              <a:rPr kumimoji="1" lang="en-US" altLang="zh-CN" dirty="0"/>
              <a:t> </a:t>
            </a:r>
            <a:r>
              <a:rPr kumimoji="1" lang="zh-CN" altLang="en-US" dirty="0"/>
              <a:t>中有</a:t>
            </a:r>
            <a:r>
              <a:rPr kumimoji="1" lang="en-US" altLang="zh-CN" i="1" dirty="0"/>
              <a:t>r </a:t>
            </a:r>
            <a:r>
              <a:rPr kumimoji="1" lang="en-US" altLang="zh-CN" dirty="0"/>
              <a:t>+ 1</a:t>
            </a:r>
            <a:r>
              <a:rPr kumimoji="1" lang="zh-CN" altLang="en-US" dirty="0"/>
              <a:t>个向量的话）都线性相关；</a:t>
            </a:r>
          </a:p>
          <a:p>
            <a:pPr marL="457200" indent="-457200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dirty="0"/>
              <a:t>那么称向量组 </a:t>
            </a:r>
            <a:r>
              <a:rPr kumimoji="1" lang="en-US" altLang="zh-CN" i="1" dirty="0"/>
              <a:t>A</a:t>
            </a:r>
            <a:r>
              <a:rPr kumimoji="1" lang="en-US" altLang="zh-CN" baseline="-25000" dirty="0"/>
              <a:t>0 </a:t>
            </a:r>
            <a:r>
              <a:rPr kumimoji="1" lang="zh-CN" altLang="en-US" dirty="0"/>
              <a:t>是向量组 </a:t>
            </a:r>
            <a:r>
              <a:rPr kumimoji="1" lang="en-US" altLang="zh-CN" i="1" dirty="0"/>
              <a:t>A</a:t>
            </a:r>
            <a:r>
              <a:rPr kumimoji="1" lang="en-US" altLang="zh-CN" dirty="0"/>
              <a:t> </a:t>
            </a:r>
            <a:r>
              <a:rPr kumimoji="1" lang="zh-CN" altLang="en-US" dirty="0"/>
              <a:t>的一个</a:t>
            </a:r>
            <a:r>
              <a:rPr kumimoji="1" lang="zh-CN" altLang="en-US" dirty="0">
                <a:solidFill>
                  <a:srgbClr val="FF0000"/>
                </a:solidFill>
              </a:rPr>
              <a:t>最大（极大）线性无关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pPr marL="457200" indent="-457200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dirty="0">
                <a:solidFill>
                  <a:srgbClr val="FF0000"/>
                </a:solidFill>
              </a:rPr>
              <a:t>向量组</a:t>
            </a:r>
            <a:r>
              <a:rPr kumimoji="1" lang="zh-CN" altLang="en-US" dirty="0"/>
              <a:t>，简称</a:t>
            </a:r>
            <a:r>
              <a:rPr kumimoji="1" lang="zh-CN" altLang="en-US" dirty="0">
                <a:solidFill>
                  <a:srgbClr val="FF0000"/>
                </a:solidFill>
              </a:rPr>
              <a:t>最大（极大）无关组</a:t>
            </a:r>
            <a:r>
              <a:rPr kumimoji="1" lang="zh-CN" altLang="en-US" dirty="0"/>
              <a:t>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最大无关组的等价定义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57200" y="1340768"/>
            <a:ext cx="8229600" cy="3600986"/>
          </a:xfrm>
        </p:spPr>
        <p:txBody>
          <a:bodyPr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dirty="0">
                <a:solidFill>
                  <a:srgbClr val="0000FF"/>
                </a:solidFill>
              </a:rPr>
              <a:t>定义：</a:t>
            </a:r>
            <a:r>
              <a:rPr kumimoji="1" lang="zh-CN" altLang="en-US" dirty="0"/>
              <a:t>设有向量组 </a:t>
            </a:r>
            <a:r>
              <a:rPr kumimoji="1" lang="en-US" altLang="zh-CN" i="1" dirty="0"/>
              <a:t>A</a:t>
            </a:r>
            <a:r>
              <a:rPr kumimoji="1" lang="en-US" altLang="zh-CN" dirty="0"/>
              <a:t> </a:t>
            </a:r>
            <a:r>
              <a:rPr kumimoji="1" lang="zh-CN" altLang="en-US" dirty="0"/>
              <a:t>，如果在 </a:t>
            </a:r>
            <a:r>
              <a:rPr kumimoji="1" lang="en-US" altLang="zh-CN" i="1" dirty="0"/>
              <a:t>A</a:t>
            </a:r>
            <a:r>
              <a:rPr kumimoji="1" lang="en-US" altLang="zh-CN" dirty="0"/>
              <a:t> </a:t>
            </a:r>
            <a:r>
              <a:rPr kumimoji="1" lang="zh-CN" altLang="en-US" dirty="0"/>
              <a:t>中能选出 </a:t>
            </a:r>
            <a:r>
              <a:rPr kumimoji="1" lang="en-US" altLang="zh-CN" i="1" dirty="0"/>
              <a:t>r </a:t>
            </a:r>
            <a:r>
              <a:rPr kumimoji="1" lang="zh-CN" altLang="en-US" dirty="0"/>
              <a:t>个向量</a:t>
            </a:r>
            <a:r>
              <a:rPr kumimoji="1" lang="en-US" altLang="zh-CN" i="1" dirty="0"/>
              <a:t>a</a:t>
            </a:r>
            <a:r>
              <a:rPr kumimoji="1" lang="en-US" altLang="zh-CN" baseline="-25000" dirty="0"/>
              <a:t>1</a:t>
            </a:r>
            <a:r>
              <a:rPr kumimoji="1" lang="en-US" altLang="zh-CN" dirty="0"/>
              <a:t>, </a:t>
            </a:r>
            <a:r>
              <a:rPr kumimoji="1" lang="en-US" altLang="zh-CN" i="1" dirty="0"/>
              <a:t>a</a:t>
            </a:r>
            <a:r>
              <a:rPr kumimoji="1" lang="en-US" altLang="zh-CN" baseline="-25000" dirty="0"/>
              <a:t>2</a:t>
            </a:r>
            <a:r>
              <a:rPr kumimoji="1" lang="en-US" altLang="zh-CN" dirty="0"/>
              <a:t>, …,</a:t>
            </a:r>
          </a:p>
          <a:p>
            <a:pPr marL="457200" indent="-457200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dirty="0"/>
              <a:t> </a:t>
            </a:r>
            <a:r>
              <a:rPr kumimoji="1" lang="en-US" altLang="zh-CN" i="1" dirty="0" err="1"/>
              <a:t>a</a:t>
            </a:r>
            <a:r>
              <a:rPr kumimoji="1" lang="en-US" altLang="zh-CN" i="1" baseline="-25000" dirty="0" err="1"/>
              <a:t>r</a:t>
            </a:r>
            <a:r>
              <a:rPr kumimoji="1" lang="zh-CN" altLang="en-US" dirty="0"/>
              <a:t>，满足</a:t>
            </a:r>
          </a:p>
          <a:p>
            <a:pPr marL="457200" indent="-457200" eaLnBrk="1" hangingPunct="1">
              <a:spcBef>
                <a:spcPct val="50000"/>
              </a:spcBef>
              <a:buClr>
                <a:srgbClr val="0000FF"/>
              </a:buClr>
              <a:buSzTx/>
              <a:buFont typeface="Wingdings" pitchFamily="2" charset="2"/>
              <a:buAutoNum type="circleNumDbPlain"/>
            </a:pPr>
            <a:r>
              <a:rPr kumimoji="1" lang="zh-CN" altLang="en-US" dirty="0"/>
              <a:t>向量组 </a:t>
            </a:r>
            <a:r>
              <a:rPr kumimoji="1" lang="en-US" altLang="zh-CN" i="1" dirty="0"/>
              <a:t>A</a:t>
            </a:r>
            <a:r>
              <a:rPr kumimoji="1" lang="en-US" altLang="zh-CN" baseline="-25000" dirty="0"/>
              <a:t>0 </a:t>
            </a:r>
            <a:r>
              <a:rPr kumimoji="1" lang="zh-CN" altLang="en-US" dirty="0"/>
              <a:t>：</a:t>
            </a:r>
            <a:r>
              <a:rPr kumimoji="1" lang="en-US" altLang="zh-CN" i="1" dirty="0"/>
              <a:t>a</a:t>
            </a:r>
            <a:r>
              <a:rPr kumimoji="1" lang="en-US" altLang="zh-CN" baseline="-25000" dirty="0"/>
              <a:t>1</a:t>
            </a:r>
            <a:r>
              <a:rPr kumimoji="1" lang="en-US" altLang="zh-CN" dirty="0"/>
              <a:t>, </a:t>
            </a:r>
            <a:r>
              <a:rPr kumimoji="1" lang="en-US" altLang="zh-CN" i="1" dirty="0"/>
              <a:t>a</a:t>
            </a:r>
            <a:r>
              <a:rPr kumimoji="1" lang="en-US" altLang="zh-CN" baseline="-25000" dirty="0"/>
              <a:t>2</a:t>
            </a:r>
            <a:r>
              <a:rPr kumimoji="1" lang="en-US" altLang="zh-CN" dirty="0"/>
              <a:t>, …, </a:t>
            </a:r>
            <a:r>
              <a:rPr kumimoji="1" lang="en-US" altLang="zh-CN" i="1" dirty="0" err="1"/>
              <a:t>a</a:t>
            </a:r>
            <a:r>
              <a:rPr kumimoji="1" lang="en-US" altLang="zh-CN" i="1" baseline="-25000" dirty="0" err="1"/>
              <a:t>r</a:t>
            </a:r>
            <a:r>
              <a:rPr kumimoji="1" lang="en-US" altLang="zh-CN" i="1" baseline="-25000" dirty="0"/>
              <a:t> </a:t>
            </a:r>
            <a:r>
              <a:rPr kumimoji="1" lang="zh-CN" altLang="en-US" dirty="0"/>
              <a:t>线性无关；</a:t>
            </a:r>
          </a:p>
          <a:p>
            <a:pPr marL="457200" indent="-457200" eaLnBrk="1" hangingPunct="1">
              <a:spcBef>
                <a:spcPct val="50000"/>
              </a:spcBef>
              <a:buClr>
                <a:srgbClr val="0000FF"/>
              </a:buClr>
              <a:buSzTx/>
              <a:buFont typeface="Wingdings" pitchFamily="2" charset="2"/>
              <a:buAutoNum type="circleNumDbPlain"/>
            </a:pPr>
            <a:r>
              <a:rPr kumimoji="1" lang="zh-CN" altLang="en-US" dirty="0"/>
              <a:t>向量组 </a:t>
            </a:r>
            <a:r>
              <a:rPr kumimoji="1" lang="en-US" altLang="zh-CN" i="1" dirty="0"/>
              <a:t>A</a:t>
            </a:r>
            <a:r>
              <a:rPr kumimoji="1" lang="en-US" altLang="zh-CN" dirty="0"/>
              <a:t> </a:t>
            </a:r>
            <a:r>
              <a:rPr kumimoji="1" lang="zh-CN" altLang="en-US" dirty="0"/>
              <a:t>中任意 </a:t>
            </a:r>
            <a:r>
              <a:rPr kumimoji="1" lang="en-US" altLang="zh-CN" i="1" dirty="0"/>
              <a:t>r </a:t>
            </a:r>
            <a:r>
              <a:rPr kumimoji="1" lang="en-US" altLang="zh-CN" dirty="0"/>
              <a:t>+ 1</a:t>
            </a:r>
            <a:r>
              <a:rPr kumimoji="1" lang="zh-CN" altLang="en-US" dirty="0"/>
              <a:t>个向量（如果 </a:t>
            </a:r>
            <a:r>
              <a:rPr kumimoji="1" lang="en-US" altLang="zh-CN" i="1" dirty="0"/>
              <a:t>A</a:t>
            </a:r>
            <a:r>
              <a:rPr kumimoji="1" lang="en-US" altLang="zh-CN" dirty="0"/>
              <a:t> </a:t>
            </a:r>
            <a:r>
              <a:rPr kumimoji="1" lang="zh-CN" altLang="en-US" dirty="0"/>
              <a:t>中有 </a:t>
            </a:r>
            <a:r>
              <a:rPr kumimoji="1" lang="en-US" altLang="zh-CN" i="1" dirty="0"/>
              <a:t>r </a:t>
            </a:r>
            <a:r>
              <a:rPr kumimoji="1" lang="en-US" altLang="zh-CN" dirty="0"/>
              <a:t>+ 1</a:t>
            </a:r>
            <a:r>
              <a:rPr kumimoji="1" lang="zh-CN" altLang="en-US" dirty="0"/>
              <a:t>个向量的话）都线性相关；</a:t>
            </a:r>
            <a:endParaRPr kumimoji="1" lang="en-US" altLang="zh-CN" dirty="0"/>
          </a:p>
          <a:p>
            <a:pPr marL="457200" indent="-457200" eaLnBrk="1" hangingPunct="1">
              <a:spcBef>
                <a:spcPct val="50000"/>
              </a:spcBef>
              <a:buClr>
                <a:srgbClr val="FF0000"/>
              </a:buClr>
              <a:buSzTx/>
              <a:buFont typeface="楷体_GB2312" pitchFamily="49" charset="-122"/>
              <a:buAutoNum type="circleNumDbPlain" startAt="2"/>
            </a:pPr>
            <a:r>
              <a:rPr kumimoji="1" lang="zh-CN" altLang="en-US" dirty="0">
                <a:solidFill>
                  <a:srgbClr val="008000"/>
                </a:solidFill>
              </a:rPr>
              <a:t>向量组 </a:t>
            </a:r>
            <a:r>
              <a:rPr kumimoji="1" lang="en-US" altLang="zh-CN" i="1" dirty="0">
                <a:solidFill>
                  <a:srgbClr val="008000"/>
                </a:solidFill>
              </a:rPr>
              <a:t>A</a:t>
            </a:r>
            <a:r>
              <a:rPr kumimoji="1" lang="en-US" altLang="zh-CN" dirty="0">
                <a:solidFill>
                  <a:srgbClr val="008000"/>
                </a:solidFill>
              </a:rPr>
              <a:t> </a:t>
            </a:r>
            <a:r>
              <a:rPr kumimoji="1" lang="zh-CN" altLang="en-US" dirty="0">
                <a:solidFill>
                  <a:srgbClr val="008000"/>
                </a:solidFill>
              </a:rPr>
              <a:t>中任意一个向量都能由向量组 </a:t>
            </a:r>
            <a:r>
              <a:rPr kumimoji="1" lang="en-US" altLang="zh-CN" i="1" dirty="0">
                <a:solidFill>
                  <a:srgbClr val="008000"/>
                </a:solidFill>
              </a:rPr>
              <a:t>A</a:t>
            </a:r>
            <a:r>
              <a:rPr kumimoji="1" lang="en-US" altLang="zh-CN" baseline="-25000" dirty="0">
                <a:solidFill>
                  <a:srgbClr val="008000"/>
                </a:solidFill>
              </a:rPr>
              <a:t>0</a:t>
            </a:r>
            <a:r>
              <a:rPr kumimoji="1" lang="en-US" altLang="zh-CN" dirty="0">
                <a:solidFill>
                  <a:srgbClr val="008000"/>
                </a:solidFill>
              </a:rPr>
              <a:t> </a:t>
            </a:r>
            <a:r>
              <a:rPr kumimoji="1" lang="zh-CN" altLang="en-US" dirty="0">
                <a:solidFill>
                  <a:srgbClr val="008000"/>
                </a:solidFill>
              </a:rPr>
              <a:t>线性表示；</a:t>
            </a:r>
          </a:p>
          <a:p>
            <a:pPr marL="457200" indent="-457200" eaLnBrk="1" hangingPunct="1">
              <a:spcBef>
                <a:spcPct val="50000"/>
              </a:spcBef>
              <a:buClr>
                <a:srgbClr val="0000FF"/>
              </a:buClr>
              <a:buSzTx/>
              <a:buFont typeface="Wingdings" pitchFamily="2" charset="2"/>
              <a:buNone/>
            </a:pPr>
            <a:r>
              <a:rPr kumimoji="1" lang="zh-CN" altLang="en-US" dirty="0"/>
              <a:t>那么称向量组 </a:t>
            </a:r>
            <a:r>
              <a:rPr kumimoji="1" lang="en-US" altLang="zh-CN" i="1" dirty="0"/>
              <a:t>A</a:t>
            </a:r>
            <a:r>
              <a:rPr kumimoji="1" lang="en-US" altLang="zh-CN" baseline="-25000" dirty="0"/>
              <a:t>0 </a:t>
            </a:r>
            <a:r>
              <a:rPr kumimoji="1" lang="zh-CN" altLang="en-US" dirty="0"/>
              <a:t>是向量组 </a:t>
            </a:r>
            <a:r>
              <a:rPr kumimoji="1" lang="en-US" altLang="zh-CN" i="1" dirty="0"/>
              <a:t>A</a:t>
            </a:r>
            <a:r>
              <a:rPr kumimoji="1" lang="en-US" altLang="zh-CN" dirty="0"/>
              <a:t> </a:t>
            </a:r>
            <a:r>
              <a:rPr kumimoji="1" lang="zh-CN" altLang="en-US" dirty="0"/>
              <a:t>的一个</a:t>
            </a:r>
            <a:r>
              <a:rPr kumimoji="1" lang="zh-CN" altLang="en-US" dirty="0">
                <a:solidFill>
                  <a:srgbClr val="FF0000"/>
                </a:solidFill>
              </a:rPr>
              <a:t>最大无关组</a:t>
            </a:r>
            <a:r>
              <a:rPr kumimoji="1" lang="zh-CN" altLang="en-US" dirty="0"/>
              <a:t>．</a:t>
            </a: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440429" y="5111977"/>
            <a:ext cx="828784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最大无关组所含向量个数 </a:t>
            </a:r>
            <a:r>
              <a:rPr kumimoji="1" lang="en-US" altLang="zh-CN" sz="2400" b="1" i="1" dirty="0"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称为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向量组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kumimoji="1"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的秩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，记作</a:t>
            </a:r>
            <a:r>
              <a:rPr kumimoji="1" lang="en-US" altLang="zh-CN" sz="2400" b="1" i="1" dirty="0"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kumimoji="1" lang="en-US" altLang="zh-CN" sz="2400" b="1" i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A 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endParaRPr kumimoji="1"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/>
            <a:endParaRPr kumimoji="1"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57200" y="5800476"/>
            <a:ext cx="58429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+mn-lt"/>
                <a:ea typeface="+mn-ea"/>
              </a:rPr>
              <a:t>规定：</a:t>
            </a:r>
            <a:r>
              <a:rPr kumimoji="1" lang="zh-CN" altLang="en-US" sz="2400" b="1" dirty="0">
                <a:latin typeface="+mn-lt"/>
                <a:ea typeface="+mn-ea"/>
              </a:rPr>
              <a:t>单独零向量构成的向量组的秩为</a:t>
            </a:r>
            <a:r>
              <a:rPr kumimoji="1" lang="en-US" altLang="zh-CN" sz="2400" b="1" dirty="0">
                <a:latin typeface="+mn-lt"/>
                <a:ea typeface="+mn-ea"/>
              </a:rPr>
              <a:t>0.</a:t>
            </a:r>
          </a:p>
        </p:txBody>
      </p:sp>
    </p:spTree>
    <p:extLst>
      <p:ext uri="{BB962C8B-B14F-4D97-AF65-F5344CB8AC3E}">
        <p14:creationId xmlns:p14="http://schemas.microsoft.com/office/powerpoint/2010/main" val="2335975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53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532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532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532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532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532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40" dur="2000"/>
                                        <p:tgtEl>
                                          <p:spTgt spid="532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32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3" grpId="0"/>
      <p:bldP spid="53254" grpId="0" build="p"/>
      <p:bldP spid="8" grpId="0" autoUpdateAnimBg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395536" y="1556792"/>
            <a:ext cx="8432801" cy="1008062"/>
            <a:chOff x="0" y="0"/>
            <a:chExt cx="5312" cy="635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0" y="0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rgbClr val="6600FF"/>
                  </a:solidFill>
                </a:rPr>
                <a:t>例</a:t>
              </a:r>
            </a:p>
          </p:txBody>
        </p:sp>
        <p:graphicFrame>
          <p:nvGraphicFramePr>
            <p:cNvPr id="6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4586211"/>
                </p:ext>
              </p:extLst>
            </p:nvPr>
          </p:nvGraphicFramePr>
          <p:xfrm>
            <a:off x="474" y="10"/>
            <a:ext cx="4838" cy="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6229" name="Equation" r:id="rId3" imgW="3733560" imgH="482400" progId="Equation.DSMT4">
                    <p:embed/>
                  </p:oleObj>
                </mc:Choice>
                <mc:Fallback>
                  <p:oleObj name="Equation" r:id="rId3" imgW="3733560" imgH="482400" progId="Equation.DSMT4">
                    <p:embed/>
                    <p:pic>
                      <p:nvPicPr>
                        <p:cNvPr id="6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" y="10"/>
                          <a:ext cx="4838" cy="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315598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2" name="Text Box 4"/>
          <p:cNvSpPr txBox="1">
            <a:spLocks noChangeArrowheads="1"/>
          </p:cNvSpPr>
          <p:nvPr/>
        </p:nvSpPr>
        <p:spPr bwMode="auto">
          <a:xfrm>
            <a:off x="455613" y="455613"/>
            <a:ext cx="8364537" cy="100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例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8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全体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维向量构成的向量组记作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i="1" baseline="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，求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i="1" baseline="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的一个最大</a:t>
            </a:r>
          </a:p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无关组及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i="1" baseline="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的秩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  <p:sp>
        <p:nvSpPr>
          <p:cNvPr id="68613" name="Text Box 5"/>
          <p:cNvSpPr txBox="1">
            <a:spLocks noChangeArrowheads="1"/>
          </p:cNvSpPr>
          <p:nvPr/>
        </p:nvSpPr>
        <p:spPr bwMode="auto">
          <a:xfrm>
            <a:off x="455613" y="2122488"/>
            <a:ext cx="8364537" cy="432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解：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阶单位矩阵                                                             的列向</a:t>
            </a:r>
          </a:p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40000"/>
              </a:lnSpc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量组是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i="1" baseline="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的一个最大无关组，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i="1" baseline="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的秩等于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  <a:p>
            <a:pPr>
              <a:lnSpc>
                <a:spcPct val="130000"/>
              </a:lnSpc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30000"/>
              </a:lnSpc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思考：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上三角形矩阵                                 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的列向量组是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en-US" altLang="zh-CN" sz="2400" b="1" i="1" baseline="300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n 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</a:t>
            </a:r>
          </a:p>
          <a:p>
            <a:pPr>
              <a:lnSpc>
                <a:spcPct val="130000"/>
              </a:lnSpc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30000"/>
              </a:lnSpc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一个最大无关组吗？</a:t>
            </a:r>
          </a:p>
        </p:txBody>
      </p:sp>
      <p:graphicFrame>
        <p:nvGraphicFramePr>
          <p:cNvPr id="68614" name="Object 6"/>
          <p:cNvGraphicFramePr>
            <a:graphicFrameLocks noChangeAspect="1"/>
          </p:cNvGraphicFramePr>
          <p:nvPr/>
        </p:nvGraphicFramePr>
        <p:xfrm>
          <a:off x="3059113" y="1431925"/>
          <a:ext cx="4498975" cy="185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16" name="Equation" r:id="rId3" imgW="2247900" imgH="927100" progId="">
                  <p:embed/>
                </p:oleObj>
              </mc:Choice>
              <mc:Fallback>
                <p:oleObj name="Equation" r:id="rId3" imgW="2247900" imgH="927100" progId="">
                  <p:embed/>
                  <p:pic>
                    <p:nvPicPr>
                      <p:cNvPr id="6861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1431925"/>
                        <a:ext cx="4498975" cy="185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5" name="Object 7"/>
          <p:cNvGraphicFramePr>
            <a:graphicFrameLocks noChangeAspect="1"/>
          </p:cNvGraphicFramePr>
          <p:nvPr/>
        </p:nvGraphicFramePr>
        <p:xfrm>
          <a:off x="3333750" y="3995738"/>
          <a:ext cx="2490788" cy="185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17" name="Equation" r:id="rId5" imgW="1244600" imgH="927100" progId="">
                  <p:embed/>
                </p:oleObj>
              </mc:Choice>
              <mc:Fallback>
                <p:oleObj name="Equation" r:id="rId5" imgW="1244600" imgH="927100" progId="">
                  <p:embed/>
                  <p:pic>
                    <p:nvPicPr>
                      <p:cNvPr id="6861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3750" y="3995738"/>
                        <a:ext cx="2490788" cy="185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68682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8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686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686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686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6" name="Text Box 2"/>
          <p:cNvSpPr txBox="1">
            <a:spLocks noChangeArrowheads="1"/>
          </p:cNvSpPr>
          <p:nvPr/>
        </p:nvSpPr>
        <p:spPr bwMode="auto">
          <a:xfrm>
            <a:off x="455613" y="954088"/>
            <a:ext cx="8231187" cy="367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例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9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：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设齐次线性方程组</a:t>
            </a:r>
            <a:endParaRPr kumimoji="1" lang="en-US" altLang="zh-CN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                                           </a:t>
            </a:r>
            <a:endParaRPr kumimoji="1" lang="en-US" altLang="zh-CN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endParaRPr kumimoji="1" lang="en-US" altLang="zh-CN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endParaRPr kumimoji="1" lang="en-US" altLang="zh-CN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endParaRPr kumimoji="1" lang="en-US" altLang="zh-CN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endParaRPr kumimoji="1" lang="en-US" altLang="zh-CN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50000"/>
              </a:spcBef>
              <a:buClr>
                <a:srgbClr val="9999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     试求全体解向量构成的向量组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S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的秩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</a:p>
        </p:txBody>
      </p:sp>
      <p:graphicFrame>
        <p:nvGraphicFramePr>
          <p:cNvPr id="2795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2610003"/>
              </p:ext>
            </p:extLst>
          </p:nvPr>
        </p:nvGraphicFramePr>
        <p:xfrm>
          <a:off x="2195736" y="1988840"/>
          <a:ext cx="3198813" cy="1420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98" name="Equation" r:id="rId3" imgW="1600200" imgH="711200" progId="">
                  <p:embed/>
                </p:oleObj>
              </mc:Choice>
              <mc:Fallback>
                <p:oleObj name="Equation" r:id="rId3" imgW="1600200" imgH="711200" progId="">
                  <p:embed/>
                  <p:pic>
                    <p:nvPicPr>
                      <p:cNvPr id="27955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1988840"/>
                        <a:ext cx="3198813" cy="1420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9022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107950" y="2205038"/>
            <a:ext cx="89050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rPr>
              <a:t>④</a:t>
            </a: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　一个向量组的任两个最大无关组所含向量个数相同</a:t>
            </a:r>
            <a:r>
              <a:rPr lang="en-US" altLang="zh-CN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129124" y="612775"/>
            <a:ext cx="675056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/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①　一个向量组的最大无关组不是唯一的</a:t>
            </a:r>
            <a:r>
              <a:rPr lang="en-US" altLang="zh-CN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124410" y="2781300"/>
            <a:ext cx="854593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/>
            <a:r>
              <a:rPr lang="zh-CN" altLang="en-US" b="1" dirty="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rPr>
              <a:t>⑤</a:t>
            </a: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　一个线性无关的向量组的最大无关组就是其自身</a:t>
            </a:r>
            <a:r>
              <a:rPr lang="en-US" altLang="zh-CN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107950" y="1700213"/>
            <a:ext cx="75072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/>
            <a:r>
              <a:rPr lang="zh-CN" altLang="en-US" b="1" dirty="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rPr>
              <a:t>③</a:t>
            </a: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　一个向量组的任意两个最大无关组都等价</a:t>
            </a:r>
            <a:r>
              <a:rPr lang="en-US" altLang="zh-CN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130090" y="3785913"/>
            <a:ext cx="834715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marL="514350" indent="-514350" eaLnBrk="1" hangingPunct="1">
              <a:buAutoNum type="circleNumDbPlain" startAt="7"/>
            </a:pP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单独一个零向量构成的向量组不存在最大无关组</a:t>
            </a:r>
            <a:r>
              <a:rPr lang="en-US" altLang="zh-CN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  <a:p>
            <a:pPr eaLnBrk="1" hangingPunct="1"/>
            <a:r>
              <a:rPr lang="en-US" altLang="zh-CN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规定</a:t>
            </a:r>
            <a:r>
              <a:rPr lang="en-US" altLang="zh-CN" b="1" i="1" dirty="0">
                <a:solidFill>
                  <a:schemeClr val="tx2"/>
                </a:solidFill>
                <a:ea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(0)=0</a:t>
            </a:r>
          </a:p>
        </p:txBody>
      </p:sp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99655" y="4720856"/>
            <a:ext cx="63914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⑧　任何非零向量组必存在最大无关组</a:t>
            </a:r>
            <a:r>
              <a:rPr lang="en-US" altLang="zh-CN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endParaRPr lang="zh-CN" altLang="en-US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6152" name="Group 8"/>
          <p:cNvGrpSpPr>
            <a:grpSpLocks/>
          </p:cNvGrpSpPr>
          <p:nvPr/>
        </p:nvGrpSpPr>
        <p:grpSpPr bwMode="auto">
          <a:xfrm>
            <a:off x="107950" y="5229200"/>
            <a:ext cx="8756650" cy="519113"/>
            <a:chOff x="0" y="0"/>
            <a:chExt cx="5516" cy="327"/>
          </a:xfrm>
        </p:grpSpPr>
        <p:sp>
          <p:nvSpPr>
            <p:cNvPr id="7187" name="Text Box 9"/>
            <p:cNvSpPr txBox="1">
              <a:spLocks noChangeArrowheads="1"/>
            </p:cNvSpPr>
            <p:nvPr/>
          </p:nvSpPr>
          <p:spPr bwMode="auto">
            <a:xfrm>
              <a:off x="0" y="0"/>
              <a:ext cx="55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⑨　任何</a:t>
              </a:r>
              <a:r>
                <a:rPr lang="zh-CN" altLang="en-US" b="1" dirty="0">
                  <a:solidFill>
                    <a:schemeClr val="tx2"/>
                  </a:solidFill>
                  <a:latin typeface="+mn-lt"/>
                  <a:ea typeface="楷体_GB2312" pitchFamily="49" charset="-122"/>
                </a:rPr>
                <a:t>ｎ</a:t>
              </a:r>
              <a:r>
                <a:rPr lang="zh-CN" altLang="en-US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维向量组　　　　　如果线性无关，那么它</a:t>
              </a:r>
            </a:p>
          </p:txBody>
        </p:sp>
        <p:graphicFrame>
          <p:nvGraphicFramePr>
            <p:cNvPr id="7188" name="Object 10"/>
            <p:cNvGraphicFramePr>
              <a:graphicFrameLocks noChangeAspect="1"/>
            </p:cNvGraphicFramePr>
            <p:nvPr/>
          </p:nvGraphicFramePr>
          <p:xfrm>
            <a:off x="2082" y="45"/>
            <a:ext cx="112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355" r:id="rId4" imgW="1778000" imgH="431800" progId="Equation.DSMT4">
                    <p:embed/>
                  </p:oleObj>
                </mc:Choice>
                <mc:Fallback>
                  <p:oleObj r:id="rId4" imgW="1778000" imgH="431800" progId="Equation.DSMT4">
                    <p:embed/>
                    <p:pic>
                      <p:nvPicPr>
                        <p:cNvPr id="7188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2" y="45"/>
                          <a:ext cx="112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>
                                  <a:alpha val="50195"/>
                                </a:scheme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55" name="Group 11"/>
          <p:cNvGrpSpPr>
            <a:grpSpLocks/>
          </p:cNvGrpSpPr>
          <p:nvPr/>
        </p:nvGrpSpPr>
        <p:grpSpPr bwMode="auto">
          <a:xfrm>
            <a:off x="881063" y="5733256"/>
            <a:ext cx="3878262" cy="523876"/>
            <a:chOff x="18" y="0"/>
            <a:chExt cx="2443" cy="330"/>
          </a:xfrm>
        </p:grpSpPr>
        <p:sp>
          <p:nvSpPr>
            <p:cNvPr id="7185" name="Rectangle 12"/>
            <p:cNvSpPr>
              <a:spLocks noChangeArrowheads="1"/>
            </p:cNvSpPr>
            <p:nvPr/>
          </p:nvSpPr>
          <p:spPr bwMode="auto">
            <a:xfrm>
              <a:off x="18" y="0"/>
              <a:ext cx="24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/>
              <a:r>
                <a:rPr lang="zh-CN" altLang="en-US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就是　中的最大无关组</a:t>
              </a:r>
              <a:r>
                <a:rPr lang="en-US" altLang="zh-CN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7186" name="Object 13"/>
            <p:cNvGraphicFramePr>
              <a:graphicFrameLocks noChangeAspect="1"/>
            </p:cNvGraphicFramePr>
            <p:nvPr/>
          </p:nvGraphicFramePr>
          <p:xfrm>
            <a:off x="499" y="46"/>
            <a:ext cx="27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356" r:id="rId6" imgW="431987" imgH="381165" progId="Equation.DSMT4">
                    <p:embed/>
                  </p:oleObj>
                </mc:Choice>
                <mc:Fallback>
                  <p:oleObj r:id="rId6" imgW="431987" imgH="381165" progId="Equation.DSMT4">
                    <p:embed/>
                    <p:pic>
                      <p:nvPicPr>
                        <p:cNvPr id="7186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" y="46"/>
                          <a:ext cx="27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>
                                  <a:alpha val="50195"/>
                                </a:scheme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58" name="Group 14"/>
          <p:cNvGrpSpPr>
            <a:grpSpLocks/>
          </p:cNvGrpSpPr>
          <p:nvPr/>
        </p:nvGrpSpPr>
        <p:grpSpPr bwMode="auto">
          <a:xfrm>
            <a:off x="107950" y="6165304"/>
            <a:ext cx="8653463" cy="523874"/>
            <a:chOff x="0" y="0"/>
            <a:chExt cx="5451" cy="330"/>
          </a:xfrm>
        </p:grpSpPr>
        <p:sp>
          <p:nvSpPr>
            <p:cNvPr id="7182" name="Text Box 15"/>
            <p:cNvSpPr txBox="1">
              <a:spLocks noChangeArrowheads="1"/>
            </p:cNvSpPr>
            <p:nvPr/>
          </p:nvSpPr>
          <p:spPr bwMode="auto">
            <a:xfrm>
              <a:off x="0" y="0"/>
              <a:ext cx="545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⑩　显然ｎ维单位坐标向量组就是　 中的最大无关组</a:t>
              </a:r>
              <a:r>
                <a:rPr lang="en-US" altLang="zh-CN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7183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5973618"/>
                </p:ext>
              </p:extLst>
            </p:nvPr>
          </p:nvGraphicFramePr>
          <p:xfrm>
            <a:off x="3402" y="45"/>
            <a:ext cx="27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357" r:id="rId8" imgW="431987" imgH="381165" progId="Equation.DSMT4">
                    <p:embed/>
                  </p:oleObj>
                </mc:Choice>
                <mc:Fallback>
                  <p:oleObj r:id="rId8" imgW="431987" imgH="381165" progId="Equation.DSMT4">
                    <p:embed/>
                    <p:pic>
                      <p:nvPicPr>
                        <p:cNvPr id="7183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2" y="45"/>
                          <a:ext cx="27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>
                                  <a:alpha val="50195"/>
                                </a:scheme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62" name="Rectangle 18"/>
          <p:cNvSpPr>
            <a:spLocks noChangeArrowheads="1"/>
          </p:cNvSpPr>
          <p:nvPr/>
        </p:nvSpPr>
        <p:spPr bwMode="auto">
          <a:xfrm>
            <a:off x="130066" y="1125538"/>
            <a:ext cx="63914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/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②　向量组与它的任一最大无关组等价</a:t>
            </a:r>
            <a:r>
              <a:rPr lang="en-US" altLang="zh-CN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pic>
        <p:nvPicPr>
          <p:cNvPr id="6163" name="Picture 19" descr="GIF127"/>
          <p:cNvPicPr preferRelativeResize="0"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60350"/>
            <a:ext cx="1800225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64" name="Rectangle 20"/>
          <p:cNvSpPr>
            <a:spLocks noChangeArrowheads="1"/>
          </p:cNvSpPr>
          <p:nvPr/>
        </p:nvSpPr>
        <p:spPr bwMode="auto">
          <a:xfrm>
            <a:off x="124410" y="3284538"/>
            <a:ext cx="854593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/>
            <a:r>
              <a:rPr lang="zh-CN" altLang="en-US" b="1" dirty="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rPr>
              <a:t>⑥</a:t>
            </a: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　一个线性相关的向量组的最大无关组是其真子集</a:t>
            </a:r>
            <a:r>
              <a:rPr lang="en-US" altLang="zh-CN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4087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80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80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80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6" dur="80"/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7" dur="80"/>
                                        <p:tgtEl>
                                          <p:spTgt spid="61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80"/>
                                        <p:tgtEl>
                                          <p:spTgt spid="61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3" dur="80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4" dur="80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80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0" dur="80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1" dur="80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80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7" dur="80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8" dur="80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80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4" dur="80"/>
                                        <p:tgtEl>
                                          <p:spTgt spid="61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5" dur="80"/>
                                        <p:tgtEl>
                                          <p:spTgt spid="61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80"/>
                                        <p:tgtEl>
                                          <p:spTgt spid="61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1" dur="80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2" dur="80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80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8" dur="80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9" dur="80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80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utoUpdateAnimBg="0"/>
      <p:bldP spid="6147" grpId="0" autoUpdateAnimBg="0"/>
      <p:bldP spid="6148" grpId="0" autoUpdateAnimBg="0"/>
      <p:bldP spid="6149" grpId="0" autoUpdateAnimBg="0"/>
      <p:bldP spid="6150" grpId="0" autoUpdateAnimBg="0"/>
      <p:bldP spid="6151" grpId="0" autoUpdateAnimBg="0"/>
      <p:bldP spid="6162" grpId="0" autoUpdateAnimBg="0"/>
      <p:bldP spid="6164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22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回顾：矩阵的秩</a:t>
            </a:r>
          </a:p>
        </p:txBody>
      </p:sp>
      <p:sp>
        <p:nvSpPr>
          <p:cNvPr id="14352" name="Rectangle 16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1348061"/>
          </a:xfrm>
        </p:spPr>
        <p:txBody>
          <a:bodyPr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0000FF"/>
                </a:solidFill>
              </a:rPr>
              <a:t>定义：</a:t>
            </a:r>
            <a:r>
              <a:rPr lang="zh-CN" altLang="en-US" dirty="0"/>
              <a:t>在 </a:t>
            </a:r>
            <a:r>
              <a:rPr lang="en-US" altLang="zh-CN" i="1" dirty="0" err="1"/>
              <a:t>m</a:t>
            </a:r>
            <a:r>
              <a:rPr lang="en-US" altLang="zh-CN" dirty="0" err="1"/>
              <a:t>×</a:t>
            </a:r>
            <a:r>
              <a:rPr lang="en-US" altLang="zh-CN" i="1" dirty="0" err="1"/>
              <a:t>n</a:t>
            </a:r>
            <a:r>
              <a:rPr lang="en-US" altLang="zh-CN" dirty="0"/>
              <a:t> </a:t>
            </a:r>
            <a:r>
              <a:rPr lang="zh-CN" altLang="en-US" dirty="0"/>
              <a:t>矩阵 </a:t>
            </a:r>
            <a:r>
              <a:rPr lang="en-US" altLang="zh-CN" i="1" dirty="0"/>
              <a:t>A </a:t>
            </a:r>
            <a:r>
              <a:rPr lang="zh-CN" altLang="en-US" dirty="0"/>
              <a:t>中，任取 </a:t>
            </a:r>
            <a:r>
              <a:rPr lang="en-US" altLang="zh-CN" i="1" dirty="0"/>
              <a:t>k</a:t>
            </a:r>
            <a:r>
              <a:rPr lang="en-US" altLang="zh-CN" dirty="0"/>
              <a:t> </a:t>
            </a:r>
            <a:r>
              <a:rPr lang="zh-CN" altLang="en-US" dirty="0"/>
              <a:t>行 </a:t>
            </a:r>
            <a:r>
              <a:rPr lang="en-US" altLang="zh-CN" i="1" dirty="0"/>
              <a:t>k</a:t>
            </a:r>
            <a:r>
              <a:rPr lang="en-US" altLang="zh-CN" dirty="0"/>
              <a:t> </a:t>
            </a:r>
            <a:r>
              <a:rPr lang="zh-CN" altLang="en-US" dirty="0"/>
              <a:t>列</a:t>
            </a:r>
            <a:r>
              <a:rPr lang="en-US" altLang="zh-CN" dirty="0"/>
              <a:t>(</a:t>
            </a:r>
            <a:r>
              <a:rPr lang="en-US" altLang="zh-CN" i="1" dirty="0"/>
              <a:t> k</a:t>
            </a:r>
            <a:r>
              <a:rPr lang="en-US" altLang="zh-CN" dirty="0"/>
              <a:t> ≤ </a:t>
            </a:r>
            <a:r>
              <a:rPr lang="en-US" altLang="zh-CN" i="1" dirty="0"/>
              <a:t>m</a:t>
            </a:r>
            <a:r>
              <a:rPr lang="zh-CN" altLang="en-US" dirty="0"/>
              <a:t>，</a:t>
            </a:r>
            <a:r>
              <a:rPr lang="en-US" altLang="zh-CN" i="1" dirty="0" err="1"/>
              <a:t>k</a:t>
            </a:r>
            <a:r>
              <a:rPr lang="en-US" altLang="zh-CN" dirty="0" err="1"/>
              <a:t>≤</a:t>
            </a:r>
            <a:r>
              <a:rPr lang="en-US" altLang="zh-CN" i="1" dirty="0" err="1"/>
              <a:t>n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位于这些行列交叉处的 </a:t>
            </a:r>
            <a:r>
              <a:rPr lang="en-US" altLang="zh-CN" i="1" dirty="0"/>
              <a:t>k</a:t>
            </a:r>
            <a:r>
              <a:rPr lang="en-US" altLang="zh-CN" baseline="300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个元素，不改变它们在 </a:t>
            </a:r>
            <a:r>
              <a:rPr lang="en-US" altLang="zh-CN" i="1" dirty="0"/>
              <a:t>A</a:t>
            </a:r>
            <a:r>
              <a:rPr lang="zh-CN" altLang="en-US" dirty="0"/>
              <a:t>中所处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的位置次序而得的 </a:t>
            </a:r>
            <a:r>
              <a:rPr lang="en-US" altLang="zh-CN" i="1" dirty="0"/>
              <a:t>k</a:t>
            </a:r>
            <a:r>
              <a:rPr lang="en-US" altLang="zh-CN" dirty="0"/>
              <a:t> </a:t>
            </a:r>
            <a:r>
              <a:rPr lang="zh-CN" altLang="en-US" dirty="0"/>
              <a:t>阶行列式，称为矩阵 </a:t>
            </a:r>
            <a:r>
              <a:rPr lang="en-US" altLang="zh-CN" i="1" dirty="0"/>
              <a:t>A </a:t>
            </a:r>
            <a:r>
              <a:rPr lang="zh-CN" altLang="en-US" dirty="0"/>
              <a:t>的 </a:t>
            </a:r>
            <a:r>
              <a:rPr lang="en-US" altLang="zh-CN" i="1" dirty="0">
                <a:solidFill>
                  <a:srgbClr val="FF0000"/>
                </a:solidFill>
              </a:rPr>
              <a:t>k </a:t>
            </a:r>
            <a:r>
              <a:rPr lang="zh-CN" altLang="en-US" dirty="0">
                <a:solidFill>
                  <a:srgbClr val="FF0000"/>
                </a:solidFill>
              </a:rPr>
              <a:t>阶子式</a:t>
            </a:r>
            <a:r>
              <a:rPr lang="zh-CN" altLang="en-US" dirty="0"/>
              <a:t>．</a:t>
            </a:r>
          </a:p>
        </p:txBody>
      </p:sp>
      <p:sp>
        <p:nvSpPr>
          <p:cNvPr id="14353" name="Rectangle 17"/>
          <p:cNvSpPr>
            <a:spLocks noChangeArrowheads="1"/>
          </p:cNvSpPr>
          <p:nvPr/>
        </p:nvSpPr>
        <p:spPr bwMode="auto">
          <a:xfrm>
            <a:off x="457200" y="3212976"/>
            <a:ext cx="822960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定义：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设矩阵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中有一个不等于零的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阶子式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D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，且所有</a:t>
            </a: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+1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阶子式（如果存在的话）全等于零，那么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D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称为矩阵</a:t>
            </a: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最高阶非零子式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，数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称为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矩阵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的秩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，记作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．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</a:pPr>
            <a:r>
              <a:rPr lang="zh-CN" altLang="en-US" sz="2400" dirty="0">
                <a:solidFill>
                  <a:srgbClr val="0000FF"/>
                </a:solidFill>
              </a:rPr>
              <a:t>规定：</a:t>
            </a:r>
            <a:r>
              <a:rPr kumimoji="1" lang="zh-CN" altLang="en-US" sz="2400" dirty="0"/>
              <a:t>零矩阵的秩等于零．</a:t>
            </a:r>
            <a:endParaRPr lang="zh-CN" altLang="en-US" sz="2400" dirty="0"/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endParaRPr lang="zh-CN" altLang="en-US" sz="2400" b="1" dirty="0">
              <a:solidFill>
                <a:srgbClr val="00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4354" name="Rectangle 18"/>
          <p:cNvSpPr>
            <a:spLocks noChangeArrowheads="1"/>
          </p:cNvSpPr>
          <p:nvPr/>
        </p:nvSpPr>
        <p:spPr bwMode="auto">
          <a:xfrm>
            <a:off x="457200" y="5121275"/>
            <a:ext cx="7355160" cy="1274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结论：  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矩阵的秩</a:t>
            </a: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		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=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矩阵中最高阶非零子式的阶数</a:t>
            </a:r>
          </a:p>
          <a:p>
            <a:pPr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		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=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矩阵对应的行阶梯形矩阵的非零行的行数</a:t>
            </a:r>
          </a:p>
        </p:txBody>
      </p:sp>
    </p:spTree>
    <p:extLst>
      <p:ext uri="{BB962C8B-B14F-4D97-AF65-F5344CB8AC3E}">
        <p14:creationId xmlns:p14="http://schemas.microsoft.com/office/powerpoint/2010/main" val="381950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70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202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14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14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14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52" grpId="0" build="p"/>
      <p:bldP spid="14353" grpId="0"/>
      <p:bldP spid="1435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421538" y="599343"/>
            <a:ext cx="4870542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b" anchorCtr="1">
            <a:spAutoFit/>
          </a:bodyPr>
          <a:lstStyle/>
          <a:p>
            <a:pPr algn="ctr">
              <a:defRPr/>
            </a:pPr>
            <a:r>
              <a:rPr lang="zh-CN" altLang="en-US" sz="2800" b="1" dirty="0">
                <a:solidFill>
                  <a:srgbClr val="66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楷体_GB2312" pitchFamily="49" charset="-122"/>
              </a:rPr>
              <a:t>向量组的秩与矩阵的秩的关系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539750" y="2133178"/>
            <a:ext cx="895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6600FF"/>
                </a:solidFill>
                <a:latin typeface="楷体_GB2312" pitchFamily="49" charset="-122"/>
                <a:ea typeface="楷体_GB2312" pitchFamily="49" charset="-122"/>
              </a:rPr>
              <a:t>定义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1692275" y="2133178"/>
            <a:ext cx="895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b" anchorCtr="1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rPr>
              <a:t>矩阵</a:t>
            </a:r>
          </a:p>
        </p:txBody>
      </p:sp>
      <p:graphicFrame>
        <p:nvGraphicFramePr>
          <p:cNvPr id="174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5432377"/>
              </p:ext>
            </p:extLst>
          </p:nvPr>
        </p:nvGraphicFramePr>
        <p:xfrm>
          <a:off x="2519363" y="1406103"/>
          <a:ext cx="3924300" cy="20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22" r:id="rId3" imgW="3924300" imgH="2095500" progId="Equation.DSMT4">
                  <p:embed/>
                </p:oleObj>
              </mc:Choice>
              <mc:Fallback>
                <p:oleObj r:id="rId3" imgW="3924300" imgH="2095500" progId="Equation.DSMT4">
                  <p:embed/>
                  <p:pic>
                    <p:nvPicPr>
                      <p:cNvPr id="1741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363" y="1406103"/>
                        <a:ext cx="3924300" cy="209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195"/>
                              </a:scheme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552450" y="3774653"/>
            <a:ext cx="58705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b" anchorCtr="1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/>
            <a:r>
              <a:rPr lang="zh-CN" altLang="en-US" b="1" i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Ａ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的列向量组的秩称为列秩，记为：</a:t>
            </a:r>
          </a:p>
        </p:txBody>
      </p:sp>
      <p:sp>
        <p:nvSpPr>
          <p:cNvPr id="17415" name="Rectangle 7"/>
          <p:cNvSpPr>
            <a:spLocks noChangeArrowheads="1"/>
          </p:cNvSpPr>
          <p:nvPr/>
        </p:nvSpPr>
        <p:spPr bwMode="auto">
          <a:xfrm>
            <a:off x="552450" y="4493790"/>
            <a:ext cx="5870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b" anchorCtr="1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/>
            <a:r>
              <a:rPr lang="zh-CN" altLang="en-US" b="1" i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Ａ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的行向量组的秩称为</a:t>
            </a:r>
            <a:r>
              <a:rPr lang="zh-CN" altLang="en-US" b="1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rPr>
              <a:t>行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秩，记为：</a:t>
            </a:r>
          </a:p>
        </p:txBody>
      </p:sp>
      <p:graphicFrame>
        <p:nvGraphicFramePr>
          <p:cNvPr id="174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8156493"/>
              </p:ext>
            </p:extLst>
          </p:nvPr>
        </p:nvGraphicFramePr>
        <p:xfrm>
          <a:off x="6227763" y="4517603"/>
          <a:ext cx="9017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23" r:id="rId5" imgW="901700" imgH="495300" progId="Equation.DSMT4">
                  <p:embed/>
                </p:oleObj>
              </mc:Choice>
              <mc:Fallback>
                <p:oleObj r:id="rId5" imgW="901700" imgH="495300" progId="Equation.DSMT4">
                  <p:embed/>
                  <p:pic>
                    <p:nvPicPr>
                      <p:cNvPr id="1741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4517603"/>
                        <a:ext cx="9017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026221"/>
              </p:ext>
            </p:extLst>
          </p:nvPr>
        </p:nvGraphicFramePr>
        <p:xfrm>
          <a:off x="6227763" y="3774653"/>
          <a:ext cx="9017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24" r:id="rId7" imgW="901700" imgH="495300" progId="Equation.DSMT4">
                  <p:embed/>
                </p:oleObj>
              </mc:Choice>
              <mc:Fallback>
                <p:oleObj r:id="rId7" imgW="901700" imgH="495300" progId="Equation.DSMT4">
                  <p:embed/>
                  <p:pic>
                    <p:nvPicPr>
                      <p:cNvPr id="1741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3774653"/>
                        <a:ext cx="9017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195"/>
                              </a:scheme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8" name="Text Box 10"/>
          <p:cNvSpPr txBox="1">
            <a:spLocks noChangeArrowheads="1"/>
          </p:cNvSpPr>
          <p:nvPr/>
        </p:nvSpPr>
        <p:spPr bwMode="auto">
          <a:xfrm>
            <a:off x="539750" y="5373216"/>
            <a:ext cx="325351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6600FF"/>
                </a:solidFill>
                <a:latin typeface="楷体_GB2312" pitchFamily="49" charset="-122"/>
                <a:ea typeface="楷体_GB2312" pitchFamily="49" charset="-122"/>
              </a:rPr>
              <a:t>定理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P.93 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定理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6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）</a:t>
            </a:r>
          </a:p>
          <a:p>
            <a:pPr eaLnBrk="1" hangingPunct="1"/>
            <a:endParaRPr lang="zh-CN" altLang="en-US" b="1" dirty="0">
              <a:solidFill>
                <a:srgbClr val="66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74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7738251"/>
              </p:ext>
            </p:extLst>
          </p:nvPr>
        </p:nvGraphicFramePr>
        <p:xfrm>
          <a:off x="1421293" y="6035223"/>
          <a:ext cx="67818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25" r:id="rId9" imgW="6778858" imgH="583947" progId="Equation.DSMT4">
                  <p:embed/>
                </p:oleObj>
              </mc:Choice>
              <mc:Fallback>
                <p:oleObj r:id="rId9" imgW="6778858" imgH="583947" progId="Equation.DSMT4">
                  <p:embed/>
                  <p:pic>
                    <p:nvPicPr>
                      <p:cNvPr id="1741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1293" y="6035223"/>
                        <a:ext cx="67818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2340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autoUpdateAnimBg="0"/>
      <p:bldP spid="17411" grpId="0" autoUpdateAnimBg="0"/>
      <p:bldP spid="17412" grpId="0" autoUpdateAnimBg="0"/>
      <p:bldP spid="17414" grpId="0" autoUpdateAnimBg="0"/>
      <p:bldP spid="17415" grpId="0" autoUpdateAnimBg="0"/>
      <p:bldP spid="17418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433388" y="388938"/>
            <a:ext cx="898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6600FF"/>
                </a:solidFill>
                <a:latin typeface="楷体_GB2312" pitchFamily="49" charset="-122"/>
                <a:ea typeface="楷体_GB2312" pitchFamily="49" charset="-122"/>
              </a:rPr>
              <a:t>定理</a:t>
            </a: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114300" y="2405063"/>
            <a:ext cx="32035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b" anchorCtr="1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有相同的</a:t>
            </a: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线性关系</a:t>
            </a: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1114425" y="3125788"/>
            <a:ext cx="37369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b" anchorCtr="1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相同的</a:t>
            </a: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线性关系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是指：</a:t>
            </a:r>
          </a:p>
        </p:txBody>
      </p:sp>
      <p:pic>
        <p:nvPicPr>
          <p:cNvPr id="18437" name="Picture 5" descr="GIF1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25" y="3125788"/>
            <a:ext cx="1008063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438" name="Group 6"/>
          <p:cNvGrpSpPr>
            <a:grpSpLocks/>
          </p:cNvGrpSpPr>
          <p:nvPr/>
        </p:nvGrpSpPr>
        <p:grpSpPr bwMode="auto">
          <a:xfrm>
            <a:off x="1193800" y="388938"/>
            <a:ext cx="7915275" cy="536575"/>
            <a:chOff x="0" y="0"/>
            <a:chExt cx="4986" cy="338"/>
          </a:xfrm>
        </p:grpSpPr>
        <p:sp>
          <p:nvSpPr>
            <p:cNvPr id="19487" name="Rectangle 7"/>
            <p:cNvSpPr>
              <a:spLocks noChangeArrowheads="1"/>
            </p:cNvSpPr>
            <p:nvPr/>
          </p:nvSpPr>
          <p:spPr bwMode="auto">
            <a:xfrm>
              <a:off x="0" y="0"/>
              <a:ext cx="190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b" anchorCtr="1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/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已知ｎ维列向量组</a:t>
              </a:r>
            </a:p>
          </p:txBody>
        </p:sp>
        <p:graphicFrame>
          <p:nvGraphicFramePr>
            <p:cNvPr id="19488" name="Object 8"/>
            <p:cNvGraphicFramePr>
              <a:graphicFrameLocks noChangeAspect="1"/>
            </p:cNvGraphicFramePr>
            <p:nvPr/>
          </p:nvGraphicFramePr>
          <p:xfrm>
            <a:off x="1851" y="20"/>
            <a:ext cx="118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40" r:id="rId4" imgW="1879600" imgH="431800" progId="Equation.DSMT4">
                    <p:embed/>
                  </p:oleObj>
                </mc:Choice>
                <mc:Fallback>
                  <p:oleObj r:id="rId4" imgW="1879600" imgH="431800" progId="Equation.DSMT4">
                    <p:embed/>
                    <p:pic>
                      <p:nvPicPr>
                        <p:cNvPr id="19488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1" y="20"/>
                          <a:ext cx="1184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>
                                  <a:alpha val="50195"/>
                                </a:scheme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9" name="Object 9"/>
            <p:cNvGraphicFramePr>
              <a:graphicFrameLocks noChangeAspect="1"/>
            </p:cNvGraphicFramePr>
            <p:nvPr/>
          </p:nvGraphicFramePr>
          <p:xfrm>
            <a:off x="3058" y="10"/>
            <a:ext cx="1928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41" r:id="rId6" imgW="3059372" imgH="520474" progId="Equation.DSMT4">
                    <p:embed/>
                  </p:oleObj>
                </mc:Choice>
                <mc:Fallback>
                  <p:oleObj r:id="rId6" imgW="3059372" imgH="520474" progId="Equation.DSMT4">
                    <p:embed/>
                    <p:pic>
                      <p:nvPicPr>
                        <p:cNvPr id="19489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8" y="10"/>
                          <a:ext cx="1928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>
                                  <a:alpha val="50195"/>
                                </a:scheme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442" name="Group 10"/>
          <p:cNvGrpSpPr>
            <a:grpSpLocks/>
          </p:cNvGrpSpPr>
          <p:nvPr/>
        </p:nvGrpSpPr>
        <p:grpSpPr bwMode="auto">
          <a:xfrm>
            <a:off x="119063" y="1052513"/>
            <a:ext cx="8831262" cy="576262"/>
            <a:chOff x="0" y="0"/>
            <a:chExt cx="5563" cy="363"/>
          </a:xfrm>
        </p:grpSpPr>
        <p:sp>
          <p:nvSpPr>
            <p:cNvPr id="19484" name="Rectangle 11"/>
            <p:cNvSpPr>
              <a:spLocks noChangeArrowheads="1"/>
            </p:cNvSpPr>
            <p:nvPr/>
          </p:nvSpPr>
          <p:spPr bwMode="auto">
            <a:xfrm>
              <a:off x="0" y="0"/>
              <a:ext cx="325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b" anchorCtr="1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/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若对</a:t>
              </a:r>
              <a:r>
                <a:rPr lang="zh-CN" altLang="en-US" b="1" i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Ａ</a:t>
              </a:r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施行初等行变换把</a:t>
              </a:r>
              <a:r>
                <a:rPr lang="zh-CN" altLang="en-US" b="1" i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Ａ</a:t>
              </a:r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化为</a:t>
              </a:r>
            </a:p>
          </p:txBody>
        </p:sp>
        <p:graphicFrame>
          <p:nvGraphicFramePr>
            <p:cNvPr id="19485" name="Object 12"/>
            <p:cNvGraphicFramePr>
              <a:graphicFrameLocks noChangeAspect="1"/>
            </p:cNvGraphicFramePr>
            <p:nvPr/>
          </p:nvGraphicFramePr>
          <p:xfrm>
            <a:off x="3220" y="35"/>
            <a:ext cx="1944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42" r:id="rId8" imgW="3084761" imgH="520474" progId="Equation.DSMT4">
                    <p:embed/>
                  </p:oleObj>
                </mc:Choice>
                <mc:Fallback>
                  <p:oleObj r:id="rId8" imgW="3084761" imgH="520474" progId="Equation.DSMT4">
                    <p:embed/>
                    <p:pic>
                      <p:nvPicPr>
                        <p:cNvPr id="19485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0" y="35"/>
                          <a:ext cx="1944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>
                                  <a:alpha val="50195"/>
                                </a:scheme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86" name="Rectangle 13"/>
            <p:cNvSpPr>
              <a:spLocks noChangeArrowheads="1"/>
            </p:cNvSpPr>
            <p:nvPr/>
          </p:nvSpPr>
          <p:spPr bwMode="auto">
            <a:xfrm>
              <a:off x="5224" y="0"/>
              <a:ext cx="3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b" anchorCtr="1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/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则</a:t>
              </a:r>
            </a:p>
          </p:txBody>
        </p:sp>
      </p:grpSp>
      <p:grpSp>
        <p:nvGrpSpPr>
          <p:cNvPr id="18446" name="Group 14"/>
          <p:cNvGrpSpPr>
            <a:grpSpLocks/>
          </p:cNvGrpSpPr>
          <p:nvPr/>
        </p:nvGrpSpPr>
        <p:grpSpPr bwMode="auto">
          <a:xfrm>
            <a:off x="109538" y="1751013"/>
            <a:ext cx="8999537" cy="669925"/>
            <a:chOff x="0" y="0"/>
            <a:chExt cx="5669" cy="422"/>
          </a:xfrm>
        </p:grpSpPr>
        <p:sp>
          <p:nvSpPr>
            <p:cNvPr id="19481" name="Rectangle 15"/>
            <p:cNvSpPr>
              <a:spLocks noChangeArrowheads="1"/>
            </p:cNvSpPr>
            <p:nvPr/>
          </p:nvSpPr>
          <p:spPr bwMode="auto">
            <a:xfrm>
              <a:off x="0" y="0"/>
              <a:ext cx="78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b" anchorCtr="1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/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向量组</a:t>
              </a:r>
            </a:p>
          </p:txBody>
        </p:sp>
        <p:graphicFrame>
          <p:nvGraphicFramePr>
            <p:cNvPr id="19482" name="Object 16"/>
            <p:cNvGraphicFramePr>
              <a:graphicFrameLocks noChangeAspect="1"/>
            </p:cNvGraphicFramePr>
            <p:nvPr/>
          </p:nvGraphicFramePr>
          <p:xfrm>
            <a:off x="770" y="46"/>
            <a:ext cx="2672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43" r:id="rId10" imgW="4239960" imgH="533169" progId="Equation.DSMT4">
                    <p:embed/>
                  </p:oleObj>
                </mc:Choice>
                <mc:Fallback>
                  <p:oleObj r:id="rId10" imgW="4239960" imgH="533169" progId="Equation.DSMT4">
                    <p:embed/>
                    <p:pic>
                      <p:nvPicPr>
                        <p:cNvPr id="19482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0" y="46"/>
                          <a:ext cx="2672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>
                                  <a:alpha val="50195"/>
                                </a:scheme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3" name="Object 17"/>
            <p:cNvGraphicFramePr>
              <a:graphicFrameLocks noChangeAspect="1"/>
            </p:cNvGraphicFramePr>
            <p:nvPr/>
          </p:nvGraphicFramePr>
          <p:xfrm>
            <a:off x="3437" y="46"/>
            <a:ext cx="2232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44" r:id="rId12" imgW="3543300" imgH="596900" progId="Equation.DSMT4">
                    <p:embed/>
                  </p:oleObj>
                </mc:Choice>
                <mc:Fallback>
                  <p:oleObj r:id="rId12" imgW="3543300" imgH="596900" progId="Equation.DSMT4">
                    <p:embed/>
                    <p:pic>
                      <p:nvPicPr>
                        <p:cNvPr id="19483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7" y="46"/>
                          <a:ext cx="2232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>
                                  <a:alpha val="50195"/>
                                </a:scheme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8450" name="Picture 18" descr="GIF191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3" y="476250"/>
            <a:ext cx="431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451" name="Group 19"/>
          <p:cNvGrpSpPr>
            <a:grpSpLocks/>
          </p:cNvGrpSpPr>
          <p:nvPr/>
        </p:nvGrpSpPr>
        <p:grpSpPr bwMode="auto">
          <a:xfrm>
            <a:off x="250825" y="3805238"/>
            <a:ext cx="6265863" cy="703262"/>
            <a:chOff x="0" y="0"/>
            <a:chExt cx="3947" cy="443"/>
          </a:xfrm>
        </p:grpSpPr>
        <p:sp>
          <p:nvSpPr>
            <p:cNvPr id="19479" name="Rectangle 20"/>
            <p:cNvSpPr>
              <a:spLocks noChangeArrowheads="1"/>
            </p:cNvSpPr>
            <p:nvPr/>
          </p:nvSpPr>
          <p:spPr bwMode="auto">
            <a:xfrm>
              <a:off x="0" y="0"/>
              <a:ext cx="3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b" anchorCtr="1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/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①</a:t>
              </a:r>
            </a:p>
          </p:txBody>
        </p:sp>
        <p:graphicFrame>
          <p:nvGraphicFramePr>
            <p:cNvPr id="19480" name="Object 21"/>
            <p:cNvGraphicFramePr>
              <a:graphicFrameLocks noChangeAspect="1"/>
            </p:cNvGraphicFramePr>
            <p:nvPr/>
          </p:nvGraphicFramePr>
          <p:xfrm>
            <a:off x="387" y="3"/>
            <a:ext cx="3560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45" r:id="rId15" imgW="5651500" imgH="698500" progId="Equation.DSMT4">
                    <p:embed/>
                  </p:oleObj>
                </mc:Choice>
                <mc:Fallback>
                  <p:oleObj r:id="rId15" imgW="5651500" imgH="698500" progId="Equation.DSMT4">
                    <p:embed/>
                    <p:pic>
                      <p:nvPicPr>
                        <p:cNvPr id="1948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" y="3"/>
                          <a:ext cx="3560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>
                                  <a:alpha val="50195"/>
                                </a:scheme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454" name="Group 22"/>
          <p:cNvGrpSpPr>
            <a:grpSpLocks/>
          </p:cNvGrpSpPr>
          <p:nvPr/>
        </p:nvGrpSpPr>
        <p:grpSpPr bwMode="auto">
          <a:xfrm>
            <a:off x="1006475" y="5214938"/>
            <a:ext cx="7970838" cy="590550"/>
            <a:chOff x="0" y="0"/>
            <a:chExt cx="5021" cy="372"/>
          </a:xfrm>
        </p:grpSpPr>
        <p:graphicFrame>
          <p:nvGraphicFramePr>
            <p:cNvPr id="19477" name="Object 23"/>
            <p:cNvGraphicFramePr>
              <a:graphicFrameLocks noChangeAspect="1"/>
            </p:cNvGraphicFramePr>
            <p:nvPr/>
          </p:nvGraphicFramePr>
          <p:xfrm>
            <a:off x="0" y="44"/>
            <a:ext cx="1248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46" r:id="rId17" imgW="1981200" imgH="520700" progId="Equation.DSMT4">
                    <p:embed/>
                  </p:oleObj>
                </mc:Choice>
                <mc:Fallback>
                  <p:oleObj r:id="rId17" imgW="1981200" imgH="520700" progId="Equation.DSMT4">
                    <p:embed/>
                    <p:pic>
                      <p:nvPicPr>
                        <p:cNvPr id="19477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44"/>
                          <a:ext cx="1248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>
                                  <a:alpha val="50195"/>
                                </a:scheme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8" name="Text Box 24"/>
            <p:cNvSpPr txBox="1">
              <a:spLocks noChangeArrowheads="1"/>
            </p:cNvSpPr>
            <p:nvPr/>
          </p:nvSpPr>
          <p:spPr bwMode="auto">
            <a:xfrm>
              <a:off x="1211" y="0"/>
              <a:ext cx="381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b" anchorCtr="1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/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线性表示，且表达式的系数对应相同</a:t>
              </a:r>
              <a:r>
                <a:rPr lang="en-US" altLang="zh-CN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.</a:t>
              </a:r>
            </a:p>
          </p:txBody>
        </p:sp>
      </p:grpSp>
      <p:grpSp>
        <p:nvGrpSpPr>
          <p:cNvPr id="18457" name="Group 25"/>
          <p:cNvGrpSpPr>
            <a:grpSpLocks/>
          </p:cNvGrpSpPr>
          <p:nvPr/>
        </p:nvGrpSpPr>
        <p:grpSpPr bwMode="auto">
          <a:xfrm>
            <a:off x="250825" y="4508500"/>
            <a:ext cx="8297863" cy="576263"/>
            <a:chOff x="0" y="0"/>
            <a:chExt cx="5227" cy="363"/>
          </a:xfrm>
        </p:grpSpPr>
        <p:sp>
          <p:nvSpPr>
            <p:cNvPr id="19473" name="Rectangle 26"/>
            <p:cNvSpPr>
              <a:spLocks noChangeArrowheads="1"/>
            </p:cNvSpPr>
            <p:nvPr/>
          </p:nvSpPr>
          <p:spPr bwMode="auto">
            <a:xfrm>
              <a:off x="0" y="0"/>
              <a:ext cx="3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b" anchorCtr="1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/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②</a:t>
              </a:r>
            </a:p>
          </p:txBody>
        </p:sp>
        <p:graphicFrame>
          <p:nvGraphicFramePr>
            <p:cNvPr id="19474" name="Object 27"/>
            <p:cNvGraphicFramePr>
              <a:graphicFrameLocks noChangeAspect="1"/>
            </p:cNvGraphicFramePr>
            <p:nvPr/>
          </p:nvGraphicFramePr>
          <p:xfrm>
            <a:off x="383" y="35"/>
            <a:ext cx="2112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47" r:id="rId19" imgW="3351345" imgH="520474" progId="Equation.DSMT4">
                    <p:embed/>
                  </p:oleObj>
                </mc:Choice>
                <mc:Fallback>
                  <p:oleObj r:id="rId19" imgW="3351345" imgH="520474" progId="Equation.DSMT4">
                    <p:embed/>
                    <p:pic>
                      <p:nvPicPr>
                        <p:cNvPr id="19474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" y="35"/>
                          <a:ext cx="2112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>
                                  <a:alpha val="50195"/>
                                </a:scheme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5" name="Text Box 28"/>
            <p:cNvSpPr txBox="1">
              <a:spLocks noChangeArrowheads="1"/>
            </p:cNvSpPr>
            <p:nvPr/>
          </p:nvSpPr>
          <p:spPr bwMode="auto">
            <a:xfrm>
              <a:off x="2499" y="0"/>
              <a:ext cx="190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b" anchorCtr="1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/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线性表示，对应的</a:t>
              </a:r>
            </a:p>
          </p:txBody>
        </p:sp>
        <p:graphicFrame>
          <p:nvGraphicFramePr>
            <p:cNvPr id="19476" name="Object 29"/>
            <p:cNvGraphicFramePr>
              <a:graphicFrameLocks noChangeAspect="1"/>
            </p:cNvGraphicFramePr>
            <p:nvPr/>
          </p:nvGraphicFramePr>
          <p:xfrm>
            <a:off x="4355" y="46"/>
            <a:ext cx="87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48" r:id="rId21" imgW="1384300" imgH="431800" progId="Equation.DSMT4">
                    <p:embed/>
                  </p:oleObj>
                </mc:Choice>
                <mc:Fallback>
                  <p:oleObj r:id="rId21" imgW="1384300" imgH="431800" progId="Equation.DSMT4">
                    <p:embed/>
                    <p:pic>
                      <p:nvPicPr>
                        <p:cNvPr id="19476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5" y="46"/>
                          <a:ext cx="87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>
                                  <a:alpha val="50195"/>
                                </a:scheme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462" name="Group 30"/>
          <p:cNvGrpSpPr>
            <a:grpSpLocks/>
          </p:cNvGrpSpPr>
          <p:nvPr/>
        </p:nvGrpSpPr>
        <p:grpSpPr bwMode="auto">
          <a:xfrm>
            <a:off x="250825" y="5856288"/>
            <a:ext cx="7675563" cy="525462"/>
            <a:chOff x="0" y="-4"/>
            <a:chExt cx="4835" cy="331"/>
          </a:xfrm>
        </p:grpSpPr>
        <p:sp>
          <p:nvSpPr>
            <p:cNvPr id="19470" name="Rectangle 31"/>
            <p:cNvSpPr>
              <a:spLocks noChangeArrowheads="1"/>
            </p:cNvSpPr>
            <p:nvPr/>
          </p:nvSpPr>
          <p:spPr bwMode="auto">
            <a:xfrm>
              <a:off x="0" y="0"/>
              <a:ext cx="3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b" anchorCtr="1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/>
              <a:r>
                <a:rPr lang="zh-CN" altLang="en-US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③</a:t>
              </a:r>
            </a:p>
          </p:txBody>
        </p:sp>
        <p:graphicFrame>
          <p:nvGraphicFramePr>
            <p:cNvPr id="19471" name="Object 32"/>
            <p:cNvGraphicFramePr>
              <a:graphicFrameLocks noChangeAspect="1"/>
            </p:cNvGraphicFramePr>
            <p:nvPr/>
          </p:nvGraphicFramePr>
          <p:xfrm>
            <a:off x="409" y="38"/>
            <a:ext cx="2424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49" r:id="rId23" imgW="3846431" imgH="444307" progId="Equation.DSMT4">
                    <p:embed/>
                  </p:oleObj>
                </mc:Choice>
                <mc:Fallback>
                  <p:oleObj r:id="rId23" imgW="3846431" imgH="444307" progId="Equation.DSMT4">
                    <p:embed/>
                    <p:pic>
                      <p:nvPicPr>
                        <p:cNvPr id="19471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" y="38"/>
                          <a:ext cx="2424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>
                                  <a:alpha val="50195"/>
                                </a:schemeClr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2" name="Text Box 33"/>
            <p:cNvSpPr txBox="1">
              <a:spLocks noChangeArrowheads="1"/>
            </p:cNvSpPr>
            <p:nvPr/>
          </p:nvSpPr>
          <p:spPr bwMode="auto">
            <a:xfrm>
              <a:off x="2846" y="-4"/>
              <a:ext cx="1989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b" anchorCtr="1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algn="ctr" eaLnBrk="1" hangingPunct="1"/>
              <a:r>
                <a:rPr lang="zh-CN" altLang="en-US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最大无关组相对应</a:t>
              </a:r>
              <a:r>
                <a:rPr lang="en-US" altLang="zh-CN" b="1" dirty="0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1066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184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18450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18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18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8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autoUpdateAnimBg="0"/>
      <p:bldP spid="18435" grpId="0" autoUpdateAnimBg="0"/>
      <p:bldP spid="18436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179388" y="836613"/>
            <a:ext cx="73661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2"/>
                </a:solidFill>
              </a:rPr>
              <a:t>上面的这个定理给出了</a:t>
            </a:r>
            <a:r>
              <a:rPr lang="zh-CN" altLang="en-US" b="1" dirty="0">
                <a:solidFill>
                  <a:srgbClr val="FF3300"/>
                </a:solidFill>
              </a:rPr>
              <a:t>求最大无关组的方法</a:t>
            </a:r>
            <a:r>
              <a:rPr lang="zh-CN" altLang="en-US" b="1" dirty="0">
                <a:solidFill>
                  <a:schemeClr val="tx2"/>
                </a:solidFill>
              </a:rPr>
              <a:t>：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250825" y="1557338"/>
            <a:ext cx="880241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2"/>
                </a:solidFill>
              </a:rPr>
              <a:t>以向量组中各向量为列向量组成矩阵后，只作初等行</a:t>
            </a:r>
          </a:p>
          <a:p>
            <a:pPr eaLnBrk="1" hangingPunct="1"/>
            <a:r>
              <a:rPr lang="zh-CN" altLang="en-US" b="1" dirty="0">
                <a:solidFill>
                  <a:schemeClr val="tx2"/>
                </a:solidFill>
              </a:rPr>
              <a:t>变换，将该矩阵化为行最简型矩阵，则各非零行的首</a:t>
            </a:r>
          </a:p>
          <a:p>
            <a:pPr eaLnBrk="1" hangingPunct="1"/>
            <a:r>
              <a:rPr lang="zh-CN" altLang="en-US" b="1" dirty="0">
                <a:solidFill>
                  <a:schemeClr val="tx2"/>
                </a:solidFill>
              </a:rPr>
              <a:t>元所在的列对应的向量即为所求向量组的最大无关组。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231775" y="4062413"/>
            <a:ext cx="9028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6600FF"/>
                </a:solidFill>
              </a:rPr>
              <a:t>例</a:t>
            </a:r>
            <a:r>
              <a:rPr lang="en-US" altLang="zh-CN" b="1" dirty="0">
                <a:solidFill>
                  <a:srgbClr val="6600FF"/>
                </a:solidFill>
              </a:rPr>
              <a:t>10</a:t>
            </a:r>
            <a:endParaRPr lang="zh-CN" altLang="en-US" b="1" dirty="0">
              <a:solidFill>
                <a:srgbClr val="6600FF"/>
              </a:solidFill>
            </a:endParaRPr>
          </a:p>
        </p:txBody>
      </p:sp>
      <p:graphicFrame>
        <p:nvGraphicFramePr>
          <p:cNvPr id="194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1941243"/>
              </p:ext>
            </p:extLst>
          </p:nvPr>
        </p:nvGraphicFramePr>
        <p:xfrm>
          <a:off x="1157853" y="3484781"/>
          <a:ext cx="6913562" cy="271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18" name="Equation" r:id="rId3" imgW="3530520" imgH="1384200" progId="Equation.DSMT4">
                  <p:embed/>
                </p:oleObj>
              </mc:Choice>
              <mc:Fallback>
                <p:oleObj name="Equation" r:id="rId3" imgW="3530520" imgH="1384200" progId="Equation.DSMT4">
                  <p:embed/>
                  <p:pic>
                    <p:nvPicPr>
                      <p:cNvPr id="1946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7853" y="3484781"/>
                        <a:ext cx="6913562" cy="271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1715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autoUpdateAnimBg="0"/>
      <p:bldP spid="19459" grpId="0" autoUpdateAnimBg="0"/>
      <p:bldP spid="19460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8755597"/>
              </p:ext>
            </p:extLst>
          </p:nvPr>
        </p:nvGraphicFramePr>
        <p:xfrm>
          <a:off x="523874" y="692149"/>
          <a:ext cx="7504509" cy="3083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88" name="Document" r:id="rId3" imgW="12814469" imgH="4826943" progId="Word.Document.8">
                  <p:embed/>
                </p:oleObj>
              </mc:Choice>
              <mc:Fallback>
                <p:oleObj name="Document" r:id="rId3" imgW="12814469" imgH="4826943" progId="Word.Document.8">
                  <p:embed/>
                  <p:pic>
                    <p:nvPicPr>
                      <p:cNvPr id="2048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874" y="692149"/>
                        <a:ext cx="7504509" cy="30835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251520" y="3645644"/>
            <a:ext cx="8605837" cy="1079500"/>
            <a:chOff x="0" y="0"/>
            <a:chExt cx="13551" cy="1700"/>
          </a:xfrm>
        </p:grpSpPr>
        <p:sp>
          <p:nvSpPr>
            <p:cNvPr id="4" name="Text Box 3"/>
            <p:cNvSpPr txBox="1">
              <a:spLocks noChangeArrowheads="1"/>
            </p:cNvSpPr>
            <p:nvPr/>
          </p:nvSpPr>
          <p:spPr bwMode="auto">
            <a:xfrm>
              <a:off x="0" y="0"/>
              <a:ext cx="850" cy="8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rgbClr val="6600FF"/>
                  </a:solidFill>
                </a:rPr>
                <a:t>例</a:t>
              </a:r>
            </a:p>
          </p:txBody>
        </p:sp>
        <p:graphicFrame>
          <p:nvGraphicFramePr>
            <p:cNvPr id="5" name="Object 4"/>
            <p:cNvGraphicFramePr>
              <a:graphicFrameLocks noChangeAspect="1"/>
            </p:cNvGraphicFramePr>
            <p:nvPr/>
          </p:nvGraphicFramePr>
          <p:xfrm>
            <a:off x="965" y="52"/>
            <a:ext cx="12587" cy="16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489" r:id="rId5" imgW="3681402" imgH="482391" progId="Equation.3">
                    <p:embed/>
                  </p:oleObj>
                </mc:Choice>
                <mc:Fallback>
                  <p:oleObj r:id="rId5" imgW="3681402" imgH="482391" progId="Equation.3">
                    <p:embed/>
                    <p:pic>
                      <p:nvPicPr>
                        <p:cNvPr id="22536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5" y="52"/>
                          <a:ext cx="12587" cy="16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784020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2157413" y="542925"/>
            <a:ext cx="1428750" cy="1071563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矩阵</a:t>
            </a:r>
          </a:p>
        </p:txBody>
      </p:sp>
      <p:sp>
        <p:nvSpPr>
          <p:cNvPr id="6" name="椭圆 5"/>
          <p:cNvSpPr/>
          <p:nvPr/>
        </p:nvSpPr>
        <p:spPr>
          <a:xfrm>
            <a:off x="242888" y="2857500"/>
            <a:ext cx="1428750" cy="1071563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线性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algn="ctr"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方程组</a:t>
            </a:r>
          </a:p>
        </p:txBody>
      </p:sp>
      <p:sp>
        <p:nvSpPr>
          <p:cNvPr id="7" name="椭圆 6"/>
          <p:cNvSpPr/>
          <p:nvPr/>
        </p:nvSpPr>
        <p:spPr>
          <a:xfrm>
            <a:off x="4071938" y="2857500"/>
            <a:ext cx="1428750" cy="1071563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有限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algn="ctr"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向量组</a:t>
            </a:r>
          </a:p>
        </p:txBody>
      </p:sp>
      <p:sp>
        <p:nvSpPr>
          <p:cNvPr id="8" name="椭圆 7"/>
          <p:cNvSpPr/>
          <p:nvPr/>
        </p:nvSpPr>
        <p:spPr>
          <a:xfrm>
            <a:off x="7258050" y="2857500"/>
            <a:ext cx="1428750" cy="1071563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无限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algn="ctr">
              <a:defRPr/>
            </a:pPr>
            <a:r>
              <a:rPr lang="zh-CN" altLang="en-US" sz="2000" b="1" dirty="0">
                <a:solidFill>
                  <a:srgbClr val="000000"/>
                </a:solidFill>
              </a:rPr>
              <a:t>向量组</a:t>
            </a:r>
          </a:p>
        </p:txBody>
      </p:sp>
      <p:cxnSp>
        <p:nvCxnSpPr>
          <p:cNvPr id="10" name="直接连接符 9"/>
          <p:cNvCxnSpPr>
            <a:stCxn id="5" idx="3"/>
            <a:endCxn id="6" idx="0"/>
          </p:cNvCxnSpPr>
          <p:nvPr/>
        </p:nvCxnSpPr>
        <p:spPr>
          <a:xfrm rot="5400000">
            <a:off x="962025" y="1452563"/>
            <a:ext cx="1400175" cy="140970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stCxn id="5" idx="5"/>
            <a:endCxn id="7" idx="0"/>
          </p:cNvCxnSpPr>
          <p:nvPr/>
        </p:nvCxnSpPr>
        <p:spPr>
          <a:xfrm rot="16200000" flipH="1">
            <a:off x="3381375" y="1452563"/>
            <a:ext cx="1400175" cy="140970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stCxn id="6" idx="6"/>
            <a:endCxn id="7" idx="2"/>
          </p:cNvCxnSpPr>
          <p:nvPr/>
        </p:nvCxnSpPr>
        <p:spPr>
          <a:xfrm>
            <a:off x="1671638" y="3392488"/>
            <a:ext cx="2400300" cy="3175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stCxn id="8" idx="2"/>
            <a:endCxn id="7" idx="6"/>
          </p:cNvCxnSpPr>
          <p:nvPr/>
        </p:nvCxnSpPr>
        <p:spPr>
          <a:xfrm rot="10800000">
            <a:off x="5500688" y="3392488"/>
            <a:ext cx="1757362" cy="3175"/>
          </a:xfrm>
          <a:prstGeom prst="line">
            <a:avLst/>
          </a:prstGeom>
          <a:ln w="28575">
            <a:solidFill>
              <a:srgbClr val="0000FF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788" y="1571625"/>
            <a:ext cx="1211262" cy="8080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</a:rPr>
              <a:t>系数矩阵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</a:rPr>
              <a:t>增广矩阵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4500" y="1571625"/>
            <a:ext cx="4032250" cy="8620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</a:rPr>
              <a:t>有限向量组与矩阵一一对应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</a:rPr>
              <a:t>矩阵的秩等于列（行）向量组的秩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69963" y="3638550"/>
            <a:ext cx="380365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000" b="1" i="1" dirty="0">
                <a:solidFill>
                  <a:srgbClr val="000000"/>
                </a:solidFill>
                <a:latin typeface="+mn-lt"/>
                <a:ea typeface="+mn-ea"/>
              </a:rPr>
              <a:t>Ax</a:t>
            </a:r>
            <a:r>
              <a:rPr lang="en-US" altLang="zh-CN" sz="2000" b="1" dirty="0">
                <a:solidFill>
                  <a:srgbClr val="000000"/>
                </a:solidFill>
                <a:latin typeface="+mn-lt"/>
                <a:ea typeface="+mn-ea"/>
              </a:rPr>
              <a:t> = </a:t>
            </a:r>
            <a:r>
              <a:rPr lang="en-US" altLang="zh-CN" sz="2000" b="1" i="1" dirty="0">
                <a:solidFill>
                  <a:srgbClr val="000000"/>
                </a:solidFill>
                <a:latin typeface="+mn-lt"/>
                <a:ea typeface="+mn-ea"/>
              </a:rPr>
              <a:t>b</a:t>
            </a:r>
            <a:r>
              <a:rPr lang="zh-CN" altLang="en-US" sz="2000" b="1" i="1" dirty="0">
                <a:solidFill>
                  <a:srgbClr val="000000"/>
                </a:solidFill>
                <a:latin typeface="+mn-lt"/>
                <a:ea typeface="+mn-ea"/>
              </a:rPr>
              <a:t> </a:t>
            </a:r>
            <a:r>
              <a:rPr lang="zh-CN" altLang="en-US" sz="2000" b="1" dirty="0">
                <a:solidFill>
                  <a:srgbClr val="000000"/>
                </a:solidFill>
                <a:latin typeface="+mn-lt"/>
                <a:ea typeface="+mn-ea"/>
              </a:rPr>
              <a:t>有解</a:t>
            </a:r>
            <a:endParaRPr lang="en-US" altLang="zh-CN" sz="2000" b="1" dirty="0">
              <a:solidFill>
                <a:srgbClr val="000000"/>
              </a:solidFill>
              <a:latin typeface="+mn-lt"/>
              <a:ea typeface="+mn-ea"/>
            </a:endParaRPr>
          </a:p>
          <a:p>
            <a:pPr algn="ctr"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+mn-lt"/>
                <a:ea typeface="+mn-ea"/>
              </a:rPr>
              <a:t>当且仅当</a:t>
            </a:r>
            <a:endParaRPr lang="en-US" altLang="zh-CN" sz="2000" b="1" dirty="0">
              <a:solidFill>
                <a:srgbClr val="000000"/>
              </a:solidFill>
              <a:latin typeface="+mn-lt"/>
              <a:ea typeface="+mn-ea"/>
            </a:endParaRPr>
          </a:p>
          <a:p>
            <a:pPr algn="ctr"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+mn-lt"/>
                <a:ea typeface="+mn-ea"/>
              </a:rPr>
              <a:t>向量 </a:t>
            </a:r>
            <a:r>
              <a:rPr lang="en-US" altLang="zh-CN" sz="2000" b="1" i="1" dirty="0">
                <a:solidFill>
                  <a:srgbClr val="000000"/>
                </a:solidFill>
                <a:latin typeface="+mn-lt"/>
                <a:ea typeface="+mn-ea"/>
              </a:rPr>
              <a:t>b</a:t>
            </a:r>
            <a:r>
              <a:rPr lang="zh-CN" altLang="en-US" sz="2000" b="1" i="1" dirty="0">
                <a:solidFill>
                  <a:srgbClr val="000000"/>
                </a:solidFill>
                <a:latin typeface="+mn-lt"/>
                <a:ea typeface="+mn-ea"/>
              </a:rPr>
              <a:t> </a:t>
            </a:r>
            <a:r>
              <a:rPr lang="zh-CN" altLang="en-US" sz="2000" b="1" dirty="0">
                <a:solidFill>
                  <a:srgbClr val="000000"/>
                </a:solidFill>
                <a:latin typeface="+mn-lt"/>
                <a:ea typeface="+mn-ea"/>
              </a:rPr>
              <a:t>能否由向量组 </a:t>
            </a:r>
            <a:r>
              <a:rPr lang="en-US" altLang="zh-CN" sz="2000" b="1" i="1" dirty="0">
                <a:solidFill>
                  <a:srgbClr val="000000"/>
                </a:solidFill>
                <a:latin typeface="+mn-lt"/>
                <a:ea typeface="+mn-ea"/>
              </a:rPr>
              <a:t>A</a:t>
            </a:r>
            <a:r>
              <a:rPr lang="zh-CN" altLang="en-US" sz="2000" b="1" i="1" dirty="0">
                <a:solidFill>
                  <a:srgbClr val="000000"/>
                </a:solidFill>
                <a:latin typeface="+mn-lt"/>
                <a:ea typeface="+mn-ea"/>
              </a:rPr>
              <a:t> </a:t>
            </a:r>
            <a:r>
              <a:rPr lang="zh-CN" altLang="en-US" sz="2000" b="1" dirty="0">
                <a:solidFill>
                  <a:srgbClr val="000000"/>
                </a:solidFill>
                <a:latin typeface="+mn-lt"/>
                <a:ea typeface="+mn-ea"/>
              </a:rPr>
              <a:t>线性表示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389563" y="3638550"/>
            <a:ext cx="1979612" cy="8620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+mn-lt"/>
                <a:ea typeface="+mn-ea"/>
              </a:rPr>
              <a:t>向量组与自己的</a:t>
            </a:r>
            <a:endParaRPr lang="en-US" altLang="zh-CN" sz="2000" b="1" dirty="0">
              <a:solidFill>
                <a:srgbClr val="000000"/>
              </a:solidFill>
              <a:latin typeface="+mn-lt"/>
              <a:ea typeface="+mn-ea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+mn-lt"/>
                <a:ea typeface="+mn-ea"/>
              </a:rPr>
              <a:t>最大无关组等价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最大无关组的意义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28775"/>
            <a:ext cx="8229600" cy="3195638"/>
          </a:xfrm>
        </p:spPr>
        <p:txBody>
          <a:bodyPr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zh-CN" altLang="en-US">
                <a:solidFill>
                  <a:srgbClr val="0000FF"/>
                </a:solidFill>
              </a:rPr>
              <a:t>结论：</a:t>
            </a:r>
            <a:r>
              <a:rPr kumimoji="1" lang="zh-CN" altLang="en-US"/>
              <a:t>向量组 </a:t>
            </a:r>
            <a:r>
              <a:rPr kumimoji="1" lang="en-US" altLang="zh-CN" i="1"/>
              <a:t>A</a:t>
            </a:r>
            <a:r>
              <a:rPr kumimoji="1" lang="en-US" altLang="zh-CN"/>
              <a:t> </a:t>
            </a:r>
            <a:r>
              <a:rPr kumimoji="1" lang="zh-CN" altLang="en-US"/>
              <a:t>和它自己的最大无关组 </a:t>
            </a:r>
            <a:r>
              <a:rPr kumimoji="1" lang="en-US" altLang="zh-CN" i="1"/>
              <a:t>A</a:t>
            </a:r>
            <a:r>
              <a:rPr kumimoji="1" lang="en-US" altLang="zh-CN" baseline="-25000"/>
              <a:t>0 </a:t>
            </a:r>
            <a:r>
              <a:rPr kumimoji="1" lang="zh-CN" altLang="en-US"/>
              <a:t>是等价的</a:t>
            </a:r>
            <a:r>
              <a:rPr lang="zh-CN" altLang="en-US"/>
              <a:t>．</a:t>
            </a:r>
          </a:p>
          <a:p>
            <a:pPr marL="457200" indent="-457200" eaLnBrk="1" hangingPunct="1">
              <a:spcBef>
                <a:spcPct val="50000"/>
              </a:spcBef>
              <a:buClr>
                <a:srgbClr val="0000FF"/>
              </a:buClr>
              <a:buSzPct val="80000"/>
              <a:buFont typeface="Wingdings" pitchFamily="2" charset="2"/>
              <a:buChar char="l"/>
            </a:pPr>
            <a:r>
              <a:rPr kumimoji="1" lang="zh-CN" altLang="en-US"/>
              <a:t>用 </a:t>
            </a:r>
            <a:r>
              <a:rPr kumimoji="1" lang="en-US" altLang="zh-CN" i="1"/>
              <a:t>A</a:t>
            </a:r>
            <a:r>
              <a:rPr kumimoji="1" lang="en-US" altLang="zh-CN" baseline="-25000"/>
              <a:t>0 </a:t>
            </a:r>
            <a:r>
              <a:rPr kumimoji="1" lang="zh-CN" altLang="en-US"/>
              <a:t>来代表 </a:t>
            </a:r>
            <a:r>
              <a:rPr kumimoji="1" lang="en-US" altLang="zh-CN" i="1"/>
              <a:t>A</a:t>
            </a:r>
            <a:r>
              <a:rPr kumimoji="1" lang="zh-CN" altLang="en-US"/>
              <a:t>，掌握了最大无关组，就掌握了向量组的全体．</a:t>
            </a:r>
          </a:p>
          <a:p>
            <a:pPr marL="457200" indent="-457200" eaLnBrk="1" hangingPunct="1">
              <a:spcBef>
                <a:spcPct val="50000"/>
              </a:spcBef>
              <a:buClr>
                <a:srgbClr val="0000FF"/>
              </a:buClr>
              <a:buSzPct val="80000"/>
              <a:buFont typeface="Wingdings" pitchFamily="2" charset="2"/>
              <a:buNone/>
            </a:pPr>
            <a:r>
              <a:rPr kumimoji="1" lang="zh-CN" altLang="en-US"/>
              <a:t>	特别，当向量组 </a:t>
            </a:r>
            <a:r>
              <a:rPr kumimoji="1" lang="en-US" altLang="zh-CN" i="1"/>
              <a:t>A </a:t>
            </a:r>
            <a:r>
              <a:rPr kumimoji="1" lang="zh-CN" altLang="en-US"/>
              <a:t>为无限向量组，就能用有限向量组来代表．</a:t>
            </a:r>
          </a:p>
          <a:p>
            <a:pPr marL="457200" indent="-457200" eaLnBrk="1" hangingPunct="1">
              <a:spcBef>
                <a:spcPct val="50000"/>
              </a:spcBef>
              <a:buClr>
                <a:srgbClr val="0000FF"/>
              </a:buClr>
              <a:buSzPct val="80000"/>
              <a:buFont typeface="Wingdings" pitchFamily="2" charset="2"/>
              <a:buChar char="l"/>
            </a:pPr>
            <a:r>
              <a:rPr kumimoji="1" lang="zh-CN" altLang="en-US"/>
              <a:t>凡是对有限向量组成立的结论，用最大无关组作过渡，立即可推广到无限向量组的情形中去．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2" name="Text Box 8"/>
          <p:cNvSpPr txBox="1">
            <a:spLocks noChangeArrowheads="1"/>
          </p:cNvSpPr>
          <p:nvPr/>
        </p:nvSpPr>
        <p:spPr bwMode="auto">
          <a:xfrm>
            <a:off x="146051" y="898674"/>
            <a:ext cx="889044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6600FF"/>
                </a:solidFill>
              </a:rPr>
              <a:t>例</a:t>
            </a:r>
            <a:r>
              <a:rPr lang="en-US" altLang="zh-CN" b="1" dirty="0">
                <a:solidFill>
                  <a:srgbClr val="6600FF"/>
                </a:solidFill>
              </a:rPr>
              <a:t>11</a:t>
            </a:r>
            <a:r>
              <a:rPr lang="zh-CN" altLang="en-US" b="1" dirty="0">
                <a:solidFill>
                  <a:schemeClr val="tx2"/>
                </a:solidFill>
              </a:rPr>
              <a:t>  设向量组</a:t>
            </a:r>
            <a:r>
              <a:rPr lang="en-US" altLang="zh-CN" b="1" dirty="0">
                <a:solidFill>
                  <a:schemeClr val="tx2"/>
                </a:solidFill>
              </a:rPr>
              <a:t>B</a:t>
            </a:r>
            <a:r>
              <a:rPr lang="zh-CN" altLang="en-US" b="1" dirty="0">
                <a:solidFill>
                  <a:schemeClr val="tx2"/>
                </a:solidFill>
              </a:rPr>
              <a:t>能由向量组</a:t>
            </a:r>
            <a:r>
              <a:rPr lang="en-US" altLang="zh-CN" b="1" dirty="0">
                <a:solidFill>
                  <a:schemeClr val="tx2"/>
                </a:solidFill>
              </a:rPr>
              <a:t>A</a:t>
            </a:r>
            <a:r>
              <a:rPr lang="zh-CN" altLang="en-US" b="1" dirty="0">
                <a:solidFill>
                  <a:schemeClr val="tx2"/>
                </a:solidFill>
              </a:rPr>
              <a:t>线性表示，且它们的秩相</a:t>
            </a:r>
            <a:endParaRPr lang="en-US" altLang="zh-CN" b="1" dirty="0">
              <a:solidFill>
                <a:schemeClr val="tx2"/>
              </a:solidFill>
            </a:endParaRPr>
          </a:p>
          <a:p>
            <a:pPr eaLnBrk="1" hangingPunct="1"/>
            <a:r>
              <a:rPr lang="zh-CN" altLang="en-US" b="1" dirty="0">
                <a:solidFill>
                  <a:schemeClr val="tx2"/>
                </a:solidFill>
              </a:rPr>
              <a:t>          等，证明：向量组</a:t>
            </a:r>
            <a:r>
              <a:rPr lang="en-US" altLang="zh-CN" b="1" dirty="0">
                <a:solidFill>
                  <a:schemeClr val="tx2"/>
                </a:solidFill>
              </a:rPr>
              <a:t>B</a:t>
            </a:r>
            <a:r>
              <a:rPr lang="zh-CN" altLang="en-US" b="1" dirty="0">
                <a:solidFill>
                  <a:schemeClr val="tx2"/>
                </a:solidFill>
              </a:rPr>
              <a:t>与向量组</a:t>
            </a:r>
            <a:r>
              <a:rPr lang="en-US" altLang="zh-CN" b="1" dirty="0">
                <a:solidFill>
                  <a:schemeClr val="tx2"/>
                </a:solidFill>
              </a:rPr>
              <a:t>A</a:t>
            </a:r>
            <a:r>
              <a:rPr lang="zh-CN" altLang="en-US" b="1" dirty="0">
                <a:solidFill>
                  <a:schemeClr val="tx2"/>
                </a:solidFill>
              </a:rPr>
              <a:t>等价。</a:t>
            </a:r>
          </a:p>
        </p:txBody>
      </p:sp>
    </p:spTree>
    <p:extLst>
      <p:ext uri="{BB962C8B-B14F-4D97-AF65-F5344CB8AC3E}">
        <p14:creationId xmlns:p14="http://schemas.microsoft.com/office/powerpoint/2010/main" val="3186075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2" grpId="0" bldLvl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59832" y="1484784"/>
            <a:ext cx="248497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作业     习题四</a:t>
            </a:r>
            <a:endParaRPr lang="en-US" altLang="zh-CN" sz="2800" b="1" dirty="0"/>
          </a:p>
          <a:p>
            <a:endParaRPr lang="en-US" altLang="zh-CN" sz="2800" b="1" dirty="0"/>
          </a:p>
          <a:p>
            <a:r>
              <a:rPr lang="en-US" altLang="zh-CN" sz="2800" b="1" dirty="0"/>
              <a:t>14.</a:t>
            </a:r>
          </a:p>
          <a:p>
            <a:r>
              <a:rPr lang="en-US" altLang="zh-CN" sz="2800" b="1" dirty="0"/>
              <a:t>15.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159886394"/>
      </p:ext>
    </p:extLst>
  </p:cSld>
  <p:clrMapOvr>
    <a:masterClrMapping/>
  </p:clrMapOvr>
</p:sld>
</file>

<file path=ppt/theme/theme1.xml><?xml version="1.0" encoding="utf-8"?>
<a:theme xmlns:a="http://schemas.openxmlformats.org/drawingml/2006/main" name="16_Blends">
  <a:themeElements>
    <a:clrScheme name="2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2_Blends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6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2_Blends 5">
    <a:dk1>
      <a:srgbClr val="000000"/>
    </a:dk1>
    <a:lt1>
      <a:srgbClr val="FFFFFF"/>
    </a:lt1>
    <a:dk2>
      <a:srgbClr val="000066"/>
    </a:dk2>
    <a:lt2>
      <a:srgbClr val="333333"/>
    </a:lt2>
    <a:accent1>
      <a:srgbClr val="C4709A"/>
    </a:accent1>
    <a:accent2>
      <a:srgbClr val="4B4EB5"/>
    </a:accent2>
    <a:accent3>
      <a:srgbClr val="FFFFFF"/>
    </a:accent3>
    <a:accent4>
      <a:srgbClr val="000000"/>
    </a:accent4>
    <a:accent5>
      <a:srgbClr val="DEBBCA"/>
    </a:accent5>
    <a:accent6>
      <a:srgbClr val="4346A4"/>
    </a:accent6>
    <a:hlink>
      <a:srgbClr val="C481CF"/>
    </a:hlink>
    <a:folHlink>
      <a:srgbClr val="76B74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2224</TotalTime>
  <Words>1234</Words>
  <Application>Microsoft Office PowerPoint</Application>
  <PresentationFormat>全屏显示(4:3)</PresentationFormat>
  <Paragraphs>147</Paragraphs>
  <Slides>20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楷体_GB2312</vt:lpstr>
      <vt:lpstr>宋体</vt:lpstr>
      <vt:lpstr>Arial</vt:lpstr>
      <vt:lpstr>Calibri</vt:lpstr>
      <vt:lpstr>Times New Roman</vt:lpstr>
      <vt:lpstr>Wingdings</vt:lpstr>
      <vt:lpstr>16_Blends</vt:lpstr>
      <vt:lpstr>16_Pixel</vt:lpstr>
      <vt:lpstr>Microsoft Word 97 - 2003 Document</vt:lpstr>
      <vt:lpstr>Equation</vt:lpstr>
      <vt:lpstr>MathType 6.0 Equation</vt:lpstr>
      <vt:lpstr>Document</vt:lpstr>
      <vt:lpstr>Microsoft Equation 3.0</vt:lpstr>
      <vt:lpstr>PowerPoint 演示文稿</vt:lpstr>
      <vt:lpstr>PowerPoint 演示文稿</vt:lpstr>
      <vt:lpstr>§3  向量组的秩</vt:lpstr>
      <vt:lpstr>PowerPoint 演示文稿</vt:lpstr>
      <vt:lpstr>PowerPoint 演示文稿</vt:lpstr>
      <vt:lpstr>最大（极大）无关组和向量组的秩的概念</vt:lpstr>
      <vt:lpstr>最大无关组的等价定义</vt:lpstr>
      <vt:lpstr>PowerPoint 演示文稿</vt:lpstr>
      <vt:lpstr>PowerPoint 演示文稿</vt:lpstr>
      <vt:lpstr>PowerPoint 演示文稿</vt:lpstr>
      <vt:lpstr>PowerPoint 演示文稿</vt:lpstr>
      <vt:lpstr>回顾：矩阵的秩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最大无关组的意义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线性代数（第五版）</dc:title>
  <dc:creator>卢浩杰</dc:creator>
  <cp:lastModifiedBy>Lenovo</cp:lastModifiedBy>
  <cp:revision>62</cp:revision>
  <dcterms:created xsi:type="dcterms:W3CDTF">2012-04-21T04:49:10Z</dcterms:created>
  <dcterms:modified xsi:type="dcterms:W3CDTF">2023-12-05T01:07:55Z</dcterms:modified>
</cp:coreProperties>
</file>