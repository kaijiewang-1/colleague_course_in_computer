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9" r:id="rId1"/>
    <p:sldMasterId id="2147483971" r:id="rId2"/>
  </p:sldMasterIdLst>
  <p:notesMasterIdLst>
    <p:notesMasterId r:id="rId27"/>
  </p:notesMasterIdLst>
  <p:sldIdLst>
    <p:sldId id="510" r:id="rId3"/>
    <p:sldId id="540" r:id="rId4"/>
    <p:sldId id="541" r:id="rId5"/>
    <p:sldId id="515" r:id="rId6"/>
    <p:sldId id="514" r:id="rId7"/>
    <p:sldId id="543" r:id="rId8"/>
    <p:sldId id="517" r:id="rId9"/>
    <p:sldId id="545" r:id="rId10"/>
    <p:sldId id="549" r:id="rId11"/>
    <p:sldId id="552" r:id="rId12"/>
    <p:sldId id="550" r:id="rId13"/>
    <p:sldId id="551" r:id="rId14"/>
    <p:sldId id="522" r:id="rId15"/>
    <p:sldId id="523" r:id="rId16"/>
    <p:sldId id="529" r:id="rId17"/>
    <p:sldId id="530" r:id="rId18"/>
    <p:sldId id="531" r:id="rId19"/>
    <p:sldId id="532" r:id="rId20"/>
    <p:sldId id="547" r:id="rId21"/>
    <p:sldId id="533" r:id="rId22"/>
    <p:sldId id="535" r:id="rId23"/>
    <p:sldId id="538" r:id="rId24"/>
    <p:sldId id="536" r:id="rId25"/>
    <p:sldId id="548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C3EB49BF-54A5-4218-9A35-035202A870EC}" type="datetimeFigureOut">
              <a:rPr lang="zh-CN" altLang="en-US"/>
              <a:pPr>
                <a:defRPr/>
              </a:pPr>
              <a:t>2023/11/13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940D47E-1F44-45E2-AE4F-72CEE8BB95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209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40D47E-1F44-45E2-AE4F-72CEE8BB95E4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77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ea typeface="+mn-ea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32FA2F50-545A-4449-8BEC-BBF7CE206F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50144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B63CFA0-1F3C-4FA8-AEEE-FAF36C00A7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418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224B90-8A94-4A0B-B6C6-534894102E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413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693F45E-267D-4E8B-835A-37C2B07FEA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26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A673A8E-EED2-434B-A1A2-FEB28F1FA0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18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B2A433F-8929-451B-A64A-64EC461D9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77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D45B37B-D6C4-463A-A77B-8E657D7E11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256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E2F646-5ED6-4307-BFD4-C1179C8314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046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F736D34-5101-4222-A400-9FC4606EF6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05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E0EF59C-F24D-4E62-8FB5-A542D0D48F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351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5C88041-44B6-4588-BE1F-601F66A381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9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33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97991AD-4276-4ECB-A56E-64C34C549A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149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9F46D3E-580C-4786-9699-88CBAF715E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644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7C7C8E-07CC-4286-84AC-C7EE1BBF2E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448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5045E78-7604-4927-B877-C182C52ABC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4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4A67F46-10C4-4EEC-9BC4-1C1158FE26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484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886790-DC7B-4E5C-A5A8-81C529E49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295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E713229-0D3F-4AE2-BC4F-2A3F44D48B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617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0B9C869-9563-4F44-A794-A1457532BE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3510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3A36DA8-7788-4DA7-BBB1-7575B67D8D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444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B603F7B-E115-4D94-8960-875E32F1C8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5726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6200"/>
            <a:ext cx="205740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601980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D8C8FDD-4690-4E44-B781-6C036D01D6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11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32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32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34EA686-EFA6-44BC-B203-B656B137DC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66" r:id="rId10"/>
    <p:sldLayoutId id="21474850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1F614D76-E4F7-4606-9568-C0741F263A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424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</p:grpSp>
      <p:sp>
        <p:nvSpPr>
          <p:cNvPr id="394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4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68" r:id="rId1"/>
    <p:sldLayoutId id="2147485069" r:id="rId2"/>
    <p:sldLayoutId id="2147485070" r:id="rId3"/>
    <p:sldLayoutId id="2147485071" r:id="rId4"/>
    <p:sldLayoutId id="2147485072" r:id="rId5"/>
    <p:sldLayoutId id="2147485073" r:id="rId6"/>
    <p:sldLayoutId id="2147485074" r:id="rId7"/>
    <p:sldLayoutId id="2147485075" r:id="rId8"/>
    <p:sldLayoutId id="2147485076" r:id="rId9"/>
    <p:sldLayoutId id="2147485077" r:id="rId10"/>
    <p:sldLayoutId id="214748507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5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5" Type="http://schemas.openxmlformats.org/officeDocument/2006/relationships/image" Target="../media/image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.wmf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4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3.bin"/><Relationship Id="rId10" Type="http://schemas.openxmlformats.org/officeDocument/2006/relationships/image" Target="../media/image4.wmf"/><Relationship Id="rId19" Type="http://schemas.openxmlformats.org/officeDocument/2006/relationships/image" Target="../media/image7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8.wmf"/><Relationship Id="rId27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audio" Target="../media/audio1.wav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3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3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4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8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>
                <a:solidFill>
                  <a:srgbClr val="CC0099"/>
                </a:solidFill>
              </a:rPr>
              <a:t>§2  </a:t>
            </a:r>
            <a:r>
              <a:rPr kumimoji="1" lang="zh-CN" altLang="en-US" sz="3600" b="1">
                <a:solidFill>
                  <a:srgbClr val="CC0099"/>
                </a:solidFill>
              </a:rPr>
              <a:t>矩阵的秩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6"/>
          <p:cNvSpPr txBox="1">
            <a:spLocks noChangeArrowheads="1"/>
          </p:cNvSpPr>
          <p:nvPr/>
        </p:nvSpPr>
        <p:spPr bwMode="auto">
          <a:xfrm>
            <a:off x="-5148" y="760412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3413F7"/>
                </a:solidFill>
              </a:rPr>
              <a:t>一、矩阵的秩的概念</a:t>
            </a: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1695450"/>
            <a:ext cx="8455025" cy="2333625"/>
            <a:chOff x="0" y="0"/>
            <a:chExt cx="5326" cy="1470"/>
          </a:xfrm>
        </p:grpSpPr>
        <p:graphicFrame>
          <p:nvGraphicFramePr>
            <p:cNvPr id="923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8058157"/>
                </p:ext>
              </p:extLst>
            </p:nvPr>
          </p:nvGraphicFramePr>
          <p:xfrm>
            <a:off x="3742" y="9"/>
            <a:ext cx="158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12" r:id="rId3" imgW="2513509" imgH="495085" progId="Equation.DSMT4">
                    <p:embed/>
                  </p:oleObj>
                </mc:Choice>
                <mc:Fallback>
                  <p:oleObj r:id="rId3" imgW="2513509" imgH="495085" progId="Equation.DSMT4">
                    <p:embed/>
                    <p:pic>
                      <p:nvPicPr>
                        <p:cNvPr id="923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9"/>
                          <a:ext cx="158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6"/>
            <p:cNvGraphicFramePr>
              <a:graphicFrameLocks noChangeAspect="1"/>
            </p:cNvGraphicFramePr>
            <p:nvPr/>
          </p:nvGraphicFramePr>
          <p:xfrm>
            <a:off x="2626" y="417"/>
            <a:ext cx="23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13" r:id="rId5" imgW="368460" imgH="393871" progId="Equation.3">
                    <p:embed/>
                  </p:oleObj>
                </mc:Choice>
                <mc:Fallback>
                  <p:oleObj r:id="rId5" imgW="368460" imgH="393871" progId="Equation.3">
                    <p:embed/>
                    <p:pic>
                      <p:nvPicPr>
                        <p:cNvPr id="923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6" y="417"/>
                          <a:ext cx="232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35" name="Group 7"/>
            <p:cNvGrpSpPr>
              <a:grpSpLocks/>
            </p:cNvGrpSpPr>
            <p:nvPr/>
          </p:nvGrpSpPr>
          <p:grpSpPr bwMode="auto">
            <a:xfrm>
              <a:off x="544" y="0"/>
              <a:ext cx="3415" cy="327"/>
              <a:chOff x="0" y="0"/>
              <a:chExt cx="3415" cy="327"/>
            </a:xfrm>
          </p:grpSpPr>
          <p:sp>
            <p:nvSpPr>
              <p:cNvPr id="9248" name="Text Box 40"/>
              <p:cNvSpPr txBox="1">
                <a:spLocks noChangeArrowheads="1"/>
              </p:cNvSpPr>
              <p:nvPr/>
            </p:nvSpPr>
            <p:spPr bwMode="auto">
              <a:xfrm>
                <a:off x="1497" y="0"/>
                <a:ext cx="191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中，任取  行  列</a:t>
                </a:r>
              </a:p>
            </p:txBody>
          </p:sp>
          <p:graphicFrame>
            <p:nvGraphicFramePr>
              <p:cNvPr id="9249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1813382"/>
                  </p:ext>
                </p:extLst>
              </p:nvPr>
            </p:nvGraphicFramePr>
            <p:xfrm>
              <a:off x="1371" y="59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14" r:id="rId7" imgW="292100" imgH="304800" progId="Equation.3">
                      <p:embed/>
                    </p:oleObj>
                  </mc:Choice>
                  <mc:Fallback>
                    <p:oleObj r:id="rId7" imgW="292100" imgH="304800" progId="Equation.3">
                      <p:embed/>
                      <p:pic>
                        <p:nvPicPr>
                          <p:cNvPr id="9249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1" y="59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1198815"/>
                  </p:ext>
                </p:extLst>
              </p:nvPr>
            </p:nvGraphicFramePr>
            <p:xfrm>
              <a:off x="2456" y="73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15" r:id="rId9" imgW="241405" imgH="317638" progId="Equation.3">
                      <p:embed/>
                    </p:oleObj>
                  </mc:Choice>
                  <mc:Fallback>
                    <p:oleObj r:id="rId9" imgW="241405" imgH="317638" progId="Equation.3">
                      <p:embed/>
                      <p:pic>
                        <p:nvPicPr>
                          <p:cNvPr id="925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56" y="73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1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5781081"/>
                  </p:ext>
                </p:extLst>
              </p:nvPr>
            </p:nvGraphicFramePr>
            <p:xfrm>
              <a:off x="2787" y="73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16" r:id="rId11" imgW="241405" imgH="317638" progId="Equation.3">
                      <p:embed/>
                    </p:oleObj>
                  </mc:Choice>
                  <mc:Fallback>
                    <p:oleObj r:id="rId11" imgW="241405" imgH="317638" progId="Equation.3">
                      <p:embed/>
                      <p:pic>
                        <p:nvPicPr>
                          <p:cNvPr id="9251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7" y="73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2" name="Object 12"/>
              <p:cNvGraphicFramePr>
                <a:graphicFrameLocks noChangeAspect="1"/>
              </p:cNvGraphicFramePr>
              <p:nvPr/>
            </p:nvGraphicFramePr>
            <p:xfrm>
              <a:off x="341" y="100"/>
              <a:ext cx="512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17" r:id="rId12" imgW="812800" imgH="241300" progId="Equation.3">
                      <p:embed/>
                    </p:oleObj>
                  </mc:Choice>
                  <mc:Fallback>
                    <p:oleObj r:id="rId12" imgW="812800" imgH="241300" progId="Equation.3">
                      <p:embed/>
                      <p:pic>
                        <p:nvPicPr>
                          <p:cNvPr id="925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" y="100"/>
                            <a:ext cx="512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53" name="Rectangle 4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在</a:t>
                </a:r>
              </a:p>
            </p:txBody>
          </p:sp>
          <p:sp>
            <p:nvSpPr>
              <p:cNvPr id="9254" name="Rectangle 46"/>
              <p:cNvSpPr>
                <a:spLocks noChangeArrowheads="1"/>
              </p:cNvSpPr>
              <p:nvPr/>
            </p:nvSpPr>
            <p:spPr bwMode="auto">
              <a:xfrm>
                <a:off x="862" y="0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矩阵</a:t>
                </a:r>
              </a:p>
            </p:txBody>
          </p:sp>
        </p:grpSp>
        <p:sp>
          <p:nvSpPr>
            <p:cNvPr id="9236" name="Text Box 47"/>
            <p:cNvSpPr txBox="1">
              <a:spLocks noChangeArrowheads="1"/>
            </p:cNvSpPr>
            <p:nvPr/>
          </p:nvSpPr>
          <p:spPr bwMode="auto">
            <a:xfrm>
              <a:off x="46" y="372"/>
              <a:ext cx="25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位于这些行与列交叉处的</a:t>
              </a:r>
            </a:p>
          </p:txBody>
        </p:sp>
        <p:sp>
          <p:nvSpPr>
            <p:cNvPr id="9237" name="Rectangle 48"/>
            <p:cNvSpPr>
              <a:spLocks noChangeArrowheads="1"/>
            </p:cNvSpPr>
            <p:nvPr/>
          </p:nvSpPr>
          <p:spPr bwMode="auto">
            <a:xfrm>
              <a:off x="2849" y="372"/>
              <a:ext cx="21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个元素，依照它们在</a:t>
              </a:r>
            </a:p>
          </p:txBody>
        </p:sp>
        <p:graphicFrame>
          <p:nvGraphicFramePr>
            <p:cNvPr id="9238" name="Object 17"/>
            <p:cNvGraphicFramePr>
              <a:graphicFrameLocks noChangeAspect="1"/>
            </p:cNvGraphicFramePr>
            <p:nvPr/>
          </p:nvGraphicFramePr>
          <p:xfrm>
            <a:off x="4987" y="417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18" r:id="rId14" imgW="292100" imgH="304800" progId="Equation.3">
                    <p:embed/>
                  </p:oleObj>
                </mc:Choice>
                <mc:Fallback>
                  <p:oleObj r:id="rId14" imgW="292100" imgH="304800" progId="Equation.3">
                    <p:embed/>
                    <p:pic>
                      <p:nvPicPr>
                        <p:cNvPr id="923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7" y="417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9" name="Text Box 50"/>
            <p:cNvSpPr txBox="1">
              <a:spLocks noChangeArrowheads="1"/>
            </p:cNvSpPr>
            <p:nvPr/>
          </p:nvSpPr>
          <p:spPr bwMode="auto">
            <a:xfrm>
              <a:off x="46" y="780"/>
              <a:ext cx="25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中的位置次序不变而得的</a:t>
              </a:r>
            </a:p>
          </p:txBody>
        </p:sp>
        <p:sp>
          <p:nvSpPr>
            <p:cNvPr id="9240" name="Rectangle 51"/>
            <p:cNvSpPr>
              <a:spLocks noChangeArrowheads="1"/>
            </p:cNvSpPr>
            <p:nvPr/>
          </p:nvSpPr>
          <p:spPr bwMode="auto">
            <a:xfrm>
              <a:off x="2813" y="780"/>
              <a:ext cx="22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阶行列式，称为矩阵 </a:t>
              </a:r>
            </a:p>
          </p:txBody>
        </p:sp>
        <p:sp>
          <p:nvSpPr>
            <p:cNvPr id="9241" name="Rectangle 52"/>
            <p:cNvSpPr>
              <a:spLocks noChangeArrowheads="1"/>
            </p:cNvSpPr>
            <p:nvPr/>
          </p:nvSpPr>
          <p:spPr bwMode="auto">
            <a:xfrm>
              <a:off x="60" y="1143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的一个</a:t>
              </a:r>
            </a:p>
          </p:txBody>
        </p:sp>
        <p:graphicFrame>
          <p:nvGraphicFramePr>
            <p:cNvPr id="9242" name="Object 21"/>
            <p:cNvGraphicFramePr>
              <a:graphicFrameLocks noChangeAspect="1"/>
            </p:cNvGraphicFramePr>
            <p:nvPr/>
          </p:nvGraphicFramePr>
          <p:xfrm>
            <a:off x="2661" y="85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19" r:id="rId15" imgW="241405" imgH="317638" progId="Equation.3">
                    <p:embed/>
                  </p:oleObj>
                </mc:Choice>
                <mc:Fallback>
                  <p:oleObj r:id="rId15" imgW="241405" imgH="317638" progId="Equation.3">
                    <p:embed/>
                    <p:pic>
                      <p:nvPicPr>
                        <p:cNvPr id="9242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1" y="85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3" name="Rectangle 54"/>
            <p:cNvSpPr>
              <a:spLocks noChangeArrowheads="1"/>
            </p:cNvSpPr>
            <p:nvPr/>
          </p:nvSpPr>
          <p:spPr bwMode="auto">
            <a:xfrm>
              <a:off x="0" y="9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3413F7"/>
                  </a:solidFill>
                  <a:latin typeface="楷体_GB2312" pitchFamily="49" charset="-122"/>
                  <a:ea typeface="楷体_GB2312" pitchFamily="49" charset="-122"/>
                </a:rPr>
                <a:t>定义</a:t>
              </a:r>
            </a:p>
          </p:txBody>
        </p:sp>
        <p:graphicFrame>
          <p:nvGraphicFramePr>
            <p:cNvPr id="9244" name="Object 23"/>
            <p:cNvGraphicFramePr>
              <a:graphicFrameLocks noChangeAspect="1"/>
            </p:cNvGraphicFramePr>
            <p:nvPr/>
          </p:nvGraphicFramePr>
          <p:xfrm>
            <a:off x="4945" y="825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0" r:id="rId17" imgW="292100" imgH="304800" progId="Equation.3">
                    <p:embed/>
                  </p:oleObj>
                </mc:Choice>
                <mc:Fallback>
                  <p:oleObj r:id="rId17" imgW="292100" imgH="304800" progId="Equation.3">
                    <p:embed/>
                    <p:pic>
                      <p:nvPicPr>
                        <p:cNvPr id="924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5" y="825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45" name="Group 24"/>
            <p:cNvGrpSpPr>
              <a:grpSpLocks/>
            </p:cNvGrpSpPr>
            <p:nvPr/>
          </p:nvGrpSpPr>
          <p:grpSpPr bwMode="auto">
            <a:xfrm>
              <a:off x="831" y="1134"/>
              <a:ext cx="1069" cy="327"/>
              <a:chOff x="0" y="0"/>
              <a:chExt cx="1069" cy="327"/>
            </a:xfrm>
          </p:grpSpPr>
          <p:graphicFrame>
            <p:nvGraphicFramePr>
              <p:cNvPr id="9246" name="Object 25"/>
              <p:cNvGraphicFramePr>
                <a:graphicFrameLocks noChangeAspect="1"/>
              </p:cNvGraphicFramePr>
              <p:nvPr/>
            </p:nvGraphicFramePr>
            <p:xfrm>
              <a:off x="0" y="6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21" r:id="rId18" imgW="241405" imgH="317638" progId="Equation.DSMT4">
                      <p:embed/>
                    </p:oleObj>
                  </mc:Choice>
                  <mc:Fallback>
                    <p:oleObj r:id="rId18" imgW="241405" imgH="317638" progId="Equation.DSMT4">
                      <p:embed/>
                      <p:pic>
                        <p:nvPicPr>
                          <p:cNvPr id="9246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6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47" name="Rectangle 58"/>
              <p:cNvSpPr>
                <a:spLocks noChangeArrowheads="1"/>
              </p:cNvSpPr>
              <p:nvPr/>
            </p:nvSpPr>
            <p:spPr bwMode="auto">
              <a:xfrm>
                <a:off x="167" y="0"/>
                <a:ext cx="90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阶子式</a:t>
                </a:r>
                <a:r>
                  <a:rPr lang="zh-CN" altLang="en-US" b="1">
                    <a:latin typeface="楷体_GB2312" pitchFamily="49" charset="-122"/>
                    <a:ea typeface="楷体_GB2312" pitchFamily="49" charset="-122"/>
                  </a:rPr>
                  <a:t>.</a:t>
                </a:r>
              </a:p>
            </p:txBody>
          </p:sp>
        </p:grpSp>
      </p:grpSp>
      <p:grpSp>
        <p:nvGrpSpPr>
          <p:cNvPr id="8219" name="Group 27"/>
          <p:cNvGrpSpPr>
            <a:grpSpLocks/>
          </p:cNvGrpSpPr>
          <p:nvPr/>
        </p:nvGrpSpPr>
        <p:grpSpPr bwMode="auto">
          <a:xfrm>
            <a:off x="685800" y="4495800"/>
            <a:ext cx="5205413" cy="523876"/>
            <a:chOff x="0" y="0"/>
            <a:chExt cx="3279" cy="330"/>
          </a:xfrm>
        </p:grpSpPr>
        <p:graphicFrame>
          <p:nvGraphicFramePr>
            <p:cNvPr id="9229" name="Object 28"/>
            <p:cNvGraphicFramePr>
              <a:graphicFrameLocks noChangeAspect="1"/>
            </p:cNvGraphicFramePr>
            <p:nvPr/>
          </p:nvGraphicFramePr>
          <p:xfrm>
            <a:off x="0" y="101"/>
            <a:ext cx="5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2" r:id="rId20" imgW="812800" imgH="241300" progId="Equation.3">
                    <p:embed/>
                  </p:oleObj>
                </mc:Choice>
                <mc:Fallback>
                  <p:oleObj r:id="rId20" imgW="812800" imgH="241300" progId="Equation.3">
                    <p:embed/>
                    <p:pic>
                      <p:nvPicPr>
                        <p:cNvPr id="92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1"/>
                          <a:ext cx="5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Rectangle 61"/>
            <p:cNvSpPr>
              <a:spLocks noChangeArrowheads="1"/>
            </p:cNvSpPr>
            <p:nvPr/>
          </p:nvSpPr>
          <p:spPr bwMode="auto">
            <a:xfrm>
              <a:off x="544" y="0"/>
              <a:ext cx="27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矩阵共有         个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zh-CN" altLang="en-US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阶子式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9231" name="Object 30"/>
            <p:cNvGraphicFramePr>
              <a:graphicFrameLocks noChangeAspect="1"/>
            </p:cNvGraphicFramePr>
            <p:nvPr/>
          </p:nvGraphicFramePr>
          <p:xfrm>
            <a:off x="1550" y="23"/>
            <a:ext cx="53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3" r:id="rId21" imgW="850900" imgH="482600" progId="Equation.DSMT4">
                    <p:embed/>
                  </p:oleObj>
                </mc:Choice>
                <mc:Fallback>
                  <p:oleObj r:id="rId21" imgW="850900" imgH="482600" progId="Equation.DSMT4">
                    <p:embed/>
                    <p:pic>
                      <p:nvPicPr>
                        <p:cNvPr id="92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0" y="23"/>
                          <a:ext cx="53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2" name="Object 31"/>
            <p:cNvGraphicFramePr>
              <a:graphicFrameLocks noChangeAspect="1"/>
            </p:cNvGraphicFramePr>
            <p:nvPr/>
          </p:nvGraphicFramePr>
          <p:xfrm>
            <a:off x="2297" y="8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24" r:id="rId23" imgW="241405" imgH="317638" progId="Equation.DSMT4">
                    <p:embed/>
                  </p:oleObj>
                </mc:Choice>
                <mc:Fallback>
                  <p:oleObj r:id="rId23" imgW="241405" imgH="317638" progId="Equation.DSMT4">
                    <p:embed/>
                    <p:pic>
                      <p:nvPicPr>
                        <p:cNvPr id="92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" y="8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24" name="Group 32"/>
          <p:cNvGrpSpPr>
            <a:grpSpLocks/>
          </p:cNvGrpSpPr>
          <p:nvPr/>
        </p:nvGrpSpPr>
        <p:grpSpPr bwMode="auto">
          <a:xfrm>
            <a:off x="381000" y="5348288"/>
            <a:ext cx="6464301" cy="525461"/>
            <a:chOff x="0" y="0"/>
            <a:chExt cx="4072" cy="331"/>
          </a:xfrm>
        </p:grpSpPr>
        <p:grpSp>
          <p:nvGrpSpPr>
            <p:cNvPr id="9223" name="Group 33"/>
            <p:cNvGrpSpPr>
              <a:grpSpLocks/>
            </p:cNvGrpSpPr>
            <p:nvPr/>
          </p:nvGrpSpPr>
          <p:grpSpPr bwMode="auto">
            <a:xfrm>
              <a:off x="0" y="0"/>
              <a:ext cx="1675" cy="331"/>
              <a:chOff x="0" y="0"/>
              <a:chExt cx="1675" cy="331"/>
            </a:xfrm>
          </p:grpSpPr>
          <p:graphicFrame>
            <p:nvGraphicFramePr>
              <p:cNvPr id="9227" name="Object 34"/>
              <p:cNvGraphicFramePr>
                <a:graphicFrameLocks noChangeAspect="1"/>
              </p:cNvGraphicFramePr>
              <p:nvPr/>
            </p:nvGraphicFramePr>
            <p:xfrm>
              <a:off x="998" y="80"/>
              <a:ext cx="11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25" r:id="rId24" imgW="177723" imgH="304668" progId="Equation.3">
                      <p:embed/>
                    </p:oleObj>
                  </mc:Choice>
                  <mc:Fallback>
                    <p:oleObj r:id="rId24" imgW="177723" imgH="304668" progId="Equation.3">
                      <p:embed/>
                      <p:pic>
                        <p:nvPicPr>
                          <p:cNvPr id="9227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8" y="80"/>
                            <a:ext cx="11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8" name="Rectangle 6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75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最低阶为   阶，</a:t>
                </a:r>
              </a:p>
            </p:txBody>
          </p:sp>
        </p:grpSp>
        <p:grpSp>
          <p:nvGrpSpPr>
            <p:cNvPr id="9224" name="Group 36"/>
            <p:cNvGrpSpPr>
              <a:grpSpLocks/>
            </p:cNvGrpSpPr>
            <p:nvPr/>
          </p:nvGrpSpPr>
          <p:grpSpPr bwMode="auto">
            <a:xfrm>
              <a:off x="1678" y="0"/>
              <a:ext cx="2394" cy="330"/>
              <a:chOff x="0" y="0"/>
              <a:chExt cx="2394" cy="330"/>
            </a:xfrm>
          </p:grpSpPr>
          <p:sp>
            <p:nvSpPr>
              <p:cNvPr id="9225" name="Text Box 6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39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最高阶为                阶.</a:t>
                </a:r>
              </a:p>
            </p:txBody>
          </p:sp>
          <p:graphicFrame>
            <p:nvGraphicFramePr>
              <p:cNvPr id="9226" name="Object 38"/>
              <p:cNvGraphicFramePr>
                <a:graphicFrameLocks noChangeAspect="1"/>
              </p:cNvGraphicFramePr>
              <p:nvPr/>
            </p:nvGraphicFramePr>
            <p:xfrm>
              <a:off x="998" y="55"/>
              <a:ext cx="96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26" r:id="rId26" imgW="1524000" imgH="381000" progId="Equation.DSMT4">
                      <p:embed/>
                    </p:oleObj>
                  </mc:Choice>
                  <mc:Fallback>
                    <p:oleObj r:id="rId26" imgW="1524000" imgH="381000" progId="Equation.DSMT4">
                      <p:embed/>
                      <p:pic>
                        <p:nvPicPr>
                          <p:cNvPr id="9226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8" y="55"/>
                            <a:ext cx="96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CCCC">
                                    <a:alpha val="89803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18507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533400" y="83820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3413F7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：矩阵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416175" y="1316038"/>
          <a:ext cx="3352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8" r:id="rId3" imgW="3352800" imgH="1562100" progId="Equation.DSMT4">
                  <p:embed/>
                </p:oleObj>
              </mc:Choice>
              <mc:Fallback>
                <p:oleObj r:id="rId3" imgW="3352800" imgH="1562100" progId="Equation.DSMT4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1316038"/>
                        <a:ext cx="3352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471488" y="2971800"/>
            <a:ext cx="7688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取第1行、第3行和第1列、第4列交叉处的元素，</a:t>
            </a:r>
          </a:p>
        </p:txBody>
      </p:sp>
      <p:sp>
        <p:nvSpPr>
          <p:cNvPr id="9221" name="Line 9"/>
          <p:cNvSpPr>
            <a:spLocks noChangeShapeType="1"/>
          </p:cNvSpPr>
          <p:nvPr/>
        </p:nvSpPr>
        <p:spPr bwMode="auto">
          <a:xfrm>
            <a:off x="3206750" y="1603375"/>
            <a:ext cx="25209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Line 10"/>
          <p:cNvSpPr>
            <a:spLocks noChangeShapeType="1"/>
          </p:cNvSpPr>
          <p:nvPr/>
        </p:nvSpPr>
        <p:spPr bwMode="auto">
          <a:xfrm>
            <a:off x="3206750" y="2684463"/>
            <a:ext cx="25209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Line 11"/>
          <p:cNvSpPr>
            <a:spLocks noChangeShapeType="1"/>
          </p:cNvSpPr>
          <p:nvPr/>
        </p:nvSpPr>
        <p:spPr bwMode="auto">
          <a:xfrm flipH="1" flipV="1">
            <a:off x="3495675" y="1316038"/>
            <a:ext cx="0" cy="15843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Line 12"/>
          <p:cNvSpPr>
            <a:spLocks noChangeShapeType="1"/>
          </p:cNvSpPr>
          <p:nvPr/>
        </p:nvSpPr>
        <p:spPr bwMode="auto">
          <a:xfrm>
            <a:off x="5511800" y="1244600"/>
            <a:ext cx="0" cy="16557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2487613" y="3578225"/>
          <a:ext cx="1765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9" r:id="rId5" imgW="1766067" imgH="978325" progId="Equation.DSMT4">
                  <p:embed/>
                </p:oleObj>
              </mc:Choice>
              <mc:Fallback>
                <p:oleObj r:id="rId5" imgW="1766067" imgH="978325" progId="Equation.DSMT4">
                  <p:embed/>
                  <p:pic>
                    <p:nvPicPr>
                      <p:cNvPr id="92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3578225"/>
                        <a:ext cx="1765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Rectangle 14"/>
          <p:cNvSpPr>
            <a:spLocks noChangeArrowheads="1"/>
          </p:cNvSpPr>
          <p:nvPr/>
        </p:nvSpPr>
        <p:spPr bwMode="auto">
          <a:xfrm>
            <a:off x="471488" y="3721100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二阶子式是</a:t>
            </a:r>
          </a:p>
        </p:txBody>
      </p:sp>
      <p:sp>
        <p:nvSpPr>
          <p:cNvPr id="9227" name="Rectangle 15"/>
          <p:cNvSpPr>
            <a:spLocks noChangeArrowheads="1"/>
          </p:cNvSpPr>
          <p:nvPr/>
        </p:nvSpPr>
        <p:spPr bwMode="auto">
          <a:xfrm>
            <a:off x="7888288" y="2957513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组成的</a:t>
            </a:r>
          </a:p>
        </p:txBody>
      </p:sp>
      <p:sp>
        <p:nvSpPr>
          <p:cNvPr id="9228" name="Oval 16"/>
          <p:cNvSpPr>
            <a:spLocks noChangeArrowheads="1"/>
          </p:cNvSpPr>
          <p:nvPr/>
        </p:nvSpPr>
        <p:spPr bwMode="auto">
          <a:xfrm>
            <a:off x="3208338" y="1387475"/>
            <a:ext cx="4318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9" name="Oval 17"/>
          <p:cNvSpPr>
            <a:spLocks noChangeArrowheads="1"/>
          </p:cNvSpPr>
          <p:nvPr/>
        </p:nvSpPr>
        <p:spPr bwMode="auto">
          <a:xfrm>
            <a:off x="5295900" y="1387475"/>
            <a:ext cx="4318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30" name="Oval 18"/>
          <p:cNvSpPr>
            <a:spLocks noChangeArrowheads="1"/>
          </p:cNvSpPr>
          <p:nvPr/>
        </p:nvSpPr>
        <p:spPr bwMode="auto">
          <a:xfrm>
            <a:off x="5295900" y="2395538"/>
            <a:ext cx="4318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31" name="Oval 19"/>
          <p:cNvSpPr>
            <a:spLocks noChangeArrowheads="1"/>
          </p:cNvSpPr>
          <p:nvPr/>
        </p:nvSpPr>
        <p:spPr bwMode="auto">
          <a:xfrm>
            <a:off x="3279775" y="2397125"/>
            <a:ext cx="4318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9232" name="Group 16"/>
          <p:cNvGrpSpPr>
            <a:grpSpLocks/>
          </p:cNvGrpSpPr>
          <p:nvPr/>
        </p:nvGrpSpPr>
        <p:grpSpPr bwMode="auto">
          <a:xfrm>
            <a:off x="381000" y="4876800"/>
            <a:ext cx="7485063" cy="519113"/>
            <a:chOff x="0" y="0"/>
            <a:chExt cx="4715" cy="327"/>
          </a:xfrm>
        </p:grpSpPr>
        <p:sp>
          <p:nvSpPr>
            <p:cNvPr id="10257" name="Text Box 21"/>
            <p:cNvSpPr txBox="1">
              <a:spLocks noChangeArrowheads="1"/>
            </p:cNvSpPr>
            <p:nvPr/>
          </p:nvSpPr>
          <p:spPr bwMode="auto">
            <a:xfrm>
              <a:off x="772" y="0"/>
              <a:ext cx="39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的最高阶子式是3阶，共有4个3阶子式.</a:t>
              </a:r>
            </a:p>
          </p:txBody>
        </p:sp>
        <p:graphicFrame>
          <p:nvGraphicFramePr>
            <p:cNvPr id="10258" name="Object 18"/>
            <p:cNvGraphicFramePr>
              <a:graphicFrameLocks noChangeAspect="1"/>
            </p:cNvGraphicFramePr>
            <p:nvPr/>
          </p:nvGraphicFramePr>
          <p:xfrm>
            <a:off x="588" y="91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30" r:id="rId7" imgW="292100" imgH="304800" progId="Equation.3">
                    <p:embed/>
                  </p:oleObj>
                </mc:Choice>
                <mc:Fallback>
                  <p:oleObj r:id="rId7" imgW="292100" imgH="304800" progId="Equation.3">
                    <p:embed/>
                    <p:pic>
                      <p:nvPicPr>
                        <p:cNvPr id="1025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" y="91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Rectangle 23"/>
            <p:cNvSpPr>
              <a:spLocks noChangeArrowheads="1"/>
            </p:cNvSpPr>
            <p:nvPr/>
          </p:nvSpPr>
          <p:spPr bwMode="auto">
            <a:xfrm>
              <a:off x="0" y="0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易见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004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20" grpId="0" autoUpdateAnimBg="0"/>
      <p:bldP spid="9226" grpId="0" autoUpdateAnimBg="0"/>
      <p:bldP spid="9227" grpId="0" autoUpdateAnimBg="0"/>
      <p:bldP spid="9228" grpId="0" animBg="1" autoUpdateAnimBg="0"/>
      <p:bldP spid="9229" grpId="0" animBg="1" autoUpdateAnimBg="0"/>
      <p:bldP spid="9230" grpId="0" animBg="1" autoUpdateAnimBg="0"/>
      <p:bldP spid="9231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13335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定义：</a:t>
            </a:r>
            <a:r>
              <a:rPr lang="zh-CN" altLang="en-US"/>
              <a:t>设矩阵 </a:t>
            </a:r>
            <a:r>
              <a:rPr lang="en-US" altLang="zh-CN" i="1"/>
              <a:t>A </a:t>
            </a:r>
            <a:r>
              <a:rPr lang="zh-CN" altLang="en-US"/>
              <a:t>中有一个不等于零的 </a:t>
            </a:r>
            <a:r>
              <a:rPr lang="en-US" altLang="zh-CN" i="1"/>
              <a:t>r </a:t>
            </a:r>
            <a:r>
              <a:rPr lang="zh-CN" altLang="en-US"/>
              <a:t>阶子式</a:t>
            </a:r>
            <a:r>
              <a:rPr lang="zh-CN" altLang="en-US" i="1"/>
              <a:t> </a:t>
            </a:r>
            <a:r>
              <a:rPr lang="en-US" altLang="zh-CN" i="1"/>
              <a:t>D</a:t>
            </a:r>
            <a:r>
              <a:rPr lang="zh-CN" altLang="en-US"/>
              <a:t>，且所有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r</a:t>
            </a:r>
            <a:r>
              <a:rPr lang="en-US" altLang="zh-CN"/>
              <a:t> +1 </a:t>
            </a:r>
            <a:r>
              <a:rPr lang="zh-CN" altLang="en-US"/>
              <a:t>阶子式（如果存在的话）全等于零，那么</a:t>
            </a:r>
            <a:r>
              <a:rPr lang="zh-CN" altLang="en-US" i="1"/>
              <a:t> </a:t>
            </a:r>
            <a:r>
              <a:rPr lang="en-US" altLang="zh-CN" i="1"/>
              <a:t>D </a:t>
            </a:r>
            <a:r>
              <a:rPr lang="zh-CN" altLang="en-US"/>
              <a:t>称为矩阵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最高阶非零子式</a:t>
            </a:r>
            <a:r>
              <a:rPr lang="zh-CN" altLang="en-US"/>
              <a:t>，数 </a:t>
            </a:r>
            <a:r>
              <a:rPr lang="en-US" altLang="zh-CN" i="1"/>
              <a:t>r</a:t>
            </a:r>
            <a:r>
              <a:rPr lang="en-US" altLang="zh-CN"/>
              <a:t> </a:t>
            </a:r>
            <a:r>
              <a:rPr lang="zh-CN" altLang="en-US"/>
              <a:t>称为</a:t>
            </a:r>
            <a:r>
              <a:rPr lang="zh-CN" altLang="en-US">
                <a:solidFill>
                  <a:srgbClr val="FF0000"/>
                </a:solidFill>
              </a:rPr>
              <a:t>矩阵</a:t>
            </a:r>
            <a:r>
              <a:rPr lang="zh-CN" altLang="en-US" i="1">
                <a:solidFill>
                  <a:srgbClr val="FF0000"/>
                </a:solidFill>
              </a:rPr>
              <a:t> 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的秩</a:t>
            </a:r>
            <a:r>
              <a:rPr lang="zh-CN" altLang="en-US"/>
              <a:t>，记作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zh-CN" altLang="en-US"/>
              <a:t>．</a:t>
            </a:r>
          </a:p>
        </p:txBody>
      </p:sp>
      <p:sp>
        <p:nvSpPr>
          <p:cNvPr id="51203" name="AutoShape 3"/>
          <p:cNvSpPr>
            <a:spLocks noChangeArrowheads="1"/>
          </p:cNvSpPr>
          <p:nvPr/>
        </p:nvSpPr>
        <p:spPr bwMode="auto">
          <a:xfrm>
            <a:off x="268288" y="2667000"/>
            <a:ext cx="8604250" cy="39243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根据行列式按行（列）展开法则可知，矩阵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中任何一个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阶子式（如果存在的话）都可以用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阶子式来表示．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如果矩阵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中所有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阶子式都等于零，那么所有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阶子式也都等于零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事实上，所有高于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阶的子式（如果存在的话）也都等于零 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5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因此矩阵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的秩就是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中非零子式的最高阶数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1018884" name="Text Box 4"/>
          <p:cNvSpPr txBox="1">
            <a:spLocks noChangeArrowheads="1"/>
          </p:cNvSpPr>
          <p:nvPr/>
        </p:nvSpPr>
        <p:spPr bwMode="auto">
          <a:xfrm>
            <a:off x="457200" y="203835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规定：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零矩阵的秩等于零．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512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3519488" y="2847975"/>
            <a:ext cx="1079500" cy="838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50193" name="Rectangle 17"/>
          <p:cNvSpPr>
            <a:spLocks noChangeArrowheads="1"/>
          </p:cNvSpPr>
          <p:nvPr/>
        </p:nvSpPr>
        <p:spPr bwMode="auto">
          <a:xfrm>
            <a:off x="5286375" y="2847975"/>
            <a:ext cx="1079500" cy="838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50194" name="Rectangle 18"/>
          <p:cNvSpPr>
            <a:spLocks noChangeArrowheads="1"/>
          </p:cNvSpPr>
          <p:nvPr/>
        </p:nvSpPr>
        <p:spPr bwMode="auto">
          <a:xfrm>
            <a:off x="7072313" y="2847975"/>
            <a:ext cx="1079500" cy="838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graphicFrame>
        <p:nvGraphicFramePr>
          <p:cNvPr id="50200" name="Object 8"/>
          <p:cNvGraphicFramePr>
            <a:graphicFrameLocks noChangeAspect="1"/>
          </p:cNvGraphicFramePr>
          <p:nvPr/>
        </p:nvGraphicFramePr>
        <p:xfrm>
          <a:off x="2819400" y="2786063"/>
          <a:ext cx="5380038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8" name="Equation" r:id="rId3" imgW="2692400" imgH="482600" progId="">
                  <p:embed/>
                </p:oleObj>
              </mc:Choice>
              <mc:Fallback>
                <p:oleObj name="Equation" r:id="rId3" imgW="2692400" imgH="4826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786063"/>
                        <a:ext cx="5380038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457200" y="2011363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</a:t>
            </a:r>
          </a:p>
        </p:txBody>
      </p:sp>
      <p:graphicFrame>
        <p:nvGraphicFramePr>
          <p:cNvPr id="50183" name="Object 9"/>
          <p:cNvGraphicFramePr>
            <a:graphicFrameLocks noChangeAspect="1"/>
          </p:cNvGraphicFramePr>
          <p:nvPr/>
        </p:nvGraphicFramePr>
        <p:xfrm>
          <a:off x="976313" y="2557463"/>
          <a:ext cx="1852612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29" name="Equation" r:id="rId5" imgW="927100" imgH="711200" progId="">
                  <p:embed/>
                </p:oleObj>
              </mc:Choice>
              <mc:Fallback>
                <p:oleObj name="Equation" r:id="rId5" imgW="927100" imgH="7112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2557463"/>
                        <a:ext cx="1852612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3733800" y="560388"/>
            <a:ext cx="0" cy="1220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>
            <a:off x="4389438" y="560388"/>
            <a:ext cx="0" cy="1220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3552825" y="688975"/>
            <a:ext cx="255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5045075" y="560388"/>
            <a:ext cx="0" cy="12207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3552825" y="1144588"/>
            <a:ext cx="255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3552825" y="1600200"/>
            <a:ext cx="255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 flipV="1">
            <a:off x="4114800" y="1920875"/>
            <a:ext cx="2895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 flipH="1">
            <a:off x="5867400" y="1920875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7" name="Line 21"/>
          <p:cNvSpPr>
            <a:spLocks noChangeShapeType="1"/>
          </p:cNvSpPr>
          <p:nvPr/>
        </p:nvSpPr>
        <p:spPr bwMode="auto">
          <a:xfrm>
            <a:off x="7010400" y="1920875"/>
            <a:ext cx="48895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8" name="Text Box 22"/>
          <p:cNvSpPr txBox="1">
            <a:spLocks noChangeArrowheads="1"/>
          </p:cNvSpPr>
          <p:nvPr/>
        </p:nvSpPr>
        <p:spPr bwMode="auto">
          <a:xfrm>
            <a:off x="6248400" y="14478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0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0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的 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0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阶子式 </a:t>
            </a:r>
          </a:p>
        </p:txBody>
      </p:sp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457200" y="4114800"/>
            <a:ext cx="82311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如果矩阵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中所有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阶子式都等于零，那么这个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阶子式也等于零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50203" name="Rectangle 27"/>
          <p:cNvSpPr>
            <a:spLocks noChangeArrowheads="1"/>
          </p:cNvSpPr>
          <p:nvPr/>
        </p:nvSpPr>
        <p:spPr bwMode="auto">
          <a:xfrm>
            <a:off x="4267200" y="990600"/>
            <a:ext cx="1079500" cy="838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graphicFrame>
        <p:nvGraphicFramePr>
          <p:cNvPr id="212996" name="Object 10"/>
          <p:cNvGraphicFramePr>
            <a:graphicFrameLocks noChangeAspect="1"/>
          </p:cNvGraphicFramePr>
          <p:nvPr/>
        </p:nvGraphicFramePr>
        <p:xfrm>
          <a:off x="2947988" y="442913"/>
          <a:ext cx="3248025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30" name="Equation" r:id="rId7" imgW="1625600" imgH="711200" progId="">
                  <p:embed/>
                </p:oleObj>
              </mc:Choice>
              <mc:Fallback>
                <p:oleObj name="Equation" r:id="rId7" imgW="1625600" imgH="7112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442913"/>
                        <a:ext cx="3248025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3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6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2" presetID="22" presetClass="entr" presetSubtype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5" presetID="2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8" presetID="2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1" presetID="22" presetClass="entr" presetSubtype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4" presetID="2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7" presetID="22" presetClass="entr" presetSubtype="8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2" grpId="0" animBg="1"/>
      <p:bldP spid="50193" grpId="0" animBg="1"/>
      <p:bldP spid="50194" grpId="0" animBg="1"/>
      <p:bldP spid="50182" grpId="0" autoUpdateAnimBg="0"/>
      <p:bldP spid="50184" grpId="0" animBg="1"/>
      <p:bldP spid="50184" grpId="1" animBg="1"/>
      <p:bldP spid="50184" grpId="2" animBg="1"/>
      <p:bldP spid="50184" grpId="3" animBg="1"/>
      <p:bldP spid="50185" grpId="0" animBg="1"/>
      <p:bldP spid="50185" grpId="1" animBg="1"/>
      <p:bldP spid="50185" grpId="2" animBg="1"/>
      <p:bldP spid="50185" grpId="3" animBg="1"/>
      <p:bldP spid="50186" grpId="0" animBg="1"/>
      <p:bldP spid="50186" grpId="1" animBg="1"/>
      <p:bldP spid="50187" grpId="0" animBg="1"/>
      <p:bldP spid="50187" grpId="1" animBg="1"/>
      <p:bldP spid="50187" grpId="2" animBg="1"/>
      <p:bldP spid="50187" grpId="3" animBg="1"/>
      <p:bldP spid="50188" grpId="0" animBg="1"/>
      <p:bldP spid="50188" grpId="1" animBg="1"/>
      <p:bldP spid="50188" grpId="2" animBg="1"/>
      <p:bldP spid="50188" grpId="3" animBg="1"/>
      <p:bldP spid="50188" grpId="4" animBg="1"/>
      <p:bldP spid="50189" grpId="0" animBg="1"/>
      <p:bldP spid="50189" grpId="1" animBg="1"/>
      <p:bldP spid="50189" grpId="2" animBg="1"/>
      <p:bldP spid="50189" grpId="3" animBg="1"/>
      <p:bldP spid="50189" grpId="4" animBg="1"/>
      <p:bldP spid="50195" grpId="0" animBg="1"/>
      <p:bldP spid="50196" grpId="0" animBg="1"/>
      <p:bldP spid="50197" grpId="0" animBg="1"/>
      <p:bldP spid="50198" grpId="0" autoUpdateAnimBg="0"/>
      <p:bldP spid="50199" grpId="0" autoUpdateAnimBg="0"/>
      <p:bldP spid="5020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381000" y="1196752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3413F7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609600" y="1806352"/>
            <a:ext cx="84268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1）若矩阵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中有某个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阶子式不为零，则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R(A)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不小于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s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；</a:t>
            </a: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685800" y="3101752"/>
            <a:ext cx="7096125" cy="595313"/>
            <a:chOff x="0" y="0"/>
            <a:chExt cx="4470" cy="375"/>
          </a:xfrm>
        </p:grpSpPr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2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chemeClr val="tx2"/>
                  </a:solidFill>
                </a:rPr>
                <a:t>3</a:t>
              </a:r>
              <a:r>
                <a:rPr lang="zh-CN" altLang="en-US" b="1" dirty="0">
                  <a:solidFill>
                    <a:schemeClr val="tx2"/>
                  </a:solidFill>
                </a:rPr>
                <a:t>）</a:t>
              </a:r>
              <a:r>
                <a:rPr lang="en-US" altLang="zh-CN" b="1" i="1" dirty="0"/>
                <a:t>A</a:t>
              </a:r>
              <a:r>
                <a:rPr lang="zh-CN" altLang="en-US" b="1" dirty="0">
                  <a:solidFill>
                    <a:schemeClr val="tx2"/>
                  </a:solidFill>
                </a:rPr>
                <a:t>为</a:t>
              </a:r>
              <a:r>
                <a:rPr lang="en-US" altLang="zh-CN" b="1" i="1" dirty="0" err="1"/>
                <a:t>m</a:t>
              </a:r>
              <a:r>
                <a:rPr lang="en-US" altLang="zh-CN" b="1" dirty="0" err="1"/>
                <a:t>×</a:t>
              </a:r>
              <a:r>
                <a:rPr lang="en-US" altLang="zh-CN" b="1" i="1" dirty="0" err="1"/>
                <a:t>n</a:t>
              </a:r>
              <a:r>
                <a:rPr lang="zh-CN" altLang="en-US" b="1" dirty="0">
                  <a:solidFill>
                    <a:schemeClr val="tx2"/>
                  </a:solidFill>
                </a:rPr>
                <a:t>矩阵，则</a:t>
              </a:r>
            </a:p>
          </p:txBody>
        </p:sp>
        <p:graphicFrame>
          <p:nvGraphicFramePr>
            <p:cNvPr id="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2502474"/>
                </p:ext>
              </p:extLst>
            </p:nvPr>
          </p:nvGraphicFramePr>
          <p:xfrm>
            <a:off x="2155" y="32"/>
            <a:ext cx="2315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18" name="Equation" r:id="rId3" imgW="1371600" imgH="203040" progId="Equation.DSMT4">
                    <p:embed/>
                  </p:oleObj>
                </mc:Choice>
                <mc:Fallback>
                  <p:oleObj name="Equation" r:id="rId3" imgW="1371600" imgH="203040" progId="Equation.DSMT4">
                    <p:embed/>
                    <p:pic>
                      <p:nvPicPr>
                        <p:cNvPr id="1127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" y="32"/>
                          <a:ext cx="2315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660400" y="2430240"/>
            <a:ext cx="8310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）若矩阵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中所有的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t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阶子式全为零，则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R(A)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小于</a:t>
            </a:r>
            <a:r>
              <a:rPr lang="en-US" altLang="zh-CN" b="1" dirty="0">
                <a:solidFill>
                  <a:schemeClr val="tx2"/>
                </a:solidFill>
                <a:latin typeface="华文楷体" panose="02010600040101010101" pitchFamily="2" charset="-122"/>
              </a:rPr>
              <a:t>t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</a:rPr>
              <a:t>；</a:t>
            </a:r>
          </a:p>
        </p:txBody>
      </p: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660400" y="3814363"/>
            <a:ext cx="8026401" cy="601663"/>
            <a:chOff x="0" y="20"/>
            <a:chExt cx="5056" cy="379"/>
          </a:xfrm>
        </p:grpSpPr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0" y="48"/>
              <a:ext cx="4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</a:rPr>
                <a:t>4）</a:t>
              </a:r>
            </a:p>
          </p:txBody>
        </p:sp>
        <p:graphicFrame>
          <p:nvGraphicFramePr>
            <p:cNvPr id="10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1688967"/>
                </p:ext>
              </p:extLst>
            </p:nvPr>
          </p:nvGraphicFramePr>
          <p:xfrm>
            <a:off x="316" y="20"/>
            <a:ext cx="4740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19" name="Equation" r:id="rId5" imgW="2387520" imgH="228600" progId="Equation.DSMT4">
                    <p:embed/>
                  </p:oleObj>
                </mc:Choice>
                <mc:Fallback>
                  <p:oleObj name="Equation" r:id="rId5" imgW="2387520" imgH="228600" progId="Equation.DSMT4">
                    <p:embed/>
                    <p:pic>
                      <p:nvPicPr>
                        <p:cNvPr id="1127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20"/>
                          <a:ext cx="4740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697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457200" y="2947988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</a:t>
            </a:r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1981200" y="1260475"/>
            <a:ext cx="0" cy="1220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1146175" y="1389063"/>
            <a:ext cx="25558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2638425" y="1260475"/>
            <a:ext cx="0" cy="1220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1146175" y="1857375"/>
            <a:ext cx="25558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46" name="Object 14"/>
          <p:cNvGraphicFramePr>
            <a:graphicFrameLocks noChangeAspect="1"/>
          </p:cNvGraphicFramePr>
          <p:nvPr/>
        </p:nvGraphicFramePr>
        <p:xfrm>
          <a:off x="5408613" y="3940175"/>
          <a:ext cx="735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67" name="Equation" r:id="rId3" imgW="368300" imgH="190500" progId="">
                  <p:embed/>
                </p:oleObj>
              </mc:Choice>
              <mc:Fallback>
                <p:oleObj name="Equation" r:id="rId3" imgW="368300" imgH="1905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3940175"/>
                        <a:ext cx="735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5029200" y="2947988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</a:t>
            </a:r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 rot="16200000" flipH="1">
            <a:off x="7004051" y="674687"/>
            <a:ext cx="0" cy="19081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 rot="16200000" flipH="1">
            <a:off x="5366543" y="1872457"/>
            <a:ext cx="17637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rot="16200000" flipH="1">
            <a:off x="7004051" y="1103312"/>
            <a:ext cx="0" cy="19081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 rot="16200000" flipH="1">
            <a:off x="6004718" y="1872457"/>
            <a:ext cx="17637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4019" name="Object 15"/>
          <p:cNvGraphicFramePr>
            <a:graphicFrameLocks noChangeAspect="1"/>
          </p:cNvGraphicFramePr>
          <p:nvPr/>
        </p:nvGraphicFramePr>
        <p:xfrm>
          <a:off x="531813" y="1143000"/>
          <a:ext cx="3249612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68" name="Equation" r:id="rId5" imgW="1625600" imgH="711200" progId="">
                  <p:embed/>
                </p:oleObj>
              </mc:Choice>
              <mc:Fallback>
                <p:oleObj name="Equation" r:id="rId5" imgW="1625600" imgH="7112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143000"/>
                        <a:ext cx="3249612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5" name="Object 16"/>
          <p:cNvGraphicFramePr>
            <a:graphicFrameLocks noChangeAspect="1"/>
          </p:cNvGraphicFramePr>
          <p:nvPr/>
        </p:nvGraphicFramePr>
        <p:xfrm>
          <a:off x="1824038" y="1147763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69" name="Equation" r:id="rId7" imgW="596900" imgH="482600" progId="">
                  <p:embed/>
                </p:oleObj>
              </mc:Choice>
              <mc:Fallback>
                <p:oleObj name="Equation" r:id="rId7" imgW="596900" imgH="4826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1147763"/>
                        <a:ext cx="119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0" name="Object 17"/>
          <p:cNvGraphicFramePr>
            <a:graphicFrameLocks noChangeAspect="1"/>
          </p:cNvGraphicFramePr>
          <p:nvPr/>
        </p:nvGraphicFramePr>
        <p:xfrm>
          <a:off x="1295400" y="3965575"/>
          <a:ext cx="584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70" name="Equation" r:id="rId9" imgW="291847" imgH="164957" progId="">
                  <p:embed/>
                </p:oleObj>
              </mc:Choice>
              <mc:Fallback>
                <p:oleObj name="Equation" r:id="rId9" imgW="291847" imgH="164957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5575"/>
                        <a:ext cx="584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852863" y="4060825"/>
            <a:ext cx="719137" cy="138113"/>
            <a:chOff x="1056" y="2601"/>
            <a:chExt cx="453" cy="87"/>
          </a:xfrm>
        </p:grpSpPr>
        <p:sp>
          <p:nvSpPr>
            <p:cNvPr id="214036" name="Line 37"/>
            <p:cNvSpPr>
              <a:spLocks noChangeShapeType="1"/>
            </p:cNvSpPr>
            <p:nvPr/>
          </p:nvSpPr>
          <p:spPr bwMode="auto">
            <a:xfrm>
              <a:off x="1056" y="2601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037" name="Line 38"/>
            <p:cNvSpPr>
              <a:spLocks noChangeShapeType="1"/>
            </p:cNvSpPr>
            <p:nvPr/>
          </p:nvSpPr>
          <p:spPr bwMode="auto">
            <a:xfrm>
              <a:off x="1056" y="2688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457200" y="48006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的子式与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的子式对应相等，从而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214022" name="Object 18"/>
          <p:cNvGraphicFramePr>
            <a:graphicFrameLocks noChangeAspect="1"/>
          </p:cNvGraphicFramePr>
          <p:nvPr/>
        </p:nvGraphicFramePr>
        <p:xfrm>
          <a:off x="5268913" y="914400"/>
          <a:ext cx="2765425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71" name="Equation" r:id="rId11" imgW="1384300" imgH="939800" progId="">
                  <p:embed/>
                </p:oleObj>
              </mc:Choice>
              <mc:Fallback>
                <p:oleObj name="Equation" r:id="rId11" imgW="1384300" imgH="9398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914400"/>
                        <a:ext cx="2765425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9" name="Object 19"/>
          <p:cNvGraphicFramePr>
            <a:graphicFrameLocks noChangeAspect="1"/>
          </p:cNvGraphicFramePr>
          <p:nvPr/>
        </p:nvGraphicFramePr>
        <p:xfrm>
          <a:off x="6081713" y="1363663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72" name="Equation" r:id="rId13" imgW="596900" imgH="482600" progId="">
                  <p:embed/>
                </p:oleObj>
              </mc:Choice>
              <mc:Fallback>
                <p:oleObj name="Equation" r:id="rId13" imgW="596900" imgH="4826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1363663"/>
                        <a:ext cx="119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3167 L 3.05556E-6 0.3646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2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4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295  E" pathEditMode="relative" ptsTypes="">
                                      <p:cBhvr>
                                        <p:cTn id="61" dur="2000" fill="hold"/>
                                        <p:tgtEl>
                                          <p:spTgt spid="52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/>
      <p:bldP spid="52235" grpId="0" animBg="1"/>
      <p:bldP spid="52236" grpId="0" animBg="1"/>
      <p:bldP spid="52237" grpId="0" animBg="1"/>
      <p:bldP spid="52238" grpId="0" animBg="1"/>
      <p:bldP spid="52247" grpId="0"/>
      <p:bldP spid="52249" grpId="0" animBg="1"/>
      <p:bldP spid="52250" grpId="0" animBg="1"/>
      <p:bldP spid="52251" grpId="0" animBg="1"/>
      <p:bldP spid="52252" grpId="0" animBg="1"/>
      <p:bldP spid="522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28600" y="688975"/>
            <a:ext cx="8956675" cy="1111250"/>
            <a:chOff x="0" y="16"/>
            <a:chExt cx="5642" cy="700"/>
          </a:xfrm>
        </p:grpSpPr>
        <p:sp>
          <p:nvSpPr>
            <p:cNvPr id="13321" name="Text Box 4"/>
            <p:cNvSpPr txBox="1">
              <a:spLocks noChangeArrowheads="1"/>
            </p:cNvSpPr>
            <p:nvPr/>
          </p:nvSpPr>
          <p:spPr bwMode="auto">
            <a:xfrm>
              <a:off x="0" y="16"/>
              <a:ext cx="9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3413F7"/>
                  </a:solidFill>
                </a:rPr>
                <a:t>定义   </a:t>
              </a:r>
              <a:r>
                <a:rPr lang="zh-CN" altLang="en-US" b="1">
                  <a:solidFill>
                    <a:schemeClr val="tx2"/>
                  </a:solidFill>
                </a:rPr>
                <a:t>当</a:t>
              </a:r>
              <a:endParaRPr lang="zh-CN" altLang="en-US" b="1">
                <a:solidFill>
                  <a:srgbClr val="3413F7"/>
                </a:solidFill>
              </a:endParaRPr>
            </a:p>
          </p:txBody>
        </p:sp>
        <p:graphicFrame>
          <p:nvGraphicFramePr>
            <p:cNvPr id="1332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2183133"/>
                </p:ext>
              </p:extLst>
            </p:nvPr>
          </p:nvGraphicFramePr>
          <p:xfrm>
            <a:off x="875" y="31"/>
            <a:ext cx="214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173" name="Equation" r:id="rId3" imgW="1143000" imgH="203040" progId="Equation.DSMT4">
                    <p:embed/>
                  </p:oleObj>
                </mc:Choice>
                <mc:Fallback>
                  <p:oleObj name="Equation" r:id="rId3" imgW="1143000" imgH="203040" progId="Equation.DSMT4">
                    <p:embed/>
                    <p:pic>
                      <p:nvPicPr>
                        <p:cNvPr id="1332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5" y="31"/>
                          <a:ext cx="2146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3" name="Text Box 7"/>
            <p:cNvSpPr txBox="1">
              <a:spLocks noChangeArrowheads="1"/>
            </p:cNvSpPr>
            <p:nvPr/>
          </p:nvSpPr>
          <p:spPr bwMode="auto">
            <a:xfrm>
              <a:off x="2928" y="62"/>
              <a:ext cx="27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</a:rPr>
                <a:t>时，称矩阵</a:t>
              </a:r>
              <a:r>
                <a:rPr lang="en-US" altLang="zh-CN" b="1">
                  <a:solidFill>
                    <a:schemeClr val="tx2"/>
                  </a:solidFill>
                </a:rPr>
                <a:t>A</a:t>
              </a:r>
              <a:r>
                <a:rPr lang="zh-CN" altLang="en-US" b="1">
                  <a:solidFill>
                    <a:schemeClr val="tx2"/>
                  </a:solidFill>
                </a:rPr>
                <a:t>为</a:t>
              </a:r>
              <a:r>
                <a:rPr lang="zh-CN" altLang="en-US" b="1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rPr>
                <a:t>满秩矩阵</a:t>
              </a:r>
              <a:r>
                <a:rPr lang="zh-CN" altLang="en-US" sz="2400">
                  <a:ea typeface="宋体" panose="02010600030101010101" pitchFamily="2" charset="-122"/>
                </a:rPr>
                <a:t>，</a:t>
              </a:r>
            </a:p>
          </p:txBody>
        </p:sp>
        <p:sp>
          <p:nvSpPr>
            <p:cNvPr id="13324" name="Text Box 8"/>
            <p:cNvSpPr txBox="1">
              <a:spLocks noChangeArrowheads="1"/>
            </p:cNvSpPr>
            <p:nvPr/>
          </p:nvSpPr>
          <p:spPr bwMode="auto">
            <a:xfrm>
              <a:off x="672" y="389"/>
              <a:ext cx="21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</a:rPr>
                <a:t>否则称为</a:t>
              </a:r>
              <a:r>
                <a:rPr lang="zh-CN" altLang="en-US" b="1">
                  <a:solidFill>
                    <a:srgbClr val="FF0000"/>
                  </a:solidFill>
                  <a:latin typeface="Arial" panose="020B0604020202020204" pitchFamily="34" charset="0"/>
                  <a:ea typeface="楷体_GB2312" pitchFamily="49" charset="-122"/>
                </a:rPr>
                <a:t>降秩矩阵</a:t>
              </a:r>
              <a:r>
                <a:rPr lang="zh-CN" altLang="en-US" b="1">
                  <a:solidFill>
                    <a:schemeClr val="tx2"/>
                  </a:solidFill>
                </a:rPr>
                <a:t>。</a:t>
              </a:r>
            </a:p>
          </p:txBody>
        </p:sp>
      </p:grpSp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719670"/>
              </p:ext>
            </p:extLst>
          </p:nvPr>
        </p:nvGraphicFramePr>
        <p:xfrm>
          <a:off x="568325" y="1805879"/>
          <a:ext cx="465455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4" name="Equation" r:id="rId5" imgW="1498320" imgH="457200" progId="Equation.DSMT4">
                  <p:embed/>
                </p:oleObj>
              </mc:Choice>
              <mc:Fallback>
                <p:oleObj name="Equation" r:id="rId5" imgW="1498320" imgH="457200" progId="Equation.DSMT4">
                  <p:embed/>
                  <p:pic>
                    <p:nvPicPr>
                      <p:cNvPr id="122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1805879"/>
                        <a:ext cx="465455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12"/>
          <p:cNvSpPr>
            <a:spLocks noChangeArrowheads="1"/>
          </p:cNvSpPr>
          <p:nvPr/>
        </p:nvSpPr>
        <p:spPr bwMode="auto">
          <a:xfrm>
            <a:off x="5181600" y="1905000"/>
            <a:ext cx="1966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行满秩矩阵</a:t>
            </a:r>
          </a:p>
        </p:txBody>
      </p:sp>
      <p:sp>
        <p:nvSpPr>
          <p:cNvPr id="12297" name="Rectangle 13"/>
          <p:cNvSpPr>
            <a:spLocks noChangeArrowheads="1"/>
          </p:cNvSpPr>
          <p:nvPr/>
        </p:nvSpPr>
        <p:spPr bwMode="auto">
          <a:xfrm>
            <a:off x="5181600" y="2605088"/>
            <a:ext cx="1966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列满秩矩阵</a:t>
            </a:r>
          </a:p>
        </p:txBody>
      </p:sp>
      <p:sp>
        <p:nvSpPr>
          <p:cNvPr id="12298" name="Text Box 14"/>
          <p:cNvSpPr txBox="1">
            <a:spLocks noChangeArrowheads="1"/>
          </p:cNvSpPr>
          <p:nvPr/>
        </p:nvSpPr>
        <p:spPr bwMode="auto">
          <a:xfrm>
            <a:off x="762000" y="38100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3413F7"/>
                </a:solidFill>
              </a:rPr>
              <a:t>如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2895600" y="3352800"/>
          <a:ext cx="32766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5" r:id="rId7" imgW="1168400" imgH="711200" progId="Equation.3">
                  <p:embed/>
                </p:oleObj>
              </mc:Choice>
              <mc:Fallback>
                <p:oleObj r:id="rId7" imgW="1168400" imgH="711200" progId="Equation.3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352800"/>
                        <a:ext cx="3276600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6"/>
          <p:cNvSpPr txBox="1">
            <a:spLocks noChangeArrowheads="1"/>
          </p:cNvSpPr>
          <p:nvPr/>
        </p:nvSpPr>
        <p:spPr bwMode="auto">
          <a:xfrm>
            <a:off x="746125" y="5808663"/>
            <a:ext cx="5834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3413F7"/>
                </a:solidFill>
              </a:rPr>
              <a:t>注：</a:t>
            </a:r>
            <a:r>
              <a:rPr lang="zh-CN" altLang="en-US" b="1" dirty="0">
                <a:solidFill>
                  <a:schemeClr val="tx2"/>
                </a:solidFill>
              </a:rPr>
              <a:t>若</a:t>
            </a:r>
            <a:r>
              <a:rPr lang="en-US" altLang="zh-CN" b="1" i="1" dirty="0"/>
              <a:t>n</a:t>
            </a:r>
            <a:r>
              <a:rPr lang="zh-CN" altLang="en-US" b="1" dirty="0">
                <a:solidFill>
                  <a:schemeClr val="tx2"/>
                </a:solidFill>
              </a:rPr>
              <a:t>阶方阵</a:t>
            </a:r>
            <a:r>
              <a:rPr lang="en-US" altLang="zh-CN" b="1" i="1" dirty="0"/>
              <a:t>A</a:t>
            </a:r>
            <a:r>
              <a:rPr lang="zh-CN" altLang="en-US" b="1" dirty="0">
                <a:solidFill>
                  <a:schemeClr val="tx2"/>
                </a:solidFill>
              </a:rPr>
              <a:t>满秩，则</a:t>
            </a:r>
            <a:r>
              <a:rPr lang="en-US" altLang="zh-CN" b="1" i="1" dirty="0"/>
              <a:t>A</a:t>
            </a:r>
            <a:r>
              <a:rPr lang="zh-CN" altLang="en-US" b="1" dirty="0">
                <a:solidFill>
                  <a:schemeClr val="tx2"/>
                </a:solidFill>
              </a:rPr>
              <a:t>非奇异</a:t>
            </a:r>
            <a:r>
              <a:rPr lang="en-US" altLang="zh-CN" b="1" dirty="0">
                <a:solidFill>
                  <a:schemeClr val="tx2"/>
                </a:solidFill>
              </a:rPr>
              <a:t>.</a:t>
            </a:r>
            <a:endParaRPr lang="zh-CN" altLang="en-US" b="1" dirty="0">
              <a:solidFill>
                <a:srgbClr val="3413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4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utoUpdateAnimBg="0"/>
      <p:bldP spid="12297" grpId="0" autoUpdateAnimBg="0"/>
      <p:bldP spid="12298" grpId="0" autoUpdateAnimBg="0"/>
      <p:bldP spid="1230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5" name="Rectangle 3"/>
          <p:cNvSpPr>
            <a:spLocks noChangeArrowheads="1"/>
          </p:cNvSpPr>
          <p:nvPr/>
        </p:nvSpPr>
        <p:spPr bwMode="auto">
          <a:xfrm>
            <a:off x="457200" y="1731417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的秩，其中</a:t>
            </a:r>
          </a:p>
        </p:txBody>
      </p:sp>
      <p:graphicFrame>
        <p:nvGraphicFramePr>
          <p:cNvPr id="21504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383947"/>
              </p:ext>
            </p:extLst>
          </p:nvPr>
        </p:nvGraphicFramePr>
        <p:xfrm>
          <a:off x="3009701" y="2710904"/>
          <a:ext cx="2138363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76" name="Equation" r:id="rId3" imgW="1066800" imgH="698500" progId="">
                  <p:embed/>
                </p:oleObj>
              </mc:Choice>
              <mc:Fallback>
                <p:oleObj name="Equation" r:id="rId3" imgW="1066800" imgH="698500" progId="">
                  <p:embed/>
                  <p:pic>
                    <p:nvPicPr>
                      <p:cNvPr id="2150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701" y="2710904"/>
                        <a:ext cx="2138363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457200" y="4842917"/>
            <a:ext cx="5049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</a:t>
            </a:r>
            <a:r>
              <a:rPr lang="zh-CN" altLang="en-US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中，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  </a:t>
            </a:r>
          </a:p>
        </p:txBody>
      </p:sp>
      <p:graphicFrame>
        <p:nvGraphicFramePr>
          <p:cNvPr id="2356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140656"/>
              </p:ext>
            </p:extLst>
          </p:nvPr>
        </p:nvGraphicFramePr>
        <p:xfrm>
          <a:off x="3632200" y="4601617"/>
          <a:ext cx="1244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77" name="Equation" r:id="rId5" imgW="622030" imgH="469696" progId="">
                  <p:embed/>
                </p:oleObj>
              </mc:Choice>
              <mc:Fallback>
                <p:oleObj name="Equation" r:id="rId5" imgW="622030" imgH="469696" progId="">
                  <p:embed/>
                  <p:pic>
                    <p:nvPicPr>
                      <p:cNvPr id="2356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4601617"/>
                        <a:ext cx="1244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457200" y="5708104"/>
            <a:ext cx="8507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阶子式只有一个，即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，而且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= 0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，因此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>
          <a:xfrm>
            <a:off x="107504" y="761256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kern="0"/>
              <a:t>二、矩阵的秩的计算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33951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  <p:bldP spid="2356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457200" y="1817688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的秩，其中                                               ．</a:t>
            </a: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140013"/>
              </p:ext>
            </p:extLst>
          </p:nvPr>
        </p:nvGraphicFramePr>
        <p:xfrm>
          <a:off x="3948113" y="1143000"/>
          <a:ext cx="353377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27" name="Equation" r:id="rId3" imgW="1765300" imgH="927100" progId="">
                  <p:embed/>
                </p:oleObj>
              </mc:Choice>
              <mc:Fallback>
                <p:oleObj name="Equation" r:id="rId3" imgW="1765300" imgH="927100" progId="">
                  <p:embed/>
                  <p:pic>
                    <p:nvPicPr>
                      <p:cNvPr id="21811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3" y="1143000"/>
                        <a:ext cx="353377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457200" y="3790950"/>
            <a:ext cx="604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</a:t>
            </a:r>
            <a:r>
              <a:rPr lang="zh-CN" altLang="en-US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中，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  </a:t>
            </a: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13623"/>
              </p:ext>
            </p:extLst>
          </p:nvPr>
        </p:nvGraphicFramePr>
        <p:xfrm>
          <a:off x="3962400" y="3549650"/>
          <a:ext cx="1828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28" name="Equation" r:id="rId5" imgW="914400" imgH="469900" progId="">
                  <p:embed/>
                </p:oleObj>
              </mc:Choice>
              <mc:Fallback>
                <p:oleObj name="Equation" r:id="rId5" imgW="914400" imgH="469900" progId="">
                  <p:embed/>
                  <p:pic>
                    <p:nvPicPr>
                      <p:cNvPr id="256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549650"/>
                        <a:ext cx="1828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57200" y="4648200"/>
            <a:ext cx="83820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阶子式共有                   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 eaLnBrk="0" hangingPunct="0">
              <a:lnSpc>
                <a:spcPct val="14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要从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40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个子式中找出一个非零子式是比较麻烦的．</a:t>
            </a:r>
            <a:endParaRPr kumimoji="1"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402272"/>
              </p:ext>
            </p:extLst>
          </p:nvPr>
        </p:nvGraphicFramePr>
        <p:xfrm>
          <a:off x="3008313" y="4679950"/>
          <a:ext cx="139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29" name="Equation" r:id="rId7" imgW="698500" imgH="241300" progId="">
                  <p:embed/>
                </p:oleObj>
              </mc:Choice>
              <mc:Fallback>
                <p:oleObj name="Equation" r:id="rId7" imgW="698500" imgH="241300" progId="">
                  <p:embed/>
                  <p:pic>
                    <p:nvPicPr>
                      <p:cNvPr id="2561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4679950"/>
                        <a:ext cx="139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57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4343400" y="1343025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4862513" y="1800225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5895975" y="2271713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16072" name="Rectangle 2"/>
          <p:cNvSpPr>
            <a:spLocks noChangeArrowheads="1"/>
          </p:cNvSpPr>
          <p:nvPr/>
        </p:nvSpPr>
        <p:spPr bwMode="auto">
          <a:xfrm>
            <a:off x="457200" y="519113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的秩，其中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" y="3276600"/>
            <a:ext cx="823118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是一个行阶梯形矩阵，其非零行有 3 行，因此其 4 阶子式全为零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457200" y="4294188"/>
            <a:ext cx="8507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以非零行的第一个非零元为对角元的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267200" y="1665288"/>
            <a:ext cx="2663825" cy="944562"/>
            <a:chOff x="2688" y="1049"/>
            <a:chExt cx="1678" cy="595"/>
          </a:xfrm>
        </p:grpSpPr>
        <p:sp>
          <p:nvSpPr>
            <p:cNvPr id="216084" name="Line 9"/>
            <p:cNvSpPr>
              <a:spLocks noChangeShapeType="1"/>
            </p:cNvSpPr>
            <p:nvPr/>
          </p:nvSpPr>
          <p:spPr bwMode="auto">
            <a:xfrm>
              <a:off x="2688" y="1056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5" name="Line 10"/>
            <p:cNvSpPr>
              <a:spLocks noChangeShapeType="1"/>
            </p:cNvSpPr>
            <p:nvPr/>
          </p:nvSpPr>
          <p:spPr bwMode="auto">
            <a:xfrm>
              <a:off x="2983" y="1049"/>
              <a:ext cx="0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6" name="Line 11"/>
            <p:cNvSpPr>
              <a:spLocks noChangeShapeType="1"/>
            </p:cNvSpPr>
            <p:nvPr/>
          </p:nvSpPr>
          <p:spPr bwMode="auto">
            <a:xfrm>
              <a:off x="2983" y="1344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7" name="Line 12"/>
            <p:cNvSpPr>
              <a:spLocks noChangeShapeType="1"/>
            </p:cNvSpPr>
            <p:nvPr/>
          </p:nvSpPr>
          <p:spPr bwMode="auto">
            <a:xfrm>
              <a:off x="3618" y="1349"/>
              <a:ext cx="0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088" name="Line 13"/>
            <p:cNvSpPr>
              <a:spLocks noChangeShapeType="1"/>
            </p:cNvSpPr>
            <p:nvPr/>
          </p:nvSpPr>
          <p:spPr bwMode="auto">
            <a:xfrm>
              <a:off x="3618" y="1644"/>
              <a:ext cx="7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600" name="Object 9"/>
          <p:cNvGraphicFramePr>
            <a:graphicFrameLocks noChangeAspect="1"/>
          </p:cNvGraphicFramePr>
          <p:nvPr/>
        </p:nvGraphicFramePr>
        <p:xfrm>
          <a:off x="457200" y="4959350"/>
          <a:ext cx="2633663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24" name="Equation" r:id="rId3" imgW="1320800" imgH="698500" progId="">
                  <p:embed/>
                </p:oleObj>
              </mc:Choice>
              <mc:Fallback>
                <p:oleObj name="Equation" r:id="rId3" imgW="1320800" imgH="698500" progId="">
                  <p:embed/>
                  <p:pic>
                    <p:nvPicPr>
                      <p:cNvPr id="2460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59350"/>
                        <a:ext cx="2633663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2971800" y="5426075"/>
            <a:ext cx="277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，因此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 </a:t>
            </a:r>
            <a:r>
              <a:rPr kumimoji="1" lang="zh-CN" altLang="en-US" b="1">
                <a:solidFill>
                  <a:srgbClr val="000000"/>
                </a:solidFill>
                <a:latin typeface="Arial" charset="0"/>
                <a:ea typeface="楷体_GB2312" pitchFamily="49" charset="-122"/>
              </a:rPr>
              <a:t>．</a:t>
            </a:r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>
            <a:off x="4267200" y="15240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3" name="Line 27"/>
          <p:cNvSpPr>
            <a:spLocks noChangeShapeType="1"/>
          </p:cNvSpPr>
          <p:nvPr/>
        </p:nvSpPr>
        <p:spPr bwMode="auto">
          <a:xfrm>
            <a:off x="4267200" y="19812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4" name="Line 28"/>
          <p:cNvSpPr>
            <a:spLocks noChangeShapeType="1"/>
          </p:cNvSpPr>
          <p:nvPr/>
        </p:nvSpPr>
        <p:spPr bwMode="auto">
          <a:xfrm>
            <a:off x="4267200" y="24384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5" name="Line 29"/>
          <p:cNvSpPr>
            <a:spLocks noChangeShapeType="1"/>
          </p:cNvSpPr>
          <p:nvPr/>
        </p:nvSpPr>
        <p:spPr bwMode="auto">
          <a:xfrm>
            <a:off x="4495800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>
            <a:off x="4995863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6019800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8" name="AutoShape 32"/>
          <p:cNvSpPr>
            <a:spLocks noChangeArrowheads="1"/>
          </p:cNvSpPr>
          <p:nvPr/>
        </p:nvSpPr>
        <p:spPr bwMode="auto">
          <a:xfrm>
            <a:off x="6443663" y="4868863"/>
            <a:ext cx="2555875" cy="1800225"/>
          </a:xfrm>
          <a:prstGeom prst="cloudCallout">
            <a:avLst>
              <a:gd name="adj1" fmla="val -71306"/>
              <a:gd name="adj2" fmla="val 43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还存在其它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阶非零子式吗？</a:t>
            </a:r>
          </a:p>
        </p:txBody>
      </p:sp>
      <p:graphicFrame>
        <p:nvGraphicFramePr>
          <p:cNvPr id="216068" name="Object 10"/>
          <p:cNvGraphicFramePr>
            <a:graphicFrameLocks noChangeAspect="1"/>
          </p:cNvGraphicFramePr>
          <p:nvPr/>
        </p:nvGraphicFramePr>
        <p:xfrm>
          <a:off x="3667125" y="1274763"/>
          <a:ext cx="3343275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25" name="Equation" r:id="rId5" imgW="1676400" imgH="927100" progId="">
                  <p:embed/>
                </p:oleObj>
              </mc:Choice>
              <mc:Fallback>
                <p:oleObj name="Equation" r:id="rId5" imgW="1676400" imgH="927100" progId="">
                  <p:embed/>
                  <p:pic>
                    <p:nvPicPr>
                      <p:cNvPr id="21606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1274763"/>
                        <a:ext cx="3343275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412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2" grpId="0" animBg="1"/>
      <p:bldP spid="24593" grpId="0" animBg="1"/>
      <p:bldP spid="24594" grpId="0" animBg="1"/>
      <p:bldP spid="24581" grpId="0"/>
      <p:bldP spid="24583" grpId="0" autoUpdateAnimBg="0"/>
      <p:bldP spid="24601" grpId="0" autoUpdateAnimBg="0"/>
      <p:bldP spid="24602" grpId="0" animBg="1"/>
      <p:bldP spid="24603" grpId="0" animBg="1"/>
      <p:bldP spid="24604" grpId="0" animBg="1"/>
      <p:bldP spid="24605" grpId="0" animBg="1"/>
      <p:bldP spid="24606" grpId="0" animBg="1"/>
      <p:bldP spid="24607" grpId="0" animBg="1"/>
      <p:bldP spid="2460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Rectangle 2"/>
          <p:cNvSpPr>
            <a:spLocks noChangeArrowheads="1"/>
          </p:cNvSpPr>
          <p:nvPr/>
        </p:nvSpPr>
        <p:spPr bwMode="auto">
          <a:xfrm>
            <a:off x="457200" y="519113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的秩，其中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57200" y="3276600"/>
            <a:ext cx="823118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解（续）：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还有其它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阶非零子式，例如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6640" name="Object 13"/>
          <p:cNvGraphicFramePr>
            <a:graphicFrameLocks noChangeAspect="1"/>
          </p:cNvGraphicFramePr>
          <p:nvPr/>
        </p:nvGraphicFramePr>
        <p:xfrm>
          <a:off x="457200" y="3967163"/>
          <a:ext cx="184943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02" name="Equation" r:id="rId4" imgW="927100" imgH="698500" progId="">
                  <p:embed/>
                </p:oleObj>
              </mc:Choice>
              <mc:Fallback>
                <p:oleObj name="Equation" r:id="rId4" imgW="927100" imgH="698500" progId="">
                  <p:embed/>
                  <p:pic>
                    <p:nvPicPr>
                      <p:cNvPr id="2664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7163"/>
                        <a:ext cx="1849438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9" name="Object 14"/>
          <p:cNvGraphicFramePr>
            <a:graphicFrameLocks noChangeAspect="1"/>
          </p:cNvGraphicFramePr>
          <p:nvPr/>
        </p:nvGraphicFramePr>
        <p:xfrm>
          <a:off x="3319463" y="3967163"/>
          <a:ext cx="233045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03" name="Equation" r:id="rId6" imgW="1168400" imgH="698500" progId="">
                  <p:embed/>
                </p:oleObj>
              </mc:Choice>
              <mc:Fallback>
                <p:oleObj name="Equation" r:id="rId6" imgW="1168400" imgH="698500" progId="">
                  <p:embed/>
                  <p:pic>
                    <p:nvPicPr>
                      <p:cNvPr id="2664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3967163"/>
                        <a:ext cx="2330450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0" name="Object 15"/>
          <p:cNvGraphicFramePr>
            <a:graphicFrameLocks noChangeAspect="1"/>
          </p:cNvGraphicFramePr>
          <p:nvPr/>
        </p:nvGraphicFramePr>
        <p:xfrm>
          <a:off x="6662738" y="3967163"/>
          <a:ext cx="202565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04" name="Equation" r:id="rId8" imgW="1016000" imgH="698500" progId="">
                  <p:embed/>
                </p:oleObj>
              </mc:Choice>
              <mc:Fallback>
                <p:oleObj name="Equation" r:id="rId8" imgW="1016000" imgH="698500" progId="">
                  <p:embed/>
                  <p:pic>
                    <p:nvPicPr>
                      <p:cNvPr id="2665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3967163"/>
                        <a:ext cx="2025650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1" name="AutoShape 27"/>
          <p:cNvSpPr>
            <a:spLocks noChangeArrowheads="1"/>
          </p:cNvSpPr>
          <p:nvPr/>
        </p:nvSpPr>
        <p:spPr bwMode="auto">
          <a:xfrm>
            <a:off x="436563" y="5694363"/>
            <a:ext cx="8269287" cy="525462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结论：行阶梯形矩阵的秩就等于非零行的行数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>
            <a:off x="4267200" y="15240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5" name="Line 31"/>
          <p:cNvSpPr>
            <a:spLocks noChangeShapeType="1"/>
          </p:cNvSpPr>
          <p:nvPr/>
        </p:nvSpPr>
        <p:spPr bwMode="auto">
          <a:xfrm>
            <a:off x="4267200" y="19812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6" name="Line 32"/>
          <p:cNvSpPr>
            <a:spLocks noChangeShapeType="1"/>
          </p:cNvSpPr>
          <p:nvPr/>
        </p:nvSpPr>
        <p:spPr bwMode="auto">
          <a:xfrm>
            <a:off x="4267200" y="2438400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7" name="Line 33"/>
          <p:cNvSpPr>
            <a:spLocks noChangeShapeType="1"/>
          </p:cNvSpPr>
          <p:nvPr/>
        </p:nvSpPr>
        <p:spPr bwMode="auto">
          <a:xfrm>
            <a:off x="4495800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8" name="Line 34"/>
          <p:cNvSpPr>
            <a:spLocks noChangeShapeType="1"/>
          </p:cNvSpPr>
          <p:nvPr/>
        </p:nvSpPr>
        <p:spPr bwMode="auto">
          <a:xfrm>
            <a:off x="4995863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9" name="Line 35"/>
          <p:cNvSpPr>
            <a:spLocks noChangeShapeType="1"/>
          </p:cNvSpPr>
          <p:nvPr/>
        </p:nvSpPr>
        <p:spPr bwMode="auto">
          <a:xfrm>
            <a:off x="6019800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0" name="Line 36"/>
          <p:cNvSpPr>
            <a:spLocks noChangeShapeType="1"/>
          </p:cNvSpPr>
          <p:nvPr/>
        </p:nvSpPr>
        <p:spPr bwMode="auto">
          <a:xfrm>
            <a:off x="5534025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1" name="Line 37"/>
          <p:cNvSpPr>
            <a:spLocks noChangeShapeType="1"/>
          </p:cNvSpPr>
          <p:nvPr/>
        </p:nvSpPr>
        <p:spPr bwMode="auto">
          <a:xfrm>
            <a:off x="6629400" y="13716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7094" name="Object 16"/>
          <p:cNvGraphicFramePr>
            <a:graphicFrameLocks noChangeAspect="1"/>
          </p:cNvGraphicFramePr>
          <p:nvPr/>
        </p:nvGraphicFramePr>
        <p:xfrm>
          <a:off x="3667125" y="1274763"/>
          <a:ext cx="3343275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05" name="Equation" r:id="rId10" imgW="1676400" imgH="927100" progId="">
                  <p:embed/>
                </p:oleObj>
              </mc:Choice>
              <mc:Fallback>
                <p:oleObj name="Equation" r:id="rId10" imgW="1676400" imgH="927100" progId="">
                  <p:embed/>
                  <p:pic>
                    <p:nvPicPr>
                      <p:cNvPr id="21709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1274763"/>
                        <a:ext cx="3343275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18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51" grpId="0" animBg="1" autoUpdateAnimBg="0"/>
      <p:bldP spid="26654" grpId="0" animBg="1"/>
      <p:bldP spid="26655" grpId="0" animBg="1"/>
      <p:bldP spid="26656" grpId="0" animBg="1"/>
      <p:bldP spid="26657" grpId="0" animBg="1"/>
      <p:bldP spid="26657" grpId="1" animBg="1"/>
      <p:bldP spid="26657" grpId="2" animBg="1"/>
      <p:bldP spid="26657" grpId="3" animBg="1"/>
      <p:bldP spid="26657" grpId="4" animBg="1"/>
      <p:bldP spid="26658" grpId="0" animBg="1"/>
      <p:bldP spid="26658" grpId="1" animBg="1"/>
      <p:bldP spid="26659" grpId="0" animBg="1"/>
      <p:bldP spid="26659" grpId="1" animBg="1"/>
      <p:bldP spid="26660" grpId="0" animBg="1"/>
      <p:bldP spid="26660" grpId="1" animBg="1"/>
      <p:bldP spid="26660" grpId="2" animBg="1"/>
      <p:bldP spid="26661" grpId="0" animBg="1"/>
      <p:bldP spid="26661" grpId="1" animBg="1"/>
      <p:bldP spid="26661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930" name="Text Box 4"/>
          <p:cNvSpPr txBox="1">
            <a:spLocks noChangeArrowheads="1"/>
          </p:cNvSpPr>
          <p:nvPr/>
        </p:nvSpPr>
        <p:spPr bwMode="auto">
          <a:xfrm>
            <a:off x="517525" y="960438"/>
            <a:ext cx="839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一般的矩阵，当行数和列数较高时，按定义求秩是很麻烦的 </a:t>
            </a: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143000" y="2189163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行阶梯形矩阵的秩就等于非零行的行数</a:t>
            </a:r>
            <a:r>
              <a:rPr kumimoji="1"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en-US" altLang="zh-CN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04800" y="1600200"/>
            <a:ext cx="790575" cy="1081088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851025" y="3417888"/>
            <a:ext cx="67087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一个自然的想法是用初等变换将一般的矩阵化为行阶梯形矩阵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auto">
          <a:xfrm>
            <a:off x="1062038" y="2895600"/>
            <a:ext cx="790575" cy="1081088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571750" y="5013325"/>
            <a:ext cx="598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两个等价的矩阵的秩是否相等？</a:t>
            </a:r>
          </a:p>
        </p:txBody>
      </p:sp>
      <p:sp>
        <p:nvSpPr>
          <p:cNvPr id="28682" name="AutoShape 10"/>
          <p:cNvSpPr>
            <a:spLocks noChangeArrowheads="1"/>
          </p:cNvSpPr>
          <p:nvPr/>
        </p:nvSpPr>
        <p:spPr bwMode="auto">
          <a:xfrm>
            <a:off x="1817688" y="4357688"/>
            <a:ext cx="790575" cy="1081087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78" grpId="0" animBg="1"/>
      <p:bldP spid="28679" grpId="0"/>
      <p:bldP spid="28680" grpId="0" animBg="1"/>
      <p:bldP spid="28681" grpId="0"/>
      <p:bldP spid="286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4" name="Rectangle 4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~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</a:t>
            </a:r>
          </a:p>
        </p:txBody>
      </p:sp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824880" y="1958156"/>
            <a:ext cx="89535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3413F7"/>
                </a:solidFill>
                <a:latin typeface="楷体_GB2312" pitchFamily="49" charset="-122"/>
                <a:ea typeface="楷体_GB2312" pitchFamily="49" charset="-122"/>
              </a:rPr>
              <a:t>结论</a:t>
            </a:r>
          </a:p>
        </p:txBody>
      </p:sp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1105868" y="3894906"/>
            <a:ext cx="160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矩阵的秩</a:t>
            </a: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3491880" y="2924944"/>
            <a:ext cx="3752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最高阶非零子式的阶数</a:t>
            </a: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3491880" y="3796481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行阶梯形矩阵非零行的行数</a:t>
            </a:r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3504531" y="4656906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行最简形矩阵非零行的行数</a:t>
            </a:r>
          </a:p>
        </p:txBody>
      </p:sp>
      <p:sp>
        <p:nvSpPr>
          <p:cNvPr id="9" name="AutoShape 31"/>
          <p:cNvSpPr>
            <a:spLocks/>
          </p:cNvSpPr>
          <p:nvPr/>
        </p:nvSpPr>
        <p:spPr bwMode="auto">
          <a:xfrm>
            <a:off x="3096593" y="3118619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" name="Text Box 32"/>
          <p:cNvSpPr txBox="1">
            <a:spLocks noChangeArrowheads="1"/>
          </p:cNvSpPr>
          <p:nvPr/>
        </p:nvSpPr>
        <p:spPr bwMode="auto">
          <a:xfrm>
            <a:off x="2575893" y="3848869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43608" y="1162707"/>
            <a:ext cx="324036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3413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（初等变换不改变矩阵的秩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.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nimBg="1" autoUpdateAnimBg="0"/>
      <p:bldP spid="10" grpId="0" autoUpdateAnimBg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2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~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57200" y="1295400"/>
            <a:ext cx="82296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应用：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根据这一定理，为求矩阵的秩，只要用初等行变换把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矩阵化成行阶梯形矩阵，行阶梯形矩阵中非零行的行数就是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该矩阵的秩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57200" y="3562350"/>
            <a:ext cx="82296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                                               的秩，并求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最高阶非零子式．</a:t>
            </a:r>
          </a:p>
        </p:txBody>
      </p:sp>
      <p:graphicFrame>
        <p:nvGraphicFramePr>
          <p:cNvPr id="33799" name="Object 4"/>
          <p:cNvGraphicFramePr>
            <a:graphicFrameLocks noChangeAspect="1"/>
          </p:cNvGraphicFramePr>
          <p:nvPr/>
        </p:nvGraphicFramePr>
        <p:xfrm>
          <a:off x="2105025" y="2887663"/>
          <a:ext cx="3533775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01" name="Equation" r:id="rId3" imgW="1765300" imgH="927100" progId="">
                  <p:embed/>
                </p:oleObj>
              </mc:Choice>
              <mc:Fallback>
                <p:oleObj name="Equation" r:id="rId3" imgW="1765300" imgH="9271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2887663"/>
                        <a:ext cx="3533775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1800225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226695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39966" name="Rectangle 30"/>
          <p:cNvSpPr>
            <a:spLocks noChangeArrowheads="1"/>
          </p:cNvSpPr>
          <p:nvPr/>
        </p:nvSpPr>
        <p:spPr bwMode="auto">
          <a:xfrm>
            <a:off x="34290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49530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39968" name="Rectangle 32"/>
          <p:cNvSpPr>
            <a:spLocks noChangeArrowheads="1"/>
          </p:cNvSpPr>
          <p:nvPr/>
        </p:nvSpPr>
        <p:spPr bwMode="auto">
          <a:xfrm>
            <a:off x="54102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39969" name="Rectangle 33"/>
          <p:cNvSpPr>
            <a:spLocks noChangeArrowheads="1"/>
          </p:cNvSpPr>
          <p:nvPr/>
        </p:nvSpPr>
        <p:spPr bwMode="auto">
          <a:xfrm>
            <a:off x="6643688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225291" name="Rectangle 2"/>
          <p:cNvSpPr>
            <a:spLocks noChangeArrowheads="1"/>
          </p:cNvSpPr>
          <p:nvPr/>
        </p:nvSpPr>
        <p:spPr bwMode="auto">
          <a:xfrm>
            <a:off x="4572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第一步先用初等行变换把矩阵化成行阶梯形矩阵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57200" y="313372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行阶梯形矩阵有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个非零行，故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457200" y="3735388"/>
            <a:ext cx="82296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第二步求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的最高阶非零子式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选取行阶梯形矩阵中非零行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的第一个非零元所在的列</a:t>
            </a:r>
          </a:p>
        </p:txBody>
      </p:sp>
      <p:graphicFrame>
        <p:nvGraphicFramePr>
          <p:cNvPr id="39954" name="Object 8"/>
          <p:cNvGraphicFramePr>
            <a:graphicFrameLocks noChangeAspect="1"/>
          </p:cNvGraphicFramePr>
          <p:nvPr/>
        </p:nvGraphicFramePr>
        <p:xfrm>
          <a:off x="4572000" y="4775200"/>
          <a:ext cx="23876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6" name="Equation" r:id="rId3" imgW="1193800" imgH="927100" progId="">
                  <p:embed/>
                </p:oleObj>
              </mc:Choice>
              <mc:Fallback>
                <p:oleObj name="Equation" r:id="rId3" imgW="1193800" imgH="9271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775200"/>
                        <a:ext cx="23876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9"/>
          <p:cNvGraphicFramePr>
            <a:graphicFrameLocks noChangeAspect="1"/>
          </p:cNvGraphicFramePr>
          <p:nvPr/>
        </p:nvGraphicFramePr>
        <p:xfrm>
          <a:off x="1919288" y="4775200"/>
          <a:ext cx="26400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7" name="Equation" r:id="rId5" imgW="1320800" imgH="927100" progId="">
                  <p:embed/>
                </p:oleObj>
              </mc:Choice>
              <mc:Fallback>
                <p:oleObj name="Equation" r:id="rId5" imgW="1320800" imgH="9271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775200"/>
                        <a:ext cx="26400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4953000" y="1614488"/>
            <a:ext cx="2827338" cy="863600"/>
            <a:chOff x="3120" y="1017"/>
            <a:chExt cx="1781" cy="544"/>
          </a:xfrm>
        </p:grpSpPr>
        <p:sp>
          <p:nvSpPr>
            <p:cNvPr id="225296" name="Line 23"/>
            <p:cNvSpPr>
              <a:spLocks noChangeShapeType="1"/>
            </p:cNvSpPr>
            <p:nvPr/>
          </p:nvSpPr>
          <p:spPr bwMode="auto">
            <a:xfrm>
              <a:off x="3120" y="1017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297" name="Line 24"/>
            <p:cNvSpPr>
              <a:spLocks noChangeShapeType="1"/>
            </p:cNvSpPr>
            <p:nvPr/>
          </p:nvSpPr>
          <p:spPr bwMode="auto">
            <a:xfrm>
              <a:off x="3428" y="1017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298" name="Line 25"/>
            <p:cNvSpPr>
              <a:spLocks noChangeShapeType="1"/>
            </p:cNvSpPr>
            <p:nvPr/>
          </p:nvSpPr>
          <p:spPr bwMode="auto">
            <a:xfrm>
              <a:off x="3437" y="1289"/>
              <a:ext cx="7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299" name="Line 26"/>
            <p:cNvSpPr>
              <a:spLocks noChangeShapeType="1"/>
            </p:cNvSpPr>
            <p:nvPr/>
          </p:nvSpPr>
          <p:spPr bwMode="auto">
            <a:xfrm>
              <a:off x="4176" y="1289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00" name="Line 27"/>
            <p:cNvSpPr>
              <a:spLocks noChangeShapeType="1"/>
            </p:cNvSpPr>
            <p:nvPr/>
          </p:nvSpPr>
          <p:spPr bwMode="auto">
            <a:xfrm>
              <a:off x="4176" y="1561"/>
              <a:ext cx="7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79" name="Object 10"/>
          <p:cNvGraphicFramePr>
            <a:graphicFrameLocks noChangeAspect="1"/>
          </p:cNvGraphicFramePr>
          <p:nvPr/>
        </p:nvGraphicFramePr>
        <p:xfrm>
          <a:off x="1168400" y="1135063"/>
          <a:ext cx="66786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8" name="Equation" r:id="rId7" imgW="3340100" imgH="927100" progId="">
                  <p:embed/>
                </p:oleObj>
              </mc:Choice>
              <mc:Fallback>
                <p:oleObj name="Equation" r:id="rId7" imgW="3340100" imgH="9271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1135063"/>
                        <a:ext cx="66786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4">
            <a:extLst>
              <a:ext uri="{FF2B5EF4-FFF2-40B4-BE49-F238E27FC236}">
                <a16:creationId xmlns:a16="http://schemas.microsoft.com/office/drawing/2014/main" id="{88E495ED-C859-4B77-B440-CC8282875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4183339"/>
            <a:ext cx="8512050" cy="89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                 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，与之对应的是选取矩阵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的第一、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二、四列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601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101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601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101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601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101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4" grpId="0" animBg="1"/>
      <p:bldP spid="39965" grpId="0" animBg="1"/>
      <p:bldP spid="39966" grpId="0" animBg="1"/>
      <p:bldP spid="39967" grpId="0" animBg="1"/>
      <p:bldP spid="39968" grpId="0" animBg="1"/>
      <p:bldP spid="39969" grpId="0" animBg="1"/>
      <p:bldP spid="39940" grpId="0"/>
      <p:bldP spid="3995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06" name="Object 6"/>
          <p:cNvGraphicFramePr>
            <a:graphicFrameLocks noChangeAspect="1"/>
          </p:cNvGraphicFramePr>
          <p:nvPr/>
        </p:nvGraphicFramePr>
        <p:xfrm>
          <a:off x="2008188" y="609600"/>
          <a:ext cx="49514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3" name="Equation" r:id="rId3" imgW="2476500" imgH="927100" progId="">
                  <p:embed/>
                </p:oleObj>
              </mc:Choice>
              <mc:Fallback>
                <p:oleObj name="Equation" r:id="rId3" imgW="2476500" imgH="9271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609600"/>
                        <a:ext cx="49514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55613" y="2674938"/>
            <a:ext cx="814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3，计算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zh-CN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的前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行构成的子式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640263" y="1092200"/>
            <a:ext cx="1595437" cy="863600"/>
            <a:chOff x="2923" y="3312"/>
            <a:chExt cx="1005" cy="544"/>
          </a:xfrm>
        </p:grpSpPr>
        <p:sp>
          <p:nvSpPr>
            <p:cNvPr id="226311" name="Line 30"/>
            <p:cNvSpPr>
              <a:spLocks noChangeShapeType="1"/>
            </p:cNvSpPr>
            <p:nvPr/>
          </p:nvSpPr>
          <p:spPr bwMode="auto">
            <a:xfrm>
              <a:off x="2923" y="3312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12" name="Line 31"/>
            <p:cNvSpPr>
              <a:spLocks noChangeShapeType="1"/>
            </p:cNvSpPr>
            <p:nvPr/>
          </p:nvSpPr>
          <p:spPr bwMode="auto">
            <a:xfrm>
              <a:off x="3231" y="3312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13" name="Line 32"/>
            <p:cNvSpPr>
              <a:spLocks noChangeShapeType="1"/>
            </p:cNvSpPr>
            <p:nvPr/>
          </p:nvSpPr>
          <p:spPr bwMode="auto">
            <a:xfrm>
              <a:off x="3231" y="3584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14" name="Line 33"/>
            <p:cNvSpPr>
              <a:spLocks noChangeShapeType="1"/>
            </p:cNvSpPr>
            <p:nvPr/>
          </p:nvSpPr>
          <p:spPr bwMode="auto">
            <a:xfrm>
              <a:off x="3543" y="3584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15" name="Line 34"/>
            <p:cNvSpPr>
              <a:spLocks noChangeShapeType="1"/>
            </p:cNvSpPr>
            <p:nvPr/>
          </p:nvSpPr>
          <p:spPr bwMode="auto">
            <a:xfrm>
              <a:off x="3543" y="3856"/>
              <a:ext cx="3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4851" name="Object 7"/>
          <p:cNvGraphicFramePr>
            <a:graphicFrameLocks noChangeAspect="1"/>
          </p:cNvGraphicFramePr>
          <p:nvPr/>
        </p:nvGraphicFramePr>
        <p:xfrm>
          <a:off x="1690688" y="3343275"/>
          <a:ext cx="56880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4" name="Equation" r:id="rId5" imgW="2844800" imgH="698500" progId="">
                  <p:embed/>
                </p:oleObj>
              </mc:Choice>
              <mc:Fallback>
                <p:oleObj name="Equation" r:id="rId5" imgW="2844800" imgH="698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343275"/>
                        <a:ext cx="56880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455613" y="4953000"/>
            <a:ext cx="548453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因此这就是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的一个最高阶非零子式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457200" y="3124200"/>
            <a:ext cx="82677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作初等行变换变为行阶梯形矩阵，设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的行阶梯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形矩阵为                 ，则    就是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的行阶梯形矩阵，因此可从</a:t>
            </a:r>
          </a:p>
          <a:p>
            <a:pPr>
              <a:lnSpc>
                <a:spcPct val="13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中同时看出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227335" name="Rectangle 4"/>
          <p:cNvSpPr>
            <a:spLocks noChangeArrowheads="1"/>
          </p:cNvSpPr>
          <p:nvPr/>
        </p:nvSpPr>
        <p:spPr bwMode="auto">
          <a:xfrm>
            <a:off x="457200" y="1131888"/>
            <a:ext cx="82296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             ，求矩阵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及矩阵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的秩．</a:t>
            </a:r>
          </a:p>
        </p:txBody>
      </p:sp>
      <p:graphicFrame>
        <p:nvGraphicFramePr>
          <p:cNvPr id="227330" name="Object 10"/>
          <p:cNvGraphicFramePr>
            <a:graphicFrameLocks noChangeAspect="1"/>
          </p:cNvGraphicFramePr>
          <p:nvPr/>
        </p:nvGraphicFramePr>
        <p:xfrm>
          <a:off x="1524000" y="457200"/>
          <a:ext cx="427037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7" name="Equation" r:id="rId3" imgW="2133600" imgH="927100" progId="">
                  <p:embed/>
                </p:oleObj>
              </mc:Choice>
              <mc:Fallback>
                <p:oleObj name="Equation" r:id="rId3" imgW="2133600" imgH="9271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7200"/>
                        <a:ext cx="427037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11"/>
          <p:cNvGraphicFramePr>
            <a:graphicFrameLocks noChangeAspect="1"/>
          </p:cNvGraphicFramePr>
          <p:nvPr/>
        </p:nvGraphicFramePr>
        <p:xfrm>
          <a:off x="1733550" y="3570288"/>
          <a:ext cx="13477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8" name="Equation" r:id="rId5" imgW="672808" imgH="241195" progId="">
                  <p:embed/>
                </p:oleObj>
              </mc:Choice>
              <mc:Fallback>
                <p:oleObj name="Equation" r:id="rId5" imgW="672808" imgH="241195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570288"/>
                        <a:ext cx="13477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12"/>
          <p:cNvGraphicFramePr>
            <a:graphicFrameLocks noChangeAspect="1"/>
          </p:cNvGraphicFramePr>
          <p:nvPr/>
        </p:nvGraphicFramePr>
        <p:xfrm>
          <a:off x="3657600" y="3570288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99" name="Equation" r:id="rId7" imgW="164957" imgH="203024" progId="">
                  <p:embed/>
                </p:oleObj>
              </mc:Choice>
              <mc:Fallback>
                <p:oleObj name="Equation" r:id="rId7" imgW="164957" imgH="203024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70288"/>
                        <a:ext cx="33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455613" y="5472113"/>
            <a:ext cx="814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0" hangingPunct="0"/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endParaRPr kumimoji="1" lang="zh-CN" altLang="en-US" sz="2400" b="1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41996" name="Object 13"/>
          <p:cNvGraphicFramePr>
            <a:graphicFrameLocks noChangeAspect="1"/>
          </p:cNvGraphicFramePr>
          <p:nvPr/>
        </p:nvGraphicFramePr>
        <p:xfrm>
          <a:off x="1085850" y="4821238"/>
          <a:ext cx="6329363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00" name="Equation" r:id="rId9" imgW="3162300" imgH="927100" progId="">
                  <p:embed/>
                </p:oleObj>
              </mc:Choice>
              <mc:Fallback>
                <p:oleObj name="Equation" r:id="rId9" imgW="3162300" imgH="9271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4821238"/>
                        <a:ext cx="6329363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876800" y="5229225"/>
            <a:ext cx="2484438" cy="989013"/>
            <a:chOff x="3072" y="3294"/>
            <a:chExt cx="1565" cy="623"/>
          </a:xfrm>
        </p:grpSpPr>
        <p:sp>
          <p:nvSpPr>
            <p:cNvPr id="227339" name="Line 14"/>
            <p:cNvSpPr>
              <a:spLocks noChangeShapeType="1"/>
            </p:cNvSpPr>
            <p:nvPr/>
          </p:nvSpPr>
          <p:spPr bwMode="auto">
            <a:xfrm>
              <a:off x="3072" y="3294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0" name="Line 15"/>
            <p:cNvSpPr>
              <a:spLocks noChangeShapeType="1"/>
            </p:cNvSpPr>
            <p:nvPr/>
          </p:nvSpPr>
          <p:spPr bwMode="auto">
            <a:xfrm>
              <a:off x="3696" y="3294"/>
              <a:ext cx="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1" name="Line 16"/>
            <p:cNvSpPr>
              <a:spLocks noChangeShapeType="1"/>
            </p:cNvSpPr>
            <p:nvPr/>
          </p:nvSpPr>
          <p:spPr bwMode="auto">
            <a:xfrm>
              <a:off x="3687" y="3607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2" name="Line 17"/>
            <p:cNvSpPr>
              <a:spLocks noChangeShapeType="1"/>
            </p:cNvSpPr>
            <p:nvPr/>
          </p:nvSpPr>
          <p:spPr bwMode="auto">
            <a:xfrm>
              <a:off x="4329" y="3600"/>
              <a:ext cx="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3" name="Line 18"/>
            <p:cNvSpPr>
              <a:spLocks noChangeShapeType="1"/>
            </p:cNvSpPr>
            <p:nvPr/>
          </p:nvSpPr>
          <p:spPr bwMode="auto">
            <a:xfrm>
              <a:off x="4320" y="3913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7620000" y="5289550"/>
            <a:ext cx="1271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</a:p>
          <a:p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95" grpId="0"/>
      <p:bldP spid="420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539552" y="1196752"/>
            <a:ext cx="7026275" cy="2673350"/>
            <a:chOff x="0" y="0"/>
            <a:chExt cx="4426" cy="1684"/>
          </a:xfrm>
        </p:grpSpPr>
        <p:sp>
          <p:nvSpPr>
            <p:cNvPr id="17411" name="Rectangle 5"/>
            <p:cNvSpPr>
              <a:spLocks noChangeArrowheads="1"/>
            </p:cNvSpPr>
            <p:nvPr/>
          </p:nvSpPr>
          <p:spPr bwMode="auto">
            <a:xfrm>
              <a:off x="0" y="432"/>
              <a:ext cx="7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例   </a:t>
              </a:r>
              <a:r>
                <a:rPr lang="zh-CN" altLang="en-US" b="1">
                  <a:solidFill>
                    <a:schemeClr val="tx2"/>
                  </a:solidFill>
                  <a:latin typeface="Arial" panose="020B0604020202020204" pitchFamily="34" charset="0"/>
                  <a:ea typeface="楷体_GB2312" pitchFamily="49" charset="-122"/>
                </a:rPr>
                <a:t>设</a:t>
              </a:r>
              <a:endParaRPr lang="zh-CN" altLang="en-US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174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1480511"/>
                </p:ext>
              </p:extLst>
            </p:nvPr>
          </p:nvGraphicFramePr>
          <p:xfrm>
            <a:off x="709" y="0"/>
            <a:ext cx="2278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82" name="Equation" r:id="rId3" imgW="1346040" imgH="711000" progId="Equation.DSMT4">
                    <p:embed/>
                  </p:oleObj>
                </mc:Choice>
                <mc:Fallback>
                  <p:oleObj name="Equation" r:id="rId3" imgW="1346040" imgH="711000" progId="Equation.DSMT4">
                    <p:embed/>
                    <p:pic>
                      <p:nvPicPr>
                        <p:cNvPr id="174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" y="0"/>
                          <a:ext cx="2278" cy="1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3" name="Text Box 7"/>
            <p:cNvSpPr txBox="1">
              <a:spLocks noChangeArrowheads="1"/>
            </p:cNvSpPr>
            <p:nvPr/>
          </p:nvSpPr>
          <p:spPr bwMode="auto">
            <a:xfrm>
              <a:off x="2880" y="432"/>
              <a:ext cx="154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2"/>
                  </a:solidFill>
                </a:rPr>
                <a:t>，已知</a:t>
              </a:r>
              <a:r>
                <a:rPr lang="en-US" altLang="zh-CN" b="1" i="1" dirty="0">
                  <a:ea typeface="宋体" panose="02010600030101010101" pitchFamily="2" charset="-122"/>
                </a:rPr>
                <a:t>R</a:t>
              </a:r>
              <a:r>
                <a:rPr lang="en-US" altLang="zh-CN" b="1" dirty="0">
                  <a:ea typeface="宋体" panose="02010600030101010101" pitchFamily="2" charset="-122"/>
                </a:rPr>
                <a:t>(</a:t>
              </a:r>
              <a:r>
                <a:rPr lang="en-US" altLang="zh-CN" b="1" i="1" dirty="0">
                  <a:ea typeface="宋体" panose="02010600030101010101" pitchFamily="2" charset="-122"/>
                </a:rPr>
                <a:t>A</a:t>
              </a:r>
              <a:r>
                <a:rPr lang="en-US" altLang="zh-CN" b="1" dirty="0">
                  <a:ea typeface="宋体" panose="02010600030101010101" pitchFamily="2" charset="-122"/>
                </a:rPr>
                <a:t>)=2</a:t>
              </a:r>
              <a:r>
                <a:rPr lang="en-US" altLang="zh-CN" b="1" i="1" dirty="0">
                  <a:ea typeface="宋体" panose="02010600030101010101" pitchFamily="2" charset="-122"/>
                </a:rPr>
                <a:t>,</a:t>
              </a:r>
            </a:p>
          </p:txBody>
        </p:sp>
        <p:sp>
          <p:nvSpPr>
            <p:cNvPr id="17414" name="Text Box 8"/>
            <p:cNvSpPr txBox="1">
              <a:spLocks noChangeArrowheads="1"/>
            </p:cNvSpPr>
            <p:nvPr/>
          </p:nvSpPr>
          <p:spPr bwMode="auto">
            <a:xfrm>
              <a:off x="480" y="134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  <a:latin typeface="Arial" panose="020B0604020202020204" pitchFamily="34" charset="0"/>
                  <a:ea typeface="楷体_GB2312" pitchFamily="49" charset="-122"/>
                </a:rPr>
                <a:t>求</a:t>
              </a:r>
            </a:p>
          </p:txBody>
        </p:sp>
        <p:sp>
          <p:nvSpPr>
            <p:cNvPr id="17415" name="Text Box 9"/>
            <p:cNvSpPr txBox="1">
              <a:spLocks noChangeArrowheads="1"/>
            </p:cNvSpPr>
            <p:nvPr/>
          </p:nvSpPr>
          <p:spPr bwMode="auto">
            <a:xfrm>
              <a:off x="1008" y="1344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2"/>
                  </a:solidFill>
                </a:rPr>
                <a:t>与</a:t>
              </a:r>
            </a:p>
          </p:txBody>
        </p:sp>
        <p:graphicFrame>
          <p:nvGraphicFramePr>
            <p:cNvPr id="17416" name="Object 8"/>
            <p:cNvGraphicFramePr>
              <a:graphicFrameLocks noChangeAspect="1"/>
            </p:cNvGraphicFramePr>
            <p:nvPr/>
          </p:nvGraphicFramePr>
          <p:xfrm>
            <a:off x="768" y="1344"/>
            <a:ext cx="2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83" r:id="rId5" imgW="139761" imgH="177877" progId="Equation.3">
                    <p:embed/>
                  </p:oleObj>
                </mc:Choice>
                <mc:Fallback>
                  <p:oleObj r:id="rId5" imgW="139761" imgH="177877" progId="Equation.3">
                    <p:embed/>
                    <p:pic>
                      <p:nvPicPr>
                        <p:cNvPr id="1741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344"/>
                          <a:ext cx="2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9"/>
            <p:cNvGraphicFramePr>
              <a:graphicFrameLocks noChangeAspect="1"/>
            </p:cNvGraphicFramePr>
            <p:nvPr/>
          </p:nvGraphicFramePr>
          <p:xfrm>
            <a:off x="1296" y="1392"/>
            <a:ext cx="27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84" r:id="rId7" imgW="152532" imgH="165243" progId="Equation.3">
                    <p:embed/>
                  </p:oleObj>
                </mc:Choice>
                <mc:Fallback>
                  <p:oleObj r:id="rId7" imgW="152532" imgH="165243" progId="Equation.3">
                    <p:embed/>
                    <p:pic>
                      <p:nvPicPr>
                        <p:cNvPr id="1741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392"/>
                          <a:ext cx="270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Text Box 12"/>
            <p:cNvSpPr txBox="1">
              <a:spLocks noChangeArrowheads="1"/>
            </p:cNvSpPr>
            <p:nvPr/>
          </p:nvSpPr>
          <p:spPr bwMode="auto">
            <a:xfrm>
              <a:off x="1488" y="1353"/>
              <a:ext cx="17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chemeClr val="tx2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88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8" name="Rectangle 19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三、矩阵的秩的性质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3028" name="AutoShape 20"/>
          <p:cNvSpPr>
            <a:spLocks noChangeArrowheads="1"/>
          </p:cNvSpPr>
          <p:nvPr/>
        </p:nvSpPr>
        <p:spPr bwMode="auto">
          <a:xfrm>
            <a:off x="265113" y="1117600"/>
            <a:ext cx="8610600" cy="5611813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矩阵，则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)≤min(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m, 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~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、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Q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可逆，则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R(PAQ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max{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)}≤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特别地，当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为非零列向量时，有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 startAt="6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 startAt="6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)≤min{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)}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Font typeface="Wingdings" pitchFamily="2" charset="2"/>
              <a:buAutoNum type="circleNumDbPlain" startAt="6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30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3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8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6" name="Rectangle 2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</a:t>
            </a:r>
            <a:r>
              <a:rPr kumimoji="1" lang="zh-CN" altLang="en-US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阶矩阵， 证明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≥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57200" y="1295400"/>
            <a:ext cx="8229600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证明：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由性质“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”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</a:t>
            </a:r>
          </a:p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又因为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，所以</a:t>
            </a:r>
          </a:p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457200" y="1295400"/>
            <a:ext cx="823118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的行最简形矩阵应该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个非零行；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每个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非零行的第一个非零元为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每个非零元所在的列的其它元素都为零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的行最简形中应该包含以下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个列向量：</a:t>
            </a: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3581400" y="3492500"/>
          <a:ext cx="194310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89" name="Equation" r:id="rId3" imgW="1295400" imgH="1612900" progId="">
                  <p:embed/>
                </p:oleObj>
              </mc:Choice>
              <mc:Fallback>
                <p:oleObj name="Equation" r:id="rId3" imgW="1295400" imgH="16129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492500"/>
                        <a:ext cx="194310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457200" y="6042025"/>
            <a:ext cx="841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又因为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矩阵，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的行最简形矩阵为           ．</a:t>
            </a:r>
          </a:p>
        </p:txBody>
      </p:sp>
      <p:sp>
        <p:nvSpPr>
          <p:cNvPr id="64521" name="AutoShape 9"/>
          <p:cNvSpPr>
            <a:spLocks/>
          </p:cNvSpPr>
          <p:nvPr/>
        </p:nvSpPr>
        <p:spPr bwMode="auto">
          <a:xfrm>
            <a:off x="3276600" y="3552825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2314575" y="3940175"/>
            <a:ext cx="885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前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sp>
        <p:nvSpPr>
          <p:cNvPr id="64525" name="AutoShape 13"/>
          <p:cNvSpPr>
            <a:spLocks/>
          </p:cNvSpPr>
          <p:nvPr/>
        </p:nvSpPr>
        <p:spPr bwMode="auto">
          <a:xfrm>
            <a:off x="3327400" y="5076825"/>
            <a:ext cx="101600" cy="762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Arial" charset="0"/>
              <a:ea typeface="楷体_GB2312" pitchFamily="49" charset="-122"/>
            </a:endParaRPr>
          </a:p>
        </p:txBody>
      </p:sp>
      <p:sp>
        <p:nvSpPr>
          <p:cNvPr id="64526" name="Text Box 14"/>
          <p:cNvSpPr txBox="1">
            <a:spLocks noChangeArrowheads="1"/>
          </p:cNvSpPr>
          <p:nvPr/>
        </p:nvSpPr>
        <p:spPr bwMode="auto">
          <a:xfrm>
            <a:off x="1946275" y="5275263"/>
            <a:ext cx="1254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/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后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- </a:t>
            </a:r>
            <a:r>
              <a:rPr lang="en-US" altLang="zh-CN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</a:t>
            </a:r>
          </a:p>
        </p:txBody>
      </p:sp>
      <p:graphicFrame>
        <p:nvGraphicFramePr>
          <p:cNvPr id="64527" name="Object 7"/>
          <p:cNvGraphicFramePr>
            <a:graphicFrameLocks noChangeAspect="1"/>
          </p:cNvGraphicFramePr>
          <p:nvPr/>
        </p:nvGraphicFramePr>
        <p:xfrm>
          <a:off x="7315200" y="5799138"/>
          <a:ext cx="7620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90" name="Equation" r:id="rId5" imgW="380835" imgH="469696" progId="">
                  <p:embed/>
                </p:oleObj>
              </mc:Choice>
              <mc:Fallback>
                <p:oleObj name="Equation" r:id="rId5" imgW="380835" imgH="469696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799138"/>
                        <a:ext cx="7620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0" name="Rectangle 17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B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C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，且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build="p"/>
      <p:bldP spid="64520" grpId="0"/>
      <p:bldP spid="64521" grpId="0" animBg="1"/>
      <p:bldP spid="64522" grpId="0"/>
      <p:bldP spid="64525" grpId="0" animBg="1"/>
      <p:bldP spid="645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9" name="Rectangle 2"/>
          <p:cNvSpPr>
            <a:spLocks noChangeArrowheads="1"/>
          </p:cNvSpPr>
          <p:nvPr/>
        </p:nvSpPr>
        <p:spPr bwMode="auto">
          <a:xfrm>
            <a:off x="457200" y="5334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B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C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，且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57200" y="1295400"/>
            <a:ext cx="82296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的行最简形矩阵为               ，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阶可逆矩阵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，满足                         ．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，故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61444" name="Object 12"/>
          <p:cNvGraphicFramePr>
            <a:graphicFrameLocks noChangeAspect="1"/>
          </p:cNvGraphicFramePr>
          <p:nvPr/>
        </p:nvGraphicFramePr>
        <p:xfrm>
          <a:off x="6807200" y="1062038"/>
          <a:ext cx="11176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3" name="Equation" r:id="rId3" imgW="558558" imgH="482391" progId="">
                  <p:embed/>
                </p:oleObj>
              </mc:Choice>
              <mc:Fallback>
                <p:oleObj name="Equation" r:id="rId3" imgW="558558" imgH="482391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062038"/>
                        <a:ext cx="11176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13"/>
          <p:cNvGraphicFramePr>
            <a:graphicFrameLocks noChangeAspect="1"/>
          </p:cNvGraphicFramePr>
          <p:nvPr/>
        </p:nvGraphicFramePr>
        <p:xfrm>
          <a:off x="4067175" y="1947863"/>
          <a:ext cx="18272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4" name="Equation" r:id="rId5" imgW="914400" imgH="482600" progId="">
                  <p:embed/>
                </p:oleObj>
              </mc:Choice>
              <mc:Fallback>
                <p:oleObj name="Equation" r:id="rId5" imgW="914400" imgH="4826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947863"/>
                        <a:ext cx="18272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14"/>
          <p:cNvGraphicFramePr>
            <a:graphicFrameLocks noChangeAspect="1"/>
          </p:cNvGraphicFramePr>
          <p:nvPr/>
        </p:nvGraphicFramePr>
        <p:xfrm>
          <a:off x="1219200" y="3276600"/>
          <a:ext cx="2716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5" name="Equation" r:id="rId7" imgW="1358900" imgH="469900" progId="">
                  <p:embed/>
                </p:oleObj>
              </mc:Choice>
              <mc:Fallback>
                <p:oleObj name="Equation" r:id="rId7" imgW="1358900" imgH="4699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76600"/>
                        <a:ext cx="27162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15"/>
          <p:cNvGraphicFramePr>
            <a:graphicFrameLocks noChangeAspect="1"/>
          </p:cNvGraphicFramePr>
          <p:nvPr/>
        </p:nvGraphicFramePr>
        <p:xfrm>
          <a:off x="3898900" y="3276600"/>
          <a:ext cx="8874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6" name="Equation" r:id="rId9" imgW="444307" imgH="469696" progId="">
                  <p:embed/>
                </p:oleObj>
              </mc:Choice>
              <mc:Fallback>
                <p:oleObj name="Equation" r:id="rId9" imgW="444307" imgH="469696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3276600"/>
                        <a:ext cx="8874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16"/>
          <p:cNvGraphicFramePr>
            <a:graphicFrameLocks noChangeAspect="1"/>
          </p:cNvGraphicFramePr>
          <p:nvPr/>
        </p:nvGraphicFramePr>
        <p:xfrm>
          <a:off x="3633788" y="4572000"/>
          <a:ext cx="18764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7" name="Equation" r:id="rId11" imgW="939800" imgH="469900" progId="">
                  <p:embed/>
                </p:oleObj>
              </mc:Choice>
              <mc:Fallback>
                <p:oleObj name="Equation" r:id="rId11" imgW="939800" imgH="4699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4572000"/>
                        <a:ext cx="18764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08806" y="5641996"/>
            <a:ext cx="8077994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本题中，当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，这时结论为：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      设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为列满秩矩阵，则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O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文本框 1"/>
          <p:cNvSpPr txBox="1">
            <a:spLocks noChangeArrowheads="1"/>
          </p:cNvSpPr>
          <p:nvPr/>
        </p:nvSpPr>
        <p:spPr bwMode="auto">
          <a:xfrm>
            <a:off x="2843808" y="1700808"/>
            <a:ext cx="238558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作业    习题三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10.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12.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986649"/>
      </p:ext>
    </p:extLst>
  </p:cSld>
  <p:clrMapOvr>
    <a:masterClrMapping/>
  </p:clrMapOvr>
</p:sld>
</file>

<file path=ppt/theme/theme1.xml><?xml version="1.0" encoding="utf-8"?>
<a:theme xmlns:a="http://schemas.openxmlformats.org/drawingml/2006/main" name="1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1612</Words>
  <Application>Microsoft Office PowerPoint</Application>
  <PresentationFormat>全屏显示(4:3)</PresentationFormat>
  <Paragraphs>149</Paragraphs>
  <Slides>24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华文楷体</vt:lpstr>
      <vt:lpstr>楷体_GB2312</vt:lpstr>
      <vt:lpstr>Arial</vt:lpstr>
      <vt:lpstr>Arial Black</vt:lpstr>
      <vt:lpstr>Calibri</vt:lpstr>
      <vt:lpstr>Times New Roman</vt:lpstr>
      <vt:lpstr>Wingdings</vt:lpstr>
      <vt:lpstr>12_Blends</vt:lpstr>
      <vt:lpstr>12_Pixel</vt:lpstr>
      <vt:lpstr>MathType 6.0 Equation</vt:lpstr>
      <vt:lpstr>Microsoft Equation 3.0</vt:lpstr>
      <vt:lpstr>Equation</vt:lpstr>
      <vt:lpstr>§2  矩阵的秩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45</cp:revision>
  <dcterms:created xsi:type="dcterms:W3CDTF">2012-04-21T04:49:10Z</dcterms:created>
  <dcterms:modified xsi:type="dcterms:W3CDTF">2023-11-13T02:46:55Z</dcterms:modified>
</cp:coreProperties>
</file>