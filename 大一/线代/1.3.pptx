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8" r:id="rId1"/>
    <p:sldMasterId id="2147483720" r:id="rId2"/>
    <p:sldMasterId id="2147483768" r:id="rId3"/>
    <p:sldMasterId id="2147484043" r:id="rId4"/>
    <p:sldMasterId id="2147484067" r:id="rId5"/>
    <p:sldMasterId id="2147484091" r:id="rId6"/>
    <p:sldMasterId id="2147484115" r:id="rId7"/>
    <p:sldMasterId id="2147484261" r:id="rId8"/>
  </p:sldMasterIdLst>
  <p:notesMasterIdLst>
    <p:notesMasterId r:id="rId25"/>
  </p:notesMasterIdLst>
  <p:sldIdLst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90" r:id="rId19"/>
    <p:sldId id="291" r:id="rId20"/>
    <p:sldId id="344" r:id="rId21"/>
    <p:sldId id="345" r:id="rId22"/>
    <p:sldId id="765" r:id="rId23"/>
    <p:sldId id="764" r:id="rId24"/>
  </p:sldIdLst>
  <p:sldSz cx="9144000" cy="6858000" type="screen4x3"/>
  <p:notesSz cx="6858000" cy="9144000"/>
  <p:custDataLst>
    <p:tags r:id="rId2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9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ags" Target="tags/tag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image" Target="../media/image24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4" Type="http://schemas.openxmlformats.org/officeDocument/2006/relationships/image" Target="../media/image3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7" Type="http://schemas.openxmlformats.org/officeDocument/2006/relationships/image" Target="../media/image47.wmf"/><Relationship Id="rId2" Type="http://schemas.openxmlformats.org/officeDocument/2006/relationships/image" Target="../media/image40.wmf"/><Relationship Id="rId1" Type="http://schemas.openxmlformats.org/officeDocument/2006/relationships/image" Target="../media/image42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2745E114-C510-4ADC-995D-F3E8AB49FC76}" type="datetimeFigureOut">
              <a:rPr lang="zh-CN" altLang="en-US"/>
              <a:t>2023/10/9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5587B3B-AA86-4ECC-8B74-F3D0145122BF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+mn-ea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+mn-ea"/>
                </a:endParaRPr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+mn-ea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rgbClr val="000000"/>
                  </a:solidFill>
                  <a:ea typeface="+mn-ea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ea typeface="+mn-ea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ea typeface="+mn-ea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ea typeface="+mn-ea"/>
              </a:endParaRPr>
            </a:p>
          </p:txBody>
        </p:sp>
      </p:grpSp>
      <p:sp>
        <p:nvSpPr>
          <p:cNvPr id="1946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946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9CA8F749-C622-4411-8EF7-89027EF4AC1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F766806-6FD6-4B26-BA96-6C378698990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B114651-93D4-43FA-9D5B-BF472908638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08C7774-73AF-49C3-9ED5-3E9C89475E1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C9AEAA6-48DD-4A64-A90D-AD15EBAA704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5DCA211-AE82-4A0F-8446-FDAFD54053B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52EF5A0-FA78-4EC8-8EAE-119238CB10A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50FF5F5-EE6A-4E28-97E1-DE564B7A6D6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9245068-3EDC-4DCE-B002-243EF1C7836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BA49825-89AC-49E8-94AB-14F0235245E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F55F649-28D4-460F-A6D2-4BE6572FDB7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</p:grpSp>
      </p:grpSp>
      <p:sp>
        <p:nvSpPr>
          <p:cNvPr id="2254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254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5B12DB7-802A-4A02-9C07-AC31B1C597F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CCDA30C-CA65-481F-873B-5331AF352BE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8050D39-AE71-4BD5-BAC6-F7AB243BEF31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C594926-E3FC-4FB8-8468-7A9BAE93B1C6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D6451BA-6EC4-4416-A717-F9298C85E409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307DD45-694C-42C8-8401-6C2CA85F1CF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382C3B7-709E-49D1-AC2F-FCC1ED2E6658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8B4B9B8-A311-4BA1-A431-4945A74F098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706F60A-7669-44D6-B44F-4D06D56D2A39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323CDA0-9DC5-43C2-B93E-32A6CBFD31F5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4D13218-CACF-43E8-BCF1-0459B958F40D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Times New Roman" panose="02020603050405020304" pitchFamily="18" charset="0"/>
                  <a:ea typeface="+mn-ea"/>
                </a:endParaRPr>
              </a:p>
            </p:txBody>
          </p:sp>
        </p:grpSp>
      </p:grpSp>
      <p:sp>
        <p:nvSpPr>
          <p:cNvPr id="2152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152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1A6DB1B-F8FF-4CC2-8767-2233C941902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9492CDF-38F4-4099-8955-00C7A06B4395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1778726-B3C0-4ED1-A011-029A8C093578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172E263-2DFA-4DF2-BE70-8667BCC4806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DBCE8D8-2124-48D8-B39F-9155FEACFF81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E2FBDB7-6FB7-4D99-B947-E3B84006A16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7882429-12EE-4953-882A-1C8C1A53F176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1F58D56-F632-46A8-BC86-925B68C2BA45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8383AB6-6AF3-49EF-AA31-5678B7ABEF4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208F5BA-7EBB-453D-BFF4-80DFC8528579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F3FE410-3A24-4759-977B-E8BA67A79B44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4BDA23C-10CC-4BEB-9215-6F3A5BE46F0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9836DBF-CBA6-4325-92A7-B43F665E96E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ADED120-F4C4-42A1-83F0-A88EB50FE25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60BBDC9-EA98-4633-A9E0-69A1C94D05D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E78C8C0-DD52-4BD7-956D-46FF7301545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2BB852B-B1AF-4956-ACA2-1914F98CB3D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1945D34-FA75-4A22-A118-011EF2EF56D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A2CC82C-4C0F-47C9-8BB0-5897BB0AFD04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DCAB2EB-6565-4823-97AC-5E8712BCB65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428A188-899E-4E63-B2A0-62804DC6CF92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D8DA032-A08C-48F4-B0CB-CC4FCDF40CD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2B535E6-90B5-49E2-9D70-A1FB690DA08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FBF7C63-4B39-4175-A1A8-5047609405C9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E422100-0283-4CF8-9659-747308F0691C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4540F626-7FAF-4E8D-A774-FB2F60EA05B2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7262599-6712-4798-83AF-FB6B8BF5B88C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18F9BDD-FED1-4AF2-8F6A-EBF5FF8CE9E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C94695B2-96C9-48E8-821B-55A375CB604D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5B63E16-DC29-459D-9D01-E3DE34A3D72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63FA865-7194-4C3D-939B-6215BE4DA80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79DCF3C-DA7D-4498-AB38-221CAC51025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6516B5F-A071-4D95-9587-2EEE88867B8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CC3595D-3890-44FF-AF55-A5A50B2E0B7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A7E8BC0E-94CF-4D79-BB62-D40D4833E1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E9B6F26A-7A98-424B-A4B5-59142C7811D2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F500094-9553-4F04-9B12-AA794F33AB1C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C6EFB21-EF4D-40D6-B79C-EAD6F7108748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936CAF0D-F3C2-4F96-87A4-A9CB584B0598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CD28102-F4C8-4544-B7CA-173C0CEE1D9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6F45CFD-DD50-4AE0-99AA-913C57164C86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5A100C3A-EECC-4A7D-8619-7D3CC64D4E16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36A45CC-8280-492E-AB43-8FFCA788FE0D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2A256707-82E6-4F49-BD38-DDFC1B10CEC9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7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solidFill>
                    <a:srgbClr val="000000"/>
                  </a:solidFill>
                  <a:latin typeface="+mn-lt"/>
                  <a:ea typeface="+mn-ea"/>
                </a:endParaRPr>
              </a:p>
            </p:txBody>
          </p:sp>
        </p:grpSp>
      </p:grpSp>
      <p:sp>
        <p:nvSpPr>
          <p:cNvPr id="18" name="Rectangle 21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Rectangle 22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0" name="Rectangle 23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16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0E91D96-8CBF-4433-994D-A789FB6B43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D4DE0CA5-1E2E-46BB-81B7-EB980465492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EBF17BB-4E49-4AB4-B6E1-FA86C5078A2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28775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564F127-C21D-4F68-9108-9C532A171025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F1262783-E1AD-461C-B73E-E2AC5D78C4F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1B35FF76-71B6-41B4-82B6-140969D58892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771F2702-364A-47AE-B5CD-48ED6804DEC4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66C6427D-F90A-44DA-9174-3E389E80FEA1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4201D4B-4A42-452C-92A1-C5895348766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07974994-B3B8-42E1-AF97-7D7A5979D8A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12713"/>
            <a:ext cx="2057400" cy="54022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713"/>
            <a:ext cx="6019800" cy="54022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B30B9421-9F4E-49FD-9980-A7FD8648B4C7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3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76800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6801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44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4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1C3B280-4F72-4DE9-BB03-8E31D0E798C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solidFill>
                  <a:srgbClr val="000000"/>
                </a:solidFill>
                <a:latin typeface="Arial Black" panose="020B0A04020102020204" pitchFamily="34" charset="0"/>
                <a:ea typeface="+mn-ea"/>
              </a:defRPr>
            </a:lvl1pPr>
          </a:lstStyle>
          <a:p>
            <a:pPr>
              <a:defRPr/>
            </a:pPr>
            <a:fld id="{FF978195-8FD3-4107-89B6-AA5C1D127746}" type="slidenum">
              <a:rPr lang="en-US" altLang="zh-CN"/>
              <a:t>‹#›</a:t>
            </a:fld>
            <a:endParaRPr lang="en-US" altLang="zh-CN"/>
          </a:p>
        </p:txBody>
      </p:sp>
      <p:grpSp>
        <p:nvGrpSpPr>
          <p:cNvPr id="794628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150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2151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2151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151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151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2151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151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7946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946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152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solidFill>
                  <a:srgbClr val="000000"/>
                </a:solidFill>
                <a:latin typeface="Arial Black" panose="020B0A04020102020204" pitchFamily="34" charset="0"/>
                <a:ea typeface="+mn-ea"/>
              </a:defRPr>
            </a:lvl1pPr>
          </a:lstStyle>
          <a:p>
            <a:pPr>
              <a:defRPr/>
            </a:pPr>
            <a:fld id="{06551764-7B70-4594-8610-B42F63ABBA08}" type="slidenum">
              <a:rPr lang="en-US" altLang="zh-CN"/>
              <a:t>‹#›</a:t>
            </a:fld>
            <a:endParaRPr lang="en-US" altLang="zh-CN"/>
          </a:p>
        </p:txBody>
      </p:sp>
      <p:grpSp>
        <p:nvGrpSpPr>
          <p:cNvPr id="901124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48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2048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2048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48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48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049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2049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Times New Roman" panose="02020603050405020304" pitchFamily="18" charset="0"/>
                <a:ea typeface="+mn-ea"/>
              </a:endParaRPr>
            </a:p>
          </p:txBody>
        </p:sp>
        <p:sp>
          <p:nvSpPr>
            <p:cNvPr id="2049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2049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90112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0112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49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3C392F1-3CA2-4677-9599-74D099C33127}" type="slidenum">
              <a:rPr lang="en-US" altLang="zh-CN"/>
              <a:t>‹#›</a:t>
            </a:fld>
            <a:endParaRPr lang="en-US" altLang="zh-CN"/>
          </a:p>
        </p:txBody>
      </p:sp>
      <p:grpSp>
        <p:nvGrpSpPr>
          <p:cNvPr id="405508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0550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551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13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4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56EB063-469A-42C8-B924-1D8EE9684ABC}" type="slidenum">
              <a:rPr lang="en-US" altLang="zh-CN"/>
              <a:t>‹#›</a:t>
            </a:fld>
            <a:endParaRPr lang="en-US" altLang="zh-CN"/>
          </a:p>
        </p:txBody>
      </p:sp>
      <p:grpSp>
        <p:nvGrpSpPr>
          <p:cNvPr id="430084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30085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3008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13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13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8" r:id="rId1"/>
    <p:sldLayoutId id="2147484069" r:id="rId2"/>
    <p:sldLayoutId id="2147484070" r:id="rId3"/>
    <p:sldLayoutId id="2147484071" r:id="rId4"/>
    <p:sldLayoutId id="2147484072" r:id="rId5"/>
    <p:sldLayoutId id="2147484073" r:id="rId6"/>
    <p:sldLayoutId id="2147484074" r:id="rId7"/>
    <p:sldLayoutId id="2147484075" r:id="rId8"/>
    <p:sldLayoutId id="2147484076" r:id="rId9"/>
    <p:sldLayoutId id="2147484077" r:id="rId10"/>
    <p:sldLayoutId id="214748407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B484CAC-4403-434C-BB08-32B3741B641F}" type="slidenum">
              <a:rPr lang="en-US" altLang="zh-CN"/>
              <a:t>‹#›</a:t>
            </a:fld>
            <a:endParaRPr lang="en-US" altLang="zh-CN"/>
          </a:p>
        </p:txBody>
      </p:sp>
      <p:grpSp>
        <p:nvGrpSpPr>
          <p:cNvPr id="454660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54661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54662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13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13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3" r:id="rId2"/>
    <p:sldLayoutId id="2147484094" r:id="rId3"/>
    <p:sldLayoutId id="2147484095" r:id="rId4"/>
    <p:sldLayoutId id="2147484096" r:id="rId5"/>
    <p:sldLayoutId id="2147484097" r:id="rId6"/>
    <p:sldLayoutId id="2147484098" r:id="rId7"/>
    <p:sldLayoutId id="2147484099" r:id="rId8"/>
    <p:sldLayoutId id="2147484100" r:id="rId9"/>
    <p:sldLayoutId id="2147484101" r:id="rId10"/>
    <p:sldLayoutId id="214748410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806D48A-56A5-4B77-B1AF-A544CEF8E900}" type="slidenum">
              <a:rPr lang="en-US" altLang="zh-CN"/>
              <a:t>‹#›</a:t>
            </a:fld>
            <a:endParaRPr lang="en-US" altLang="zh-CN"/>
          </a:p>
        </p:txBody>
      </p:sp>
      <p:grpSp>
        <p:nvGrpSpPr>
          <p:cNvPr id="479236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6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666699"/>
                </a:solidFill>
                <a:latin typeface="+mn-lt"/>
                <a:ea typeface="+mn-ea"/>
              </a:endParaRPr>
            </a:p>
          </p:txBody>
        </p:sp>
        <p:sp>
          <p:nvSpPr>
            <p:cNvPr id="5131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32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  <p:sp>
          <p:nvSpPr>
            <p:cNvPr id="5133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zh-CN">
                <a:solidFill>
                  <a:srgbClr val="9999CC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7923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713"/>
            <a:ext cx="8229600" cy="1371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7923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28775"/>
            <a:ext cx="8229600" cy="3886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7" name="Rectangle 17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138" name="Rectangle 18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139" name="Rectangle 19">
            <a:hlinkClick r:id="" action="ppaction://hlinkshowjump?jump=firstslide"/>
          </p:cNvPr>
          <p:cNvSpPr>
            <a:spLocks noChangeArrowheads="1"/>
          </p:cNvSpPr>
          <p:nvPr/>
        </p:nvSpPr>
        <p:spPr bwMode="auto">
          <a:xfrm>
            <a:off x="82042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6" r:id="rId1"/>
    <p:sldLayoutId id="2147484117" r:id="rId2"/>
    <p:sldLayoutId id="2147484118" r:id="rId3"/>
    <p:sldLayoutId id="2147484119" r:id="rId4"/>
    <p:sldLayoutId id="2147484120" r:id="rId5"/>
    <p:sldLayoutId id="2147484121" r:id="rId6"/>
    <p:sldLayoutId id="2147484122" r:id="rId7"/>
    <p:sldLayoutId id="2147484123" r:id="rId8"/>
    <p:sldLayoutId id="2147484124" r:id="rId9"/>
    <p:sldLayoutId id="2147484125" r:id="rId10"/>
    <p:sldLayoutId id="214748412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400" b="1">
          <a:solidFill>
            <a:schemeClr val="tx1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  <a:cs typeface="楷体_GB231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 cstate="print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hlinkClick r:id="" action="ppaction://hlinkshowjump?jump=previousslide"/>
          </p:cNvPr>
          <p:cNvSpPr>
            <a:spLocks noChangeArrowheads="1"/>
          </p:cNvSpPr>
          <p:nvPr/>
        </p:nvSpPr>
        <p:spPr bwMode="auto">
          <a:xfrm>
            <a:off x="6388100" y="62865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7267" name="Rectangle 3">
            <a:hlinkClick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7289800" y="6299200"/>
            <a:ext cx="6731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726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59788" y="6416675"/>
            <a:ext cx="684213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spAutoFit/>
          </a:bodyPr>
          <a:lstStyle>
            <a:lvl1pPr>
              <a:defRPr sz="2000">
                <a:solidFill>
                  <a:srgbClr val="FF0000"/>
                </a:solidFill>
                <a:latin typeface="Times New Roman" panose="02020603050405020304" pitchFamily="18" charset="0"/>
              </a:defRPr>
            </a:lvl1pPr>
          </a:lstStyle>
          <a:p>
            <a:pPr lvl="0" eaLnBrk="1" hangingPunct="1"/>
            <a:r>
              <a:rPr lang="en-US" altLang="zh-CN" dirty="0"/>
              <a:t>-</a:t>
            </a:r>
            <a:fld id="{9A0DB2DC-4C9A-4742-B13C-FB6460FD3503}" type="slidenum">
              <a:rPr lang="en-US" altLang="zh-CN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‹#›</a:t>
            </a:fld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2" r:id="rId1"/>
    <p:sldLayoutId id="2147484263" r:id="rId2"/>
    <p:sldLayoutId id="2147484264" r:id="rId3"/>
    <p:sldLayoutId id="2147484265" r:id="rId4"/>
    <p:sldLayoutId id="2147484266" r:id="rId5"/>
    <p:sldLayoutId id="2147484267" r:id="rId6"/>
    <p:sldLayoutId id="2147484268" r:id="rId7"/>
    <p:sldLayoutId id="2147484269" r:id="rId8"/>
    <p:sldLayoutId id="2147484270" r:id="rId9"/>
    <p:sldLayoutId id="2147484271" r:id="rId10"/>
    <p:sldLayoutId id="2147484272" r:id="rId11"/>
  </p:sldLayoutIdLst>
  <p:transition>
    <p:wipe dir="r"/>
  </p:transition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4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3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15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2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4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6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2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37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29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1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2.wmf"/><Relationship Id="rId9" Type="http://schemas.openxmlformats.org/officeDocument/2006/relationships/oleObject" Target="../embeddings/oleObject4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4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38.wmf"/><Relationship Id="rId9" Type="http://schemas.openxmlformats.org/officeDocument/2006/relationships/oleObject" Target="../embeddings/oleObject50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40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58.bin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45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47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59.bin"/><Relationship Id="rId10" Type="http://schemas.openxmlformats.org/officeDocument/2006/relationships/image" Target="../media/image44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46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4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49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52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kumimoji="1" lang="en-US" altLang="zh-CN" sz="3600" b="1">
                <a:solidFill>
                  <a:srgbClr val="CC0099"/>
                </a:solidFill>
                <a:latin typeface="楷体_GB2312"/>
                <a:ea typeface="楷体_GB2312"/>
                <a:cs typeface="楷体_GB2312"/>
              </a:rPr>
              <a:t>§</a:t>
            </a:r>
            <a:r>
              <a:rPr kumimoji="1" lang="en-US" altLang="zh-CN" sz="3600" b="1">
                <a:solidFill>
                  <a:srgbClr val="CC00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</a:t>
            </a:r>
            <a:r>
              <a:rPr kumimoji="1" lang="en-US" altLang="zh-CN" sz="3600" b="1">
                <a:solidFill>
                  <a:srgbClr val="CC0099"/>
                </a:solidFill>
                <a:latin typeface="楷体_GB2312"/>
                <a:ea typeface="楷体_GB2312"/>
                <a:cs typeface="楷体_GB2312"/>
              </a:rPr>
              <a:t>  </a:t>
            </a:r>
            <a:r>
              <a:rPr kumimoji="1" lang="en-US" altLang="zh-CN" sz="3600" b="1" i="1">
                <a:solidFill>
                  <a:srgbClr val="CC00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 </a:t>
            </a:r>
            <a:r>
              <a:rPr kumimoji="1" lang="zh-CN" altLang="en-US" sz="3600" b="1">
                <a:solidFill>
                  <a:srgbClr val="CC0099"/>
                </a:solidFill>
                <a:latin typeface="楷体_GB2312"/>
                <a:ea typeface="楷体_GB2312"/>
                <a:cs typeface="楷体_GB2312"/>
              </a:rPr>
              <a:t>阶行列式的定义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sz="3600" b="1">
                <a:solidFill>
                  <a:srgbClr val="0000FF"/>
                </a:solidFill>
                <a:ea typeface="楷体_GB2312"/>
                <a:cs typeface="楷体_GB2312"/>
              </a:rPr>
              <a:t>一、概念的引入</a:t>
            </a:r>
          </a:p>
        </p:txBody>
      </p:sp>
      <p:graphicFrame>
        <p:nvGraphicFramePr>
          <p:cNvPr id="16414" name="Object 30"/>
          <p:cNvGraphicFramePr>
            <a:graphicFrameLocks noChangeAspect="1"/>
          </p:cNvGraphicFramePr>
          <p:nvPr/>
        </p:nvGraphicFramePr>
        <p:xfrm>
          <a:off x="611188" y="1119188"/>
          <a:ext cx="2652712" cy="156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69" name="Equation" r:id="rId3" imgW="28956000" imgH="17068800" progId="">
                  <p:embed/>
                </p:oleObj>
              </mc:Choice>
              <mc:Fallback>
                <p:oleObj name="Equation" r:id="rId3" imgW="28956000" imgH="17068800" progId="">
                  <p:embed/>
                  <p:pic>
                    <p:nvPicPr>
                      <p:cNvPr id="0" name="图片 16384" descr="image66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188" y="1119188"/>
                        <a:ext cx="2652712" cy="15636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5" name="Object 31"/>
          <p:cNvGraphicFramePr>
            <a:graphicFrameLocks noChangeAspect="1"/>
          </p:cNvGraphicFramePr>
          <p:nvPr/>
        </p:nvGraphicFramePr>
        <p:xfrm>
          <a:off x="3276600" y="1806575"/>
          <a:ext cx="306388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0" name="Equation" r:id="rId5" imgW="3352800" imgH="2743200" progId="">
                  <p:embed/>
                </p:oleObj>
              </mc:Choice>
              <mc:Fallback>
                <p:oleObj name="Equation" r:id="rId5" imgW="3352800" imgH="2743200" progId="">
                  <p:embed/>
                  <p:pic>
                    <p:nvPicPr>
                      <p:cNvPr id="0" name="图片 16414" descr="image3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76600" y="1806575"/>
                        <a:ext cx="306388" cy="250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6" name="Object 32"/>
          <p:cNvGraphicFramePr>
            <a:graphicFrameLocks noChangeAspect="1"/>
          </p:cNvGraphicFramePr>
          <p:nvPr/>
        </p:nvGraphicFramePr>
        <p:xfrm>
          <a:off x="3581400" y="1676400"/>
          <a:ext cx="43084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1" name="Equation" r:id="rId7" imgW="46939200" imgH="10972800" progId="">
                  <p:embed/>
                </p:oleObj>
              </mc:Choice>
              <mc:Fallback>
                <p:oleObj name="Equation" r:id="rId7" imgW="46939200" imgH="10972800" progId="">
                  <p:embed/>
                  <p:pic>
                    <p:nvPicPr>
                      <p:cNvPr id="0" name="图片 16415" descr="image3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81400" y="1676400"/>
                        <a:ext cx="4308475" cy="10080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Rectangle 6"/>
          <p:cNvSpPr>
            <a:spLocks noChangeArrowheads="1"/>
          </p:cNvSpPr>
          <p:nvPr/>
        </p:nvSpPr>
        <p:spPr bwMode="auto">
          <a:xfrm>
            <a:off x="228600" y="2995613"/>
            <a:ext cx="8763000" cy="3367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/>
            <a:r>
              <a:rPr kumimoji="1" lang="zh-CN" altLang="en-US" sz="28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规律：</a:t>
            </a:r>
          </a:p>
          <a:p>
            <a:pPr marL="342900" indent="-342900">
              <a:lnSpc>
                <a:spcPct val="130000"/>
              </a:lnSpc>
              <a:buFontTx/>
              <a:buAutoNum type="arabicPeriod"/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三阶行列式共有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6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项，即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3!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项．</a:t>
            </a:r>
          </a:p>
          <a:p>
            <a:pPr marL="342900" indent="-342900">
              <a:lnSpc>
                <a:spcPct val="130000"/>
              </a:lnSpc>
              <a:buFontTx/>
              <a:buAutoNum type="arabicPeriod"/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每一项都是位于不同行不同列的三个元素的乘积．</a:t>
            </a:r>
          </a:p>
          <a:p>
            <a:pPr marL="342900" indent="-342900">
              <a:lnSpc>
                <a:spcPct val="130000"/>
              </a:lnSpc>
              <a:buFontTx/>
              <a:buAutoNum type="arabicPeriod"/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每一项可以写成                   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(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正负号除外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，其中</a:t>
            </a:r>
          </a:p>
          <a:p>
            <a:pPr marL="342900" indent="-342900">
              <a:lnSpc>
                <a:spcPct val="130000"/>
              </a:lnSpc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    是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、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、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的某个排列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.</a:t>
            </a:r>
          </a:p>
          <a:p>
            <a:pPr marL="342900" indent="-342900">
              <a:lnSpc>
                <a:spcPct val="130000"/>
              </a:lnSpc>
              <a:buFontTx/>
              <a:buAutoNum type="arabicPeriod" startAt="4"/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当           是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偶排列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时，对应的项取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正号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；</a:t>
            </a:r>
          </a:p>
          <a:p>
            <a:pPr marL="342900" indent="-342900">
              <a:lnSpc>
                <a:spcPct val="130000"/>
              </a:lnSpc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    当           是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奇排列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时，对应的项取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负号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. </a:t>
            </a:r>
          </a:p>
        </p:txBody>
      </p:sp>
      <p:graphicFrame>
        <p:nvGraphicFramePr>
          <p:cNvPr id="23559" name="Object 33"/>
          <p:cNvGraphicFramePr>
            <a:graphicFrameLocks noChangeAspect="1"/>
          </p:cNvGraphicFramePr>
          <p:nvPr/>
        </p:nvGraphicFramePr>
        <p:xfrm>
          <a:off x="2876550" y="4419600"/>
          <a:ext cx="160496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2" name="Equation" r:id="rId9" imgW="17373600" imgH="6096000" progId="">
                  <p:embed/>
                </p:oleObj>
              </mc:Choice>
              <mc:Fallback>
                <p:oleObj name="Equation" r:id="rId9" imgW="17373600" imgH="6096000" progId="">
                  <p:embed/>
                  <p:pic>
                    <p:nvPicPr>
                      <p:cNvPr id="0" name="图片 16416" descr="image6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76550" y="4419600"/>
                        <a:ext cx="1604963" cy="558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853369"/>
              </p:ext>
            </p:extLst>
          </p:nvPr>
        </p:nvGraphicFramePr>
        <p:xfrm>
          <a:off x="7236296" y="4391874"/>
          <a:ext cx="103663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3" name="Equation" r:id="rId11" imgW="11277600" imgH="5486400" progId="">
                  <p:embed/>
                </p:oleObj>
              </mc:Choice>
              <mc:Fallback>
                <p:oleObj name="Equation" r:id="rId11" imgW="11277600" imgH="5486400" progId="">
                  <p:embed/>
                  <p:pic>
                    <p:nvPicPr>
                      <p:cNvPr id="0" name="图片 16417" descr="image6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36296" y="4391874"/>
                        <a:ext cx="1036637" cy="503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35"/>
          <p:cNvGraphicFramePr>
            <a:graphicFrameLocks noChangeAspect="1"/>
          </p:cNvGraphicFramePr>
          <p:nvPr/>
        </p:nvGraphicFramePr>
        <p:xfrm>
          <a:off x="935038" y="5375275"/>
          <a:ext cx="103663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4" name="Equation" r:id="rId13" imgW="11277600" imgH="5486400" progId="">
                  <p:embed/>
                </p:oleObj>
              </mc:Choice>
              <mc:Fallback>
                <p:oleObj name="Equation" r:id="rId13" imgW="11277600" imgH="5486400" progId="">
                  <p:embed/>
                  <p:pic>
                    <p:nvPicPr>
                      <p:cNvPr id="0" name="图片 16418" descr="image6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35038" y="5375275"/>
                        <a:ext cx="1036637" cy="503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36"/>
          <p:cNvGraphicFramePr>
            <a:graphicFrameLocks noChangeAspect="1"/>
          </p:cNvGraphicFramePr>
          <p:nvPr/>
        </p:nvGraphicFramePr>
        <p:xfrm>
          <a:off x="935038" y="5867400"/>
          <a:ext cx="103663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75" name="Equation" r:id="rId14" imgW="11277600" imgH="5486400" progId="">
                  <p:embed/>
                </p:oleObj>
              </mc:Choice>
              <mc:Fallback>
                <p:oleObj name="Equation" r:id="rId14" imgW="11277600" imgH="5486400" progId="">
                  <p:embed/>
                  <p:pic>
                    <p:nvPicPr>
                      <p:cNvPr id="0" name="图片 16419" descr="image6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35038" y="5867400"/>
                        <a:ext cx="1036637" cy="503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5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35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35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35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35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35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235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5" name="Text Box 2"/>
          <p:cNvSpPr txBox="1">
            <a:spLocks noChangeArrowheads="1"/>
          </p:cNvSpPr>
          <p:nvPr/>
        </p:nvSpPr>
        <p:spPr bwMode="auto">
          <a:xfrm>
            <a:off x="654050" y="969963"/>
            <a:ext cx="4013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所以，三阶行列式可以写成</a:t>
            </a:r>
            <a:r>
              <a:rPr kumimoji="1" lang="zh-CN" altLang="en-US" sz="240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 </a:t>
            </a:r>
          </a:p>
        </p:txBody>
      </p:sp>
      <p:sp>
        <p:nvSpPr>
          <p:cNvPr id="17436" name="Rectangle 3"/>
          <p:cNvSpPr>
            <a:spLocks noChangeArrowheads="1"/>
          </p:cNvSpPr>
          <p:nvPr/>
        </p:nvSpPr>
        <p:spPr bwMode="auto">
          <a:xfrm>
            <a:off x="3233738" y="3071813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24580" name="Object 22"/>
          <p:cNvGraphicFramePr>
            <a:graphicFrameLocks noChangeAspect="1"/>
          </p:cNvGraphicFramePr>
          <p:nvPr/>
        </p:nvGraphicFramePr>
        <p:xfrm>
          <a:off x="3290888" y="3228975"/>
          <a:ext cx="399573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1" name="Equation" r:id="rId3" imgW="43891200" imgH="8839200" progId="">
                  <p:embed/>
                </p:oleObj>
              </mc:Choice>
              <mc:Fallback>
                <p:oleObj name="Equation" r:id="rId3" imgW="43891200" imgH="8839200" progId="">
                  <p:embed/>
                  <p:pic>
                    <p:nvPicPr>
                      <p:cNvPr id="0" name="图片 17408" descr="image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90888" y="3228975"/>
                        <a:ext cx="3995737" cy="8096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638175" y="4745038"/>
            <a:ext cx="575991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其中       表示对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、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、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的所有排列求和</a:t>
            </a:r>
            <a:r>
              <a:rPr kumimoji="1" lang="en-US" altLang="zh-CN" sz="2400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. </a:t>
            </a:r>
          </a:p>
        </p:txBody>
      </p:sp>
      <p:graphicFrame>
        <p:nvGraphicFramePr>
          <p:cNvPr id="24582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683814"/>
              </p:ext>
            </p:extLst>
          </p:nvPr>
        </p:nvGraphicFramePr>
        <p:xfrm>
          <a:off x="1331640" y="4708555"/>
          <a:ext cx="8382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2" name="Equation" r:id="rId5" imgW="10058400" imgH="8839200" progId="">
                  <p:embed/>
                </p:oleObj>
              </mc:Choice>
              <mc:Fallback>
                <p:oleObj name="Equation" r:id="rId5" imgW="10058400" imgH="8839200" progId="">
                  <p:embed/>
                  <p:pic>
                    <p:nvPicPr>
                      <p:cNvPr id="0" name="图片 17430" descr="image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31640" y="4708555"/>
                        <a:ext cx="838200" cy="739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623888" y="5486400"/>
            <a:ext cx="79946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二阶行列式有类似规律</a:t>
            </a:r>
            <a:r>
              <a:rPr kumimoji="1" lang="en-US" altLang="zh-CN" sz="2400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下面将行列式推广到一般的情形</a:t>
            </a:r>
            <a:r>
              <a:rPr kumimoji="1" lang="en-US" altLang="zh-CN" sz="2400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. </a:t>
            </a:r>
          </a:p>
        </p:txBody>
      </p:sp>
      <p:graphicFrame>
        <p:nvGraphicFramePr>
          <p:cNvPr id="17432" name="Object 24"/>
          <p:cNvGraphicFramePr>
            <a:graphicFrameLocks noChangeAspect="1"/>
          </p:cNvGraphicFramePr>
          <p:nvPr/>
        </p:nvGraphicFramePr>
        <p:xfrm>
          <a:off x="611188" y="1482725"/>
          <a:ext cx="2652712" cy="156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3" name="Equation" r:id="rId7" imgW="28956000" imgH="17068800" progId="">
                  <p:embed/>
                </p:oleObj>
              </mc:Choice>
              <mc:Fallback>
                <p:oleObj name="Equation" r:id="rId7" imgW="28956000" imgH="17068800" progId="">
                  <p:embed/>
                  <p:pic>
                    <p:nvPicPr>
                      <p:cNvPr id="0" name="图片 17431" descr="image6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1188" y="1482725"/>
                        <a:ext cx="2652712" cy="15636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3" name="Object 25"/>
          <p:cNvGraphicFramePr>
            <a:graphicFrameLocks noChangeAspect="1"/>
          </p:cNvGraphicFramePr>
          <p:nvPr/>
        </p:nvGraphicFramePr>
        <p:xfrm>
          <a:off x="3276600" y="2170113"/>
          <a:ext cx="306388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4" name="Equation" r:id="rId9" imgW="3352800" imgH="2743200" progId="">
                  <p:embed/>
                </p:oleObj>
              </mc:Choice>
              <mc:Fallback>
                <p:oleObj name="Equation" r:id="rId9" imgW="3352800" imgH="2743200" progId="">
                  <p:embed/>
                  <p:pic>
                    <p:nvPicPr>
                      <p:cNvPr id="0" name="图片 17432" descr="image3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76600" y="2170113"/>
                        <a:ext cx="306388" cy="250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4" name="Object 26"/>
          <p:cNvGraphicFramePr>
            <a:graphicFrameLocks noChangeAspect="1"/>
          </p:cNvGraphicFramePr>
          <p:nvPr/>
        </p:nvGraphicFramePr>
        <p:xfrm>
          <a:off x="3581400" y="2039938"/>
          <a:ext cx="4308475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45" name="Equation" r:id="rId11" imgW="46939200" imgH="10972800" progId="">
                  <p:embed/>
                </p:oleObj>
              </mc:Choice>
              <mc:Fallback>
                <p:oleObj name="Equation" r:id="rId11" imgW="46939200" imgH="10972800" progId="">
                  <p:embed/>
                  <p:pic>
                    <p:nvPicPr>
                      <p:cNvPr id="0" name="图片 17433" descr="image3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81400" y="2039938"/>
                        <a:ext cx="4308475" cy="10080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/>
      <p:bldP spid="2458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371600"/>
          </a:xfrm>
        </p:spPr>
        <p:txBody>
          <a:bodyPr/>
          <a:lstStyle/>
          <a:p>
            <a:pPr eaLnBrk="1" hangingPunct="1"/>
            <a:r>
              <a:rPr lang="zh-CN" altLang="en-US" sz="3600" b="1">
                <a:solidFill>
                  <a:srgbClr val="0000FF"/>
                </a:solidFill>
                <a:ea typeface="楷体_GB2312"/>
                <a:cs typeface="楷体_GB2312"/>
              </a:rPr>
              <a:t>二、</a:t>
            </a:r>
            <a:r>
              <a:rPr lang="en-US" altLang="zh-CN" sz="3600" b="1" i="1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 </a:t>
            </a:r>
            <a:r>
              <a:rPr lang="zh-CN" altLang="en-US" sz="3600" b="1">
                <a:solidFill>
                  <a:srgbClr val="0000FF"/>
                </a:solidFill>
                <a:ea typeface="楷体_GB2312"/>
                <a:cs typeface="楷体_GB2312"/>
              </a:rPr>
              <a:t>阶行列式的定义</a:t>
            </a: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228600" y="3505200"/>
            <a:ext cx="8763000" cy="28305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buFontTx/>
              <a:buAutoNum type="arabicPeriod"/>
            </a:pP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阶行列式共有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! 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项．</a:t>
            </a:r>
          </a:p>
          <a:p>
            <a:pPr marL="342900" indent="-342900">
              <a:lnSpc>
                <a:spcPct val="130000"/>
              </a:lnSpc>
              <a:buFontTx/>
              <a:buAutoNum type="arabicPeriod"/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每一项都是位于不同行不同列的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个元素的乘积．</a:t>
            </a:r>
          </a:p>
          <a:p>
            <a:pPr marL="342900" indent="-342900">
              <a:lnSpc>
                <a:spcPct val="130000"/>
              </a:lnSpc>
              <a:buFontTx/>
              <a:buAutoNum type="arabicPeriod"/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每一项可以写成                    （正负号除外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，其中</a:t>
            </a:r>
          </a:p>
          <a:p>
            <a:pPr marL="342900" indent="-342900">
              <a:lnSpc>
                <a:spcPct val="130000"/>
              </a:lnSpc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    是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1, 2, …,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 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的某个排列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.</a:t>
            </a:r>
          </a:p>
          <a:p>
            <a:pPr marL="342900" indent="-342900">
              <a:lnSpc>
                <a:spcPct val="130000"/>
              </a:lnSpc>
              <a:buFontTx/>
              <a:buAutoNum type="arabicPeriod" startAt="4"/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当                是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偶排列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时，对应的项取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正号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；</a:t>
            </a:r>
          </a:p>
          <a:p>
            <a:pPr marL="342900" indent="-342900">
              <a:lnSpc>
                <a:spcPct val="130000"/>
              </a:lnSpc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    当                是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奇排列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时，对应的项取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/>
                <a:ea typeface="楷体_GB2312"/>
                <a:cs typeface="楷体_GB2312"/>
              </a:rPr>
              <a:t>负号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. </a:t>
            </a:r>
          </a:p>
        </p:txBody>
      </p:sp>
      <p:graphicFrame>
        <p:nvGraphicFramePr>
          <p:cNvPr id="2560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663156"/>
              </p:ext>
            </p:extLst>
          </p:nvPr>
        </p:nvGraphicFramePr>
        <p:xfrm>
          <a:off x="2843808" y="4363243"/>
          <a:ext cx="19685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7" name="Equation" r:id="rId3" imgW="21336000" imgH="6096000" progId="">
                  <p:embed/>
                </p:oleObj>
              </mc:Choice>
              <mc:Fallback>
                <p:oleObj name="Equation" r:id="rId3" imgW="21336000" imgH="6096000" progId="">
                  <p:embed/>
                  <p:pic>
                    <p:nvPicPr>
                      <p:cNvPr id="0" name="图片 18432" descr="image7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3808" y="4363243"/>
                        <a:ext cx="1968500" cy="557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8392322"/>
              </p:ext>
            </p:extLst>
          </p:nvPr>
        </p:nvGraphicFramePr>
        <p:xfrm>
          <a:off x="7500937" y="4337655"/>
          <a:ext cx="14573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8" name="Equation" r:id="rId5" imgW="15849600" imgH="5486400" progId="">
                  <p:embed/>
                </p:oleObj>
              </mc:Choice>
              <mc:Fallback>
                <p:oleObj name="Equation" r:id="rId5" imgW="15849600" imgH="5486400" progId="">
                  <p:embed/>
                  <p:pic>
                    <p:nvPicPr>
                      <p:cNvPr id="0" name="图片 18462" descr="image7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00937" y="4337655"/>
                        <a:ext cx="1457325" cy="503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261601"/>
              </p:ext>
            </p:extLst>
          </p:nvPr>
        </p:nvGraphicFramePr>
        <p:xfrm>
          <a:off x="971600" y="5303118"/>
          <a:ext cx="14573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9" name="Equation" r:id="rId7" imgW="15849600" imgH="5486400" progId="">
                  <p:embed/>
                </p:oleObj>
              </mc:Choice>
              <mc:Fallback>
                <p:oleObj name="Equation" r:id="rId7" imgW="15849600" imgH="5486400" progId="">
                  <p:embed/>
                  <p:pic>
                    <p:nvPicPr>
                      <p:cNvPr id="0" name="图片 18463" descr="image7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1600" y="5303118"/>
                        <a:ext cx="1457325" cy="503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197713"/>
              </p:ext>
            </p:extLst>
          </p:nvPr>
        </p:nvGraphicFramePr>
        <p:xfrm>
          <a:off x="971600" y="5806356"/>
          <a:ext cx="14573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0" name="Equation" r:id="rId9" imgW="15849600" imgH="5486400" progId="">
                  <p:embed/>
                </p:oleObj>
              </mc:Choice>
              <mc:Fallback>
                <p:oleObj name="Equation" r:id="rId9" imgW="15849600" imgH="5486400" progId="">
                  <p:embed/>
                  <p:pic>
                    <p:nvPicPr>
                      <p:cNvPr id="0" name="图片 18464" descr="image7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71600" y="5806356"/>
                        <a:ext cx="1457325" cy="503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6" name="Object 34"/>
          <p:cNvGraphicFramePr>
            <a:graphicFrameLocks noChangeAspect="1"/>
          </p:cNvGraphicFramePr>
          <p:nvPr/>
        </p:nvGraphicFramePr>
        <p:xfrm>
          <a:off x="317500" y="1066800"/>
          <a:ext cx="8062913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1" name="Equation" r:id="rId11" imgW="88392000" imgH="22555200" progId="">
                  <p:embed/>
                </p:oleObj>
              </mc:Choice>
              <mc:Fallback>
                <p:oleObj name="Equation" r:id="rId11" imgW="88392000" imgH="22555200" progId="">
                  <p:embed/>
                  <p:pic>
                    <p:nvPicPr>
                      <p:cNvPr id="0" name="图片 18465" descr="image7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7500" y="1066800"/>
                        <a:ext cx="8062913" cy="2066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4419600" y="2743200"/>
            <a:ext cx="3810000" cy="977896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简记作            ，</a:t>
            </a:r>
          </a:p>
          <a:p>
            <a:pPr>
              <a:lnSpc>
                <a:spcPct val="160000"/>
              </a:lnSpc>
            </a:pP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其中    为行列式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D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的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(</a:t>
            </a:r>
            <a:r>
              <a:rPr kumimoji="1" lang="en-US" altLang="zh-CN" sz="24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i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j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)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元</a:t>
            </a:r>
          </a:p>
        </p:txBody>
      </p:sp>
      <p:graphicFrame>
        <p:nvGraphicFramePr>
          <p:cNvPr id="25610" name="Object 35"/>
          <p:cNvGraphicFramePr>
            <a:graphicFrameLocks noChangeAspect="1"/>
          </p:cNvGraphicFramePr>
          <p:nvPr/>
        </p:nvGraphicFramePr>
        <p:xfrm>
          <a:off x="5440363" y="2757488"/>
          <a:ext cx="1112837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2" name="Equation" r:id="rId13" imgW="12192000" imgH="5791200" progId="">
                  <p:embed/>
                </p:oleObj>
              </mc:Choice>
              <mc:Fallback>
                <p:oleObj name="Equation" r:id="rId13" imgW="12192000" imgH="5791200" progId="">
                  <p:embed/>
                  <p:pic>
                    <p:nvPicPr>
                      <p:cNvPr id="0" name="图片 18466" descr="image7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40363" y="2757488"/>
                        <a:ext cx="1112837" cy="5318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1" name="Object 36"/>
          <p:cNvGraphicFramePr>
            <a:graphicFrameLocks noChangeAspect="1"/>
          </p:cNvGraphicFramePr>
          <p:nvPr/>
        </p:nvGraphicFramePr>
        <p:xfrm>
          <a:off x="5105400" y="3276600"/>
          <a:ext cx="39052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23" name="Equation" r:id="rId15" imgW="4267200" imgH="5791200" progId="">
                  <p:embed/>
                </p:oleObj>
              </mc:Choice>
              <mc:Fallback>
                <p:oleObj name="Equation" r:id="rId15" imgW="4267200" imgH="5791200" progId="">
                  <p:embed/>
                  <p:pic>
                    <p:nvPicPr>
                      <p:cNvPr id="0" name="图片 18467" descr="image7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05400" y="3276600"/>
                        <a:ext cx="390525" cy="531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3" name="Text Box 2"/>
          <p:cNvSpPr txBox="1">
            <a:spLocks noChangeArrowheads="1"/>
          </p:cNvSpPr>
          <p:nvPr/>
        </p:nvSpPr>
        <p:spPr bwMode="auto">
          <a:xfrm>
            <a:off x="315913" y="685800"/>
            <a:ext cx="4184650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6666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思考题：       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成立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吗？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315913" y="1247775"/>
            <a:ext cx="7924800" cy="1758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800" b="1" dirty="0">
                <a:solidFill>
                  <a:srgbClr val="6666FF"/>
                </a:solidFill>
                <a:latin typeface="楷体_GB2312"/>
                <a:ea typeface="楷体_GB2312"/>
                <a:cs typeface="楷体_GB2312"/>
              </a:rPr>
              <a:t>答：</a:t>
            </a:r>
            <a:r>
              <a:rPr kumimoji="1" lang="zh-CN" altLang="en-US" sz="28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符号     可以有两种理解：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kumimoji="1" lang="zh-CN" altLang="en-US" sz="28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若理解成绝对值，则            ；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kumimoji="1" lang="zh-CN" altLang="en-US" sz="28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若理解成一阶行列式，则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.</a:t>
            </a:r>
          </a:p>
        </p:txBody>
      </p:sp>
      <p:graphicFrame>
        <p:nvGraphicFramePr>
          <p:cNvPr id="19478" name="Object 22"/>
          <p:cNvGraphicFramePr>
            <a:graphicFrameLocks noChangeAspect="1"/>
          </p:cNvGraphicFramePr>
          <p:nvPr/>
        </p:nvGraphicFramePr>
        <p:xfrm>
          <a:off x="1862138" y="722313"/>
          <a:ext cx="126206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9" name="Equation" r:id="rId3" imgW="13716000" imgH="5791200" progId="">
                  <p:embed/>
                </p:oleObj>
              </mc:Choice>
              <mc:Fallback>
                <p:oleObj name="Equation" r:id="rId3" imgW="13716000" imgH="5791200" progId="">
                  <p:embed/>
                  <p:pic>
                    <p:nvPicPr>
                      <p:cNvPr id="0" name="图片 19456" descr="image7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2138" y="722313"/>
                        <a:ext cx="1262062" cy="530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23"/>
          <p:cNvGraphicFramePr>
            <a:graphicFrameLocks noChangeAspect="1"/>
          </p:cNvGraphicFramePr>
          <p:nvPr/>
        </p:nvGraphicFramePr>
        <p:xfrm>
          <a:off x="1828800" y="1371600"/>
          <a:ext cx="5603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0" name="Equation" r:id="rId5" imgW="6096000" imgH="5791200" progId="">
                  <p:embed/>
                </p:oleObj>
              </mc:Choice>
              <mc:Fallback>
                <p:oleObj name="Equation" r:id="rId5" imgW="6096000" imgH="5791200" progId="">
                  <p:embed/>
                  <p:pic>
                    <p:nvPicPr>
                      <p:cNvPr id="0" name="图片 19478" descr="image7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28800" y="1371600"/>
                        <a:ext cx="560388" cy="530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24"/>
          <p:cNvGraphicFramePr>
            <a:graphicFrameLocks noChangeAspect="1"/>
          </p:cNvGraphicFramePr>
          <p:nvPr/>
        </p:nvGraphicFramePr>
        <p:xfrm>
          <a:off x="3919538" y="1933575"/>
          <a:ext cx="126206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1" name="Equation" r:id="rId7" imgW="13716000" imgH="5791200" progId="">
                  <p:embed/>
                </p:oleObj>
              </mc:Choice>
              <mc:Fallback>
                <p:oleObj name="Equation" r:id="rId7" imgW="13716000" imgH="5791200" progId="">
                  <p:embed/>
                  <p:pic>
                    <p:nvPicPr>
                      <p:cNvPr id="0" name="图片 19479" descr="image8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19538" y="1933575"/>
                        <a:ext cx="1262062" cy="530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961343"/>
              </p:ext>
            </p:extLst>
          </p:nvPr>
        </p:nvGraphicFramePr>
        <p:xfrm>
          <a:off x="4716016" y="2463800"/>
          <a:ext cx="126206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2" name="Equation" r:id="rId9" imgW="13716000" imgH="5791200" progId="">
                  <p:embed/>
                </p:oleObj>
              </mc:Choice>
              <mc:Fallback>
                <p:oleObj name="Equation" r:id="rId9" imgW="13716000" imgH="5791200" progId="">
                  <p:embed/>
                  <p:pic>
                    <p:nvPicPr>
                      <p:cNvPr id="0" name="图片 19480" descr="image8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16016" y="2463800"/>
                        <a:ext cx="1262062" cy="530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315913" y="3200400"/>
            <a:ext cx="8169275" cy="1203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注意：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当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= 1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时，一阶行列式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|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| = 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，注意不要与绝对值的记号相混淆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 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例如：一阶行列式               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 </a:t>
            </a:r>
          </a:p>
        </p:txBody>
      </p:sp>
      <p:graphicFrame>
        <p:nvGraphicFramePr>
          <p:cNvPr id="26633" name="Object 26"/>
          <p:cNvGraphicFramePr>
            <a:graphicFrameLocks noChangeAspect="1"/>
          </p:cNvGraphicFramePr>
          <p:nvPr/>
        </p:nvGraphicFramePr>
        <p:xfrm>
          <a:off x="6705600" y="3886200"/>
          <a:ext cx="126206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93" name="Equation" r:id="rId11" imgW="13716000" imgH="5791200" progId="">
                  <p:embed/>
                </p:oleObj>
              </mc:Choice>
              <mc:Fallback>
                <p:oleObj name="Equation" r:id="rId11" imgW="13716000" imgH="5791200" progId="">
                  <p:embed/>
                  <p:pic>
                    <p:nvPicPr>
                      <p:cNvPr id="0" name="图片 19481" descr="image81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05600" y="3886200"/>
                        <a:ext cx="1262063" cy="530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1" dur="500"/>
                                        <p:tgtEl>
                                          <p:spTgt spid="26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2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AutoShape 2"/>
          <p:cNvSpPr>
            <a:spLocks noChangeArrowheads="1"/>
          </p:cNvSpPr>
          <p:nvPr/>
        </p:nvSpPr>
        <p:spPr bwMode="auto">
          <a:xfrm flipH="1" flipV="1">
            <a:off x="1979613" y="4724400"/>
            <a:ext cx="2592387" cy="1822450"/>
          </a:xfrm>
          <a:prstGeom prst="rtTriangle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27651" name="Object 30"/>
          <p:cNvGraphicFramePr>
            <a:graphicFrameLocks noChangeAspect="1"/>
          </p:cNvGraphicFramePr>
          <p:nvPr/>
        </p:nvGraphicFramePr>
        <p:xfrm>
          <a:off x="1203325" y="4598988"/>
          <a:ext cx="3459163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5" name="Equation" r:id="rId3" imgW="37795200" imgH="22555200" progId="">
                  <p:embed/>
                </p:oleObj>
              </mc:Choice>
              <mc:Fallback>
                <p:oleObj name="Equation" r:id="rId3" imgW="37795200" imgH="22555200" progId="">
                  <p:embed/>
                  <p:pic>
                    <p:nvPicPr>
                      <p:cNvPr id="0" name="图片 20480" descr="image8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03325" y="4598988"/>
                        <a:ext cx="3459163" cy="2070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2" name="AutoShape 4"/>
          <p:cNvSpPr>
            <a:spLocks noChangeArrowheads="1"/>
          </p:cNvSpPr>
          <p:nvPr/>
        </p:nvSpPr>
        <p:spPr bwMode="auto">
          <a:xfrm>
            <a:off x="6156325" y="4613275"/>
            <a:ext cx="2592388" cy="1943100"/>
          </a:xfrm>
          <a:prstGeom prst="rtTriangle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0519" name="Text Box 5"/>
          <p:cNvSpPr txBox="1">
            <a:spLocks noChangeArrowheads="1"/>
          </p:cNvSpPr>
          <p:nvPr/>
        </p:nvSpPr>
        <p:spPr bwMode="auto">
          <a:xfrm>
            <a:off x="685800" y="554038"/>
            <a:ext cx="7969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rgbClr val="3333FF"/>
                </a:solidFill>
                <a:latin typeface="楷体_GB2312"/>
                <a:ea typeface="楷体_GB2312"/>
                <a:cs typeface="楷体_GB2312"/>
              </a:rPr>
              <a:t>例：</a:t>
            </a:r>
          </a:p>
        </p:txBody>
      </p:sp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1258888" y="554038"/>
            <a:ext cx="5586786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写出四阶行列式中含有因子        的项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. </a:t>
            </a:r>
          </a:p>
        </p:txBody>
      </p:sp>
      <p:graphicFrame>
        <p:nvGraphicFramePr>
          <p:cNvPr id="20511" name="Object 31"/>
          <p:cNvGraphicFramePr>
            <a:graphicFrameLocks noChangeAspect="1"/>
          </p:cNvGraphicFramePr>
          <p:nvPr/>
        </p:nvGraphicFramePr>
        <p:xfrm>
          <a:off x="5003800" y="558800"/>
          <a:ext cx="736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6" name="Equation" r:id="rId5" imgW="17678400" imgH="10363200" progId="Equations">
                  <p:embed/>
                </p:oleObj>
              </mc:Choice>
              <mc:Fallback>
                <p:oleObj name="Equation" r:id="rId5" imgW="17678400" imgH="10363200" progId="Equations">
                  <p:embed/>
                  <p:pic>
                    <p:nvPicPr>
                      <p:cNvPr id="0" name="图片 20510" descr="image8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03800" y="558800"/>
                        <a:ext cx="7366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685800" y="1817688"/>
            <a:ext cx="7969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rgbClr val="3333FF"/>
                </a:solidFill>
                <a:latin typeface="楷体_GB2312"/>
                <a:ea typeface="楷体_GB2312"/>
                <a:cs typeface="楷体_GB2312"/>
              </a:rPr>
              <a:t>例：</a:t>
            </a:r>
          </a:p>
        </p:txBody>
      </p:sp>
      <p:sp>
        <p:nvSpPr>
          <p:cNvPr id="27657" name="Text Box 9"/>
          <p:cNvSpPr txBox="1">
            <a:spLocks noChangeArrowheads="1"/>
          </p:cNvSpPr>
          <p:nvPr/>
        </p:nvSpPr>
        <p:spPr bwMode="auto">
          <a:xfrm>
            <a:off x="1258888" y="1817688"/>
            <a:ext cx="1716087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计算行列式</a:t>
            </a:r>
          </a:p>
        </p:txBody>
      </p:sp>
      <p:sp>
        <p:nvSpPr>
          <p:cNvPr id="27658" name="Text Box 10"/>
          <p:cNvSpPr txBox="1">
            <a:spLocks noChangeArrowheads="1"/>
          </p:cNvSpPr>
          <p:nvPr/>
        </p:nvSpPr>
        <p:spPr bwMode="auto">
          <a:xfrm>
            <a:off x="685800" y="1125538"/>
            <a:ext cx="7969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rgbClr val="3333FF"/>
                </a:solidFill>
                <a:latin typeface="楷体_GB2312"/>
                <a:ea typeface="楷体_GB2312"/>
                <a:cs typeface="楷体_GB2312"/>
              </a:rPr>
              <a:t>解：</a:t>
            </a:r>
          </a:p>
        </p:txBody>
      </p:sp>
      <p:graphicFrame>
        <p:nvGraphicFramePr>
          <p:cNvPr id="27659" name="Object 32"/>
          <p:cNvGraphicFramePr>
            <a:graphicFrameLocks noChangeAspect="1"/>
          </p:cNvGraphicFramePr>
          <p:nvPr/>
        </p:nvGraphicFramePr>
        <p:xfrm>
          <a:off x="1258888" y="1125538"/>
          <a:ext cx="17875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7" name="Equation" r:id="rId7" imgW="19507200" imgH="5486400" progId="">
                  <p:embed/>
                </p:oleObj>
              </mc:Choice>
              <mc:Fallback>
                <p:oleObj name="Equation" r:id="rId7" imgW="19507200" imgH="5486400" progId="">
                  <p:embed/>
                  <p:pic>
                    <p:nvPicPr>
                      <p:cNvPr id="0" name="图片 20511" descr="image84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58888" y="1125538"/>
                        <a:ext cx="1787525" cy="5032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0" name="Object 33"/>
          <p:cNvGraphicFramePr>
            <a:graphicFrameLocks noChangeAspect="1"/>
          </p:cNvGraphicFramePr>
          <p:nvPr/>
        </p:nvGraphicFramePr>
        <p:xfrm>
          <a:off x="3403600" y="1125538"/>
          <a:ext cx="17018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8" name="Equation" r:id="rId9" imgW="18592800" imgH="5486400" progId="">
                  <p:embed/>
                </p:oleObj>
              </mc:Choice>
              <mc:Fallback>
                <p:oleObj name="Equation" r:id="rId9" imgW="18592800" imgH="5486400" progId="">
                  <p:embed/>
                  <p:pic>
                    <p:nvPicPr>
                      <p:cNvPr id="0" name="图片 20512" descr="image85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03600" y="1125538"/>
                        <a:ext cx="1701800" cy="5032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2957513" y="1125538"/>
            <a:ext cx="4921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和</a:t>
            </a:r>
          </a:p>
        </p:txBody>
      </p:sp>
      <p:graphicFrame>
        <p:nvGraphicFramePr>
          <p:cNvPr id="27662" name="Object 34"/>
          <p:cNvGraphicFramePr>
            <a:graphicFrameLocks noChangeAspect="1"/>
          </p:cNvGraphicFramePr>
          <p:nvPr/>
        </p:nvGraphicFramePr>
        <p:xfrm>
          <a:off x="5364163" y="2276475"/>
          <a:ext cx="3459162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9" name="Equation" r:id="rId11" imgW="37795200" imgH="22555200" progId="">
                  <p:embed/>
                </p:oleObj>
              </mc:Choice>
              <mc:Fallback>
                <p:oleObj name="Equation" r:id="rId11" imgW="37795200" imgH="22555200" progId="">
                  <p:embed/>
                  <p:pic>
                    <p:nvPicPr>
                      <p:cNvPr id="0" name="图片 20513" descr="image86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64163" y="2276475"/>
                        <a:ext cx="3459162" cy="2070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35"/>
          <p:cNvGraphicFramePr>
            <a:graphicFrameLocks noChangeAspect="1"/>
          </p:cNvGraphicFramePr>
          <p:nvPr/>
        </p:nvGraphicFramePr>
        <p:xfrm>
          <a:off x="1258888" y="2278063"/>
          <a:ext cx="3432175" cy="206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0" name="Equation" r:id="rId13" imgW="37490400" imgH="22555200" progId="">
                  <p:embed/>
                </p:oleObj>
              </mc:Choice>
              <mc:Fallback>
                <p:oleObj name="Equation" r:id="rId13" imgW="37490400" imgH="22555200" progId="">
                  <p:embed/>
                  <p:pic>
                    <p:nvPicPr>
                      <p:cNvPr id="0" name="图片 20514" descr="image8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58888" y="2278063"/>
                        <a:ext cx="3432175" cy="20685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4" name="Object 36"/>
          <p:cNvGraphicFramePr>
            <a:graphicFrameLocks noChangeAspect="1"/>
          </p:cNvGraphicFramePr>
          <p:nvPr/>
        </p:nvGraphicFramePr>
        <p:xfrm>
          <a:off x="5349875" y="4600575"/>
          <a:ext cx="3487738" cy="206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1" name="Equation" r:id="rId15" imgW="38100000" imgH="22555200" progId="">
                  <p:embed/>
                </p:oleObj>
              </mc:Choice>
              <mc:Fallback>
                <p:oleObj name="Equation" r:id="rId15" imgW="38100000" imgH="22555200" progId="">
                  <p:embed/>
                  <p:pic>
                    <p:nvPicPr>
                      <p:cNvPr id="0" name="图片 20515" descr="image8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49875" y="4600575"/>
                        <a:ext cx="3487738" cy="2068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5" name="Line 17"/>
          <p:cNvSpPr>
            <a:spLocks noChangeShapeType="1"/>
          </p:cNvSpPr>
          <p:nvPr/>
        </p:nvSpPr>
        <p:spPr bwMode="auto">
          <a:xfrm>
            <a:off x="2195513" y="2492375"/>
            <a:ext cx="2376487" cy="18002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66" name="Line 18"/>
          <p:cNvSpPr>
            <a:spLocks noChangeShapeType="1"/>
          </p:cNvSpPr>
          <p:nvPr/>
        </p:nvSpPr>
        <p:spPr bwMode="auto">
          <a:xfrm flipH="1">
            <a:off x="6227763" y="2420938"/>
            <a:ext cx="2305050" cy="1728787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nimBg="1"/>
      <p:bldP spid="27652" grpId="0" animBg="1"/>
      <p:bldP spid="27656" grpId="0"/>
      <p:bldP spid="27657" grpId="0"/>
      <p:bldP spid="27658" grpId="0"/>
      <p:bldP spid="27661" grpId="0"/>
      <p:bldP spid="27665" grpId="0" animBg="1"/>
      <p:bldP spid="2766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1" name="Text Box 2"/>
          <p:cNvSpPr txBox="1">
            <a:spLocks noChangeArrowheads="1"/>
          </p:cNvSpPr>
          <p:nvPr/>
        </p:nvSpPr>
        <p:spPr bwMode="auto">
          <a:xfrm>
            <a:off x="685800" y="554038"/>
            <a:ext cx="796925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rgbClr val="3333FF"/>
                </a:solidFill>
                <a:latin typeface="楷体_GB2312"/>
                <a:ea typeface="楷体_GB2312"/>
                <a:cs typeface="楷体_GB2312"/>
              </a:rPr>
              <a:t>解：</a:t>
            </a:r>
          </a:p>
        </p:txBody>
      </p:sp>
      <p:graphicFrame>
        <p:nvGraphicFramePr>
          <p:cNvPr id="21534" name="Object 30"/>
          <p:cNvGraphicFramePr>
            <a:graphicFrameLocks noChangeAspect="1"/>
          </p:cNvGraphicFramePr>
          <p:nvPr/>
        </p:nvGraphicFramePr>
        <p:xfrm>
          <a:off x="468313" y="982663"/>
          <a:ext cx="3432175" cy="206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9" name="Equation" r:id="rId3" imgW="37490400" imgH="22555200" progId="">
                  <p:embed/>
                </p:oleObj>
              </mc:Choice>
              <mc:Fallback>
                <p:oleObj name="Equation" r:id="rId3" imgW="37490400" imgH="22555200" progId="">
                  <p:embed/>
                  <p:pic>
                    <p:nvPicPr>
                      <p:cNvPr id="0" name="图片 21504" descr="image8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313" y="982663"/>
                        <a:ext cx="3432175" cy="20685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42" name="Line 4"/>
          <p:cNvSpPr>
            <a:spLocks noChangeShapeType="1"/>
          </p:cNvSpPr>
          <p:nvPr/>
        </p:nvSpPr>
        <p:spPr bwMode="auto">
          <a:xfrm>
            <a:off x="1404938" y="1196975"/>
            <a:ext cx="2376487" cy="18002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535" name="Object 31"/>
          <p:cNvGraphicFramePr>
            <a:graphicFrameLocks noChangeAspect="1"/>
          </p:cNvGraphicFramePr>
          <p:nvPr/>
        </p:nvGraphicFramePr>
        <p:xfrm>
          <a:off x="468313" y="3446463"/>
          <a:ext cx="3459162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0" name="Equation" r:id="rId5" imgW="37795200" imgH="22555200" progId="">
                  <p:embed/>
                </p:oleObj>
              </mc:Choice>
              <mc:Fallback>
                <p:oleObj name="Equation" r:id="rId5" imgW="37795200" imgH="22555200" progId="">
                  <p:embed/>
                  <p:pic>
                    <p:nvPicPr>
                      <p:cNvPr id="0" name="图片 21534" descr="image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8313" y="3446463"/>
                        <a:ext cx="3459162" cy="2070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43" name="Line 6"/>
          <p:cNvSpPr>
            <a:spLocks noChangeShapeType="1"/>
          </p:cNvSpPr>
          <p:nvPr/>
        </p:nvSpPr>
        <p:spPr bwMode="auto">
          <a:xfrm flipH="1">
            <a:off x="1331913" y="3590925"/>
            <a:ext cx="2305050" cy="1728788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679" name="Object 32"/>
          <p:cNvGraphicFramePr>
            <a:graphicFrameLocks noChangeAspect="1"/>
          </p:cNvGraphicFramePr>
          <p:nvPr/>
        </p:nvGraphicFramePr>
        <p:xfrm>
          <a:off x="3868738" y="1765300"/>
          <a:ext cx="18700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1" name="Equation" r:id="rId7" imgW="20421600" imgH="5486400" progId="">
                  <p:embed/>
                </p:oleObj>
              </mc:Choice>
              <mc:Fallback>
                <p:oleObj name="Equation" r:id="rId7" imgW="20421600" imgH="5486400" progId="">
                  <p:embed/>
                  <p:pic>
                    <p:nvPicPr>
                      <p:cNvPr id="0" name="图片 21535" descr="image8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68738" y="1765300"/>
                        <a:ext cx="1870075" cy="503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33"/>
          <p:cNvGraphicFramePr>
            <a:graphicFrameLocks noChangeAspect="1"/>
          </p:cNvGraphicFramePr>
          <p:nvPr/>
        </p:nvGraphicFramePr>
        <p:xfrm>
          <a:off x="3881438" y="4214813"/>
          <a:ext cx="30988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2" name="Equation" r:id="rId9" imgW="33832800" imgH="5791200" progId="">
                  <p:embed/>
                </p:oleObj>
              </mc:Choice>
              <mc:Fallback>
                <p:oleObj name="Equation" r:id="rId9" imgW="33832800" imgH="5791200" progId="">
                  <p:embed/>
                  <p:pic>
                    <p:nvPicPr>
                      <p:cNvPr id="0" name="图片 21536" descr="image9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81438" y="4214813"/>
                        <a:ext cx="3098800" cy="5318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34"/>
          <p:cNvGraphicFramePr>
            <a:graphicFrameLocks noChangeAspect="1"/>
          </p:cNvGraphicFramePr>
          <p:nvPr/>
        </p:nvGraphicFramePr>
        <p:xfrm>
          <a:off x="6996113" y="4214813"/>
          <a:ext cx="18700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3" name="Equation" r:id="rId11" imgW="20421600" imgH="5486400" progId="">
                  <p:embed/>
                </p:oleObj>
              </mc:Choice>
              <mc:Fallback>
                <p:oleObj name="Equation" r:id="rId11" imgW="20421600" imgH="5486400" progId="">
                  <p:embed/>
                  <p:pic>
                    <p:nvPicPr>
                      <p:cNvPr id="0" name="图片 21537" descr="image9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996113" y="4214813"/>
                        <a:ext cx="1870075" cy="504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35"/>
          <p:cNvGraphicFramePr>
            <a:graphicFrameLocks noChangeAspect="1"/>
          </p:cNvGraphicFramePr>
          <p:nvPr/>
        </p:nvGraphicFramePr>
        <p:xfrm>
          <a:off x="1430338" y="5772150"/>
          <a:ext cx="30130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4" name="Equation" r:id="rId13" imgW="32918400" imgH="4876800" progId="">
                  <p:embed/>
                </p:oleObj>
              </mc:Choice>
              <mc:Fallback>
                <p:oleObj name="Equation" r:id="rId13" imgW="32918400" imgH="4876800" progId="">
                  <p:embed/>
                  <p:pic>
                    <p:nvPicPr>
                      <p:cNvPr id="0" name="图片 21538" descr="image9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30338" y="5772150"/>
                        <a:ext cx="3013075" cy="4476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3" name="Object 36"/>
          <p:cNvGraphicFramePr>
            <a:graphicFrameLocks noChangeAspect="1"/>
          </p:cNvGraphicFramePr>
          <p:nvPr/>
        </p:nvGraphicFramePr>
        <p:xfrm>
          <a:off x="4435475" y="5516563"/>
          <a:ext cx="16192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5" name="Equation" r:id="rId15" imgW="17678400" imgH="9753600" progId="">
                  <p:embed/>
                </p:oleObj>
              </mc:Choice>
              <mc:Fallback>
                <p:oleObj name="Equation" r:id="rId15" imgW="17678400" imgH="9753600" progId="">
                  <p:embed/>
                  <p:pic>
                    <p:nvPicPr>
                      <p:cNvPr id="0" name="图片 21539" descr="image9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35475" y="5516563"/>
                        <a:ext cx="1619250" cy="895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4" name="Text Box 12"/>
          <p:cNvSpPr txBox="1">
            <a:spLocks noChangeArrowheads="1"/>
          </p:cNvSpPr>
          <p:nvPr/>
        </p:nvSpPr>
        <p:spPr bwMode="auto">
          <a:xfrm>
            <a:off x="685800" y="5734050"/>
            <a:ext cx="946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其中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0" name="AutoShape 2"/>
          <p:cNvSpPr>
            <a:spLocks noChangeArrowheads="1"/>
          </p:cNvSpPr>
          <p:nvPr/>
        </p:nvSpPr>
        <p:spPr bwMode="auto">
          <a:xfrm>
            <a:off x="1258888" y="3429000"/>
            <a:ext cx="2592387" cy="1943100"/>
          </a:xfrm>
          <a:prstGeom prst="rtTriangle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2551" name="AutoShape 3"/>
          <p:cNvSpPr>
            <a:spLocks noChangeArrowheads="1"/>
          </p:cNvSpPr>
          <p:nvPr/>
        </p:nvSpPr>
        <p:spPr bwMode="auto">
          <a:xfrm flipH="1" flipV="1">
            <a:off x="1219200" y="1125538"/>
            <a:ext cx="2592388" cy="1822450"/>
          </a:xfrm>
          <a:prstGeom prst="rtTriangle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22546" name="Object 18"/>
          <p:cNvGraphicFramePr>
            <a:graphicFrameLocks noChangeAspect="1"/>
          </p:cNvGraphicFramePr>
          <p:nvPr/>
        </p:nvGraphicFramePr>
        <p:xfrm>
          <a:off x="454025" y="982663"/>
          <a:ext cx="3460750" cy="206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5" name="Equation" r:id="rId3" imgW="37795200" imgH="22555200" progId="">
                  <p:embed/>
                </p:oleObj>
              </mc:Choice>
              <mc:Fallback>
                <p:oleObj name="Equation" r:id="rId3" imgW="37795200" imgH="22555200" progId="">
                  <p:embed/>
                  <p:pic>
                    <p:nvPicPr>
                      <p:cNvPr id="0" name="图片 22528" descr="image9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4025" y="982663"/>
                        <a:ext cx="3460750" cy="20685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7" name="Object 19"/>
          <p:cNvGraphicFramePr>
            <a:graphicFrameLocks noChangeAspect="1"/>
          </p:cNvGraphicFramePr>
          <p:nvPr/>
        </p:nvGraphicFramePr>
        <p:xfrm>
          <a:off x="454025" y="3446463"/>
          <a:ext cx="3487738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6" name="Equation" r:id="rId5" imgW="38100000" imgH="22555200" progId="">
                  <p:embed/>
                </p:oleObj>
              </mc:Choice>
              <mc:Fallback>
                <p:oleObj name="Equation" r:id="rId5" imgW="38100000" imgH="22555200" progId="">
                  <p:embed/>
                  <p:pic>
                    <p:nvPicPr>
                      <p:cNvPr id="0" name="图片 22546" descr="image9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4025" y="3446463"/>
                        <a:ext cx="3487738" cy="2070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20"/>
          <p:cNvGraphicFramePr>
            <a:graphicFrameLocks noChangeAspect="1"/>
          </p:cNvGraphicFramePr>
          <p:nvPr/>
        </p:nvGraphicFramePr>
        <p:xfrm>
          <a:off x="3868738" y="1765300"/>
          <a:ext cx="18700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7" name="Equation" r:id="rId7" imgW="20421600" imgH="5486400" progId="">
                  <p:embed/>
                </p:oleObj>
              </mc:Choice>
              <mc:Fallback>
                <p:oleObj name="Equation" r:id="rId7" imgW="20421600" imgH="5486400" progId="">
                  <p:embed/>
                  <p:pic>
                    <p:nvPicPr>
                      <p:cNvPr id="0" name="图片 22547" descr="image8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68738" y="1765300"/>
                        <a:ext cx="1870075" cy="503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0">
            <a:extLst>
              <a:ext uri="{FF2B5EF4-FFF2-40B4-BE49-F238E27FC236}">
                <a16:creationId xmlns:a16="http://schemas.microsoft.com/office/drawing/2014/main" id="{F660D511-7D0F-49F6-B5F8-09A0C02914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248481"/>
              </p:ext>
            </p:extLst>
          </p:nvPr>
        </p:nvGraphicFramePr>
        <p:xfrm>
          <a:off x="3872077" y="4248432"/>
          <a:ext cx="18700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8" name="Equation" r:id="rId9" imgW="20421600" imgH="5486400" progId="">
                  <p:embed/>
                </p:oleObj>
              </mc:Choice>
              <mc:Fallback>
                <p:oleObj name="Equation" r:id="rId9" imgW="20421600" imgH="5486400" progId="">
                  <p:embed/>
                  <p:pic>
                    <p:nvPicPr>
                      <p:cNvPr id="29702" name="Object 2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72077" y="4248432"/>
                        <a:ext cx="1870075" cy="503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18"/>
          <p:cNvGraphicFramePr>
            <a:graphicFrameLocks noChangeAspect="1"/>
          </p:cNvGraphicFramePr>
          <p:nvPr/>
        </p:nvGraphicFramePr>
        <p:xfrm>
          <a:off x="1219200" y="4149725"/>
          <a:ext cx="358140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59" name="Equation" r:id="rId3" imgW="39014400" imgH="22555200" progId="">
                  <p:embed/>
                </p:oleObj>
              </mc:Choice>
              <mc:Fallback>
                <p:oleObj name="Equation" r:id="rId3" imgW="39014400" imgH="22555200" progId="">
                  <p:embed/>
                  <p:pic>
                    <p:nvPicPr>
                      <p:cNvPr id="0" name="图片 23552" descr="image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9200" y="4149725"/>
                        <a:ext cx="3581400" cy="2070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19"/>
          <p:cNvGraphicFramePr>
            <a:graphicFrameLocks noChangeAspect="1"/>
          </p:cNvGraphicFramePr>
          <p:nvPr/>
        </p:nvGraphicFramePr>
        <p:xfrm>
          <a:off x="1219200" y="1557338"/>
          <a:ext cx="3271838" cy="206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0" name="Equation" r:id="rId5" imgW="35661600" imgH="22555200" progId="">
                  <p:embed/>
                </p:oleObj>
              </mc:Choice>
              <mc:Fallback>
                <p:oleObj name="Equation" r:id="rId5" imgW="35661600" imgH="22555200" progId="">
                  <p:embed/>
                  <p:pic>
                    <p:nvPicPr>
                      <p:cNvPr id="0" name="图片 23570" descr="image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19200" y="1557338"/>
                        <a:ext cx="3271838" cy="20685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4" name="Text Box 4"/>
          <p:cNvSpPr txBox="1">
            <a:spLocks noChangeArrowheads="1"/>
          </p:cNvSpPr>
          <p:nvPr/>
        </p:nvSpPr>
        <p:spPr bwMode="auto">
          <a:xfrm>
            <a:off x="609600" y="457200"/>
            <a:ext cx="1725613" cy="466725"/>
          </a:xfrm>
          <a:prstGeom prst="rect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四个结论：</a:t>
            </a: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609600" y="969963"/>
            <a:ext cx="26225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(1)  </a:t>
            </a:r>
            <a:r>
              <a:rPr kumimoji="1" lang="zh-CN" altLang="en-US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对角行列式 </a:t>
            </a:r>
          </a:p>
        </p:txBody>
      </p:sp>
      <p:graphicFrame>
        <p:nvGraphicFramePr>
          <p:cNvPr id="30726" name="Object 20"/>
          <p:cNvGraphicFramePr>
            <a:graphicFrameLocks noChangeAspect="1"/>
          </p:cNvGraphicFramePr>
          <p:nvPr/>
        </p:nvGraphicFramePr>
        <p:xfrm>
          <a:off x="4500563" y="2374900"/>
          <a:ext cx="1803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1" name="Equation" r:id="rId7" imgW="43281600" imgH="10363200" progId="Equations">
                  <p:embed/>
                </p:oleObj>
              </mc:Choice>
              <mc:Fallback>
                <p:oleObj name="Equation" r:id="rId7" imgW="43281600" imgH="10363200" progId="Equations">
                  <p:embed/>
                  <p:pic>
                    <p:nvPicPr>
                      <p:cNvPr id="0" name="图片 23571" descr="image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00563" y="2374900"/>
                        <a:ext cx="18034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533400" y="3733800"/>
            <a:ext cx="7010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en-US" altLang="zh-CN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(2) </a:t>
            </a:r>
          </a:p>
        </p:txBody>
      </p:sp>
      <p:graphicFrame>
        <p:nvGraphicFramePr>
          <p:cNvPr id="30728" name="Object 21"/>
          <p:cNvGraphicFramePr>
            <a:graphicFrameLocks noChangeAspect="1"/>
          </p:cNvGraphicFramePr>
          <p:nvPr/>
        </p:nvGraphicFramePr>
        <p:xfrm>
          <a:off x="4727575" y="4679950"/>
          <a:ext cx="345916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2" name="Equation" r:id="rId9" imgW="37795200" imgH="8534400" progId="">
                  <p:embed/>
                </p:oleObj>
              </mc:Choice>
              <mc:Fallback>
                <p:oleObj name="Equation" r:id="rId9" imgW="37795200" imgH="8534400" progId="">
                  <p:embed/>
                  <p:pic>
                    <p:nvPicPr>
                      <p:cNvPr id="0" name="图片 23572" descr="image1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27575" y="4679950"/>
                        <a:ext cx="3459163" cy="781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9" name="Line 9"/>
          <p:cNvSpPr>
            <a:spLocks noChangeShapeType="1"/>
          </p:cNvSpPr>
          <p:nvPr/>
        </p:nvSpPr>
        <p:spPr bwMode="auto">
          <a:xfrm>
            <a:off x="1981200" y="1628775"/>
            <a:ext cx="2376488" cy="180022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30" name="Line 10"/>
          <p:cNvSpPr>
            <a:spLocks noChangeShapeType="1"/>
          </p:cNvSpPr>
          <p:nvPr/>
        </p:nvSpPr>
        <p:spPr bwMode="auto">
          <a:xfrm flipH="1">
            <a:off x="1978025" y="4292600"/>
            <a:ext cx="2449513" cy="165735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31" name="Rectangle 11"/>
          <p:cNvSpPr>
            <a:spLocks noChangeArrowheads="1"/>
          </p:cNvSpPr>
          <p:nvPr/>
        </p:nvSpPr>
        <p:spPr bwMode="auto">
          <a:xfrm>
            <a:off x="4989513" y="4638675"/>
            <a:ext cx="1296987" cy="73501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20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5" grpId="0" build="p" autoUpdateAnimBg="0"/>
      <p:bldP spid="30727" grpId="0" build="p" autoUpdateAnimBg="0"/>
      <p:bldP spid="30729" grpId="0" animBg="1"/>
      <p:bldP spid="30730" grpId="0" animBg="1"/>
      <p:bldP spid="307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/>
          <p:cNvSpPr>
            <a:spLocks noChangeArrowheads="1"/>
          </p:cNvSpPr>
          <p:nvPr/>
        </p:nvSpPr>
        <p:spPr bwMode="auto">
          <a:xfrm flipH="1" flipV="1">
            <a:off x="1858963" y="1752600"/>
            <a:ext cx="2441575" cy="1981200"/>
          </a:xfrm>
          <a:prstGeom prst="rtTriangle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1747" name="AutoShape 3"/>
          <p:cNvSpPr>
            <a:spLocks noChangeArrowheads="1"/>
          </p:cNvSpPr>
          <p:nvPr/>
        </p:nvSpPr>
        <p:spPr bwMode="auto">
          <a:xfrm>
            <a:off x="1947863" y="4343400"/>
            <a:ext cx="2516187" cy="2057400"/>
          </a:xfrm>
          <a:prstGeom prst="rtTriangle">
            <a:avLst/>
          </a:prstGeom>
          <a:solidFill>
            <a:srgbClr val="FFFF99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31748" name="Object 18"/>
          <p:cNvGraphicFramePr>
            <a:graphicFrameLocks noChangeAspect="1"/>
          </p:cNvGraphicFramePr>
          <p:nvPr/>
        </p:nvGraphicFramePr>
        <p:xfrm>
          <a:off x="1219200" y="4343400"/>
          <a:ext cx="32766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3" name="Equation" r:id="rId3" imgW="78638400" imgH="49377600" progId="Equations">
                  <p:embed/>
                </p:oleObj>
              </mc:Choice>
              <mc:Fallback>
                <p:oleObj name="Equation" r:id="rId3" imgW="78638400" imgH="49377600" progId="Equations">
                  <p:embed/>
                  <p:pic>
                    <p:nvPicPr>
                      <p:cNvPr id="0" name="图片 24576" descr="image10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9200" y="4343400"/>
                        <a:ext cx="3276600" cy="2057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19"/>
          <p:cNvGraphicFramePr>
            <a:graphicFrameLocks noChangeAspect="1"/>
          </p:cNvGraphicFramePr>
          <p:nvPr/>
        </p:nvGraphicFramePr>
        <p:xfrm>
          <a:off x="1149350" y="1676400"/>
          <a:ext cx="32258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4" name="Equation" r:id="rId5" imgW="77419200" imgH="49377600" progId="Equations">
                  <p:embed/>
                </p:oleObj>
              </mc:Choice>
              <mc:Fallback>
                <p:oleObj name="Equation" r:id="rId5" imgW="77419200" imgH="49377600" progId="Equations">
                  <p:embed/>
                  <p:pic>
                    <p:nvPicPr>
                      <p:cNvPr id="0" name="图片 24594" descr="image10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9350" y="1676400"/>
                        <a:ext cx="3225800" cy="2057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609600" y="969963"/>
            <a:ext cx="7042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en-US" altLang="zh-CN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(3)  </a:t>
            </a:r>
            <a:r>
              <a:rPr kumimoji="1" lang="zh-CN" altLang="en-US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上三角形行列式 （主对角线下侧元素都为</a:t>
            </a:r>
            <a:r>
              <a:rPr kumimoji="1" lang="en-US" altLang="zh-CN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0</a:t>
            </a:r>
            <a:r>
              <a:rPr kumimoji="1" lang="zh-CN" altLang="en-US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）</a:t>
            </a:r>
          </a:p>
        </p:txBody>
      </p:sp>
      <p:graphicFrame>
        <p:nvGraphicFramePr>
          <p:cNvPr id="31751" name="Object 20"/>
          <p:cNvGraphicFramePr>
            <a:graphicFrameLocks noChangeAspect="1"/>
          </p:cNvGraphicFramePr>
          <p:nvPr/>
        </p:nvGraphicFramePr>
        <p:xfrm>
          <a:off x="4597400" y="2463800"/>
          <a:ext cx="1803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5" name="Equation" r:id="rId7" imgW="43281600" imgH="10363200" progId="Equations">
                  <p:embed/>
                </p:oleObj>
              </mc:Choice>
              <mc:Fallback>
                <p:oleObj name="Equation" r:id="rId7" imgW="43281600" imgH="10363200" progId="Equations">
                  <p:embed/>
                  <p:pic>
                    <p:nvPicPr>
                      <p:cNvPr id="0" name="图片 24595" descr="image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97400" y="2463800"/>
                        <a:ext cx="18034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Text Box 8"/>
          <p:cNvSpPr txBox="1">
            <a:spLocks noChangeArrowheads="1"/>
          </p:cNvSpPr>
          <p:nvPr/>
        </p:nvSpPr>
        <p:spPr bwMode="auto">
          <a:xfrm>
            <a:off x="533400" y="3733800"/>
            <a:ext cx="7278688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kumimoji="1" lang="en-US" altLang="zh-CN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(4)  </a:t>
            </a:r>
            <a:r>
              <a:rPr kumimoji="1" lang="zh-CN" altLang="en-US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下三角形行列式 （主对角线上侧元素都为</a:t>
            </a:r>
            <a:r>
              <a:rPr kumimoji="1" lang="en-US" altLang="zh-CN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0</a:t>
            </a:r>
            <a:r>
              <a:rPr kumimoji="1" lang="zh-CN" altLang="en-US" sz="2400" b="1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）</a:t>
            </a:r>
          </a:p>
        </p:txBody>
      </p:sp>
      <p:graphicFrame>
        <p:nvGraphicFramePr>
          <p:cNvPr id="31753" name="Object 21"/>
          <p:cNvGraphicFramePr>
            <a:graphicFrameLocks noChangeAspect="1"/>
          </p:cNvGraphicFramePr>
          <p:nvPr/>
        </p:nvGraphicFramePr>
        <p:xfrm>
          <a:off x="4673600" y="5105400"/>
          <a:ext cx="1803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86" name="Equation" r:id="rId9" imgW="43281600" imgH="10363200" progId="Equations">
                  <p:embed/>
                </p:oleObj>
              </mc:Choice>
              <mc:Fallback>
                <p:oleObj name="Equation" r:id="rId9" imgW="43281600" imgH="10363200" progId="Equations">
                  <p:embed/>
                  <p:pic>
                    <p:nvPicPr>
                      <p:cNvPr id="0" name="图片 24596" descr="image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73600" y="5105400"/>
                        <a:ext cx="18034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nimBg="1"/>
      <p:bldP spid="31747" grpId="0" animBg="1"/>
      <p:bldP spid="31750" grpId="0" build="p" autoUpdateAnimBg="0"/>
      <p:bldP spid="31752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6" name="Text Box 2"/>
          <p:cNvSpPr txBox="1">
            <a:spLocks noChangeArrowheads="1"/>
          </p:cNvSpPr>
          <p:nvPr/>
        </p:nvSpPr>
        <p:spPr bwMode="auto">
          <a:xfrm>
            <a:off x="1066800" y="762000"/>
            <a:ext cx="1712913" cy="701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4000" b="1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思考题</a:t>
            </a:r>
          </a:p>
        </p:txBody>
      </p:sp>
      <p:sp>
        <p:nvSpPr>
          <p:cNvPr id="26637" name="Text Box 3"/>
          <p:cNvSpPr txBox="1">
            <a:spLocks noChangeArrowheads="1"/>
          </p:cNvSpPr>
          <p:nvPr/>
        </p:nvSpPr>
        <p:spPr bwMode="auto">
          <a:xfrm>
            <a:off x="914400" y="2536825"/>
            <a:ext cx="6862763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已知</a:t>
            </a:r>
            <a:r>
              <a:rPr kumimoji="1" lang="zh-CN" altLang="en-US" sz="2800" b="1" i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                                  ，求    的系数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 </a:t>
            </a:r>
          </a:p>
        </p:txBody>
      </p:sp>
      <p:graphicFrame>
        <p:nvGraphicFramePr>
          <p:cNvPr id="26634" name="Object 10"/>
          <p:cNvGraphicFramePr>
            <a:graphicFrameLocks noChangeAspect="1"/>
          </p:cNvGraphicFramePr>
          <p:nvPr/>
        </p:nvGraphicFramePr>
        <p:xfrm>
          <a:off x="1778000" y="1828800"/>
          <a:ext cx="34798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9" name="Equation" r:id="rId3" imgW="83515200" imgH="49072800" progId="Equation.KSEE3">
                  <p:embed/>
                </p:oleObj>
              </mc:Choice>
              <mc:Fallback>
                <p:oleObj name="Equation" r:id="rId3" imgW="83515200" imgH="49072800" progId="Equation.KSEE3">
                  <p:embed/>
                  <p:pic>
                    <p:nvPicPr>
                      <p:cNvPr id="0" name="图片 26624" descr="image10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78000" y="1828800"/>
                        <a:ext cx="3479800" cy="2044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11"/>
          <p:cNvGraphicFramePr>
            <a:graphicFrameLocks noChangeAspect="1"/>
          </p:cNvGraphicFramePr>
          <p:nvPr/>
        </p:nvGraphicFramePr>
        <p:xfrm>
          <a:off x="5919788" y="2522538"/>
          <a:ext cx="604837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0" name="Equation" r:id="rId5" imgW="5791200" imgH="5486400" progId="">
                  <p:embed/>
                </p:oleObj>
              </mc:Choice>
              <mc:Fallback>
                <p:oleObj name="Equation" r:id="rId5" imgW="5791200" imgH="5486400" progId="">
                  <p:embed/>
                  <p:pic>
                    <p:nvPicPr>
                      <p:cNvPr id="0" name="图片 26634" descr="image10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19788" y="2522538"/>
                        <a:ext cx="604837" cy="5730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5715000" y="5957888"/>
            <a:ext cx="2822575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故    的系数为</a:t>
            </a:r>
            <a:r>
              <a:rPr kumimoji="1" lang="zh-CN" altLang="en-US" b="1">
                <a:solidFill>
                  <a:srgbClr val="000000"/>
                </a:solidFill>
              </a:rPr>
              <a:t>－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1.</a:t>
            </a: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838200" y="533400"/>
            <a:ext cx="542925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解</a:t>
            </a:r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1828800" y="533400"/>
            <a:ext cx="3940175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00"/>
                </a:solidFill>
                <a:latin typeface="楷体_GB2312"/>
                <a:ea typeface="楷体_GB2312"/>
                <a:cs typeface="楷体_GB2312"/>
              </a:rPr>
              <a:t>含    的项有两项，即</a:t>
            </a:r>
          </a:p>
        </p:txBody>
      </p:sp>
      <p:graphicFrame>
        <p:nvGraphicFramePr>
          <p:cNvPr id="35845" name="Object 30"/>
          <p:cNvGraphicFramePr>
            <a:graphicFrameLocks noChangeAspect="1"/>
          </p:cNvGraphicFramePr>
          <p:nvPr/>
        </p:nvGraphicFramePr>
        <p:xfrm>
          <a:off x="2286000" y="609600"/>
          <a:ext cx="381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3" name="Equation" r:id="rId3" imgW="9144000" imgH="9448800" progId="Equations">
                  <p:embed/>
                </p:oleObj>
              </mc:Choice>
              <mc:Fallback>
                <p:oleObj name="Equation" r:id="rId3" imgW="9144000" imgH="9448800" progId="Equations">
                  <p:embed/>
                  <p:pic>
                    <p:nvPicPr>
                      <p:cNvPr id="0" name="图片 27648" descr="image11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6000" y="609600"/>
                        <a:ext cx="381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31"/>
          <p:cNvGraphicFramePr>
            <a:graphicFrameLocks noChangeAspect="1"/>
          </p:cNvGraphicFramePr>
          <p:nvPr/>
        </p:nvGraphicFramePr>
        <p:xfrm>
          <a:off x="1905000" y="1219200"/>
          <a:ext cx="34798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4" name="Equation" r:id="rId5" imgW="83515200" imgH="49072800" progId="Equations">
                  <p:embed/>
                </p:oleObj>
              </mc:Choice>
              <mc:Fallback>
                <p:oleObj name="Equation" r:id="rId5" imgW="83515200" imgH="49072800" progId="Equations">
                  <p:embed/>
                  <p:pic>
                    <p:nvPicPr>
                      <p:cNvPr id="0" name="图片 27678" descr="image10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5000" y="1219200"/>
                        <a:ext cx="3479800" cy="2044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Line 7"/>
          <p:cNvSpPr>
            <a:spLocks noChangeShapeType="1"/>
          </p:cNvSpPr>
          <p:nvPr/>
        </p:nvSpPr>
        <p:spPr bwMode="auto">
          <a:xfrm>
            <a:off x="3200400" y="1524000"/>
            <a:ext cx="1905000" cy="1524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5848" name="Freeform 8"/>
          <p:cNvSpPr/>
          <p:nvPr/>
        </p:nvSpPr>
        <p:spPr bwMode="auto">
          <a:xfrm>
            <a:off x="3200400" y="1447800"/>
            <a:ext cx="1993900" cy="1447800"/>
          </a:xfrm>
          <a:custGeom>
            <a:avLst/>
            <a:gdLst>
              <a:gd name="T0" fmla="*/ 0 w 1256"/>
              <a:gd name="T1" fmla="*/ 0 h 912"/>
              <a:gd name="T2" fmla="*/ 609600 w 1256"/>
              <a:gd name="T3" fmla="*/ 533400 h 912"/>
              <a:gd name="T4" fmla="*/ 1905000 w 1256"/>
              <a:gd name="T5" fmla="*/ 914400 h 912"/>
              <a:gd name="T6" fmla="*/ 1143000 w 1256"/>
              <a:gd name="T7" fmla="*/ 1447800 h 912"/>
              <a:gd name="T8" fmla="*/ 0 60000 65536"/>
              <a:gd name="T9" fmla="*/ 0 60000 65536"/>
              <a:gd name="T10" fmla="*/ 0 60000 65536"/>
              <a:gd name="T11" fmla="*/ 0 60000 65536"/>
              <a:gd name="T12" fmla="*/ 0 w 1256"/>
              <a:gd name="T13" fmla="*/ 0 h 912"/>
              <a:gd name="T14" fmla="*/ 1256 w 1256"/>
              <a:gd name="T15" fmla="*/ 912 h 9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56" h="912">
                <a:moveTo>
                  <a:pt x="0" y="0"/>
                </a:moveTo>
                <a:cubicBezTo>
                  <a:pt x="92" y="120"/>
                  <a:pt x="184" y="240"/>
                  <a:pt x="384" y="336"/>
                </a:cubicBezTo>
                <a:cubicBezTo>
                  <a:pt x="584" y="432"/>
                  <a:pt x="1144" y="480"/>
                  <a:pt x="1200" y="576"/>
                </a:cubicBezTo>
                <a:cubicBezTo>
                  <a:pt x="1256" y="672"/>
                  <a:pt x="800" y="856"/>
                  <a:pt x="720" y="912"/>
                </a:cubicBezTo>
              </a:path>
            </a:pathLst>
          </a:custGeom>
          <a:noFill/>
          <a:ln w="28575" cmpd="sng">
            <a:solidFill>
              <a:srgbClr val="0000FF"/>
            </a:solidFill>
            <a:rou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5849" name="Text Box 9"/>
          <p:cNvSpPr txBox="1">
            <a:spLocks noChangeArrowheads="1"/>
          </p:cNvSpPr>
          <p:nvPr/>
        </p:nvSpPr>
        <p:spPr bwMode="auto">
          <a:xfrm>
            <a:off x="898525" y="3429000"/>
            <a:ext cx="1255713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对应于</a:t>
            </a:r>
          </a:p>
        </p:txBody>
      </p:sp>
      <p:graphicFrame>
        <p:nvGraphicFramePr>
          <p:cNvPr id="35850" name="Object 32"/>
          <p:cNvGraphicFramePr>
            <a:graphicFrameLocks noChangeAspect="1"/>
          </p:cNvGraphicFramePr>
          <p:nvPr/>
        </p:nvGraphicFramePr>
        <p:xfrm>
          <a:off x="4102100" y="4108450"/>
          <a:ext cx="3459163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5" name="Equation" r:id="rId7" imgW="33223200" imgH="6400800" progId="">
                  <p:embed/>
                </p:oleObj>
              </mc:Choice>
              <mc:Fallback>
                <p:oleObj name="Equation" r:id="rId7" imgW="33223200" imgH="6400800" progId="">
                  <p:embed/>
                  <p:pic>
                    <p:nvPicPr>
                      <p:cNvPr id="0" name="图片 27679" descr="image1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02100" y="4108450"/>
                        <a:ext cx="3459163" cy="6651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1" name="Object 33"/>
          <p:cNvGraphicFramePr>
            <a:graphicFrameLocks noChangeAspect="1"/>
          </p:cNvGraphicFramePr>
          <p:nvPr/>
        </p:nvGraphicFramePr>
        <p:xfrm>
          <a:off x="769938" y="4124325"/>
          <a:ext cx="3205162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6" name="Equation" r:id="rId9" imgW="30784800" imgH="5791200" progId="">
                  <p:embed/>
                </p:oleObj>
              </mc:Choice>
              <mc:Fallback>
                <p:oleObj name="Equation" r:id="rId9" imgW="30784800" imgH="5791200" progId="">
                  <p:embed/>
                  <p:pic>
                    <p:nvPicPr>
                      <p:cNvPr id="0" name="图片 27680" descr="image11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9938" y="4124325"/>
                        <a:ext cx="3205162" cy="603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2" name="Object 34"/>
          <p:cNvGraphicFramePr>
            <a:graphicFrameLocks noChangeAspect="1"/>
          </p:cNvGraphicFramePr>
          <p:nvPr/>
        </p:nvGraphicFramePr>
        <p:xfrm>
          <a:off x="769938" y="5035550"/>
          <a:ext cx="4125912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7" name="Equation" r:id="rId11" imgW="39624000" imgH="5791200" progId="">
                  <p:embed/>
                </p:oleObj>
              </mc:Choice>
              <mc:Fallback>
                <p:oleObj name="Equation" r:id="rId11" imgW="39624000" imgH="5791200" progId="">
                  <p:embed/>
                  <p:pic>
                    <p:nvPicPr>
                      <p:cNvPr id="0" name="图片 27681" descr="image11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69938" y="5035550"/>
                        <a:ext cx="4125912" cy="603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3" name="Object 35"/>
          <p:cNvGraphicFramePr>
            <a:graphicFrameLocks noChangeAspect="1"/>
          </p:cNvGraphicFramePr>
          <p:nvPr/>
        </p:nvGraphicFramePr>
        <p:xfrm>
          <a:off x="769938" y="5861050"/>
          <a:ext cx="4411662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8" name="Equation" r:id="rId13" imgW="42367200" imgH="6400800" progId="">
                  <p:embed/>
                </p:oleObj>
              </mc:Choice>
              <mc:Fallback>
                <p:oleObj name="Equation" r:id="rId13" imgW="42367200" imgH="6400800" progId="">
                  <p:embed/>
                  <p:pic>
                    <p:nvPicPr>
                      <p:cNvPr id="0" name="图片 27682" descr="image11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9938" y="5861050"/>
                        <a:ext cx="4411662" cy="6651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4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133715"/>
              </p:ext>
            </p:extLst>
          </p:nvPr>
        </p:nvGraphicFramePr>
        <p:xfrm>
          <a:off x="6084168" y="5957888"/>
          <a:ext cx="47466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9" name="Equation" r:id="rId15" imgW="4572000" imgH="4876800" progId="">
                  <p:embed/>
                </p:oleObj>
              </mc:Choice>
              <mc:Fallback>
                <p:oleObj name="Equation" r:id="rId15" imgW="4572000" imgH="4876800" progId="">
                  <p:embed/>
                  <p:pic>
                    <p:nvPicPr>
                      <p:cNvPr id="0" name="图片 27683" descr="image11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084168" y="5957888"/>
                        <a:ext cx="474662" cy="5064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5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75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autoUpdateAnimBg="0"/>
      <p:bldP spid="35843" grpId="0" autoUpdateAnimBg="0"/>
      <p:bldP spid="35844" grpId="0"/>
      <p:bldP spid="35847" grpId="0" animBg="1"/>
      <p:bldP spid="35848" grpId="0" animBg="1"/>
      <p:bldP spid="3584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4" name="Text Box 2"/>
          <p:cNvSpPr txBox="1">
            <a:spLocks noChangeArrowheads="1"/>
          </p:cNvSpPr>
          <p:nvPr/>
        </p:nvSpPr>
        <p:spPr bwMode="auto">
          <a:xfrm>
            <a:off x="914400" y="1149350"/>
            <a:ext cx="4467225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4044F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例</a:t>
            </a:r>
            <a:r>
              <a:rPr kumimoji="1" lang="en-US" altLang="zh-CN" sz="2800" b="1">
                <a:solidFill>
                  <a:srgbClr val="4044F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用行列式的定义计算  </a:t>
            </a:r>
          </a:p>
        </p:txBody>
      </p:sp>
      <p:graphicFrame>
        <p:nvGraphicFramePr>
          <p:cNvPr id="39942" name="Object 6"/>
          <p:cNvGraphicFramePr>
            <a:graphicFrameLocks noChangeAspect="1"/>
          </p:cNvGraphicFramePr>
          <p:nvPr/>
        </p:nvGraphicFramePr>
        <p:xfrm>
          <a:off x="1905000" y="1905000"/>
          <a:ext cx="5486400" cy="274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41" name="Equation" r:id="rId3" imgW="49987200" imgH="27736800" progId="">
                  <p:embed/>
                </p:oleObj>
              </mc:Choice>
              <mc:Fallback>
                <p:oleObj name="Equation" r:id="rId3" imgW="49987200" imgH="27736800" progId="">
                  <p:embed/>
                  <p:pic>
                    <p:nvPicPr>
                      <p:cNvPr id="0" name="图片 39936" descr="image16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5000" y="1905000"/>
                        <a:ext cx="5486400" cy="2749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94" name="Object 14"/>
          <p:cNvGraphicFramePr>
            <a:graphicFrameLocks noChangeAspect="1"/>
          </p:cNvGraphicFramePr>
          <p:nvPr/>
        </p:nvGraphicFramePr>
        <p:xfrm>
          <a:off x="1354138" y="4905375"/>
          <a:ext cx="2989262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7" name="Equation" r:id="rId3" imgW="31394400" imgH="8534400" progId="">
                  <p:embed/>
                </p:oleObj>
              </mc:Choice>
              <mc:Fallback>
                <p:oleObj name="Equation" r:id="rId3" imgW="31394400" imgH="8534400" progId="">
                  <p:embed/>
                  <p:pic>
                    <p:nvPicPr>
                      <p:cNvPr id="0" name="图片 40960" descr="image16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54138" y="4905375"/>
                        <a:ext cx="2989262" cy="809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8" name="Text Box 3"/>
          <p:cNvSpPr txBox="1">
            <a:spLocks noChangeArrowheads="1"/>
          </p:cNvSpPr>
          <p:nvPr/>
        </p:nvSpPr>
        <p:spPr bwMode="auto">
          <a:xfrm>
            <a:off x="827088" y="692150"/>
            <a:ext cx="542925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2800" b="1">
                <a:solidFill>
                  <a:srgbClr val="4044F6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解</a:t>
            </a:r>
          </a:p>
        </p:txBody>
      </p:sp>
      <p:graphicFrame>
        <p:nvGraphicFramePr>
          <p:cNvPr id="33796" name="Object 15"/>
          <p:cNvGraphicFramePr>
            <a:graphicFrameLocks noChangeAspect="1"/>
          </p:cNvGraphicFramePr>
          <p:nvPr/>
        </p:nvGraphicFramePr>
        <p:xfrm>
          <a:off x="1447800" y="652463"/>
          <a:ext cx="4692650" cy="204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8" name="Equation" r:id="rId5" imgW="48158400" imgH="21031200" progId="">
                  <p:embed/>
                </p:oleObj>
              </mc:Choice>
              <mc:Fallback>
                <p:oleObj name="Equation" r:id="rId5" imgW="48158400" imgH="21031200" progId="">
                  <p:embed/>
                  <p:pic>
                    <p:nvPicPr>
                      <p:cNvPr id="0" name="图片 40974" descr="image169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47800" y="652463"/>
                        <a:ext cx="4692650" cy="2047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16"/>
          <p:cNvGraphicFramePr>
            <a:graphicFrameLocks noChangeAspect="1"/>
          </p:cNvGraphicFramePr>
          <p:nvPr/>
        </p:nvGraphicFramePr>
        <p:xfrm>
          <a:off x="1835150" y="2846388"/>
          <a:ext cx="4559300" cy="195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9" name="Equation" r:id="rId7" imgW="44500800" imgH="19202400" progId="">
                  <p:embed/>
                </p:oleObj>
              </mc:Choice>
              <mc:Fallback>
                <p:oleObj name="Equation" r:id="rId7" imgW="44500800" imgH="19202400" progId="">
                  <p:embed/>
                  <p:pic>
                    <p:nvPicPr>
                      <p:cNvPr id="0" name="图片 40975" descr="image170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35150" y="2846388"/>
                        <a:ext cx="4559300" cy="1954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DEE36DC-00A8-40CB-A83B-C7C681F80288}"/>
              </a:ext>
            </a:extLst>
          </p:cNvPr>
          <p:cNvGrpSpPr/>
          <p:nvPr/>
        </p:nvGrpSpPr>
        <p:grpSpPr bwMode="auto">
          <a:xfrm>
            <a:off x="914400" y="1089025"/>
            <a:ext cx="6916738" cy="1527175"/>
            <a:chOff x="576" y="686"/>
            <a:chExt cx="4357" cy="962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5CC96122-099C-4EA4-90E9-E41EECC19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686"/>
              <a:ext cx="3164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定理</a:t>
              </a:r>
              <a:r>
                <a:rPr kumimoji="1"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  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n 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阶行列式也可定义为  </a:t>
              </a:r>
            </a:p>
          </p:txBody>
        </p:sp>
        <p:graphicFrame>
          <p:nvGraphicFramePr>
            <p:cNvPr id="4" name="Object 10">
              <a:extLst>
                <a:ext uri="{FF2B5EF4-FFF2-40B4-BE49-F238E27FC236}">
                  <a16:creationId xmlns:a16="http://schemas.microsoft.com/office/drawing/2014/main" id="{DB3EA590-A554-46B5-8DC8-61A86E2AB3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90" y="1056"/>
            <a:ext cx="3743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70" name="Equation" r:id="rId3" imgW="56388000" imgH="8839200" progId="">
                    <p:embed/>
                  </p:oleObj>
                </mc:Choice>
                <mc:Fallback>
                  <p:oleObj name="Equation" r:id="rId3" imgW="56388000" imgH="8839200" progId="">
                    <p:embed/>
                    <p:pic>
                      <p:nvPicPr>
                        <p:cNvPr id="37898" name="Object 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90" y="1056"/>
                          <a:ext cx="3743" cy="5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3500CE9-1919-44C7-8AE0-7A18C7A7095D}"/>
              </a:ext>
            </a:extLst>
          </p:cNvPr>
          <p:cNvGrpSpPr/>
          <p:nvPr/>
        </p:nvGrpSpPr>
        <p:grpSpPr bwMode="auto">
          <a:xfrm>
            <a:off x="884238" y="3244850"/>
            <a:ext cx="7831137" cy="2035175"/>
            <a:chOff x="557" y="2044"/>
            <a:chExt cx="4933" cy="1282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FAADB5F0-737C-49C9-BB17-0642E9D67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" y="2044"/>
              <a:ext cx="3164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定理</a:t>
              </a:r>
              <a:r>
                <a:rPr kumimoji="1" lang="en-US" altLang="zh-CN" sz="2800" b="1" dirty="0">
                  <a:solidFill>
                    <a:srgbClr val="00007D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   </a:t>
              </a:r>
              <a:r>
                <a:rPr kumimoji="1"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n </a:t>
              </a:r>
              <a:r>
                <a:rPr kumimoji="1"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/>
                  <a:cs typeface="楷体_GB2312"/>
                </a:rPr>
                <a:t>阶行列式也可定义为  </a:t>
              </a:r>
            </a:p>
          </p:txBody>
        </p:sp>
        <p:graphicFrame>
          <p:nvGraphicFramePr>
            <p:cNvPr id="7" name="Object 11">
              <a:extLst>
                <a:ext uri="{FF2B5EF4-FFF2-40B4-BE49-F238E27FC236}">
                  <a16:creationId xmlns:a16="http://schemas.microsoft.com/office/drawing/2014/main" id="{95B396B1-0C53-4F03-A01C-D1D4D32F45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96" y="2597"/>
            <a:ext cx="4294" cy="7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71" name="Equation" r:id="rId5" imgW="64617600" imgH="10972800" progId="">
                    <p:embed/>
                  </p:oleObj>
                </mc:Choice>
                <mc:Fallback>
                  <p:oleObj name="Equation" r:id="rId5" imgW="64617600" imgH="10972800" progId="">
                    <p:embed/>
                    <p:pic>
                      <p:nvPicPr>
                        <p:cNvPr id="37899" name="Object 1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96" y="2597"/>
                          <a:ext cx="4294" cy="72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4943108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/>
          <p:cNvSpPr txBox="1"/>
          <p:nvPr/>
        </p:nvSpPr>
        <p:spPr>
          <a:xfrm>
            <a:off x="3059832" y="1916832"/>
            <a:ext cx="194316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作业   </a:t>
            </a:r>
            <a:r>
              <a:rPr lang="en-US" altLang="zh-CN" sz="2800" b="1" dirty="0"/>
              <a:t>P21 </a:t>
            </a:r>
          </a:p>
          <a:p>
            <a:endParaRPr lang="en-US" altLang="zh-CN" sz="2800" b="1" dirty="0"/>
          </a:p>
          <a:p>
            <a:r>
              <a:rPr lang="zh-CN" altLang="en-US" sz="2800" b="1" dirty="0"/>
              <a:t>习题一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en-US" altLang="zh-CN" sz="2800" b="1" dirty="0"/>
              <a:t>3.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441355414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22d0017e-3dd8-45ca-93c8-a8678e1dff08}"/>
</p:tagLst>
</file>

<file path=ppt/theme/theme1.xml><?xml version="1.0" encoding="utf-8"?>
<a:theme xmlns:a="http://schemas.openxmlformats.org/drawingml/2006/main" name="2_Blends">
  <a:themeElements>
    <a:clrScheme name="Blends 5">
      <a:dk1>
        <a:srgbClr val="000000"/>
      </a:dk1>
      <a:lt1>
        <a:srgbClr val="FFFFFF"/>
      </a:lt1>
      <a:dk2>
        <a:srgbClr val="000066"/>
      </a:dk2>
      <a:lt2>
        <a:srgbClr val="333333"/>
      </a:lt2>
      <a:accent1>
        <a:srgbClr val="C4709A"/>
      </a:accent1>
      <a:accent2>
        <a:srgbClr val="4B4EB5"/>
      </a:accent2>
      <a:accent3>
        <a:srgbClr val="FFFFFF"/>
      </a:accent3>
      <a:accent4>
        <a:srgbClr val="000000"/>
      </a:accent4>
      <a:accent5>
        <a:srgbClr val="DEBBCA"/>
      </a:accent5>
      <a:accent6>
        <a:srgbClr val="4346A4"/>
      </a:accent6>
      <a:hlink>
        <a:srgbClr val="C481CF"/>
      </a:hlink>
      <a:folHlink>
        <a:srgbClr val="76B749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5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6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7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8_Pixel">
  <a:themeElements>
    <a:clrScheme name="1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_Pixel">
      <a:majorFont>
        <a:latin typeface="Times New Roman"/>
        <a:ea typeface="楷体_GB2312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B2B2B2"/>
      </a:folHlink>
    </a:clrScheme>
    <a:fontScheme name="1_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49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49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1_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402</Words>
  <Application>Microsoft Office PowerPoint</Application>
  <PresentationFormat>全屏显示(4:3)</PresentationFormat>
  <Paragraphs>54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8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楷体_GB2312</vt:lpstr>
      <vt:lpstr>宋体</vt:lpstr>
      <vt:lpstr>Arial</vt:lpstr>
      <vt:lpstr>Arial Black</vt:lpstr>
      <vt:lpstr>Calibri</vt:lpstr>
      <vt:lpstr>Tahoma</vt:lpstr>
      <vt:lpstr>Times New Roman</vt:lpstr>
      <vt:lpstr>Wingdings</vt:lpstr>
      <vt:lpstr>2_Blends</vt:lpstr>
      <vt:lpstr>2_Pixel</vt:lpstr>
      <vt:lpstr>4_Pixel</vt:lpstr>
      <vt:lpstr>15_Pixel</vt:lpstr>
      <vt:lpstr>16_Pixel</vt:lpstr>
      <vt:lpstr>17_Pixel</vt:lpstr>
      <vt:lpstr>18_Pixel</vt:lpstr>
      <vt:lpstr>1_模板</vt:lpstr>
      <vt:lpstr>Equation</vt:lpstr>
      <vt:lpstr>§3  n 阶行列式的定义</vt:lpstr>
      <vt:lpstr>一、概念的引入</vt:lpstr>
      <vt:lpstr>PowerPoint 演示文稿</vt:lpstr>
      <vt:lpstr>二、n 阶行列式的定义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线性代数（第五版）</dc:title>
  <dc:creator>卢浩杰</dc:creator>
  <cp:lastModifiedBy>Lenovo</cp:lastModifiedBy>
  <cp:revision>128</cp:revision>
  <dcterms:created xsi:type="dcterms:W3CDTF">2012-04-21T04:49:00Z</dcterms:created>
  <dcterms:modified xsi:type="dcterms:W3CDTF">2023-10-09T07:49:33Z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