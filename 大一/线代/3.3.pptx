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3" r:id="rId1"/>
    <p:sldMasterId id="2147483995" r:id="rId2"/>
  </p:sldMasterIdLst>
  <p:notesMasterIdLst>
    <p:notesMasterId r:id="rId32"/>
  </p:notesMasterIdLst>
  <p:sldIdLst>
    <p:sldId id="540" r:id="rId3"/>
    <p:sldId id="541" r:id="rId4"/>
    <p:sldId id="542" r:id="rId5"/>
    <p:sldId id="543" r:id="rId6"/>
    <p:sldId id="544" r:id="rId7"/>
    <p:sldId id="545" r:id="rId8"/>
    <p:sldId id="546" r:id="rId9"/>
    <p:sldId id="547" r:id="rId10"/>
    <p:sldId id="548" r:id="rId11"/>
    <p:sldId id="549" r:id="rId12"/>
    <p:sldId id="550" r:id="rId13"/>
    <p:sldId id="551" r:id="rId14"/>
    <p:sldId id="552" r:id="rId15"/>
    <p:sldId id="553" r:id="rId16"/>
    <p:sldId id="555" r:id="rId17"/>
    <p:sldId id="556" r:id="rId18"/>
    <p:sldId id="557" r:id="rId19"/>
    <p:sldId id="558" r:id="rId20"/>
    <p:sldId id="559" r:id="rId21"/>
    <p:sldId id="560" r:id="rId22"/>
    <p:sldId id="561" r:id="rId23"/>
    <p:sldId id="562" r:id="rId24"/>
    <p:sldId id="570" r:id="rId25"/>
    <p:sldId id="569" r:id="rId26"/>
    <p:sldId id="563" r:id="rId27"/>
    <p:sldId id="564" r:id="rId28"/>
    <p:sldId id="565" r:id="rId29"/>
    <p:sldId id="566" r:id="rId30"/>
    <p:sldId id="568" r:id="rId3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5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13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14.wmf"/><Relationship Id="rId6" Type="http://schemas.openxmlformats.org/officeDocument/2006/relationships/image" Target="../media/image16.wmf"/><Relationship Id="rId5" Type="http://schemas.openxmlformats.org/officeDocument/2006/relationships/image" Target="../media/image8.wmf"/><Relationship Id="rId4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4" Type="http://schemas.openxmlformats.org/officeDocument/2006/relationships/image" Target="../media/image28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3.wmf"/><Relationship Id="rId4" Type="http://schemas.openxmlformats.org/officeDocument/2006/relationships/image" Target="../media/image31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35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4" Type="http://schemas.openxmlformats.org/officeDocument/2006/relationships/image" Target="../media/image54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59.wmf"/><Relationship Id="rId5" Type="http://schemas.openxmlformats.org/officeDocument/2006/relationships/image" Target="../media/image54.wmf"/><Relationship Id="rId4" Type="http://schemas.openxmlformats.org/officeDocument/2006/relationships/image" Target="../media/image58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C3EB49BF-54A5-4218-9A35-035202A870EC}" type="datetimeFigureOut">
              <a:rPr lang="zh-CN" altLang="en-US"/>
              <a:pPr>
                <a:defRPr/>
              </a:pPr>
              <a:t>2023/11/13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B940D47E-1F44-45E2-AE4F-72CEE8BB95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2093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10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fld id="{DCA90837-36F7-455B-8CAD-4269B8993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9786053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5CF491D-8772-472A-80CE-7A1993F758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7162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58DC095-7545-4F95-AF57-59451E0601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477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DDCC846-A284-4905-B9E3-05CC856424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235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E2A51E6-2FD0-4514-83BC-43342FC663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4686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43A3ED0-2B31-4DCF-B8DC-ADF65017E9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449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30EC127-B91A-49E0-AA26-8683D6F09E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3752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FC21256-4AE9-4DAA-919F-E122C77558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1164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A2249E7-B1D7-4794-9EC5-CACAD446A5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274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FD5A6CC-7B89-490F-91C9-D7D81702F2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8843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9A6F278-2686-4A2C-ACF1-8E20ACEBA3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2708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2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03D4195-7C6E-46F6-A859-B753960C77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4673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30252DC-3B11-431E-AD07-27C26A3C9A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66259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C1562F8-9261-4F50-BB1A-CF245923A6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9031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F4D19E2-1F7E-4F1B-A43D-0DF7BF0F47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45516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C4BBA64-6C62-4FEB-9063-8BAF4FB6F2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27932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A02D109-81FC-4B9E-BC0B-5E376E2C9F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931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F3AA65E-C8EE-45C9-9134-BC4A81047F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37449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C04A29D-8642-4A83-9594-9373D5B45D3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19803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84E308E-9548-4D38-87A9-54C9CFE076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4933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6FE6265-45BD-4C8A-80DA-2EA0D604C4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67378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5888"/>
            <a:ext cx="2057400" cy="57515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5888"/>
            <a:ext cx="6019800" cy="57515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BA1A890-960E-41B0-BB8E-28EA756E23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9523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9527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527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2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A47371D-F4DC-4E53-B160-FBAE9A0D36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79" r:id="rId1"/>
    <p:sldLayoutId id="2147485080" r:id="rId2"/>
    <p:sldLayoutId id="2147485081" r:id="rId3"/>
    <p:sldLayoutId id="2147485082" r:id="rId4"/>
    <p:sldLayoutId id="2147485083" r:id="rId5"/>
    <p:sldLayoutId id="2147485084" r:id="rId6"/>
    <p:sldLayoutId id="2147485085" r:id="rId7"/>
    <p:sldLayoutId id="2147485086" r:id="rId8"/>
    <p:sldLayoutId id="2147485087" r:id="rId9"/>
    <p:sldLayoutId id="2147485088" r:id="rId10"/>
    <p:sldLayoutId id="214748508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Arial Black" pitchFamily="34" charset="0"/>
                <a:ea typeface="宋体" charset="-122"/>
              </a:defRPr>
            </a:lvl1pPr>
          </a:lstStyle>
          <a:p>
            <a:pPr>
              <a:defRPr/>
            </a:pPr>
            <a:fld id="{B7B87FF6-DCB4-44F5-86D7-AFE14B00A2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9629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</a:endParaRPr>
            </a:p>
          </p:txBody>
        </p:sp>
      </p:grpSp>
      <p:sp>
        <p:nvSpPr>
          <p:cNvPr id="39629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5888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629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90" r:id="rId1"/>
    <p:sldLayoutId id="2147485091" r:id="rId2"/>
    <p:sldLayoutId id="2147485092" r:id="rId3"/>
    <p:sldLayoutId id="2147485093" r:id="rId4"/>
    <p:sldLayoutId id="2147485094" r:id="rId5"/>
    <p:sldLayoutId id="2147485095" r:id="rId6"/>
    <p:sldLayoutId id="2147485096" r:id="rId7"/>
    <p:sldLayoutId id="2147485097" r:id="rId8"/>
    <p:sldLayoutId id="2147485098" r:id="rId9"/>
    <p:sldLayoutId id="2147485099" r:id="rId10"/>
    <p:sldLayoutId id="214748510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8.bin"/><Relationship Id="rId5" Type="http://schemas.openxmlformats.org/officeDocument/2006/relationships/oleObject" Target="../embeddings/oleObject7.bin"/><Relationship Id="rId4" Type="http://schemas.openxmlformats.org/officeDocument/2006/relationships/image" Target="../media/image6.wmf"/><Relationship Id="rId9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11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3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10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26.bin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8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0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6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1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11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3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3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audio" Target="../media/audio2.wav"/><Relationship Id="rId7" Type="http://schemas.openxmlformats.org/officeDocument/2006/relationships/image" Target="../media/image23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3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2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audio" Target="../media/audio2.wav"/><Relationship Id="rId7" Type="http://schemas.openxmlformats.org/officeDocument/2006/relationships/image" Target="../media/image26.wmf"/><Relationship Id="rId12" Type="http://schemas.openxmlformats.org/officeDocument/2006/relationships/slide" Target="slide12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28.wmf"/><Relationship Id="rId5" Type="http://schemas.openxmlformats.org/officeDocument/2006/relationships/image" Target="../media/image25.wmf"/><Relationship Id="rId10" Type="http://schemas.openxmlformats.org/officeDocument/2006/relationships/oleObject" Target="../embeddings/oleObject43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2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31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47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32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34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39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54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40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43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44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35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46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49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50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72.bin"/><Relationship Id="rId5" Type="http://schemas.openxmlformats.org/officeDocument/2006/relationships/oleObject" Target="../embeddings/oleObject69.bin"/><Relationship Id="rId10" Type="http://schemas.openxmlformats.org/officeDocument/2006/relationships/image" Target="../media/image54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71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oleObject" Target="../embeddings/oleObject79.bin"/><Relationship Id="rId18" Type="http://schemas.openxmlformats.org/officeDocument/2006/relationships/oleObject" Target="../embeddings/oleObject83.bin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58.wmf"/><Relationship Id="rId17" Type="http://schemas.openxmlformats.org/officeDocument/2006/relationships/oleObject" Target="../embeddings/oleObject82.bin"/><Relationship Id="rId2" Type="http://schemas.openxmlformats.org/officeDocument/2006/relationships/slideLayout" Target="../slideLayouts/slideLayout18.xml"/><Relationship Id="rId16" Type="http://schemas.openxmlformats.org/officeDocument/2006/relationships/oleObject" Target="../embeddings/oleObject81.bin"/><Relationship Id="rId20" Type="http://schemas.openxmlformats.org/officeDocument/2006/relationships/oleObject" Target="../embeddings/oleObject84.bin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75.bin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80.bin"/><Relationship Id="rId10" Type="http://schemas.openxmlformats.org/officeDocument/2006/relationships/image" Target="../media/image57.wmf"/><Relationship Id="rId19" Type="http://schemas.openxmlformats.org/officeDocument/2006/relationships/image" Target="../media/image59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54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60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kumimoji="1" lang="en-US" altLang="zh-CN" sz="3600" b="1">
                <a:solidFill>
                  <a:srgbClr val="CC0099"/>
                </a:solidFill>
              </a:rPr>
              <a:t>§3  </a:t>
            </a:r>
            <a:r>
              <a:rPr kumimoji="1" lang="zh-CN" altLang="en-US" sz="3600" b="1">
                <a:solidFill>
                  <a:srgbClr val="CC0099"/>
                </a:solidFill>
              </a:rPr>
              <a:t>线性方程组的解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3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一、线性方程组的表达式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95400"/>
            <a:ext cx="4038600" cy="4454525"/>
          </a:xfrm>
        </p:spPr>
        <p:txBody>
          <a:bodyPr/>
          <a:lstStyle/>
          <a:p>
            <a:pPr marL="381000" indent="-381000" eaLnBrk="1" hangingPunct="1">
              <a:lnSpc>
                <a:spcPct val="80000"/>
              </a:lnSpc>
              <a:buClr>
                <a:srgbClr val="0000FF"/>
              </a:buClr>
              <a:buSzTx/>
              <a:buFont typeface="Wingdings" pitchFamily="2" charset="2"/>
              <a:buAutoNum type="arabicPeriod"/>
            </a:pPr>
            <a:r>
              <a:rPr lang="zh-CN" altLang="en-US" sz="2400" dirty="0">
                <a:solidFill>
                  <a:srgbClr val="0000FF"/>
                </a:solidFill>
              </a:rPr>
              <a:t>一般形式</a:t>
            </a:r>
          </a:p>
          <a:p>
            <a:pPr marL="381000" indent="-381000" eaLnBrk="1" hangingPunct="1">
              <a:lnSpc>
                <a:spcPct val="80000"/>
              </a:lnSpc>
              <a:buClr>
                <a:srgbClr val="0000FF"/>
              </a:buClr>
              <a:buSzTx/>
              <a:buFont typeface="Wingdings" pitchFamily="2" charset="2"/>
              <a:buNone/>
            </a:pPr>
            <a:endParaRPr lang="zh-CN" altLang="en-US" sz="2400" dirty="0">
              <a:solidFill>
                <a:srgbClr val="0000FF"/>
              </a:solidFill>
            </a:endParaRPr>
          </a:p>
          <a:p>
            <a:pPr marL="381000" indent="-381000" eaLnBrk="1" hangingPunct="1">
              <a:lnSpc>
                <a:spcPct val="80000"/>
              </a:lnSpc>
              <a:buClr>
                <a:srgbClr val="0000FF"/>
              </a:buClr>
              <a:buSzTx/>
              <a:buFont typeface="Wingdings" pitchFamily="2" charset="2"/>
              <a:buAutoNum type="arabicPeriod"/>
            </a:pPr>
            <a:endParaRPr lang="zh-CN" altLang="en-US" sz="2400" dirty="0">
              <a:solidFill>
                <a:srgbClr val="0000FF"/>
              </a:solidFill>
            </a:endParaRPr>
          </a:p>
          <a:p>
            <a:pPr marL="381000" indent="-381000" eaLnBrk="1" hangingPunct="1">
              <a:lnSpc>
                <a:spcPct val="80000"/>
              </a:lnSpc>
              <a:buClr>
                <a:srgbClr val="0000FF"/>
              </a:buClr>
              <a:buSzTx/>
              <a:buFont typeface="Wingdings" pitchFamily="2" charset="2"/>
              <a:buAutoNum type="arabicPeriod"/>
            </a:pPr>
            <a:endParaRPr lang="zh-CN" altLang="en-US" sz="2400" dirty="0">
              <a:solidFill>
                <a:srgbClr val="0000FF"/>
              </a:solidFill>
            </a:endParaRPr>
          </a:p>
          <a:p>
            <a:pPr marL="381000" indent="-381000" eaLnBrk="1" hangingPunct="1">
              <a:lnSpc>
                <a:spcPct val="80000"/>
              </a:lnSpc>
              <a:buClr>
                <a:srgbClr val="0000FF"/>
              </a:buClr>
              <a:buSzTx/>
              <a:buFont typeface="Wingdings" pitchFamily="2" charset="2"/>
              <a:buNone/>
            </a:pPr>
            <a:endParaRPr kumimoji="1" lang="zh-CN" altLang="en-US" sz="2400" dirty="0">
              <a:solidFill>
                <a:srgbClr val="0000FF"/>
              </a:solidFill>
            </a:endParaRPr>
          </a:p>
          <a:p>
            <a:pPr marL="381000" indent="-381000" eaLnBrk="1" hangingPunct="1">
              <a:lnSpc>
                <a:spcPct val="80000"/>
              </a:lnSpc>
              <a:buClr>
                <a:srgbClr val="0000FF"/>
              </a:buClr>
              <a:buSzTx/>
              <a:buFont typeface="Wingdings" pitchFamily="2" charset="2"/>
              <a:buAutoNum type="arabicPeriod" startAt="3"/>
            </a:pPr>
            <a:r>
              <a:rPr kumimoji="1" lang="zh-CN" altLang="en-US" sz="2400" dirty="0">
                <a:solidFill>
                  <a:srgbClr val="0000FF"/>
                </a:solidFill>
              </a:rPr>
              <a:t> 矩阵形式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 marL="381000" indent="-381000" eaLnBrk="1" hangingPunct="1">
              <a:buFont typeface="Wingdings" pitchFamily="2" charset="2"/>
              <a:buNone/>
            </a:pPr>
            <a:endParaRPr lang="zh-CN" altLang="en-US" sz="2400" dirty="0"/>
          </a:p>
          <a:p>
            <a:pPr marL="381000" indent="-381000" eaLnBrk="1" hangingPunct="1">
              <a:buFont typeface="Wingdings" pitchFamily="2" charset="2"/>
              <a:buNone/>
            </a:pPr>
            <a:endParaRPr lang="zh-CN" altLang="en-US" sz="2400" dirty="0"/>
          </a:p>
          <a:p>
            <a:pPr marL="381000" indent="-381000" eaLnBrk="1" hangingPunct="1">
              <a:buFont typeface="Wingdings" pitchFamily="2" charset="2"/>
              <a:buNone/>
            </a:pPr>
            <a:endParaRPr lang="zh-CN" altLang="en-US" sz="2400" dirty="0"/>
          </a:p>
          <a:p>
            <a:pPr marL="381000" indent="-381000" eaLnBrk="1" hangingPunct="1">
              <a:buFont typeface="Wingdings" pitchFamily="2" charset="2"/>
              <a:buNone/>
            </a:pPr>
            <a:endParaRPr lang="zh-CN" altLang="en-US" sz="2400" dirty="0"/>
          </a:p>
          <a:p>
            <a:pPr marL="381000" indent="-381000" eaLnBrk="1" hangingPunct="1">
              <a:buFont typeface="Wingdings" pitchFamily="2" charset="2"/>
              <a:buNone/>
            </a:pPr>
            <a:r>
              <a:rPr kumimoji="1" lang="zh-CN" altLang="en-US" sz="2400" dirty="0"/>
              <a:t>方程组可简化为 </a:t>
            </a:r>
            <a:r>
              <a:rPr kumimoji="1" lang="en-US" altLang="zh-CN" sz="2400" i="1" dirty="0"/>
              <a:t>Ax </a:t>
            </a:r>
            <a:r>
              <a:rPr kumimoji="1" lang="en-US" altLang="zh-CN" sz="2400" dirty="0"/>
              <a:t>= </a:t>
            </a:r>
            <a:r>
              <a:rPr kumimoji="1" lang="en-US" altLang="zh-CN" sz="2400" i="1" dirty="0"/>
              <a:t>b </a:t>
            </a:r>
            <a:r>
              <a:rPr kumimoji="1" lang="zh-CN" altLang="en-US" sz="2400" dirty="0"/>
              <a:t>．</a:t>
            </a:r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295400"/>
            <a:ext cx="4038600" cy="4454525"/>
          </a:xfrm>
        </p:spPr>
        <p:txBody>
          <a:bodyPr/>
          <a:lstStyle/>
          <a:p>
            <a:pPr marL="381000" indent="-381000" eaLnBrk="1" hangingPunct="1">
              <a:buClr>
                <a:srgbClr val="0000FF"/>
              </a:buClr>
              <a:buSzTx/>
              <a:buFont typeface="Wingdings" pitchFamily="2" charset="2"/>
              <a:buAutoNum type="arabicPeriod" startAt="2"/>
            </a:pPr>
            <a:r>
              <a:rPr kumimoji="1" lang="zh-CN" altLang="en-US" sz="2400" dirty="0">
                <a:solidFill>
                  <a:srgbClr val="0000FF"/>
                </a:solidFill>
              </a:rPr>
              <a:t>增广矩阵的形式</a:t>
            </a:r>
          </a:p>
          <a:p>
            <a:pPr marL="381000" indent="-381000" eaLnBrk="1" hangingPunct="1">
              <a:buClr>
                <a:srgbClr val="0000FF"/>
              </a:buClr>
              <a:buSzTx/>
              <a:buFont typeface="Wingdings" pitchFamily="2" charset="2"/>
              <a:buAutoNum type="arabicPeriod" startAt="2"/>
            </a:pPr>
            <a:endParaRPr kumimoji="1" lang="zh-CN" altLang="en-US" sz="2400" dirty="0">
              <a:solidFill>
                <a:srgbClr val="0000FF"/>
              </a:solidFill>
            </a:endParaRPr>
          </a:p>
          <a:p>
            <a:pPr marL="381000" indent="-381000" eaLnBrk="1" hangingPunct="1">
              <a:buClr>
                <a:srgbClr val="0000FF"/>
              </a:buClr>
              <a:buSzTx/>
              <a:buFont typeface="Wingdings" pitchFamily="2" charset="2"/>
              <a:buAutoNum type="arabicPeriod" startAt="2"/>
            </a:pPr>
            <a:endParaRPr kumimoji="1" lang="zh-CN" altLang="en-US" sz="2400" dirty="0">
              <a:solidFill>
                <a:srgbClr val="0000FF"/>
              </a:solidFill>
            </a:endParaRPr>
          </a:p>
          <a:p>
            <a:pPr marL="381000" indent="-381000" eaLnBrk="1" hangingPunct="1">
              <a:buClr>
                <a:srgbClr val="0000FF"/>
              </a:buClr>
              <a:buSzTx/>
              <a:buFont typeface="Wingdings" pitchFamily="2" charset="2"/>
              <a:buAutoNum type="arabicPeriod" startAt="2"/>
            </a:pPr>
            <a:endParaRPr kumimoji="1" lang="zh-CN" altLang="en-US" sz="2400" dirty="0">
              <a:solidFill>
                <a:srgbClr val="0000FF"/>
              </a:solidFill>
            </a:endParaRPr>
          </a:p>
          <a:p>
            <a:pPr marL="381000" indent="-381000" eaLnBrk="1" hangingPunct="1">
              <a:buClr>
                <a:srgbClr val="0000FF"/>
              </a:buClr>
              <a:buSzTx/>
              <a:buFont typeface="Wingdings" pitchFamily="2" charset="2"/>
              <a:buAutoNum type="arabicPeriod" startAt="4"/>
            </a:pPr>
            <a:r>
              <a:rPr kumimoji="1" lang="zh-CN" altLang="en-US" sz="2400" dirty="0">
                <a:solidFill>
                  <a:srgbClr val="0000FF"/>
                </a:solidFill>
              </a:rPr>
              <a:t>向量形式</a:t>
            </a:r>
          </a:p>
        </p:txBody>
      </p:sp>
      <p:graphicFrame>
        <p:nvGraphicFramePr>
          <p:cNvPr id="19464" name="Object 10"/>
          <p:cNvGraphicFramePr>
            <a:graphicFrameLocks noChangeAspect="1"/>
          </p:cNvGraphicFramePr>
          <p:nvPr/>
        </p:nvGraphicFramePr>
        <p:xfrm>
          <a:off x="1198563" y="1857375"/>
          <a:ext cx="26400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94" name="Equation" r:id="rId3" imgW="1320227" imgH="482391" progId="">
                  <p:embed/>
                </p:oleObj>
              </mc:Choice>
              <mc:Fallback>
                <p:oleObj name="Equation" r:id="rId3" imgW="1320227" imgH="482391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563" y="1857375"/>
                        <a:ext cx="264001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Object 11"/>
          <p:cNvGraphicFramePr>
            <a:graphicFrameLocks noChangeAspect="1"/>
          </p:cNvGraphicFramePr>
          <p:nvPr/>
        </p:nvGraphicFramePr>
        <p:xfrm>
          <a:off x="5553075" y="1857375"/>
          <a:ext cx="23606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95" name="Equation" r:id="rId5" imgW="1180588" imgH="469696" progId="">
                  <p:embed/>
                </p:oleObj>
              </mc:Choice>
              <mc:Fallback>
                <p:oleObj name="Equation" r:id="rId5" imgW="1180588" imgH="469696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3075" y="1857375"/>
                        <a:ext cx="236061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7" name="Object 12"/>
          <p:cNvGraphicFramePr>
            <a:graphicFrameLocks noChangeAspect="1"/>
          </p:cNvGraphicFramePr>
          <p:nvPr/>
        </p:nvGraphicFramePr>
        <p:xfrm>
          <a:off x="836613" y="3659188"/>
          <a:ext cx="3365500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96" name="Equation" r:id="rId7" imgW="1676400" imgH="711200" progId="">
                  <p:embed/>
                </p:oleObj>
              </mc:Choice>
              <mc:Fallback>
                <p:oleObj name="Equation" r:id="rId7" imgW="1676400" imgH="71120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13" y="3659188"/>
                        <a:ext cx="3365500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13"/>
          <p:cNvGraphicFramePr>
            <a:graphicFrameLocks noChangeAspect="1"/>
          </p:cNvGraphicFramePr>
          <p:nvPr/>
        </p:nvGraphicFramePr>
        <p:xfrm>
          <a:off x="4575175" y="3902075"/>
          <a:ext cx="4318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97" name="Equation" r:id="rId9" imgW="2159000" imgH="469900" progId="">
                  <p:embed/>
                </p:oleObj>
              </mc:Choice>
              <mc:Fallback>
                <p:oleObj name="Equation" r:id="rId9" imgW="2159000" imgH="46990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5175" y="3902075"/>
                        <a:ext cx="4318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9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94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194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194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2" grpId="0" build="p"/>
      <p:bldP spid="1946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二、线性方程组的解的判定</a:t>
            </a:r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57200"/>
          </a:xfrm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/>
              <a:t>设有 </a:t>
            </a:r>
            <a:r>
              <a:rPr lang="en-US" altLang="zh-CN" i="1"/>
              <a:t>n</a:t>
            </a:r>
            <a:r>
              <a:rPr lang="en-US" altLang="zh-CN"/>
              <a:t> </a:t>
            </a:r>
            <a:r>
              <a:rPr lang="zh-CN" altLang="en-US"/>
              <a:t>个未知数 </a:t>
            </a:r>
            <a:r>
              <a:rPr lang="en-US" altLang="zh-CN" i="1"/>
              <a:t>m</a:t>
            </a:r>
            <a:r>
              <a:rPr lang="en-US" altLang="zh-CN"/>
              <a:t> </a:t>
            </a:r>
            <a:r>
              <a:rPr lang="zh-CN" altLang="en-US"/>
              <a:t>个方程的线性方程组</a:t>
            </a:r>
          </a:p>
        </p:txBody>
      </p:sp>
      <p:graphicFrame>
        <p:nvGraphicFramePr>
          <p:cNvPr id="23560" name="Object 4"/>
          <p:cNvGraphicFramePr>
            <a:graphicFrameLocks noChangeAspect="1"/>
          </p:cNvGraphicFramePr>
          <p:nvPr/>
        </p:nvGraphicFramePr>
        <p:xfrm>
          <a:off x="2478088" y="2125663"/>
          <a:ext cx="4187825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96" name="Equation" r:id="rId4" imgW="2095500" imgH="939800" progId="">
                  <p:embed/>
                </p:oleObj>
              </mc:Choice>
              <mc:Fallback>
                <p:oleObj name="Equation" r:id="rId4" imgW="2095500" imgH="9398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8088" y="2125663"/>
                        <a:ext cx="4187825" cy="187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457200" y="4149725"/>
            <a:ext cx="82296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定义：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线性方程组如果有解，就称它是</a:t>
            </a:r>
            <a:r>
              <a:rPr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相容的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；如果无解，</a:t>
            </a: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就称它是</a:t>
            </a:r>
            <a:r>
              <a:rPr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不相容的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57200" y="5191125"/>
            <a:ext cx="8231188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问题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方程组是否有解？</a:t>
            </a: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问题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若方程组有解，则解是否唯一？</a:t>
            </a: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问题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若方程组有解且不唯一，则如何表示解的全体？</a:t>
            </a:r>
          </a:p>
        </p:txBody>
      </p:sp>
      <p:sp>
        <p:nvSpPr>
          <p:cNvPr id="23565" name="AutoShape 13"/>
          <p:cNvSpPr>
            <a:spLocks noChangeArrowheads="1"/>
          </p:cNvSpPr>
          <p:nvPr/>
        </p:nvSpPr>
        <p:spPr bwMode="auto">
          <a:xfrm>
            <a:off x="6659563" y="1052513"/>
            <a:ext cx="2016125" cy="1008062"/>
          </a:xfrm>
          <a:prstGeom prst="cloudCallout">
            <a:avLst>
              <a:gd name="adj1" fmla="val -51023"/>
              <a:gd name="adj2" fmla="val 77245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、</a:t>
            </a:r>
            <a:r>
              <a:rPr lang="en-US" altLang="zh-CN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不一定相等！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601"/>
                            </p:stCondLst>
                            <p:childTnLst>
                              <p:par>
                                <p:cTn id="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23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3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 tmFilter="0,0; .5, 1; 1, 1"/>
                                        <p:tgtEl>
                                          <p:spTgt spid="23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 tmFilter="0,0; .5, 1; 1, 1"/>
                                        <p:tgtEl>
                                          <p:spTgt spid="23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9" grpId="0" build="p"/>
      <p:bldP spid="23561" grpId="0"/>
      <p:bldP spid="23563" grpId="0" build="p"/>
      <p:bldP spid="2356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457200" y="533400"/>
            <a:ext cx="8229600" cy="180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定理：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元线性方程组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00"/>
              </a:buClr>
              <a:buFont typeface="Wingdings" pitchFamily="2" charset="2"/>
              <a:buAutoNum type="circleNumDbPlain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无解的充分必要条件是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&lt;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；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00"/>
              </a:buClr>
              <a:buFont typeface="Wingdings" pitchFamily="2" charset="2"/>
              <a:buAutoNum type="circleNumDbPlain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有唯一解的充分必要条件是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；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00"/>
              </a:buClr>
              <a:buFont typeface="Wingdings" pitchFamily="2" charset="2"/>
              <a:buAutoNum type="circleNumDbPlain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有无限多解的充分必要条件是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&lt;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457200" y="2611438"/>
            <a:ext cx="8229600" cy="377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分析：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只需证明条件的充分性，即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FontTx/>
              <a:buChar char="•"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&lt;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     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无解；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FontTx/>
              <a:buChar char="•"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      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唯一解；</a:t>
            </a:r>
            <a:endParaRPr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FontTx/>
              <a:buChar char="•"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&lt;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      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无穷多解</a:t>
            </a:r>
            <a:r>
              <a:rPr kumimoji="1" lang="zh-CN" altLang="en-US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那么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Font typeface="Wingdings" pitchFamily="2" charset="2"/>
              <a:buChar char="ü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无解        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&lt;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；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Font typeface="Wingdings" pitchFamily="2" charset="2"/>
              <a:buChar char="ü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唯一解        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；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Font typeface="Wingdings" pitchFamily="2" charset="2"/>
              <a:buChar char="ü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无穷多解        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&lt;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graphicFrame>
        <p:nvGraphicFramePr>
          <p:cNvPr id="26632" name="Object 14"/>
          <p:cNvGraphicFramePr>
            <a:graphicFrameLocks noChangeAspect="1"/>
          </p:cNvGraphicFramePr>
          <p:nvPr/>
        </p:nvGraphicFramePr>
        <p:xfrm>
          <a:off x="2870200" y="3192463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717" name="Equation" r:id="rId3" imgW="203112" imgH="139639" progId="">
                  <p:embed/>
                </p:oleObj>
              </mc:Choice>
              <mc:Fallback>
                <p:oleObj name="Equation" r:id="rId3" imgW="203112" imgH="139639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200" y="3192463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3" name="Object 15"/>
          <p:cNvGraphicFramePr>
            <a:graphicFrameLocks noChangeAspect="1"/>
          </p:cNvGraphicFramePr>
          <p:nvPr/>
        </p:nvGraphicFramePr>
        <p:xfrm>
          <a:off x="3373438" y="3675063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718" name="Equation" r:id="rId5" imgW="203112" imgH="139639" progId="">
                  <p:embed/>
                </p:oleObj>
              </mc:Choice>
              <mc:Fallback>
                <p:oleObj name="Equation" r:id="rId5" imgW="203112" imgH="139639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3438" y="3675063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5" name="Object 16"/>
          <p:cNvGraphicFramePr>
            <a:graphicFrameLocks noChangeAspect="1"/>
          </p:cNvGraphicFramePr>
          <p:nvPr/>
        </p:nvGraphicFramePr>
        <p:xfrm>
          <a:off x="3373438" y="4157663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719" name="Equation" r:id="rId6" imgW="203112" imgH="139639" progId="">
                  <p:embed/>
                </p:oleObj>
              </mc:Choice>
              <mc:Fallback>
                <p:oleObj name="Equation" r:id="rId6" imgW="203112" imgH="139639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3438" y="4157663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6" name="Object 17"/>
          <p:cNvGraphicFramePr>
            <a:graphicFrameLocks noChangeAspect="1"/>
          </p:cNvGraphicFramePr>
          <p:nvPr/>
        </p:nvGraphicFramePr>
        <p:xfrm>
          <a:off x="1646238" y="5049838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720" name="Equation" r:id="rId7" imgW="203112" imgH="139639" progId="">
                  <p:embed/>
                </p:oleObj>
              </mc:Choice>
              <mc:Fallback>
                <p:oleObj name="Equation" r:id="rId7" imgW="203112" imgH="139639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238" y="5049838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7" name="Object 18"/>
          <p:cNvGraphicFramePr>
            <a:graphicFrameLocks noChangeAspect="1"/>
          </p:cNvGraphicFramePr>
          <p:nvPr/>
        </p:nvGraphicFramePr>
        <p:xfrm>
          <a:off x="1947863" y="5538788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721" name="Equation" r:id="rId8" imgW="203112" imgH="139639" progId="">
                  <p:embed/>
                </p:oleObj>
              </mc:Choice>
              <mc:Fallback>
                <p:oleObj name="Equation" r:id="rId8" imgW="203112" imgH="139639" progId="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7863" y="5538788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8" name="Object 19"/>
          <p:cNvGraphicFramePr>
            <a:graphicFrameLocks noChangeAspect="1"/>
          </p:cNvGraphicFramePr>
          <p:nvPr/>
        </p:nvGraphicFramePr>
        <p:xfrm>
          <a:off x="2279650" y="6029325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722" name="Equation" r:id="rId9" imgW="203112" imgH="139639" progId="">
                  <p:embed/>
                </p:oleObj>
              </mc:Choice>
              <mc:Fallback>
                <p:oleObj name="Equation" r:id="rId9" imgW="203112" imgH="139639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6029325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6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66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66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66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66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66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6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66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0" grpId="0" build="p"/>
      <p:bldP spid="2663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457200" y="533400"/>
            <a:ext cx="8229600" cy="560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证明：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，为叙述方便，不妨设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行最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简形矩阵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为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FF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第一步：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证明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&lt;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     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无解．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&lt;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，即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＋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，则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d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1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于是 第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+1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行对应矛盾方程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0 = 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，故原线性方程组无解．</a:t>
            </a:r>
          </a:p>
        </p:txBody>
      </p:sp>
      <p:graphicFrame>
        <p:nvGraphicFramePr>
          <p:cNvPr id="27653" name="Object 6"/>
          <p:cNvGraphicFramePr>
            <a:graphicFrameLocks noChangeAspect="1"/>
          </p:cNvGraphicFramePr>
          <p:nvPr/>
        </p:nvGraphicFramePr>
        <p:xfrm>
          <a:off x="561975" y="1455738"/>
          <a:ext cx="4572000" cy="280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96" name="Equation" r:id="rId3" imgW="3048000" imgH="1866900" progId="">
                  <p:embed/>
                </p:oleObj>
              </mc:Choice>
              <mc:Fallback>
                <p:oleObj name="Equation" r:id="rId3" imgW="3048000" imgH="18669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" y="1455738"/>
                        <a:ext cx="4572000" cy="280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7"/>
          <p:cNvGraphicFramePr>
            <a:graphicFrameLocks noChangeAspect="1"/>
          </p:cNvGraphicFramePr>
          <p:nvPr/>
        </p:nvGraphicFramePr>
        <p:xfrm>
          <a:off x="4427538" y="4826000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97" name="Equation" r:id="rId5" imgW="203112" imgH="139639" progId="">
                  <p:embed/>
                </p:oleObj>
              </mc:Choice>
              <mc:Fallback>
                <p:oleObj name="Equation" r:id="rId5" imgW="203112" imgH="139639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826000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014413" y="1800225"/>
            <a:ext cx="3521075" cy="1420813"/>
            <a:chOff x="1882" y="1032"/>
            <a:chExt cx="2218" cy="895"/>
          </a:xfrm>
        </p:grpSpPr>
        <p:sp>
          <p:nvSpPr>
            <p:cNvPr id="234508" name="Line 9"/>
            <p:cNvSpPr>
              <a:spLocks noChangeShapeType="1"/>
            </p:cNvSpPr>
            <p:nvPr/>
          </p:nvSpPr>
          <p:spPr bwMode="auto">
            <a:xfrm>
              <a:off x="1882" y="1044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509" name="Line 10"/>
            <p:cNvSpPr>
              <a:spLocks noChangeShapeType="1"/>
            </p:cNvSpPr>
            <p:nvPr/>
          </p:nvSpPr>
          <p:spPr bwMode="auto">
            <a:xfrm>
              <a:off x="2064" y="1032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510" name="Line 11"/>
            <p:cNvSpPr>
              <a:spLocks noChangeShapeType="1"/>
            </p:cNvSpPr>
            <p:nvPr/>
          </p:nvSpPr>
          <p:spPr bwMode="auto">
            <a:xfrm>
              <a:off x="2057" y="1253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511" name="Line 13"/>
            <p:cNvSpPr>
              <a:spLocks noChangeShapeType="1"/>
            </p:cNvSpPr>
            <p:nvPr/>
          </p:nvSpPr>
          <p:spPr bwMode="auto">
            <a:xfrm>
              <a:off x="2251" y="1241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512" name="Line 14"/>
            <p:cNvSpPr>
              <a:spLocks noChangeShapeType="1"/>
            </p:cNvSpPr>
            <p:nvPr/>
          </p:nvSpPr>
          <p:spPr bwMode="auto">
            <a:xfrm>
              <a:off x="2244" y="1462"/>
              <a:ext cx="29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513" name="Line 16"/>
            <p:cNvSpPr>
              <a:spLocks noChangeShapeType="1"/>
            </p:cNvSpPr>
            <p:nvPr/>
          </p:nvSpPr>
          <p:spPr bwMode="auto">
            <a:xfrm>
              <a:off x="2530" y="1485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514" name="Line 17"/>
            <p:cNvSpPr>
              <a:spLocks noChangeShapeType="1"/>
            </p:cNvSpPr>
            <p:nvPr/>
          </p:nvSpPr>
          <p:spPr bwMode="auto">
            <a:xfrm>
              <a:off x="2523" y="1706"/>
              <a:ext cx="124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515" name="Line 18"/>
            <p:cNvSpPr>
              <a:spLocks noChangeShapeType="1"/>
            </p:cNvSpPr>
            <p:nvPr/>
          </p:nvSpPr>
          <p:spPr bwMode="auto">
            <a:xfrm>
              <a:off x="3767" y="1700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516" name="Line 19"/>
            <p:cNvSpPr>
              <a:spLocks noChangeShapeType="1"/>
            </p:cNvSpPr>
            <p:nvPr/>
          </p:nvSpPr>
          <p:spPr bwMode="auto">
            <a:xfrm>
              <a:off x="3760" y="1921"/>
              <a:ext cx="34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670" name="AutoShape 22"/>
          <p:cNvSpPr>
            <a:spLocks noChangeArrowheads="1"/>
          </p:cNvSpPr>
          <p:nvPr/>
        </p:nvSpPr>
        <p:spPr bwMode="auto">
          <a:xfrm>
            <a:off x="5003800" y="3068638"/>
            <a:ext cx="3914775" cy="525462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≤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≤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＋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1  </a:t>
            </a:r>
          </a:p>
        </p:txBody>
      </p:sp>
      <p:sp>
        <p:nvSpPr>
          <p:cNvPr id="27671" name="AutoShape 23"/>
          <p:cNvSpPr>
            <a:spLocks/>
          </p:cNvSpPr>
          <p:nvPr/>
        </p:nvSpPr>
        <p:spPr bwMode="auto">
          <a:xfrm rot="-5400000">
            <a:off x="1573213" y="3787775"/>
            <a:ext cx="179387" cy="1008063"/>
          </a:xfrm>
          <a:prstGeom prst="leftBrace">
            <a:avLst>
              <a:gd name="adj1" fmla="val 4682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7672" name="Text Box 24"/>
          <p:cNvSpPr txBox="1">
            <a:spLocks noChangeArrowheads="1"/>
          </p:cNvSpPr>
          <p:nvPr/>
        </p:nvSpPr>
        <p:spPr bwMode="auto">
          <a:xfrm>
            <a:off x="1139825" y="4292600"/>
            <a:ext cx="9620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前 </a:t>
            </a:r>
            <a:r>
              <a:rPr lang="en-US" altLang="zh-CN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列  </a:t>
            </a:r>
          </a:p>
        </p:txBody>
      </p:sp>
      <p:sp>
        <p:nvSpPr>
          <p:cNvPr id="27673" name="AutoShape 25"/>
          <p:cNvSpPr>
            <a:spLocks/>
          </p:cNvSpPr>
          <p:nvPr/>
        </p:nvSpPr>
        <p:spPr bwMode="auto">
          <a:xfrm rot="-5400000">
            <a:off x="3041650" y="3787776"/>
            <a:ext cx="179387" cy="1008062"/>
          </a:xfrm>
          <a:prstGeom prst="leftBrace">
            <a:avLst>
              <a:gd name="adj1" fmla="val 4682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7674" name="Text Box 26"/>
          <p:cNvSpPr txBox="1">
            <a:spLocks noChangeArrowheads="1"/>
          </p:cNvSpPr>
          <p:nvPr/>
        </p:nvSpPr>
        <p:spPr bwMode="auto">
          <a:xfrm>
            <a:off x="2443163" y="4292600"/>
            <a:ext cx="1279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后 </a:t>
            </a:r>
            <a:r>
              <a:rPr lang="en-US" altLang="zh-CN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- </a:t>
            </a:r>
            <a:r>
              <a:rPr lang="en-US" altLang="zh-CN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列  </a:t>
            </a:r>
          </a:p>
        </p:txBody>
      </p:sp>
      <p:cxnSp>
        <p:nvCxnSpPr>
          <p:cNvPr id="23" name="直接连接符 22"/>
          <p:cNvCxnSpPr/>
          <p:nvPr/>
        </p:nvCxnSpPr>
        <p:spPr>
          <a:xfrm rot="5400000">
            <a:off x="2631281" y="2829719"/>
            <a:ext cx="2714625" cy="1588"/>
          </a:xfrm>
          <a:prstGeom prst="line">
            <a:avLst/>
          </a:prstGeom>
          <a:ln w="28575">
            <a:solidFill>
              <a:srgbClr val="33CC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90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3302"/>
                            </p:stCondLst>
                            <p:childTnLst>
                              <p:par>
                                <p:cTn id="1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802"/>
                            </p:stCondLst>
                            <p:childTnLst>
                              <p:par>
                                <p:cTn id="1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2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2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76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76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8" presetClass="entr" presetSubtype="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76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 build="p"/>
      <p:bldP spid="27670" grpId="0" animBg="1"/>
      <p:bldP spid="27671" grpId="0" animBg="1"/>
      <p:bldP spid="27672" grpId="0"/>
      <p:bldP spid="27673" grpId="0" animBg="1"/>
      <p:bldP spid="2767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34"/>
          <p:cNvSpPr>
            <a:spLocks noChangeArrowheads="1"/>
          </p:cNvSpPr>
          <p:nvPr/>
        </p:nvSpPr>
        <p:spPr bwMode="auto">
          <a:xfrm>
            <a:off x="2373313" y="433388"/>
            <a:ext cx="1512887" cy="266541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04" name="Text Box 32"/>
          <p:cNvSpPr txBox="1">
            <a:spLocks noChangeArrowheads="1"/>
          </p:cNvSpPr>
          <p:nvPr/>
        </p:nvSpPr>
        <p:spPr bwMode="auto">
          <a:xfrm>
            <a:off x="1101725" y="3284538"/>
            <a:ext cx="1000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前 </a:t>
            </a:r>
            <a:r>
              <a:rPr lang="en-US" altLang="zh-CN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列</a:t>
            </a:r>
          </a:p>
        </p:txBody>
      </p:sp>
      <p:sp>
        <p:nvSpPr>
          <p:cNvPr id="28692" name="Text Box 20"/>
          <p:cNvSpPr txBox="1">
            <a:spLocks noChangeArrowheads="1"/>
          </p:cNvSpPr>
          <p:nvPr/>
        </p:nvSpPr>
        <p:spPr bwMode="auto">
          <a:xfrm>
            <a:off x="1139825" y="3284538"/>
            <a:ext cx="9620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前 </a:t>
            </a:r>
            <a:r>
              <a:rPr lang="en-US" altLang="zh-CN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列</a:t>
            </a:r>
          </a:p>
        </p:txBody>
      </p:sp>
      <p:graphicFrame>
        <p:nvGraphicFramePr>
          <p:cNvPr id="235522" name="Object 16"/>
          <p:cNvGraphicFramePr>
            <a:graphicFrameLocks noChangeAspect="1"/>
          </p:cNvGraphicFramePr>
          <p:nvPr/>
        </p:nvGraphicFramePr>
        <p:xfrm>
          <a:off x="566738" y="385763"/>
          <a:ext cx="1771650" cy="276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43" name="Equation" r:id="rId3" imgW="1181100" imgH="1841500" progId="">
                  <p:embed/>
                </p:oleObj>
              </mc:Choice>
              <mc:Fallback>
                <p:oleObj name="Equation" r:id="rId3" imgW="1181100" imgH="184150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8" y="385763"/>
                        <a:ext cx="1771650" cy="2763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1" name="Object 17"/>
          <p:cNvGraphicFramePr>
            <a:graphicFrameLocks noChangeAspect="1"/>
          </p:cNvGraphicFramePr>
          <p:nvPr/>
        </p:nvGraphicFramePr>
        <p:xfrm>
          <a:off x="4184650" y="385763"/>
          <a:ext cx="933450" cy="280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44" name="Equation" r:id="rId5" imgW="622300" imgH="1866900" progId="">
                  <p:embed/>
                </p:oleObj>
              </mc:Choice>
              <mc:Fallback>
                <p:oleObj name="Equation" r:id="rId5" imgW="622300" imgH="1866900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4650" y="385763"/>
                        <a:ext cx="933450" cy="280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457200" y="3860800"/>
            <a:ext cx="8229600" cy="145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第二步：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证明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      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唯一解．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故原线性方程组有唯一解．</a:t>
            </a:r>
          </a:p>
        </p:txBody>
      </p:sp>
      <p:graphicFrame>
        <p:nvGraphicFramePr>
          <p:cNvPr id="28676" name="Object 18"/>
          <p:cNvGraphicFramePr>
            <a:graphicFrameLocks noChangeAspect="1"/>
          </p:cNvGraphicFramePr>
          <p:nvPr/>
        </p:nvGraphicFramePr>
        <p:xfrm>
          <a:off x="5003800" y="4013200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45" name="Equation" r:id="rId7" imgW="203112" imgH="139639" progId="">
                  <p:embed/>
                </p:oleObj>
              </mc:Choice>
              <mc:Fallback>
                <p:oleObj name="Equation" r:id="rId7" imgW="203112" imgH="139639" progId="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4013200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014413" y="730250"/>
            <a:ext cx="3536950" cy="1079500"/>
            <a:chOff x="639" y="460"/>
            <a:chExt cx="2228" cy="680"/>
          </a:xfrm>
        </p:grpSpPr>
        <p:sp>
          <p:nvSpPr>
            <p:cNvPr id="235562" name="Line 6"/>
            <p:cNvSpPr>
              <a:spLocks noChangeShapeType="1"/>
            </p:cNvSpPr>
            <p:nvPr/>
          </p:nvSpPr>
          <p:spPr bwMode="auto">
            <a:xfrm>
              <a:off x="639" y="472"/>
              <a:ext cx="18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63" name="Line 7"/>
            <p:cNvSpPr>
              <a:spLocks noChangeShapeType="1"/>
            </p:cNvSpPr>
            <p:nvPr/>
          </p:nvSpPr>
          <p:spPr bwMode="auto">
            <a:xfrm>
              <a:off x="821" y="460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64" name="Line 8"/>
            <p:cNvSpPr>
              <a:spLocks noChangeShapeType="1"/>
            </p:cNvSpPr>
            <p:nvPr/>
          </p:nvSpPr>
          <p:spPr bwMode="auto">
            <a:xfrm>
              <a:off x="814" y="681"/>
              <a:ext cx="18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65" name="Line 9"/>
            <p:cNvSpPr>
              <a:spLocks noChangeShapeType="1"/>
            </p:cNvSpPr>
            <p:nvPr/>
          </p:nvSpPr>
          <p:spPr bwMode="auto">
            <a:xfrm>
              <a:off x="1008" y="669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66" name="Line 10"/>
            <p:cNvSpPr>
              <a:spLocks noChangeShapeType="1"/>
            </p:cNvSpPr>
            <p:nvPr/>
          </p:nvSpPr>
          <p:spPr bwMode="auto">
            <a:xfrm>
              <a:off x="1001" y="890"/>
              <a:ext cx="29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67" name="Line 11"/>
            <p:cNvSpPr>
              <a:spLocks noChangeShapeType="1"/>
            </p:cNvSpPr>
            <p:nvPr/>
          </p:nvSpPr>
          <p:spPr bwMode="auto">
            <a:xfrm>
              <a:off x="1287" y="913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68" name="Line 12"/>
            <p:cNvSpPr>
              <a:spLocks noChangeShapeType="1"/>
            </p:cNvSpPr>
            <p:nvPr/>
          </p:nvSpPr>
          <p:spPr bwMode="auto">
            <a:xfrm>
              <a:off x="1280" y="1134"/>
              <a:ext cx="158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5534" name="AutoShape 19"/>
          <p:cNvSpPr>
            <a:spLocks/>
          </p:cNvSpPr>
          <p:nvPr/>
        </p:nvSpPr>
        <p:spPr bwMode="auto">
          <a:xfrm rot="-5400000">
            <a:off x="1573213" y="2727325"/>
            <a:ext cx="179387" cy="1008063"/>
          </a:xfrm>
          <a:prstGeom prst="leftBrace">
            <a:avLst>
              <a:gd name="adj1" fmla="val 4682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693" name="AutoShape 21"/>
          <p:cNvSpPr>
            <a:spLocks/>
          </p:cNvSpPr>
          <p:nvPr/>
        </p:nvSpPr>
        <p:spPr bwMode="auto">
          <a:xfrm rot="-5400000">
            <a:off x="3041650" y="2727326"/>
            <a:ext cx="179387" cy="1008062"/>
          </a:xfrm>
          <a:prstGeom prst="leftBrace">
            <a:avLst>
              <a:gd name="adj1" fmla="val 4682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694" name="Text Box 22"/>
          <p:cNvSpPr txBox="1">
            <a:spLocks noChangeArrowheads="1"/>
          </p:cNvSpPr>
          <p:nvPr/>
        </p:nvSpPr>
        <p:spPr bwMode="auto">
          <a:xfrm>
            <a:off x="2443163" y="3284538"/>
            <a:ext cx="12795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后 </a:t>
            </a:r>
            <a:r>
              <a:rPr lang="en-US" altLang="zh-CN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- </a:t>
            </a:r>
            <a:r>
              <a:rPr lang="en-US" altLang="zh-CN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列  </a:t>
            </a:r>
          </a:p>
        </p:txBody>
      </p:sp>
      <p:sp>
        <p:nvSpPr>
          <p:cNvPr id="28698" name="Rectangle 26"/>
          <p:cNvSpPr>
            <a:spLocks noChangeArrowheads="1"/>
          </p:cNvSpPr>
          <p:nvPr/>
        </p:nvSpPr>
        <p:spPr bwMode="auto">
          <a:xfrm>
            <a:off x="457200" y="4352925"/>
            <a:ext cx="8164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                                       则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d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0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且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endParaRPr kumimoji="1" lang="zh-CN" altLang="en-US" sz="24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1014413" y="730250"/>
            <a:ext cx="3521075" cy="1420813"/>
            <a:chOff x="1882" y="1032"/>
            <a:chExt cx="2218" cy="895"/>
          </a:xfrm>
        </p:grpSpPr>
        <p:sp>
          <p:nvSpPr>
            <p:cNvPr id="235553" name="Line 34"/>
            <p:cNvSpPr>
              <a:spLocks noChangeShapeType="1"/>
            </p:cNvSpPr>
            <p:nvPr/>
          </p:nvSpPr>
          <p:spPr bwMode="auto">
            <a:xfrm>
              <a:off x="1882" y="1044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54" name="Line 35"/>
            <p:cNvSpPr>
              <a:spLocks noChangeShapeType="1"/>
            </p:cNvSpPr>
            <p:nvPr/>
          </p:nvSpPr>
          <p:spPr bwMode="auto">
            <a:xfrm>
              <a:off x="2064" y="1032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55" name="Line 36"/>
            <p:cNvSpPr>
              <a:spLocks noChangeShapeType="1"/>
            </p:cNvSpPr>
            <p:nvPr/>
          </p:nvSpPr>
          <p:spPr bwMode="auto">
            <a:xfrm>
              <a:off x="2057" y="1253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56" name="Line 37"/>
            <p:cNvSpPr>
              <a:spLocks noChangeShapeType="1"/>
            </p:cNvSpPr>
            <p:nvPr/>
          </p:nvSpPr>
          <p:spPr bwMode="auto">
            <a:xfrm>
              <a:off x="2251" y="1241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57" name="Line 38"/>
            <p:cNvSpPr>
              <a:spLocks noChangeShapeType="1"/>
            </p:cNvSpPr>
            <p:nvPr/>
          </p:nvSpPr>
          <p:spPr bwMode="auto">
            <a:xfrm>
              <a:off x="2244" y="1462"/>
              <a:ext cx="29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58" name="Line 39"/>
            <p:cNvSpPr>
              <a:spLocks noChangeShapeType="1"/>
            </p:cNvSpPr>
            <p:nvPr/>
          </p:nvSpPr>
          <p:spPr bwMode="auto">
            <a:xfrm>
              <a:off x="2530" y="1485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59" name="Line 40"/>
            <p:cNvSpPr>
              <a:spLocks noChangeShapeType="1"/>
            </p:cNvSpPr>
            <p:nvPr/>
          </p:nvSpPr>
          <p:spPr bwMode="auto">
            <a:xfrm>
              <a:off x="2523" y="1706"/>
              <a:ext cx="124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60" name="Line 41"/>
            <p:cNvSpPr>
              <a:spLocks noChangeShapeType="1"/>
            </p:cNvSpPr>
            <p:nvPr/>
          </p:nvSpPr>
          <p:spPr bwMode="auto">
            <a:xfrm>
              <a:off x="3767" y="1700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61" name="Line 42"/>
            <p:cNvSpPr>
              <a:spLocks noChangeShapeType="1"/>
            </p:cNvSpPr>
            <p:nvPr/>
          </p:nvSpPr>
          <p:spPr bwMode="auto">
            <a:xfrm>
              <a:off x="3760" y="1921"/>
              <a:ext cx="34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58"/>
          <p:cNvGrpSpPr>
            <a:grpSpLocks/>
          </p:cNvGrpSpPr>
          <p:nvPr/>
        </p:nvGrpSpPr>
        <p:grpSpPr bwMode="auto">
          <a:xfrm>
            <a:off x="1014413" y="730250"/>
            <a:ext cx="1779587" cy="1079500"/>
            <a:chOff x="639" y="460"/>
            <a:chExt cx="1121" cy="680"/>
          </a:xfrm>
        </p:grpSpPr>
        <p:sp>
          <p:nvSpPr>
            <p:cNvPr id="235546" name="Line 44"/>
            <p:cNvSpPr>
              <a:spLocks noChangeShapeType="1"/>
            </p:cNvSpPr>
            <p:nvPr/>
          </p:nvSpPr>
          <p:spPr bwMode="auto">
            <a:xfrm>
              <a:off x="639" y="472"/>
              <a:ext cx="16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47" name="Line 45"/>
            <p:cNvSpPr>
              <a:spLocks noChangeShapeType="1"/>
            </p:cNvSpPr>
            <p:nvPr/>
          </p:nvSpPr>
          <p:spPr bwMode="auto">
            <a:xfrm>
              <a:off x="815" y="460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48" name="Line 46"/>
            <p:cNvSpPr>
              <a:spLocks noChangeShapeType="1"/>
            </p:cNvSpPr>
            <p:nvPr/>
          </p:nvSpPr>
          <p:spPr bwMode="auto">
            <a:xfrm>
              <a:off x="808" y="681"/>
              <a:ext cx="20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49" name="Line 47"/>
            <p:cNvSpPr>
              <a:spLocks noChangeShapeType="1"/>
            </p:cNvSpPr>
            <p:nvPr/>
          </p:nvSpPr>
          <p:spPr bwMode="auto">
            <a:xfrm>
              <a:off x="1004" y="669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50" name="Line 48"/>
            <p:cNvSpPr>
              <a:spLocks noChangeShapeType="1"/>
            </p:cNvSpPr>
            <p:nvPr/>
          </p:nvSpPr>
          <p:spPr bwMode="auto">
            <a:xfrm>
              <a:off x="989" y="890"/>
              <a:ext cx="31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51" name="Line 49"/>
            <p:cNvSpPr>
              <a:spLocks noChangeShapeType="1"/>
            </p:cNvSpPr>
            <p:nvPr/>
          </p:nvSpPr>
          <p:spPr bwMode="auto">
            <a:xfrm>
              <a:off x="1291" y="913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52" name="Line 50"/>
            <p:cNvSpPr>
              <a:spLocks noChangeShapeType="1"/>
            </p:cNvSpPr>
            <p:nvPr/>
          </p:nvSpPr>
          <p:spPr bwMode="auto">
            <a:xfrm>
              <a:off x="1284" y="1134"/>
              <a:ext cx="47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725" name="Rectangle 53"/>
          <p:cNvSpPr>
            <a:spLocks noChangeArrowheads="1"/>
          </p:cNvSpPr>
          <p:nvPr/>
        </p:nvSpPr>
        <p:spPr bwMode="auto">
          <a:xfrm>
            <a:off x="5076825" y="457200"/>
            <a:ext cx="2484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0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对应的线性方程组为</a:t>
            </a:r>
          </a:p>
        </p:txBody>
      </p:sp>
      <p:graphicFrame>
        <p:nvGraphicFramePr>
          <p:cNvPr id="28726" name="Object 19"/>
          <p:cNvGraphicFramePr>
            <a:graphicFrameLocks noChangeAspect="1"/>
          </p:cNvGraphicFramePr>
          <p:nvPr/>
        </p:nvGraphicFramePr>
        <p:xfrm>
          <a:off x="5881688" y="1076325"/>
          <a:ext cx="1266825" cy="187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46" name="Equation" r:id="rId9" imgW="634725" imgH="939392" progId="">
                  <p:embed/>
                </p:oleObj>
              </mc:Choice>
              <mc:Fallback>
                <p:oleObj name="Equation" r:id="rId9" imgW="634725" imgH="939392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1688" y="1076325"/>
                        <a:ext cx="1266825" cy="187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7" name="Object 20"/>
          <p:cNvGraphicFramePr>
            <a:graphicFrameLocks noChangeAspect="1"/>
          </p:cNvGraphicFramePr>
          <p:nvPr/>
        </p:nvGraphicFramePr>
        <p:xfrm>
          <a:off x="4929188" y="504825"/>
          <a:ext cx="2476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47" name="Equation" r:id="rId11" imgW="164957" imgH="203024" progId="">
                  <p:embed/>
                </p:oleObj>
              </mc:Choice>
              <mc:Fallback>
                <p:oleObj name="Equation" r:id="rId11" imgW="164957" imgH="203024" progId="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9188" y="504825"/>
                        <a:ext cx="2476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6" name="Rectangle 24"/>
          <p:cNvSpPr>
            <a:spLocks noChangeArrowheads="1"/>
          </p:cNvSpPr>
          <p:nvPr/>
        </p:nvSpPr>
        <p:spPr bwMode="auto">
          <a:xfrm>
            <a:off x="457200" y="4352925"/>
            <a:ext cx="8164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                                                                       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从而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ij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都不出现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28733" name="Object 21"/>
          <p:cNvGraphicFramePr>
            <a:graphicFrameLocks noChangeAspect="1"/>
          </p:cNvGraphicFramePr>
          <p:nvPr/>
        </p:nvGraphicFramePr>
        <p:xfrm>
          <a:off x="2451100" y="433388"/>
          <a:ext cx="1447800" cy="272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48" name="Equation" r:id="rId13" imgW="965200" imgH="1816100" progId="">
                  <p:embed/>
                </p:oleObj>
              </mc:Choice>
              <mc:Fallback>
                <p:oleObj name="Equation" r:id="rId13" imgW="965200" imgH="1816100" progId="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433388"/>
                        <a:ext cx="1447800" cy="272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34" name="Object 22"/>
          <p:cNvGraphicFramePr>
            <a:graphicFrameLocks noChangeAspect="1"/>
          </p:cNvGraphicFramePr>
          <p:nvPr/>
        </p:nvGraphicFramePr>
        <p:xfrm>
          <a:off x="4051300" y="395288"/>
          <a:ext cx="1066800" cy="280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49" name="Equation" r:id="rId15" imgW="711200" imgH="1866900" progId="">
                  <p:embed/>
                </p:oleObj>
              </mc:Choice>
              <mc:Fallback>
                <p:oleObj name="Equation" r:id="rId15" imgW="711200" imgH="1866900" progId="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300" y="395288"/>
                        <a:ext cx="1066800" cy="280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矩形 49"/>
          <p:cNvSpPr/>
          <p:nvPr/>
        </p:nvSpPr>
        <p:spPr>
          <a:xfrm>
            <a:off x="6099175" y="1143000"/>
            <a:ext cx="1000125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099175" y="1571625"/>
            <a:ext cx="1000125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099175" y="2000250"/>
            <a:ext cx="1000125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099175" y="2428875"/>
            <a:ext cx="1000125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3" dur="500"/>
                                        <p:tgtEl>
                                          <p:spTgt spid="287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28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28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286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2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6" dur="500"/>
                                        <p:tgtEl>
                                          <p:spTgt spid="286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9" dur="500"/>
                                        <p:tgtEl>
                                          <p:spTgt spid="286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5" dur="500"/>
                                        <p:tgtEl>
                                          <p:spTgt spid="287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163 3.33333E-6 L -0.18177 0.00185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287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0700" y="9300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500"/>
                                        <p:tgtEl>
                                          <p:spTgt spid="2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5" grpId="1" animBg="1"/>
      <p:bldP spid="28704" grpId="0"/>
      <p:bldP spid="28692" grpId="0"/>
      <p:bldP spid="28674" grpId="0" build="p"/>
      <p:bldP spid="28693" grpId="0" animBg="1"/>
      <p:bldP spid="28694" grpId="0"/>
      <p:bldP spid="28698" grpId="0"/>
      <p:bldP spid="28725" grpId="0"/>
      <p:bldP spid="28696" grpId="0"/>
      <p:bldP spid="50" grpId="0" animBg="1"/>
      <p:bldP spid="51" grpId="0" animBg="1"/>
      <p:bldP spid="52" grpId="0" animBg="1"/>
      <p:bldP spid="5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06" name="Rectangle 34"/>
          <p:cNvSpPr>
            <a:spLocks noChangeArrowheads="1"/>
          </p:cNvSpPr>
          <p:nvPr/>
        </p:nvSpPr>
        <p:spPr bwMode="auto">
          <a:xfrm>
            <a:off x="2095500" y="433388"/>
            <a:ext cx="1512888" cy="266541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4343" name="Rectangle 71"/>
          <p:cNvSpPr>
            <a:spLocks noChangeArrowheads="1"/>
          </p:cNvSpPr>
          <p:nvPr/>
        </p:nvSpPr>
        <p:spPr bwMode="auto">
          <a:xfrm>
            <a:off x="725488" y="1801813"/>
            <a:ext cx="3473450" cy="12954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4302" name="Text Box 30"/>
          <p:cNvSpPr txBox="1">
            <a:spLocks noChangeArrowheads="1"/>
          </p:cNvSpPr>
          <p:nvPr/>
        </p:nvSpPr>
        <p:spPr bwMode="auto">
          <a:xfrm>
            <a:off x="869950" y="3284538"/>
            <a:ext cx="9620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前 </a:t>
            </a:r>
            <a:r>
              <a:rPr lang="en-US" altLang="zh-CN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列</a:t>
            </a:r>
          </a:p>
        </p:txBody>
      </p:sp>
      <p:graphicFrame>
        <p:nvGraphicFramePr>
          <p:cNvPr id="236546" name="Object 16"/>
          <p:cNvGraphicFramePr>
            <a:graphicFrameLocks noChangeAspect="1"/>
          </p:cNvGraphicFramePr>
          <p:nvPr/>
        </p:nvGraphicFramePr>
        <p:xfrm>
          <a:off x="2154238" y="404813"/>
          <a:ext cx="1447800" cy="272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63" name="Equation" r:id="rId3" imgW="965200" imgH="1816100" progId="">
                  <p:embed/>
                </p:oleObj>
              </mc:Choice>
              <mc:Fallback>
                <p:oleObj name="Equation" r:id="rId3" imgW="965200" imgH="181610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8" y="404813"/>
                        <a:ext cx="1447800" cy="2725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7" name="Object 17"/>
          <p:cNvGraphicFramePr>
            <a:graphicFrameLocks noChangeAspect="1"/>
          </p:cNvGraphicFramePr>
          <p:nvPr/>
        </p:nvGraphicFramePr>
        <p:xfrm>
          <a:off x="3824288" y="385763"/>
          <a:ext cx="933450" cy="280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64" name="Equation" r:id="rId5" imgW="622300" imgH="1866900" progId="">
                  <p:embed/>
                </p:oleObj>
              </mc:Choice>
              <mc:Fallback>
                <p:oleObj name="Equation" r:id="rId5" imgW="622300" imgH="1866900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4288" y="385763"/>
                        <a:ext cx="933450" cy="280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698500" y="730250"/>
            <a:ext cx="3521075" cy="1420813"/>
            <a:chOff x="1882" y="1032"/>
            <a:chExt cx="2218" cy="895"/>
          </a:xfrm>
        </p:grpSpPr>
        <p:sp>
          <p:nvSpPr>
            <p:cNvPr id="236580" name="Line 38"/>
            <p:cNvSpPr>
              <a:spLocks noChangeShapeType="1"/>
            </p:cNvSpPr>
            <p:nvPr/>
          </p:nvSpPr>
          <p:spPr bwMode="auto">
            <a:xfrm>
              <a:off x="1882" y="1044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81" name="Line 39"/>
            <p:cNvSpPr>
              <a:spLocks noChangeShapeType="1"/>
            </p:cNvSpPr>
            <p:nvPr/>
          </p:nvSpPr>
          <p:spPr bwMode="auto">
            <a:xfrm>
              <a:off x="2064" y="1032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82" name="Line 40"/>
            <p:cNvSpPr>
              <a:spLocks noChangeShapeType="1"/>
            </p:cNvSpPr>
            <p:nvPr/>
          </p:nvSpPr>
          <p:spPr bwMode="auto">
            <a:xfrm>
              <a:off x="2057" y="1253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83" name="Line 41"/>
            <p:cNvSpPr>
              <a:spLocks noChangeShapeType="1"/>
            </p:cNvSpPr>
            <p:nvPr/>
          </p:nvSpPr>
          <p:spPr bwMode="auto">
            <a:xfrm>
              <a:off x="2251" y="1241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84" name="Line 42"/>
            <p:cNvSpPr>
              <a:spLocks noChangeShapeType="1"/>
            </p:cNvSpPr>
            <p:nvPr/>
          </p:nvSpPr>
          <p:spPr bwMode="auto">
            <a:xfrm>
              <a:off x="2244" y="1462"/>
              <a:ext cx="29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85" name="Line 43"/>
            <p:cNvSpPr>
              <a:spLocks noChangeShapeType="1"/>
            </p:cNvSpPr>
            <p:nvPr/>
          </p:nvSpPr>
          <p:spPr bwMode="auto">
            <a:xfrm>
              <a:off x="2530" y="1485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86" name="Line 44"/>
            <p:cNvSpPr>
              <a:spLocks noChangeShapeType="1"/>
            </p:cNvSpPr>
            <p:nvPr/>
          </p:nvSpPr>
          <p:spPr bwMode="auto">
            <a:xfrm>
              <a:off x="2523" y="1706"/>
              <a:ext cx="124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87" name="Line 45"/>
            <p:cNvSpPr>
              <a:spLocks noChangeShapeType="1"/>
            </p:cNvSpPr>
            <p:nvPr/>
          </p:nvSpPr>
          <p:spPr bwMode="auto">
            <a:xfrm>
              <a:off x="3767" y="1700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88" name="Line 46"/>
            <p:cNvSpPr>
              <a:spLocks noChangeShapeType="1"/>
            </p:cNvSpPr>
            <p:nvPr/>
          </p:nvSpPr>
          <p:spPr bwMode="auto">
            <a:xfrm>
              <a:off x="3760" y="1921"/>
              <a:ext cx="34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54281" name="Object 18"/>
          <p:cNvGraphicFramePr>
            <a:graphicFrameLocks noChangeAspect="1"/>
          </p:cNvGraphicFramePr>
          <p:nvPr/>
        </p:nvGraphicFramePr>
        <p:xfrm>
          <a:off x="3763963" y="395288"/>
          <a:ext cx="1066800" cy="280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65" name="Equation" r:id="rId7" imgW="711200" imgH="1866900" progId="">
                  <p:embed/>
                </p:oleObj>
              </mc:Choice>
              <mc:Fallback>
                <p:oleObj name="Equation" r:id="rId7" imgW="711200" imgH="1866900" progId="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3963" y="395288"/>
                        <a:ext cx="1066800" cy="280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37" name="Text Box 65"/>
          <p:cNvSpPr txBox="1">
            <a:spLocks noChangeArrowheads="1"/>
          </p:cNvSpPr>
          <p:nvPr/>
        </p:nvSpPr>
        <p:spPr bwMode="auto">
          <a:xfrm>
            <a:off x="828675" y="3284538"/>
            <a:ext cx="1000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列</a:t>
            </a:r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457200" y="3860800"/>
            <a:ext cx="8229600" cy="144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第二步：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往证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      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唯一解．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故原线性方程组有唯一解．</a:t>
            </a:r>
          </a:p>
        </p:txBody>
      </p:sp>
      <p:sp>
        <p:nvSpPr>
          <p:cNvPr id="54301" name="Rectangle 29"/>
          <p:cNvSpPr>
            <a:spLocks noChangeArrowheads="1"/>
          </p:cNvSpPr>
          <p:nvPr/>
        </p:nvSpPr>
        <p:spPr bwMode="auto">
          <a:xfrm>
            <a:off x="457200" y="4357688"/>
            <a:ext cx="8164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                                                       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则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d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0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且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ij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都不出现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54277" name="Object 19"/>
          <p:cNvGraphicFramePr>
            <a:graphicFrameLocks noChangeAspect="1"/>
          </p:cNvGraphicFramePr>
          <p:nvPr/>
        </p:nvGraphicFramePr>
        <p:xfrm>
          <a:off x="5003800" y="4013200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66" name="Equation" r:id="rId9" imgW="203112" imgH="139639" progId="">
                  <p:embed/>
                </p:oleObj>
              </mc:Choice>
              <mc:Fallback>
                <p:oleObj name="Equation" r:id="rId9" imgW="203112" imgH="139639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4013200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490538" y="4357688"/>
            <a:ext cx="8164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                                    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即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endParaRPr kumimoji="1" lang="zh-CN" altLang="en-US" sz="24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36550" name="Object 20"/>
          <p:cNvGraphicFramePr>
            <a:graphicFrameLocks noChangeAspect="1"/>
          </p:cNvGraphicFramePr>
          <p:nvPr/>
        </p:nvGraphicFramePr>
        <p:xfrm>
          <a:off x="250825" y="385763"/>
          <a:ext cx="1771650" cy="276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67" name="Equation" r:id="rId11" imgW="1181100" imgH="1841500" progId="">
                  <p:embed/>
                </p:oleObj>
              </mc:Choice>
              <mc:Fallback>
                <p:oleObj name="Equation" r:id="rId11" imgW="1181100" imgH="1841500" progId="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85763"/>
                        <a:ext cx="1771650" cy="2763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61" name="AutoShape 24"/>
          <p:cNvSpPr>
            <a:spLocks/>
          </p:cNvSpPr>
          <p:nvPr/>
        </p:nvSpPr>
        <p:spPr bwMode="auto">
          <a:xfrm>
            <a:off x="4500563" y="549275"/>
            <a:ext cx="176212" cy="1150938"/>
          </a:xfrm>
          <a:prstGeom prst="rightBrace">
            <a:avLst>
              <a:gd name="adj1" fmla="val 5443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4297" name="Text Box 25"/>
          <p:cNvSpPr txBox="1">
            <a:spLocks noChangeArrowheads="1"/>
          </p:cNvSpPr>
          <p:nvPr/>
        </p:nvSpPr>
        <p:spPr bwMode="auto">
          <a:xfrm>
            <a:off x="4710113" y="941388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前</a:t>
            </a:r>
            <a:r>
              <a:rPr lang="zh-CN" altLang="en-US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行</a:t>
            </a:r>
          </a:p>
        </p:txBody>
      </p:sp>
      <p:sp>
        <p:nvSpPr>
          <p:cNvPr id="236563" name="AutoShape 26"/>
          <p:cNvSpPr>
            <a:spLocks/>
          </p:cNvSpPr>
          <p:nvPr/>
        </p:nvSpPr>
        <p:spPr bwMode="auto">
          <a:xfrm>
            <a:off x="4500563" y="1901825"/>
            <a:ext cx="176212" cy="1150938"/>
          </a:xfrm>
          <a:prstGeom prst="rightBrace">
            <a:avLst>
              <a:gd name="adj1" fmla="val 5443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4299" name="Text Box 27"/>
          <p:cNvSpPr txBox="1">
            <a:spLocks noChangeArrowheads="1"/>
          </p:cNvSpPr>
          <p:nvPr/>
        </p:nvSpPr>
        <p:spPr bwMode="auto">
          <a:xfrm>
            <a:off x="4710113" y="2293938"/>
            <a:ext cx="12636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后</a:t>
            </a:r>
            <a:r>
              <a:rPr lang="zh-CN" altLang="en-US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en-US" altLang="en-US" b="1">
                <a:solidFill>
                  <a:srgbClr val="000000"/>
                </a:solidFill>
                <a:latin typeface="Arial" charset="0"/>
              </a:rPr>
              <a:t>－</a:t>
            </a:r>
            <a:r>
              <a:rPr lang="en-US" altLang="zh-CN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行</a:t>
            </a:r>
          </a:p>
        </p:txBody>
      </p:sp>
      <p:sp>
        <p:nvSpPr>
          <p:cNvPr id="236565" name="AutoShape 31"/>
          <p:cNvSpPr>
            <a:spLocks/>
          </p:cNvSpPr>
          <p:nvPr/>
        </p:nvSpPr>
        <p:spPr bwMode="auto">
          <a:xfrm rot="-5400000">
            <a:off x="1257300" y="2727326"/>
            <a:ext cx="179387" cy="1008062"/>
          </a:xfrm>
          <a:prstGeom prst="leftBrace">
            <a:avLst>
              <a:gd name="adj1" fmla="val 4682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36566" name="AutoShape 32"/>
          <p:cNvSpPr>
            <a:spLocks/>
          </p:cNvSpPr>
          <p:nvPr/>
        </p:nvSpPr>
        <p:spPr bwMode="auto">
          <a:xfrm rot="-5400000">
            <a:off x="2725738" y="2727325"/>
            <a:ext cx="179387" cy="1008063"/>
          </a:xfrm>
          <a:prstGeom prst="leftBrace">
            <a:avLst>
              <a:gd name="adj1" fmla="val 4682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3" name="Group 57"/>
          <p:cNvGrpSpPr>
            <a:grpSpLocks/>
          </p:cNvGrpSpPr>
          <p:nvPr/>
        </p:nvGrpSpPr>
        <p:grpSpPr bwMode="auto">
          <a:xfrm>
            <a:off x="684213" y="730250"/>
            <a:ext cx="3536950" cy="1079500"/>
            <a:chOff x="639" y="460"/>
            <a:chExt cx="2228" cy="680"/>
          </a:xfrm>
        </p:grpSpPr>
        <p:sp>
          <p:nvSpPr>
            <p:cNvPr id="236573" name="Line 58"/>
            <p:cNvSpPr>
              <a:spLocks noChangeShapeType="1"/>
            </p:cNvSpPr>
            <p:nvPr/>
          </p:nvSpPr>
          <p:spPr bwMode="auto">
            <a:xfrm>
              <a:off x="639" y="472"/>
              <a:ext cx="18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74" name="Line 59"/>
            <p:cNvSpPr>
              <a:spLocks noChangeShapeType="1"/>
            </p:cNvSpPr>
            <p:nvPr/>
          </p:nvSpPr>
          <p:spPr bwMode="auto">
            <a:xfrm>
              <a:off x="821" y="460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75" name="Line 60"/>
            <p:cNvSpPr>
              <a:spLocks noChangeShapeType="1"/>
            </p:cNvSpPr>
            <p:nvPr/>
          </p:nvSpPr>
          <p:spPr bwMode="auto">
            <a:xfrm>
              <a:off x="814" y="681"/>
              <a:ext cx="18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76" name="Line 61"/>
            <p:cNvSpPr>
              <a:spLocks noChangeShapeType="1"/>
            </p:cNvSpPr>
            <p:nvPr/>
          </p:nvSpPr>
          <p:spPr bwMode="auto">
            <a:xfrm>
              <a:off x="1008" y="669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77" name="Line 62"/>
            <p:cNvSpPr>
              <a:spLocks noChangeShapeType="1"/>
            </p:cNvSpPr>
            <p:nvPr/>
          </p:nvSpPr>
          <p:spPr bwMode="auto">
            <a:xfrm>
              <a:off x="1001" y="890"/>
              <a:ext cx="29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78" name="Line 63"/>
            <p:cNvSpPr>
              <a:spLocks noChangeShapeType="1"/>
            </p:cNvSpPr>
            <p:nvPr/>
          </p:nvSpPr>
          <p:spPr bwMode="auto">
            <a:xfrm>
              <a:off x="1287" y="913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79" name="Line 64"/>
            <p:cNvSpPr>
              <a:spLocks noChangeShapeType="1"/>
            </p:cNvSpPr>
            <p:nvPr/>
          </p:nvSpPr>
          <p:spPr bwMode="auto">
            <a:xfrm>
              <a:off x="1280" y="1134"/>
              <a:ext cx="158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6568" name="Text Box 33"/>
          <p:cNvSpPr txBox="1">
            <a:spLocks noChangeArrowheads="1"/>
          </p:cNvSpPr>
          <p:nvPr/>
        </p:nvSpPr>
        <p:spPr bwMode="auto">
          <a:xfrm>
            <a:off x="2173288" y="3284538"/>
            <a:ext cx="12795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后 </a:t>
            </a:r>
            <a:r>
              <a:rPr lang="en-US" altLang="zh-CN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- </a:t>
            </a:r>
            <a:r>
              <a:rPr lang="en-US" altLang="zh-CN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列  </a:t>
            </a:r>
          </a:p>
        </p:txBody>
      </p:sp>
      <p:sp>
        <p:nvSpPr>
          <p:cNvPr id="54338" name="Text Box 66"/>
          <p:cNvSpPr txBox="1">
            <a:spLocks noChangeArrowheads="1"/>
          </p:cNvSpPr>
          <p:nvPr/>
        </p:nvSpPr>
        <p:spPr bwMode="auto">
          <a:xfrm>
            <a:off x="4833938" y="941388"/>
            <a:ext cx="596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行</a:t>
            </a:r>
          </a:p>
        </p:txBody>
      </p:sp>
      <p:graphicFrame>
        <p:nvGraphicFramePr>
          <p:cNvPr id="54340" name="Object 21"/>
          <p:cNvGraphicFramePr>
            <a:graphicFrameLocks noChangeAspect="1"/>
          </p:cNvGraphicFramePr>
          <p:nvPr/>
        </p:nvGraphicFramePr>
        <p:xfrm>
          <a:off x="6438900" y="404813"/>
          <a:ext cx="1924050" cy="1411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68" name="Equation" r:id="rId13" imgW="1282700" imgH="939800" progId="">
                  <p:embed/>
                </p:oleObj>
              </mc:Choice>
              <mc:Fallback>
                <p:oleObj name="Equation" r:id="rId13" imgW="1282700" imgH="939800" progId="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8900" y="404813"/>
                        <a:ext cx="1924050" cy="1411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41" name="Rectangle 69"/>
          <p:cNvSpPr>
            <a:spLocks noChangeArrowheads="1"/>
          </p:cNvSpPr>
          <p:nvPr/>
        </p:nvSpPr>
        <p:spPr bwMode="auto">
          <a:xfrm>
            <a:off x="5981700" y="1916113"/>
            <a:ext cx="2470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0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对应的线性方程组为</a:t>
            </a:r>
          </a:p>
        </p:txBody>
      </p:sp>
      <p:graphicFrame>
        <p:nvGraphicFramePr>
          <p:cNvPr id="54342" name="Object 22"/>
          <p:cNvGraphicFramePr>
            <a:graphicFrameLocks noChangeAspect="1"/>
          </p:cNvGraphicFramePr>
          <p:nvPr/>
        </p:nvGraphicFramePr>
        <p:xfrm>
          <a:off x="6742113" y="2395538"/>
          <a:ext cx="949325" cy="140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69" name="Equation" r:id="rId15" imgW="634725" imgH="939392" progId="">
                  <p:embed/>
                </p:oleObj>
              </mc:Choice>
              <mc:Fallback>
                <p:oleObj name="Equation" r:id="rId15" imgW="634725" imgH="939392" progId="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2113" y="2395538"/>
                        <a:ext cx="949325" cy="1406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 Box 66"/>
          <p:cNvSpPr txBox="1">
            <a:spLocks noChangeArrowheads="1"/>
          </p:cNvSpPr>
          <p:nvPr/>
        </p:nvSpPr>
        <p:spPr bwMode="auto">
          <a:xfrm>
            <a:off x="4710113" y="2293938"/>
            <a:ext cx="13017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后</a:t>
            </a:r>
            <a:r>
              <a:rPr lang="zh-CN" altLang="en-US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en-US" altLang="en-US" b="1">
                <a:solidFill>
                  <a:srgbClr val="FF0000"/>
                </a:solidFill>
                <a:latin typeface="Arial" charset="0"/>
              </a:rPr>
              <a:t>－</a:t>
            </a:r>
            <a:r>
              <a:rPr lang="en-US" altLang="zh-CN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行</a:t>
            </a:r>
          </a:p>
        </p:txBody>
      </p:sp>
      <p:cxnSp>
        <p:nvCxnSpPr>
          <p:cNvPr id="47" name="直接连接符 46"/>
          <p:cNvCxnSpPr/>
          <p:nvPr/>
        </p:nvCxnSpPr>
        <p:spPr>
          <a:xfrm rot="5400000">
            <a:off x="7194550" y="1106488"/>
            <a:ext cx="1357313" cy="1587"/>
          </a:xfrm>
          <a:prstGeom prst="line">
            <a:avLst/>
          </a:prstGeom>
          <a:ln w="28575">
            <a:solidFill>
              <a:srgbClr val="33CC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4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vertical)">
                                      <p:cBhvr>
                                        <p:cTn id="24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54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54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54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543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 decel="100000"/>
                                        <p:tgtEl>
                                          <p:spTgt spid="543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543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decel="100000" fill="hold"/>
                                        <p:tgtEl>
                                          <p:spTgt spid="54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0" decel="100000" fill="hold"/>
                                        <p:tgtEl>
                                          <p:spTgt spid="54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4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4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9" dur="1000"/>
                                        <p:tgtEl>
                                          <p:spTgt spid="54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4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54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54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1000"/>
                                        <p:tgtEl>
                                          <p:spTgt spid="542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800" decel="100000"/>
                                        <p:tgtEl>
                                          <p:spTgt spid="543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800" decel="100000" fill="hold"/>
                                        <p:tgtEl>
                                          <p:spTgt spid="543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800" decel="100000" fill="hold"/>
                                        <p:tgtEl>
                                          <p:spTgt spid="5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00" decel="100000" fill="hold"/>
                                        <p:tgtEl>
                                          <p:spTgt spid="5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54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/>
                                        <p:tgtEl>
                                          <p:spTgt spid="54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6" dur="1000"/>
                                        <p:tgtEl>
                                          <p:spTgt spid="542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9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800" decel="100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8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8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8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1" dur="1000"/>
                                        <p:tgtEl>
                                          <p:spTgt spid="5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6" dur="500"/>
                                        <p:tgtEl>
                                          <p:spTgt spid="5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5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0" dur="500"/>
                                        <p:tgtEl>
                                          <p:spTgt spid="5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06" grpId="0" animBg="1"/>
      <p:bldP spid="54343" grpId="0" animBg="1"/>
      <p:bldP spid="54302" grpId="0"/>
      <p:bldP spid="54276" grpId="0" build="p"/>
      <p:bldP spid="54301" grpId="0"/>
      <p:bldP spid="54278" grpId="0"/>
      <p:bldP spid="54297" grpId="0"/>
      <p:bldP spid="54299" grpId="0"/>
      <p:bldP spid="54338" grpId="0"/>
      <p:bldP spid="54341" grpId="0"/>
      <p:bldP spid="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457200" y="3860800"/>
            <a:ext cx="8229600" cy="145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第三步：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证明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&lt;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      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无穷多解</a:t>
            </a:r>
            <a:r>
              <a:rPr kumimoji="1"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&lt;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   对应的线性方程组为</a:t>
            </a:r>
          </a:p>
        </p:txBody>
      </p:sp>
      <p:graphicFrame>
        <p:nvGraphicFramePr>
          <p:cNvPr id="32774" name="Object 10"/>
          <p:cNvGraphicFramePr>
            <a:graphicFrameLocks noChangeAspect="1"/>
          </p:cNvGraphicFramePr>
          <p:nvPr/>
        </p:nvGraphicFramePr>
        <p:xfrm>
          <a:off x="5003800" y="4013200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50" name="Equation" r:id="rId3" imgW="203112" imgH="139639" progId="">
                  <p:embed/>
                </p:oleObj>
              </mc:Choice>
              <mc:Fallback>
                <p:oleObj name="Equation" r:id="rId3" imgW="203112" imgH="139639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4013200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014413" y="730250"/>
            <a:ext cx="3536950" cy="1079500"/>
            <a:chOff x="639" y="460"/>
            <a:chExt cx="2228" cy="680"/>
          </a:xfrm>
        </p:grpSpPr>
        <p:sp>
          <p:nvSpPr>
            <p:cNvPr id="237586" name="Line 8"/>
            <p:cNvSpPr>
              <a:spLocks noChangeShapeType="1"/>
            </p:cNvSpPr>
            <p:nvPr/>
          </p:nvSpPr>
          <p:spPr bwMode="auto">
            <a:xfrm>
              <a:off x="639" y="472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587" name="Line 9"/>
            <p:cNvSpPr>
              <a:spLocks noChangeShapeType="1"/>
            </p:cNvSpPr>
            <p:nvPr/>
          </p:nvSpPr>
          <p:spPr bwMode="auto">
            <a:xfrm>
              <a:off x="821" y="460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588" name="Line 10"/>
            <p:cNvSpPr>
              <a:spLocks noChangeShapeType="1"/>
            </p:cNvSpPr>
            <p:nvPr/>
          </p:nvSpPr>
          <p:spPr bwMode="auto">
            <a:xfrm>
              <a:off x="814" y="681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589" name="Line 11"/>
            <p:cNvSpPr>
              <a:spLocks noChangeShapeType="1"/>
            </p:cNvSpPr>
            <p:nvPr/>
          </p:nvSpPr>
          <p:spPr bwMode="auto">
            <a:xfrm>
              <a:off x="1008" y="669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590" name="Line 12"/>
            <p:cNvSpPr>
              <a:spLocks noChangeShapeType="1"/>
            </p:cNvSpPr>
            <p:nvPr/>
          </p:nvSpPr>
          <p:spPr bwMode="auto">
            <a:xfrm>
              <a:off x="1001" y="890"/>
              <a:ext cx="29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591" name="Line 13"/>
            <p:cNvSpPr>
              <a:spLocks noChangeShapeType="1"/>
            </p:cNvSpPr>
            <p:nvPr/>
          </p:nvSpPr>
          <p:spPr bwMode="auto">
            <a:xfrm>
              <a:off x="1287" y="913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592" name="Line 14"/>
            <p:cNvSpPr>
              <a:spLocks noChangeShapeType="1"/>
            </p:cNvSpPr>
            <p:nvPr/>
          </p:nvSpPr>
          <p:spPr bwMode="auto">
            <a:xfrm>
              <a:off x="1280" y="1134"/>
              <a:ext cx="158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7576" name="AutoShape 15"/>
          <p:cNvSpPr>
            <a:spLocks/>
          </p:cNvSpPr>
          <p:nvPr/>
        </p:nvSpPr>
        <p:spPr bwMode="auto">
          <a:xfrm rot="-5400000">
            <a:off x="1573213" y="2727325"/>
            <a:ext cx="179387" cy="1008063"/>
          </a:xfrm>
          <a:prstGeom prst="leftBrace">
            <a:avLst>
              <a:gd name="adj1" fmla="val 4682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37577" name="Text Box 16"/>
          <p:cNvSpPr txBox="1">
            <a:spLocks noChangeArrowheads="1"/>
          </p:cNvSpPr>
          <p:nvPr/>
        </p:nvSpPr>
        <p:spPr bwMode="auto">
          <a:xfrm>
            <a:off x="1196975" y="3284538"/>
            <a:ext cx="9048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前 </a:t>
            </a:r>
            <a:r>
              <a:rPr lang="en-US" altLang="zh-CN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列 </a:t>
            </a:r>
          </a:p>
        </p:txBody>
      </p:sp>
      <p:sp>
        <p:nvSpPr>
          <p:cNvPr id="237578" name="AutoShape 17"/>
          <p:cNvSpPr>
            <a:spLocks/>
          </p:cNvSpPr>
          <p:nvPr/>
        </p:nvSpPr>
        <p:spPr bwMode="auto">
          <a:xfrm rot="-5400000">
            <a:off x="3041650" y="2727326"/>
            <a:ext cx="179387" cy="1008062"/>
          </a:xfrm>
          <a:prstGeom prst="leftBrace">
            <a:avLst>
              <a:gd name="adj1" fmla="val 4682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2786" name="Rectangle 18"/>
          <p:cNvSpPr>
            <a:spLocks noChangeArrowheads="1"/>
          </p:cNvSpPr>
          <p:nvPr/>
        </p:nvSpPr>
        <p:spPr bwMode="auto">
          <a:xfrm>
            <a:off x="457200" y="4411663"/>
            <a:ext cx="8164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                                                       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则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d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0 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237580" name="Text Box 19"/>
          <p:cNvSpPr txBox="1">
            <a:spLocks noChangeArrowheads="1"/>
          </p:cNvSpPr>
          <p:nvPr/>
        </p:nvSpPr>
        <p:spPr bwMode="auto">
          <a:xfrm>
            <a:off x="2500313" y="3284538"/>
            <a:ext cx="12223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后 </a:t>
            </a:r>
            <a:r>
              <a:rPr lang="en-US" altLang="zh-CN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- </a:t>
            </a:r>
            <a:r>
              <a:rPr lang="en-US" altLang="zh-CN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列 </a:t>
            </a:r>
          </a:p>
        </p:txBody>
      </p:sp>
      <p:sp>
        <p:nvSpPr>
          <p:cNvPr id="32788" name="Rectangle 20"/>
          <p:cNvSpPr>
            <a:spLocks noChangeArrowheads="1"/>
          </p:cNvSpPr>
          <p:nvPr/>
        </p:nvSpPr>
        <p:spPr bwMode="auto">
          <a:xfrm>
            <a:off x="490538" y="4411663"/>
            <a:ext cx="8164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                                     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即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&lt;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   </a:t>
            </a:r>
            <a:endParaRPr kumimoji="1" lang="zh-CN" altLang="en-US" sz="24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37571" name="Object 11"/>
          <p:cNvGraphicFramePr>
            <a:graphicFrameLocks noChangeAspect="1"/>
          </p:cNvGraphicFramePr>
          <p:nvPr/>
        </p:nvGraphicFramePr>
        <p:xfrm>
          <a:off x="561975" y="404813"/>
          <a:ext cx="4572000" cy="280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51" name="Equation" r:id="rId5" imgW="3048000" imgH="1866900" progId="">
                  <p:embed/>
                </p:oleObj>
              </mc:Choice>
              <mc:Fallback>
                <p:oleObj name="Equation" r:id="rId5" imgW="3048000" imgH="1866900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" y="404813"/>
                        <a:ext cx="4572000" cy="280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16" name="Object 12"/>
          <p:cNvGraphicFramePr>
            <a:graphicFrameLocks noChangeAspect="1"/>
          </p:cNvGraphicFramePr>
          <p:nvPr/>
        </p:nvGraphicFramePr>
        <p:xfrm>
          <a:off x="4000500" y="4967288"/>
          <a:ext cx="4602163" cy="170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52" name="Equation" r:id="rId7" imgW="2565400" imgH="952500" progId="">
                  <p:embed/>
                </p:oleObj>
              </mc:Choice>
              <mc:Fallback>
                <p:oleObj name="Equation" r:id="rId7" imgW="2565400" imgH="95250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4967288"/>
                        <a:ext cx="4602163" cy="170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17" name="Object 13"/>
          <p:cNvGraphicFramePr>
            <a:graphicFrameLocks noChangeAspect="1"/>
          </p:cNvGraphicFramePr>
          <p:nvPr/>
        </p:nvGraphicFramePr>
        <p:xfrm>
          <a:off x="571500" y="4786313"/>
          <a:ext cx="33178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53" name="Equation" r:id="rId9" imgW="164957" imgH="203024" progId="">
                  <p:embed/>
                </p:oleObj>
              </mc:Choice>
              <mc:Fallback>
                <p:oleObj name="Equation" r:id="rId9" imgW="164957" imgH="203024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4786313"/>
                        <a:ext cx="331788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/>
          <p:cNvSpPr/>
          <p:nvPr/>
        </p:nvSpPr>
        <p:spPr>
          <a:xfrm>
            <a:off x="4214813" y="5000625"/>
            <a:ext cx="4572000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214813" y="5429250"/>
            <a:ext cx="4572000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14813" y="5857875"/>
            <a:ext cx="4572000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214813" y="6286500"/>
            <a:ext cx="4572000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7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2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27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2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 build="p"/>
      <p:bldP spid="32786" grpId="0"/>
      <p:bldP spid="32788" grpId="0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8594" name="Object 10"/>
          <p:cNvGraphicFramePr>
            <a:graphicFrameLocks noChangeAspect="1"/>
          </p:cNvGraphicFramePr>
          <p:nvPr/>
        </p:nvGraphicFramePr>
        <p:xfrm>
          <a:off x="2646363" y="404813"/>
          <a:ext cx="3846512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60" name="Equation" r:id="rId3" imgW="2565400" imgH="952500" progId="">
                  <p:embed/>
                </p:oleObj>
              </mc:Choice>
              <mc:Fallback>
                <p:oleObj name="Equation" r:id="rId3" imgW="2565400" imgH="95250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6363" y="404813"/>
                        <a:ext cx="3846512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11"/>
          <p:cNvGraphicFramePr>
            <a:graphicFrameLocks noChangeAspect="1"/>
          </p:cNvGraphicFramePr>
          <p:nvPr/>
        </p:nvGraphicFramePr>
        <p:xfrm>
          <a:off x="2981325" y="2470150"/>
          <a:ext cx="3198813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61" name="Equation" r:id="rId5" imgW="2133600" imgH="952500" progId="">
                  <p:embed/>
                </p:oleObj>
              </mc:Choice>
              <mc:Fallback>
                <p:oleObj name="Equation" r:id="rId5" imgW="2133600" imgH="952500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1325" y="2470150"/>
                        <a:ext cx="3198813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490538" y="1920875"/>
            <a:ext cx="418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令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作自由变量，则 </a:t>
            </a:r>
          </a:p>
        </p:txBody>
      </p:sp>
      <p:sp>
        <p:nvSpPr>
          <p:cNvPr id="34823" name="Rectangle 7"/>
          <p:cNvSpPr>
            <a:spLocks noChangeArrowheads="1"/>
          </p:cNvSpPr>
          <p:nvPr/>
        </p:nvSpPr>
        <p:spPr bwMode="auto">
          <a:xfrm>
            <a:off x="490538" y="3987800"/>
            <a:ext cx="5611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再令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+2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 …, 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n-r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，则 </a:t>
            </a:r>
          </a:p>
        </p:txBody>
      </p:sp>
      <p:graphicFrame>
        <p:nvGraphicFramePr>
          <p:cNvPr id="34824" name="Object 12"/>
          <p:cNvGraphicFramePr>
            <a:graphicFrameLocks noChangeAspect="1"/>
          </p:cNvGraphicFramePr>
          <p:nvPr/>
        </p:nvGraphicFramePr>
        <p:xfrm>
          <a:off x="993775" y="4537075"/>
          <a:ext cx="3541713" cy="209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62" name="Equation" r:id="rId7" imgW="2362200" imgH="1397000" progId="">
                  <p:embed/>
                </p:oleObj>
              </mc:Choice>
              <mc:Fallback>
                <p:oleObj name="Equation" r:id="rId7" imgW="2362200" imgH="139700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4537075"/>
                        <a:ext cx="3541713" cy="209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Object 13"/>
          <p:cNvGraphicFramePr>
            <a:graphicFrameLocks noChangeAspect="1"/>
          </p:cNvGraphicFramePr>
          <p:nvPr/>
        </p:nvGraphicFramePr>
        <p:xfrm>
          <a:off x="4529138" y="4546600"/>
          <a:ext cx="3579812" cy="207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63" name="Equation" r:id="rId9" imgW="2387600" imgH="1384300" progId="">
                  <p:embed/>
                </p:oleObj>
              </mc:Choice>
              <mc:Fallback>
                <p:oleObj name="Equation" r:id="rId9" imgW="2387600" imgH="138430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9138" y="4546600"/>
                        <a:ext cx="3579812" cy="207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6" name="AutoShape 10"/>
          <p:cNvSpPr>
            <a:spLocks noChangeArrowheads="1"/>
          </p:cNvSpPr>
          <p:nvPr/>
        </p:nvSpPr>
        <p:spPr bwMode="auto">
          <a:xfrm>
            <a:off x="6804025" y="3141663"/>
            <a:ext cx="2232025" cy="1079500"/>
          </a:xfrm>
          <a:prstGeom prst="cloudCallout">
            <a:avLst>
              <a:gd name="adj1" fmla="val -56755"/>
              <a:gd name="adj2" fmla="val 75296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b="1">
                <a:solidFill>
                  <a:srgbClr val="000000"/>
                </a:solidFill>
                <a:latin typeface="Arial" charset="0"/>
                <a:ea typeface="楷体_GB2312" pitchFamily="49" charset="-122"/>
              </a:rPr>
              <a:t>线性方程组的通解</a:t>
            </a:r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2484438" y="4076700"/>
            <a:ext cx="1295400" cy="3603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3762375" y="4076700"/>
            <a:ext cx="2217738" cy="3603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2" grpId="0"/>
      <p:bldP spid="34823" grpId="0"/>
      <p:bldP spid="34826" grpId="0" animBg="1"/>
      <p:bldP spid="8202" grpId="0" animBg="1"/>
      <p:bldP spid="820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20" name="Rectangle 17"/>
          <p:cNvSpPr>
            <a:spLocks noChangeArrowheads="1"/>
          </p:cNvSpPr>
          <p:nvPr/>
        </p:nvSpPr>
        <p:spPr bwMode="auto">
          <a:xfrm>
            <a:off x="457200" y="53340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求解非齐次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线性方程组</a:t>
            </a:r>
          </a:p>
        </p:txBody>
      </p:sp>
      <p:graphicFrame>
        <p:nvGraphicFramePr>
          <p:cNvPr id="239618" name="Object 6"/>
          <p:cNvGraphicFramePr>
            <a:graphicFrameLocks noChangeAspect="1"/>
          </p:cNvGraphicFramePr>
          <p:nvPr/>
        </p:nvGraphicFramePr>
        <p:xfrm>
          <a:off x="2827338" y="1003300"/>
          <a:ext cx="3459162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09" name="Equation" r:id="rId4" imgW="1727200" imgH="939800" progId="">
                  <p:embed/>
                </p:oleObj>
              </mc:Choice>
              <mc:Fallback>
                <p:oleObj name="Equation" r:id="rId4" imgW="1727200" imgH="9398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7338" y="1003300"/>
                        <a:ext cx="3459162" cy="188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5" name="Object 7"/>
          <p:cNvGraphicFramePr>
            <a:graphicFrameLocks noChangeAspect="1"/>
          </p:cNvGraphicFramePr>
          <p:nvPr/>
        </p:nvGraphicFramePr>
        <p:xfrm>
          <a:off x="1165225" y="3330575"/>
          <a:ext cx="6143625" cy="185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10" name="Equation" r:id="rId6" imgW="3073400" imgH="927100" progId="">
                  <p:embed/>
                </p:oleObj>
              </mc:Choice>
              <mc:Fallback>
                <p:oleObj name="Equation" r:id="rId6" imgW="3073400" imgH="9271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5225" y="3330575"/>
                        <a:ext cx="6143625" cy="185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6" name="Rectangle 20"/>
          <p:cNvSpPr>
            <a:spLocks noChangeArrowheads="1"/>
          </p:cNvSpPr>
          <p:nvPr/>
        </p:nvSpPr>
        <p:spPr bwMode="auto">
          <a:xfrm>
            <a:off x="500063" y="4049713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解：</a:t>
            </a:r>
            <a:endParaRPr kumimoji="1"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29720" name="Rectangle 24"/>
          <p:cNvSpPr>
            <a:spLocks noChangeArrowheads="1"/>
          </p:cNvSpPr>
          <p:nvPr/>
        </p:nvSpPr>
        <p:spPr bwMode="auto">
          <a:xfrm>
            <a:off x="457200" y="5229225"/>
            <a:ext cx="82296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3 &lt; 4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，故原线性方程组有无穷多解．</a:t>
            </a:r>
          </a:p>
        </p:txBody>
      </p:sp>
      <p:grpSp>
        <p:nvGrpSpPr>
          <p:cNvPr id="2" name="Group 34"/>
          <p:cNvGrpSpPr>
            <a:grpSpLocks noChangeAspect="1"/>
          </p:cNvGrpSpPr>
          <p:nvPr/>
        </p:nvGrpSpPr>
        <p:grpSpPr bwMode="auto">
          <a:xfrm>
            <a:off x="4816475" y="3787775"/>
            <a:ext cx="2349500" cy="925513"/>
            <a:chOff x="192" y="712"/>
            <a:chExt cx="1728" cy="680"/>
          </a:xfrm>
        </p:grpSpPr>
        <p:sp>
          <p:nvSpPr>
            <p:cNvPr id="239625" name="Line 35"/>
            <p:cNvSpPr>
              <a:spLocks noChangeAspect="1" noChangeShapeType="1"/>
            </p:cNvSpPr>
            <p:nvPr/>
          </p:nvSpPr>
          <p:spPr bwMode="auto">
            <a:xfrm>
              <a:off x="192" y="712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626" name="Line 36"/>
            <p:cNvSpPr>
              <a:spLocks noChangeAspect="1" noChangeShapeType="1"/>
            </p:cNvSpPr>
            <p:nvPr/>
          </p:nvSpPr>
          <p:spPr bwMode="auto">
            <a:xfrm>
              <a:off x="480" y="720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627" name="Line 37"/>
            <p:cNvSpPr>
              <a:spLocks noChangeAspect="1" noChangeShapeType="1"/>
            </p:cNvSpPr>
            <p:nvPr/>
          </p:nvSpPr>
          <p:spPr bwMode="auto">
            <a:xfrm>
              <a:off x="480" y="1056"/>
              <a:ext cx="72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628" name="Line 38"/>
            <p:cNvSpPr>
              <a:spLocks noChangeAspect="1" noChangeShapeType="1"/>
            </p:cNvSpPr>
            <p:nvPr/>
          </p:nvSpPr>
          <p:spPr bwMode="auto">
            <a:xfrm>
              <a:off x="1200" y="1056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629" name="Line 39"/>
            <p:cNvSpPr>
              <a:spLocks noChangeAspect="1" noChangeShapeType="1"/>
            </p:cNvSpPr>
            <p:nvPr/>
          </p:nvSpPr>
          <p:spPr bwMode="auto">
            <a:xfrm>
              <a:off x="1200" y="1392"/>
              <a:ext cx="72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737" name="AutoShape 41">
            <a:hlinkClick r:id="rId8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172200"/>
            <a:ext cx="509588" cy="509588"/>
          </a:xfrm>
          <a:prstGeom prst="actionButtonInformation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97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7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6" grpId="0"/>
      <p:bldP spid="29720" grpId="0" build="p"/>
      <p:bldP spid="2973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0642" name="Object 6"/>
          <p:cNvGraphicFramePr>
            <a:graphicFrameLocks noChangeAspect="1"/>
          </p:cNvGraphicFramePr>
          <p:nvPr/>
        </p:nvGraphicFramePr>
        <p:xfrm>
          <a:off x="1452563" y="423863"/>
          <a:ext cx="6143625" cy="185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42" name="Equation" r:id="rId3" imgW="3073400" imgH="927100" progId="">
                  <p:embed/>
                </p:oleObj>
              </mc:Choice>
              <mc:Fallback>
                <p:oleObj name="Equation" r:id="rId3" imgW="3073400" imgH="9271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423863"/>
                        <a:ext cx="6143625" cy="185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0644" name="Rectangle 5"/>
          <p:cNvSpPr>
            <a:spLocks noChangeArrowheads="1"/>
          </p:cNvSpPr>
          <p:nvPr/>
        </p:nvSpPr>
        <p:spPr bwMode="auto">
          <a:xfrm>
            <a:off x="500063" y="114300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备注：</a:t>
            </a:r>
            <a:endParaRPr kumimoji="1"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pSp>
        <p:nvGrpSpPr>
          <p:cNvPr id="2" name="Group 6"/>
          <p:cNvGrpSpPr>
            <a:grpSpLocks noChangeAspect="1"/>
          </p:cNvGrpSpPr>
          <p:nvPr/>
        </p:nvGrpSpPr>
        <p:grpSpPr bwMode="auto">
          <a:xfrm>
            <a:off x="5103813" y="881063"/>
            <a:ext cx="2349500" cy="925512"/>
            <a:chOff x="192" y="712"/>
            <a:chExt cx="1728" cy="680"/>
          </a:xfrm>
        </p:grpSpPr>
        <p:sp>
          <p:nvSpPr>
            <p:cNvPr id="240658" name="Line 7"/>
            <p:cNvSpPr>
              <a:spLocks noChangeAspect="1" noChangeShapeType="1"/>
            </p:cNvSpPr>
            <p:nvPr/>
          </p:nvSpPr>
          <p:spPr bwMode="auto">
            <a:xfrm>
              <a:off x="192" y="712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659" name="Line 8"/>
            <p:cNvSpPr>
              <a:spLocks noChangeAspect="1" noChangeShapeType="1"/>
            </p:cNvSpPr>
            <p:nvPr/>
          </p:nvSpPr>
          <p:spPr bwMode="auto">
            <a:xfrm>
              <a:off x="480" y="720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660" name="Line 9"/>
            <p:cNvSpPr>
              <a:spLocks noChangeAspect="1" noChangeShapeType="1"/>
            </p:cNvSpPr>
            <p:nvPr/>
          </p:nvSpPr>
          <p:spPr bwMode="auto">
            <a:xfrm>
              <a:off x="480" y="1056"/>
              <a:ext cx="72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661" name="Line 10"/>
            <p:cNvSpPr>
              <a:spLocks noChangeAspect="1" noChangeShapeType="1"/>
            </p:cNvSpPr>
            <p:nvPr/>
          </p:nvSpPr>
          <p:spPr bwMode="auto">
            <a:xfrm>
              <a:off x="1200" y="1056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662" name="Line 11"/>
            <p:cNvSpPr>
              <a:spLocks noChangeAspect="1" noChangeShapeType="1"/>
            </p:cNvSpPr>
            <p:nvPr/>
          </p:nvSpPr>
          <p:spPr bwMode="auto">
            <a:xfrm>
              <a:off x="1200" y="1392"/>
              <a:ext cx="72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852" name="Rectangle 12"/>
          <p:cNvSpPr>
            <a:spLocks noChangeArrowheads="1"/>
          </p:cNvSpPr>
          <p:nvPr/>
        </p:nvSpPr>
        <p:spPr bwMode="auto">
          <a:xfrm>
            <a:off x="5032375" y="508000"/>
            <a:ext cx="1439863" cy="12954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graphicFrame>
        <p:nvGraphicFramePr>
          <p:cNvPr id="35853" name="Object 7"/>
          <p:cNvGraphicFramePr>
            <a:graphicFrameLocks noChangeAspect="1"/>
          </p:cNvGraphicFramePr>
          <p:nvPr/>
        </p:nvGraphicFramePr>
        <p:xfrm>
          <a:off x="561975" y="3257550"/>
          <a:ext cx="3505200" cy="276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43" name="Equation" r:id="rId5" imgW="2336800" imgH="1841500" progId="">
                  <p:embed/>
                </p:oleObj>
              </mc:Choice>
              <mc:Fallback>
                <p:oleObj name="Equation" r:id="rId5" imgW="2336800" imgH="18415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" y="3257550"/>
                        <a:ext cx="3505200" cy="2763838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4" name="Rectangle 14"/>
          <p:cNvSpPr>
            <a:spLocks noChangeArrowheads="1"/>
          </p:cNvSpPr>
          <p:nvPr/>
        </p:nvSpPr>
        <p:spPr bwMode="auto">
          <a:xfrm>
            <a:off x="596900" y="3241675"/>
            <a:ext cx="1366838" cy="140335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3" name="Group 15"/>
          <p:cNvGrpSpPr>
            <a:grpSpLocks noChangeAspect="1"/>
          </p:cNvGrpSpPr>
          <p:nvPr/>
        </p:nvGrpSpPr>
        <p:grpSpPr bwMode="auto">
          <a:xfrm>
            <a:off x="635000" y="3627438"/>
            <a:ext cx="3360738" cy="1025525"/>
            <a:chOff x="639" y="460"/>
            <a:chExt cx="2228" cy="680"/>
          </a:xfrm>
        </p:grpSpPr>
        <p:sp>
          <p:nvSpPr>
            <p:cNvPr id="240651" name="Line 16"/>
            <p:cNvSpPr>
              <a:spLocks noChangeAspect="1" noChangeShapeType="1"/>
            </p:cNvSpPr>
            <p:nvPr/>
          </p:nvSpPr>
          <p:spPr bwMode="auto">
            <a:xfrm>
              <a:off x="639" y="472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652" name="Line 17"/>
            <p:cNvSpPr>
              <a:spLocks noChangeAspect="1" noChangeShapeType="1"/>
            </p:cNvSpPr>
            <p:nvPr/>
          </p:nvSpPr>
          <p:spPr bwMode="auto">
            <a:xfrm>
              <a:off x="821" y="460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653" name="Line 18"/>
            <p:cNvSpPr>
              <a:spLocks noChangeAspect="1" noChangeShapeType="1"/>
            </p:cNvSpPr>
            <p:nvPr/>
          </p:nvSpPr>
          <p:spPr bwMode="auto">
            <a:xfrm>
              <a:off x="814" y="681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654" name="Line 19"/>
            <p:cNvSpPr>
              <a:spLocks noChangeAspect="1" noChangeShapeType="1"/>
            </p:cNvSpPr>
            <p:nvPr/>
          </p:nvSpPr>
          <p:spPr bwMode="auto">
            <a:xfrm>
              <a:off x="1008" y="669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655" name="Line 20"/>
            <p:cNvSpPr>
              <a:spLocks noChangeAspect="1" noChangeShapeType="1"/>
            </p:cNvSpPr>
            <p:nvPr/>
          </p:nvSpPr>
          <p:spPr bwMode="auto">
            <a:xfrm>
              <a:off x="1001" y="890"/>
              <a:ext cx="29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656" name="Line 21"/>
            <p:cNvSpPr>
              <a:spLocks noChangeAspect="1" noChangeShapeType="1"/>
            </p:cNvSpPr>
            <p:nvPr/>
          </p:nvSpPr>
          <p:spPr bwMode="auto">
            <a:xfrm>
              <a:off x="1287" y="913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657" name="Line 22"/>
            <p:cNvSpPr>
              <a:spLocks noChangeAspect="1" noChangeShapeType="1"/>
            </p:cNvSpPr>
            <p:nvPr/>
          </p:nvSpPr>
          <p:spPr bwMode="auto">
            <a:xfrm>
              <a:off x="1280" y="1134"/>
              <a:ext cx="158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863" name="Rectangle 23"/>
          <p:cNvSpPr>
            <a:spLocks noChangeArrowheads="1"/>
          </p:cNvSpPr>
          <p:nvPr/>
        </p:nvSpPr>
        <p:spPr bwMode="auto">
          <a:xfrm>
            <a:off x="500063" y="2495550"/>
            <a:ext cx="80279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有无限多解的充分必要条件是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&lt;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，这时</a:t>
            </a:r>
          </a:p>
        </p:txBody>
      </p:sp>
      <p:sp>
        <p:nvSpPr>
          <p:cNvPr id="35864" name="AutoShape 24"/>
          <p:cNvSpPr>
            <a:spLocks noChangeArrowheads="1"/>
          </p:cNvSpPr>
          <p:nvPr/>
        </p:nvSpPr>
        <p:spPr bwMode="auto">
          <a:xfrm>
            <a:off x="4427538" y="3429000"/>
            <a:ext cx="4572000" cy="2663825"/>
          </a:xfrm>
          <a:prstGeom prst="cloudCallout">
            <a:avLst>
              <a:gd name="adj1" fmla="val -60662"/>
              <a:gd name="adj2" fmla="val 64245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还能根据</a:t>
            </a:r>
          </a:p>
          <a:p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&lt;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</a:p>
          <a:p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判断该线性方程组有无限多解吗？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3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52" grpId="0" animBg="1"/>
      <p:bldP spid="35854" grpId="0" animBg="1"/>
      <p:bldP spid="35863" grpId="0"/>
      <p:bldP spid="3586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1666" name="Object 10"/>
          <p:cNvGraphicFramePr>
            <a:graphicFrameLocks noChangeAspect="1"/>
          </p:cNvGraphicFramePr>
          <p:nvPr/>
        </p:nvGraphicFramePr>
        <p:xfrm>
          <a:off x="1116013" y="423863"/>
          <a:ext cx="3122612" cy="185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865" name="Equation" r:id="rId4" imgW="1562100" imgH="927100" progId="">
                  <p:embed/>
                </p:oleObj>
              </mc:Choice>
              <mc:Fallback>
                <p:oleObj name="Equation" r:id="rId4" imgW="1562100" imgH="92710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23863"/>
                        <a:ext cx="3122612" cy="185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631950" y="476250"/>
            <a:ext cx="449263" cy="2592388"/>
            <a:chOff x="2191" y="300"/>
            <a:chExt cx="283" cy="1633"/>
          </a:xfrm>
        </p:grpSpPr>
        <p:sp>
          <p:nvSpPr>
            <p:cNvPr id="241705" name="Rectangle 13"/>
            <p:cNvSpPr>
              <a:spLocks noChangeArrowheads="1"/>
            </p:cNvSpPr>
            <p:nvPr/>
          </p:nvSpPr>
          <p:spPr bwMode="auto">
            <a:xfrm>
              <a:off x="2200" y="300"/>
              <a:ext cx="272" cy="1089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1706" name="Line 14"/>
            <p:cNvSpPr>
              <a:spLocks noChangeShapeType="1"/>
            </p:cNvSpPr>
            <p:nvPr/>
          </p:nvSpPr>
          <p:spPr bwMode="auto">
            <a:xfrm>
              <a:off x="2336" y="1480"/>
              <a:ext cx="0" cy="18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707" name="Rectangle 15"/>
            <p:cNvSpPr>
              <a:spLocks noChangeArrowheads="1"/>
            </p:cNvSpPr>
            <p:nvPr/>
          </p:nvSpPr>
          <p:spPr bwMode="auto">
            <a:xfrm>
              <a:off x="2191" y="1627"/>
              <a:ext cx="283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400" b="1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r>
                <a:rPr lang="en-US" altLang="zh-CN" sz="2400" b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2128838" y="476250"/>
            <a:ext cx="449262" cy="2592388"/>
            <a:chOff x="2191" y="300"/>
            <a:chExt cx="283" cy="1633"/>
          </a:xfrm>
        </p:grpSpPr>
        <p:sp>
          <p:nvSpPr>
            <p:cNvPr id="241702" name="Rectangle 18"/>
            <p:cNvSpPr>
              <a:spLocks noChangeArrowheads="1"/>
            </p:cNvSpPr>
            <p:nvPr/>
          </p:nvSpPr>
          <p:spPr bwMode="auto">
            <a:xfrm>
              <a:off x="2200" y="300"/>
              <a:ext cx="272" cy="1089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1703" name="Line 19"/>
            <p:cNvSpPr>
              <a:spLocks noChangeShapeType="1"/>
            </p:cNvSpPr>
            <p:nvPr/>
          </p:nvSpPr>
          <p:spPr bwMode="auto">
            <a:xfrm>
              <a:off x="2336" y="1480"/>
              <a:ext cx="0" cy="18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704" name="Rectangle 20"/>
            <p:cNvSpPr>
              <a:spLocks noChangeArrowheads="1"/>
            </p:cNvSpPr>
            <p:nvPr/>
          </p:nvSpPr>
          <p:spPr bwMode="auto">
            <a:xfrm>
              <a:off x="2191" y="1627"/>
              <a:ext cx="283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400" b="1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r>
                <a:rPr lang="en-US" altLang="zh-CN" sz="2400" b="1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2627313" y="476250"/>
            <a:ext cx="449262" cy="2592388"/>
            <a:chOff x="2191" y="300"/>
            <a:chExt cx="283" cy="1633"/>
          </a:xfrm>
        </p:grpSpPr>
        <p:sp>
          <p:nvSpPr>
            <p:cNvPr id="241699" name="Rectangle 22"/>
            <p:cNvSpPr>
              <a:spLocks noChangeArrowheads="1"/>
            </p:cNvSpPr>
            <p:nvPr/>
          </p:nvSpPr>
          <p:spPr bwMode="auto">
            <a:xfrm>
              <a:off x="2200" y="300"/>
              <a:ext cx="272" cy="1089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1700" name="Line 23"/>
            <p:cNvSpPr>
              <a:spLocks noChangeShapeType="1"/>
            </p:cNvSpPr>
            <p:nvPr/>
          </p:nvSpPr>
          <p:spPr bwMode="auto">
            <a:xfrm>
              <a:off x="2336" y="1480"/>
              <a:ext cx="0" cy="18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701" name="Rectangle 24"/>
            <p:cNvSpPr>
              <a:spLocks noChangeArrowheads="1"/>
            </p:cNvSpPr>
            <p:nvPr/>
          </p:nvSpPr>
          <p:spPr bwMode="auto">
            <a:xfrm>
              <a:off x="2191" y="1627"/>
              <a:ext cx="283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400" b="1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r>
                <a:rPr lang="en-US" altLang="zh-CN" sz="2400" b="1" baseline="-250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</p:txBody>
        </p:sp>
      </p:grp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3125788" y="476250"/>
            <a:ext cx="449262" cy="2592388"/>
            <a:chOff x="2191" y="300"/>
            <a:chExt cx="283" cy="1633"/>
          </a:xfrm>
        </p:grpSpPr>
        <p:sp>
          <p:nvSpPr>
            <p:cNvPr id="241696" name="Rectangle 26"/>
            <p:cNvSpPr>
              <a:spLocks noChangeArrowheads="1"/>
            </p:cNvSpPr>
            <p:nvPr/>
          </p:nvSpPr>
          <p:spPr bwMode="auto">
            <a:xfrm>
              <a:off x="2200" y="300"/>
              <a:ext cx="272" cy="1089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1697" name="Line 27"/>
            <p:cNvSpPr>
              <a:spLocks noChangeShapeType="1"/>
            </p:cNvSpPr>
            <p:nvPr/>
          </p:nvSpPr>
          <p:spPr bwMode="auto">
            <a:xfrm>
              <a:off x="2336" y="1480"/>
              <a:ext cx="0" cy="18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698" name="Rectangle 28"/>
            <p:cNvSpPr>
              <a:spLocks noChangeArrowheads="1"/>
            </p:cNvSpPr>
            <p:nvPr/>
          </p:nvSpPr>
          <p:spPr bwMode="auto">
            <a:xfrm>
              <a:off x="2191" y="1627"/>
              <a:ext cx="283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400" b="1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r>
                <a:rPr lang="en-US" altLang="zh-CN" sz="2400" b="1" baseline="-250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</a:p>
          </p:txBody>
        </p:sp>
      </p:grpSp>
      <p:graphicFrame>
        <p:nvGraphicFramePr>
          <p:cNvPr id="30749" name="Object 11"/>
          <p:cNvGraphicFramePr>
            <a:graphicFrameLocks noChangeAspect="1"/>
          </p:cNvGraphicFramePr>
          <p:nvPr/>
        </p:nvGraphicFramePr>
        <p:xfrm>
          <a:off x="4181475" y="423863"/>
          <a:ext cx="3198813" cy="185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866" name="Equation" r:id="rId6" imgW="1600200" imgH="927100" progId="">
                  <p:embed/>
                </p:oleObj>
              </mc:Choice>
              <mc:Fallback>
                <p:oleObj name="Equation" r:id="rId6" imgW="1600200" imgH="927100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475" y="423863"/>
                        <a:ext cx="3198813" cy="185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0" name="Object 12"/>
          <p:cNvGraphicFramePr>
            <a:graphicFrameLocks noChangeAspect="1"/>
          </p:cNvGraphicFramePr>
          <p:nvPr/>
        </p:nvGraphicFramePr>
        <p:xfrm>
          <a:off x="969963" y="3935413"/>
          <a:ext cx="3078162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867" name="Equation" r:id="rId8" imgW="1536700" imgH="711200" progId="">
                  <p:embed/>
                </p:oleObj>
              </mc:Choice>
              <mc:Fallback>
                <p:oleObj name="Equation" r:id="rId8" imgW="1536700" imgH="71120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963" y="3935413"/>
                        <a:ext cx="3078162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1" name="Object 13"/>
          <p:cNvGraphicFramePr>
            <a:graphicFrameLocks noChangeAspect="1"/>
          </p:cNvGraphicFramePr>
          <p:nvPr/>
        </p:nvGraphicFramePr>
        <p:xfrm>
          <a:off x="4716463" y="3935413"/>
          <a:ext cx="3076575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868" name="Equation" r:id="rId10" imgW="1536700" imgH="711200" progId="">
                  <p:embed/>
                </p:oleObj>
              </mc:Choice>
              <mc:Fallback>
                <p:oleObj name="Equation" r:id="rId10" imgW="1536700" imgH="71120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3935413"/>
                        <a:ext cx="3076575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4775200" y="476250"/>
            <a:ext cx="449263" cy="2592388"/>
            <a:chOff x="2191" y="300"/>
            <a:chExt cx="283" cy="1633"/>
          </a:xfrm>
        </p:grpSpPr>
        <p:sp>
          <p:nvSpPr>
            <p:cNvPr id="241693" name="Rectangle 33"/>
            <p:cNvSpPr>
              <a:spLocks noChangeArrowheads="1"/>
            </p:cNvSpPr>
            <p:nvPr/>
          </p:nvSpPr>
          <p:spPr bwMode="auto">
            <a:xfrm>
              <a:off x="2200" y="300"/>
              <a:ext cx="272" cy="1089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1694" name="Line 34"/>
            <p:cNvSpPr>
              <a:spLocks noChangeShapeType="1"/>
            </p:cNvSpPr>
            <p:nvPr/>
          </p:nvSpPr>
          <p:spPr bwMode="auto">
            <a:xfrm>
              <a:off x="2336" y="1480"/>
              <a:ext cx="0" cy="18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695" name="Rectangle 35"/>
            <p:cNvSpPr>
              <a:spLocks noChangeArrowheads="1"/>
            </p:cNvSpPr>
            <p:nvPr/>
          </p:nvSpPr>
          <p:spPr bwMode="auto">
            <a:xfrm>
              <a:off x="2191" y="1627"/>
              <a:ext cx="283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400" b="1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r>
                <a:rPr lang="en-US" altLang="zh-CN" sz="2400" b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</p:grpSp>
      <p:grpSp>
        <p:nvGrpSpPr>
          <p:cNvPr id="7" name="Group 36"/>
          <p:cNvGrpSpPr>
            <a:grpSpLocks/>
          </p:cNvGrpSpPr>
          <p:nvPr/>
        </p:nvGrpSpPr>
        <p:grpSpPr bwMode="auto">
          <a:xfrm>
            <a:off x="5259388" y="476250"/>
            <a:ext cx="449262" cy="2592388"/>
            <a:chOff x="2191" y="300"/>
            <a:chExt cx="283" cy="1633"/>
          </a:xfrm>
        </p:grpSpPr>
        <p:sp>
          <p:nvSpPr>
            <p:cNvPr id="241690" name="Rectangle 37"/>
            <p:cNvSpPr>
              <a:spLocks noChangeArrowheads="1"/>
            </p:cNvSpPr>
            <p:nvPr/>
          </p:nvSpPr>
          <p:spPr bwMode="auto">
            <a:xfrm>
              <a:off x="2200" y="300"/>
              <a:ext cx="272" cy="1089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1691" name="Line 38"/>
            <p:cNvSpPr>
              <a:spLocks noChangeShapeType="1"/>
            </p:cNvSpPr>
            <p:nvPr/>
          </p:nvSpPr>
          <p:spPr bwMode="auto">
            <a:xfrm>
              <a:off x="2336" y="1480"/>
              <a:ext cx="0" cy="18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692" name="Rectangle 39"/>
            <p:cNvSpPr>
              <a:spLocks noChangeArrowheads="1"/>
            </p:cNvSpPr>
            <p:nvPr/>
          </p:nvSpPr>
          <p:spPr bwMode="auto">
            <a:xfrm>
              <a:off x="2191" y="1627"/>
              <a:ext cx="283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400" b="1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r>
                <a:rPr lang="en-US" altLang="zh-CN" sz="2400" b="1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</p:grpSp>
      <p:grpSp>
        <p:nvGrpSpPr>
          <p:cNvPr id="8" name="Group 40"/>
          <p:cNvGrpSpPr>
            <a:grpSpLocks/>
          </p:cNvGrpSpPr>
          <p:nvPr/>
        </p:nvGrpSpPr>
        <p:grpSpPr bwMode="auto">
          <a:xfrm>
            <a:off x="5743575" y="476250"/>
            <a:ext cx="449263" cy="2592388"/>
            <a:chOff x="2191" y="300"/>
            <a:chExt cx="283" cy="1633"/>
          </a:xfrm>
        </p:grpSpPr>
        <p:sp>
          <p:nvSpPr>
            <p:cNvPr id="241687" name="Rectangle 41"/>
            <p:cNvSpPr>
              <a:spLocks noChangeArrowheads="1"/>
            </p:cNvSpPr>
            <p:nvPr/>
          </p:nvSpPr>
          <p:spPr bwMode="auto">
            <a:xfrm>
              <a:off x="2200" y="300"/>
              <a:ext cx="272" cy="1089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1688" name="Line 42"/>
            <p:cNvSpPr>
              <a:spLocks noChangeShapeType="1"/>
            </p:cNvSpPr>
            <p:nvPr/>
          </p:nvSpPr>
          <p:spPr bwMode="auto">
            <a:xfrm>
              <a:off x="2336" y="1480"/>
              <a:ext cx="0" cy="18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689" name="Rectangle 43"/>
            <p:cNvSpPr>
              <a:spLocks noChangeArrowheads="1"/>
            </p:cNvSpPr>
            <p:nvPr/>
          </p:nvSpPr>
          <p:spPr bwMode="auto">
            <a:xfrm>
              <a:off x="2191" y="1627"/>
              <a:ext cx="283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400" b="1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r>
                <a:rPr lang="en-US" altLang="zh-CN" sz="2400" b="1" baseline="-250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</a:p>
          </p:txBody>
        </p:sp>
      </p:grpSp>
      <p:grpSp>
        <p:nvGrpSpPr>
          <p:cNvPr id="9" name="Group 44"/>
          <p:cNvGrpSpPr>
            <a:grpSpLocks/>
          </p:cNvGrpSpPr>
          <p:nvPr/>
        </p:nvGrpSpPr>
        <p:grpSpPr bwMode="auto">
          <a:xfrm>
            <a:off x="6227763" y="476250"/>
            <a:ext cx="449262" cy="2592388"/>
            <a:chOff x="2191" y="300"/>
            <a:chExt cx="283" cy="1633"/>
          </a:xfrm>
        </p:grpSpPr>
        <p:sp>
          <p:nvSpPr>
            <p:cNvPr id="241684" name="Rectangle 45"/>
            <p:cNvSpPr>
              <a:spLocks noChangeArrowheads="1"/>
            </p:cNvSpPr>
            <p:nvPr/>
          </p:nvSpPr>
          <p:spPr bwMode="auto">
            <a:xfrm>
              <a:off x="2200" y="300"/>
              <a:ext cx="272" cy="1089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41685" name="Line 46"/>
            <p:cNvSpPr>
              <a:spLocks noChangeShapeType="1"/>
            </p:cNvSpPr>
            <p:nvPr/>
          </p:nvSpPr>
          <p:spPr bwMode="auto">
            <a:xfrm>
              <a:off x="2336" y="1480"/>
              <a:ext cx="0" cy="18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686" name="Rectangle 47"/>
            <p:cNvSpPr>
              <a:spLocks noChangeArrowheads="1"/>
            </p:cNvSpPr>
            <p:nvPr/>
          </p:nvSpPr>
          <p:spPr bwMode="auto">
            <a:xfrm>
              <a:off x="2191" y="1627"/>
              <a:ext cx="283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400" b="1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r>
                <a:rPr lang="en-US" altLang="zh-CN" sz="2400" b="1" baseline="-250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</p:txBody>
        </p:sp>
      </p:grpSp>
      <p:sp>
        <p:nvSpPr>
          <p:cNvPr id="30768" name="Freeform 48"/>
          <p:cNvSpPr>
            <a:spLocks/>
          </p:cNvSpPr>
          <p:nvPr/>
        </p:nvSpPr>
        <p:spPr bwMode="auto">
          <a:xfrm>
            <a:off x="5983288" y="3011488"/>
            <a:ext cx="431800" cy="215900"/>
          </a:xfrm>
          <a:custGeom>
            <a:avLst/>
            <a:gdLst>
              <a:gd name="T0" fmla="*/ 0 w 272"/>
              <a:gd name="T1" fmla="*/ 0 h 136"/>
              <a:gd name="T2" fmla="*/ 2147483647 w 272"/>
              <a:gd name="T3" fmla="*/ 2147483647 h 136"/>
              <a:gd name="T4" fmla="*/ 2147483647 w 272"/>
              <a:gd name="T5" fmla="*/ 0 h 136"/>
              <a:gd name="T6" fmla="*/ 0 60000 65536"/>
              <a:gd name="T7" fmla="*/ 0 60000 65536"/>
              <a:gd name="T8" fmla="*/ 0 60000 65536"/>
              <a:gd name="T9" fmla="*/ 0 w 272"/>
              <a:gd name="T10" fmla="*/ 0 h 136"/>
              <a:gd name="T11" fmla="*/ 272 w 272"/>
              <a:gd name="T12" fmla="*/ 136 h 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2" h="136">
                <a:moveTo>
                  <a:pt x="0" y="0"/>
                </a:moveTo>
                <a:cubicBezTo>
                  <a:pt x="45" y="68"/>
                  <a:pt x="91" y="136"/>
                  <a:pt x="136" y="136"/>
                </a:cubicBezTo>
                <a:cubicBezTo>
                  <a:pt x="181" y="136"/>
                  <a:pt x="226" y="68"/>
                  <a:pt x="272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0769" name="AutoShape 49"/>
          <p:cNvSpPr>
            <a:spLocks noChangeArrowheads="1"/>
          </p:cNvSpPr>
          <p:nvPr/>
        </p:nvSpPr>
        <p:spPr bwMode="auto">
          <a:xfrm>
            <a:off x="3506788" y="5445125"/>
            <a:ext cx="2087562" cy="720725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同解</a:t>
            </a:r>
          </a:p>
        </p:txBody>
      </p:sp>
      <p:sp>
        <p:nvSpPr>
          <p:cNvPr id="30770" name="AutoShape 50">
            <a:hlinkClick r:id="rId1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262938" y="6223000"/>
            <a:ext cx="747712" cy="406400"/>
          </a:xfrm>
          <a:prstGeom prst="actionButtonBlank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b="1">
                <a:solidFill>
                  <a:srgbClr val="000000"/>
                </a:solidFill>
                <a:latin typeface="Arial" charset="0"/>
                <a:ea typeface="楷体_GB2312" pitchFamily="49" charset="-122"/>
              </a:rPr>
              <a:t>返回 </a:t>
            </a:r>
          </a:p>
        </p:txBody>
      </p:sp>
      <p:sp>
        <p:nvSpPr>
          <p:cNvPr id="30771" name="Rectangle 51"/>
          <p:cNvSpPr>
            <a:spLocks noChangeArrowheads="1"/>
          </p:cNvSpPr>
          <p:nvPr/>
        </p:nvSpPr>
        <p:spPr bwMode="auto">
          <a:xfrm>
            <a:off x="4787900" y="522288"/>
            <a:ext cx="1325563" cy="1192212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0772" name="AutoShape 52"/>
          <p:cNvSpPr>
            <a:spLocks noChangeArrowheads="1"/>
          </p:cNvSpPr>
          <p:nvPr/>
        </p:nvSpPr>
        <p:spPr bwMode="auto">
          <a:xfrm>
            <a:off x="2339975" y="3141663"/>
            <a:ext cx="503238" cy="503237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0773" name="AutoShape 53"/>
          <p:cNvSpPr>
            <a:spLocks noChangeArrowheads="1"/>
          </p:cNvSpPr>
          <p:nvPr/>
        </p:nvSpPr>
        <p:spPr bwMode="auto">
          <a:xfrm>
            <a:off x="5508625" y="3141663"/>
            <a:ext cx="503238" cy="503237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3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307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307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3077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307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0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0" fill="hold"/>
                                        <p:tgtEl>
                                          <p:spTgt spid="307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0" fill="hold"/>
                                        <p:tgtEl>
                                          <p:spTgt spid="307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0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0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7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76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7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76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7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8" grpId="0" animBg="1"/>
      <p:bldP spid="30769" grpId="0" animBg="1"/>
      <p:bldP spid="30770" grpId="0" animBg="1"/>
      <p:bldP spid="30771" grpId="0" animBg="1"/>
      <p:bldP spid="30771" grpId="1" animBg="1"/>
      <p:bldP spid="30772" grpId="0" animBg="1"/>
      <p:bldP spid="3077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2690" name="Object 10"/>
          <p:cNvGraphicFramePr>
            <a:graphicFrameLocks noChangeAspect="1"/>
          </p:cNvGraphicFramePr>
          <p:nvPr/>
        </p:nvGraphicFramePr>
        <p:xfrm>
          <a:off x="2100263" y="460375"/>
          <a:ext cx="6143625" cy="185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855" name="Equation" r:id="rId3" imgW="3073400" imgH="927100" progId="">
                  <p:embed/>
                </p:oleObj>
              </mc:Choice>
              <mc:Fallback>
                <p:oleObj name="Equation" r:id="rId3" imgW="3073400" imgH="92710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263" y="460375"/>
                        <a:ext cx="6143625" cy="185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21" name="Rectangle 29"/>
          <p:cNvSpPr>
            <a:spLocks noChangeArrowheads="1"/>
          </p:cNvSpPr>
          <p:nvPr/>
        </p:nvSpPr>
        <p:spPr bwMode="auto">
          <a:xfrm>
            <a:off x="500063" y="1179513"/>
            <a:ext cx="8229600" cy="501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解（续）：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zh-CN" altLang="en-US" sz="2400" b="1">
              <a:solidFill>
                <a:srgbClr val="0000FF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zh-CN" altLang="en-US" sz="2400" b="1">
              <a:solidFill>
                <a:srgbClr val="0000FF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即得与原方程组同解的方程组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令 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做自由变量，则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                       方程组的通解可表示为                                    ．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en-US" altLang="zh-CN" sz="2400" b="1" baseline="-2500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33853" name="Object 11"/>
          <p:cNvGraphicFramePr>
            <a:graphicFrameLocks noChangeAspect="1"/>
          </p:cNvGraphicFramePr>
          <p:nvPr/>
        </p:nvGraphicFramePr>
        <p:xfrm>
          <a:off x="4733925" y="2492375"/>
          <a:ext cx="3078163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856" name="Equation" r:id="rId5" imgW="1536700" imgH="711200" progId="">
                  <p:embed/>
                </p:oleObj>
              </mc:Choice>
              <mc:Fallback>
                <p:oleObj name="Equation" r:id="rId5" imgW="1536700" imgH="711200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3925" y="2492375"/>
                        <a:ext cx="3078163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54" name="Object 12"/>
          <p:cNvGraphicFramePr>
            <a:graphicFrameLocks noChangeAspect="1"/>
          </p:cNvGraphicFramePr>
          <p:nvPr/>
        </p:nvGraphicFramePr>
        <p:xfrm>
          <a:off x="3635375" y="3933825"/>
          <a:ext cx="1704975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857" name="Equation" r:id="rId7" imgW="850531" imgH="710891" progId="">
                  <p:embed/>
                </p:oleObj>
              </mc:Choice>
              <mc:Fallback>
                <p:oleObj name="Equation" r:id="rId7" imgW="850531" imgH="710891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3933825"/>
                        <a:ext cx="1704975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55" name="Object 13"/>
          <p:cNvGraphicFramePr>
            <a:graphicFrameLocks noChangeAspect="1"/>
          </p:cNvGraphicFramePr>
          <p:nvPr/>
        </p:nvGraphicFramePr>
        <p:xfrm>
          <a:off x="5651500" y="4652963"/>
          <a:ext cx="2597150" cy="188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858" name="Equation" r:id="rId9" imgW="1295400" imgH="939800" progId="">
                  <p:embed/>
                </p:oleObj>
              </mc:Choice>
              <mc:Fallback>
                <p:oleObj name="Equation" r:id="rId9" imgW="1295400" imgH="93980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4652963"/>
                        <a:ext cx="2597150" cy="188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57" name="Oval 65"/>
          <p:cNvSpPr>
            <a:spLocks noChangeArrowheads="1"/>
          </p:cNvSpPr>
          <p:nvPr/>
        </p:nvSpPr>
        <p:spPr bwMode="auto">
          <a:xfrm>
            <a:off x="5722938" y="517525"/>
            <a:ext cx="361950" cy="361950"/>
          </a:xfrm>
          <a:prstGeom prst="ellipse">
            <a:avLst/>
          </a:prstGeom>
          <a:noFill/>
          <a:ln w="28575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3858" name="Oval 66"/>
          <p:cNvSpPr>
            <a:spLocks noChangeArrowheads="1"/>
          </p:cNvSpPr>
          <p:nvPr/>
        </p:nvSpPr>
        <p:spPr bwMode="auto">
          <a:xfrm>
            <a:off x="6156325" y="992188"/>
            <a:ext cx="361950" cy="361950"/>
          </a:xfrm>
          <a:prstGeom prst="ellipse">
            <a:avLst/>
          </a:prstGeom>
          <a:noFill/>
          <a:ln w="28575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3859" name="Oval 67"/>
          <p:cNvSpPr>
            <a:spLocks noChangeArrowheads="1"/>
          </p:cNvSpPr>
          <p:nvPr/>
        </p:nvSpPr>
        <p:spPr bwMode="auto">
          <a:xfrm>
            <a:off x="7192963" y="1427163"/>
            <a:ext cx="361950" cy="361950"/>
          </a:xfrm>
          <a:prstGeom prst="ellipse">
            <a:avLst/>
          </a:prstGeom>
          <a:noFill/>
          <a:ln w="28575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38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3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1000"/>
                                        <p:tgtEl>
                                          <p:spTgt spid="33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1000"/>
                                        <p:tgtEl>
                                          <p:spTgt spid="33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1000"/>
                                        <p:tgtEl>
                                          <p:spTgt spid="33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38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3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338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33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21" grpId="0" build="p"/>
      <p:bldP spid="33857" grpId="0" animBg="1"/>
      <p:bldP spid="33858" grpId="0" animBg="1"/>
      <p:bldP spid="3385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6" name="Rectangle 2"/>
          <p:cNvSpPr>
            <a:spLocks noChangeArrowheads="1"/>
          </p:cNvSpPr>
          <p:nvPr/>
        </p:nvSpPr>
        <p:spPr bwMode="auto">
          <a:xfrm>
            <a:off x="457200" y="53340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11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求解非齐次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线性方程组</a:t>
            </a:r>
          </a:p>
        </p:txBody>
      </p:sp>
      <p:graphicFrame>
        <p:nvGraphicFramePr>
          <p:cNvPr id="243714" name="Object 6"/>
          <p:cNvGraphicFramePr>
            <a:graphicFrameLocks noChangeAspect="1"/>
          </p:cNvGraphicFramePr>
          <p:nvPr/>
        </p:nvGraphicFramePr>
        <p:xfrm>
          <a:off x="2827338" y="1231900"/>
          <a:ext cx="3459162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803" name="Equation" r:id="rId3" imgW="1727200" imgH="711200" progId="">
                  <p:embed/>
                </p:oleObj>
              </mc:Choice>
              <mc:Fallback>
                <p:oleObj name="Equation" r:id="rId3" imgW="1727200" imgH="7112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7338" y="1231900"/>
                        <a:ext cx="3459162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7"/>
          <p:cNvGraphicFramePr>
            <a:graphicFrameLocks noChangeAspect="1"/>
          </p:cNvGraphicFramePr>
          <p:nvPr/>
        </p:nvGraphicFramePr>
        <p:xfrm>
          <a:off x="1130300" y="3559175"/>
          <a:ext cx="6321425" cy="139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804" name="Equation" r:id="rId5" imgW="3162300" imgH="698500" progId="">
                  <p:embed/>
                </p:oleObj>
              </mc:Choice>
              <mc:Fallback>
                <p:oleObj name="Equation" r:id="rId5" imgW="3162300" imgH="6985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300" y="3559175"/>
                        <a:ext cx="6321425" cy="1395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500063" y="4049713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解：</a:t>
            </a:r>
            <a:endParaRPr kumimoji="1"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457200" y="5229225"/>
            <a:ext cx="82296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2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3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，故原线性方程组无解．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4572000" y="4013200"/>
            <a:ext cx="2247900" cy="914400"/>
            <a:chOff x="2880" y="2528"/>
            <a:chExt cx="1416" cy="576"/>
          </a:xfrm>
        </p:grpSpPr>
        <p:sp>
          <p:nvSpPr>
            <p:cNvPr id="243720" name="Line 8"/>
            <p:cNvSpPr>
              <a:spLocks noChangeAspect="1" noChangeShapeType="1"/>
            </p:cNvSpPr>
            <p:nvPr/>
          </p:nvSpPr>
          <p:spPr bwMode="auto">
            <a:xfrm>
              <a:off x="2880" y="2530"/>
              <a:ext cx="272" cy="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721" name="Line 9"/>
            <p:cNvSpPr>
              <a:spLocks noChangeAspect="1" noChangeShapeType="1"/>
            </p:cNvSpPr>
            <p:nvPr/>
          </p:nvSpPr>
          <p:spPr bwMode="auto">
            <a:xfrm>
              <a:off x="3162" y="2528"/>
              <a:ext cx="0" cy="2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722" name="Line 10"/>
            <p:cNvSpPr>
              <a:spLocks noChangeAspect="1" noChangeShapeType="1"/>
            </p:cNvSpPr>
            <p:nvPr/>
          </p:nvSpPr>
          <p:spPr bwMode="auto">
            <a:xfrm>
              <a:off x="3162" y="2816"/>
              <a:ext cx="1134" cy="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723" name="Line 11"/>
            <p:cNvSpPr>
              <a:spLocks noChangeAspect="1" noChangeShapeType="1"/>
            </p:cNvSpPr>
            <p:nvPr/>
          </p:nvSpPr>
          <p:spPr bwMode="auto">
            <a:xfrm>
              <a:off x="4286" y="2816"/>
              <a:ext cx="0" cy="2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68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9" grpId="0"/>
      <p:bldP spid="36870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3" name="Rectangle 2"/>
          <p:cNvSpPr>
            <a:spLocks noChangeArrowheads="1"/>
          </p:cNvSpPr>
          <p:nvPr/>
        </p:nvSpPr>
        <p:spPr bwMode="auto">
          <a:xfrm>
            <a:off x="457200" y="53340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设有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线性方程组</a:t>
            </a:r>
          </a:p>
        </p:txBody>
      </p:sp>
      <p:sp>
        <p:nvSpPr>
          <p:cNvPr id="245764" name="Rectangle 4"/>
          <p:cNvSpPr>
            <a:spLocks noChangeArrowheads="1"/>
          </p:cNvSpPr>
          <p:nvPr/>
        </p:nvSpPr>
        <p:spPr bwMode="auto">
          <a:xfrm>
            <a:off x="500063" y="3089275"/>
            <a:ext cx="82296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问 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取何值时，此方程组有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(1)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唯一解；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(2)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无解；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(3)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有无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限多个解？并在有无限多解时求其通解．</a:t>
            </a:r>
          </a:p>
        </p:txBody>
      </p:sp>
      <p:graphicFrame>
        <p:nvGraphicFramePr>
          <p:cNvPr id="245762" name="Object 4"/>
          <p:cNvGraphicFramePr>
            <a:graphicFrameLocks noChangeAspect="1"/>
          </p:cNvGraphicFramePr>
          <p:nvPr/>
        </p:nvGraphicFramePr>
        <p:xfrm>
          <a:off x="2090738" y="1290638"/>
          <a:ext cx="4933950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06" name="Equation" r:id="rId3" imgW="2463800" imgH="711200" progId="">
                  <p:embed/>
                </p:oleObj>
              </mc:Choice>
              <mc:Fallback>
                <p:oleObj name="Equation" r:id="rId3" imgW="2463800" imgH="7112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0738" y="1290638"/>
                        <a:ext cx="4933950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9" name="Rectangle 7"/>
          <p:cNvSpPr>
            <a:spLocks noChangeArrowheads="1"/>
          </p:cNvSpPr>
          <p:nvPr/>
        </p:nvSpPr>
        <p:spPr bwMode="auto">
          <a:xfrm>
            <a:off x="457200" y="4357688"/>
            <a:ext cx="8229600" cy="180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定理：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元线性方程组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00"/>
              </a:buClr>
              <a:buFont typeface="Wingdings" pitchFamily="2" charset="2"/>
              <a:buAutoNum type="circleNumDbPlain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无解的充分必要条件是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&lt;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；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00"/>
              </a:buClr>
              <a:buFont typeface="Wingdings" pitchFamily="2" charset="2"/>
              <a:buAutoNum type="circleNumDbPlain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有唯一解的充分必要条件是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；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00"/>
              </a:buClr>
              <a:buFont typeface="Wingdings" pitchFamily="2" charset="2"/>
              <a:buAutoNum type="circleNumDbPlain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有无限多解的充分必要条件是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&lt;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6786" name="Object 12"/>
          <p:cNvGraphicFramePr>
            <a:graphicFrameLocks noChangeAspect="1"/>
          </p:cNvGraphicFramePr>
          <p:nvPr/>
        </p:nvGraphicFramePr>
        <p:xfrm>
          <a:off x="2649538" y="431800"/>
          <a:ext cx="3814762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88" name="Equation" r:id="rId3" imgW="1905000" imgH="698500" progId="">
                  <p:embed/>
                </p:oleObj>
              </mc:Choice>
              <mc:Fallback>
                <p:oleObj name="Equation" r:id="rId3" imgW="1905000" imgH="69850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538" y="431800"/>
                        <a:ext cx="3814762" cy="140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2" name="Rectangle 18"/>
          <p:cNvSpPr>
            <a:spLocks noChangeArrowheads="1"/>
          </p:cNvSpPr>
          <p:nvPr/>
        </p:nvSpPr>
        <p:spPr bwMode="auto">
          <a:xfrm>
            <a:off x="457200" y="1916113"/>
            <a:ext cx="82296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解法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对增广矩阵作初等行变换把它变为行阶梯形矩阵．</a:t>
            </a:r>
          </a:p>
        </p:txBody>
      </p:sp>
      <p:graphicFrame>
        <p:nvGraphicFramePr>
          <p:cNvPr id="31763" name="Object 13"/>
          <p:cNvGraphicFramePr>
            <a:graphicFrameLocks noChangeAspect="1"/>
          </p:cNvGraphicFramePr>
          <p:nvPr/>
        </p:nvGraphicFramePr>
        <p:xfrm>
          <a:off x="1743075" y="2600325"/>
          <a:ext cx="2911475" cy="125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89" name="Equation" r:id="rId5" imgW="1625600" imgH="698500" progId="">
                  <p:embed/>
                </p:oleObj>
              </mc:Choice>
              <mc:Fallback>
                <p:oleObj name="Equation" r:id="rId5" imgW="1625600" imgH="69850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075" y="2600325"/>
                        <a:ext cx="2911475" cy="1252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4" name="Object 14"/>
          <p:cNvGraphicFramePr>
            <a:graphicFrameLocks noChangeAspect="1"/>
          </p:cNvGraphicFramePr>
          <p:nvPr/>
        </p:nvGraphicFramePr>
        <p:xfrm>
          <a:off x="4622800" y="2601913"/>
          <a:ext cx="3389313" cy="1252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90" name="Equation" r:id="rId7" imgW="1892300" imgH="698500" progId="">
                  <p:embed/>
                </p:oleObj>
              </mc:Choice>
              <mc:Fallback>
                <p:oleObj name="Equation" r:id="rId7" imgW="1892300" imgH="69850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2800" y="2601913"/>
                        <a:ext cx="3389313" cy="1252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5" name="Object 15"/>
          <p:cNvGraphicFramePr>
            <a:graphicFrameLocks noChangeAspect="1"/>
          </p:cNvGraphicFramePr>
          <p:nvPr/>
        </p:nvGraphicFramePr>
        <p:xfrm>
          <a:off x="82550" y="4221163"/>
          <a:ext cx="4572000" cy="1252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91" name="Equation" r:id="rId9" imgW="2552700" imgH="698500" progId="">
                  <p:embed/>
                </p:oleObj>
              </mc:Choice>
              <mc:Fallback>
                <p:oleObj name="Equation" r:id="rId9" imgW="2552700" imgH="69850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" y="4221163"/>
                        <a:ext cx="4572000" cy="1252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6" name="Object 16"/>
          <p:cNvGraphicFramePr>
            <a:graphicFrameLocks noChangeAspect="1"/>
          </p:cNvGraphicFramePr>
          <p:nvPr/>
        </p:nvGraphicFramePr>
        <p:xfrm>
          <a:off x="4622800" y="4221163"/>
          <a:ext cx="4413250" cy="1252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92" name="Equation" r:id="rId11" imgW="2463800" imgH="698500" progId="">
                  <p:embed/>
                </p:oleObj>
              </mc:Choice>
              <mc:Fallback>
                <p:oleObj name="Equation" r:id="rId11" imgW="2463800" imgH="69850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2800" y="4221163"/>
                        <a:ext cx="4413250" cy="1252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6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457200" y="520700"/>
            <a:ext cx="8229600" cy="319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附注：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Font typeface="Wingdings" pitchFamily="2" charset="2"/>
              <a:buChar char="ü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对含参数的矩阵作初等变换时，由于 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+1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 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+3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等因式可能等于零，故不宜进行下列的变换：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Font typeface="Wingdings" pitchFamily="2" charset="2"/>
              <a:buChar char="ü"/>
            </a:pPr>
            <a:endParaRPr kumimoji="1"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Font typeface="Wingdings" pitchFamily="2" charset="2"/>
              <a:buChar char="ü"/>
            </a:pPr>
            <a:endParaRPr kumimoji="1"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Font typeface="Wingdings" pitchFamily="2" charset="2"/>
              <a:buChar char="ü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如果作了这样的变换，则需对 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+1 = 0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（或 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+3 = 0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）的情况另作讨论． </a:t>
            </a:r>
          </a:p>
        </p:txBody>
      </p:sp>
      <p:graphicFrame>
        <p:nvGraphicFramePr>
          <p:cNvPr id="45061" name="Object 8"/>
          <p:cNvGraphicFramePr>
            <a:graphicFrameLocks noChangeAspect="1"/>
          </p:cNvGraphicFramePr>
          <p:nvPr/>
        </p:nvGraphicFramePr>
        <p:xfrm>
          <a:off x="1763713" y="1943100"/>
          <a:ext cx="1446212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32" name="Equation" r:id="rId3" imgW="723586" imgH="406224" progId="">
                  <p:embed/>
                </p:oleObj>
              </mc:Choice>
              <mc:Fallback>
                <p:oleObj name="Equation" r:id="rId3" imgW="723586" imgH="406224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943100"/>
                        <a:ext cx="1446212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9"/>
          <p:cNvGraphicFramePr>
            <a:graphicFrameLocks noChangeAspect="1"/>
          </p:cNvGraphicFramePr>
          <p:nvPr/>
        </p:nvGraphicFramePr>
        <p:xfrm>
          <a:off x="3868738" y="2120900"/>
          <a:ext cx="1371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33" name="Equation" r:id="rId5" imgW="685800" imgH="228600" progId="">
                  <p:embed/>
                </p:oleObj>
              </mc:Choice>
              <mc:Fallback>
                <p:oleObj name="Equation" r:id="rId5" imgW="685800" imgH="22860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8738" y="2120900"/>
                        <a:ext cx="1371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10"/>
          <p:cNvGraphicFramePr>
            <a:graphicFrameLocks noChangeAspect="1"/>
          </p:cNvGraphicFramePr>
          <p:nvPr/>
        </p:nvGraphicFramePr>
        <p:xfrm>
          <a:off x="5900738" y="2120900"/>
          <a:ext cx="14208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34" name="Equation" r:id="rId7" imgW="711200" imgH="228600" progId="">
                  <p:embed/>
                </p:oleObj>
              </mc:Choice>
              <mc:Fallback>
                <p:oleObj name="Equation" r:id="rId7" imgW="711200" imgH="22860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2120900"/>
                        <a:ext cx="14208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8834" name="Object 4"/>
          <p:cNvGraphicFramePr>
            <a:graphicFrameLocks noChangeAspect="1"/>
          </p:cNvGraphicFramePr>
          <p:nvPr/>
        </p:nvGraphicFramePr>
        <p:xfrm>
          <a:off x="334963" y="431800"/>
          <a:ext cx="8443912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76" name="Equation" r:id="rId3" imgW="4216400" imgH="698500" progId="">
                  <p:embed/>
                </p:oleObj>
              </mc:Choice>
              <mc:Fallback>
                <p:oleObj name="Equation" r:id="rId3" imgW="4216400" imgH="6985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3" y="431800"/>
                        <a:ext cx="8443912" cy="140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457200" y="1916113"/>
            <a:ext cx="8229600" cy="312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分析：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FontTx/>
              <a:buChar char="•"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讨论方程组的解的情况，就是讨论参数 </a:t>
            </a:r>
            <a:r>
              <a:rPr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取何值时，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、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是非零行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FontTx/>
              <a:buChar char="•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在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、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中，有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5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处地方出现了</a:t>
            </a:r>
            <a:r>
              <a:rPr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，要使这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5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个元素等于零， </a:t>
            </a:r>
            <a:r>
              <a:rPr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0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，－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FontTx/>
              <a:buChar char="•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实际上没有必要对这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个可能取值逐一进行讨论，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先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从方程组有唯一解入手．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9858" name="Object 4"/>
          <p:cNvGraphicFramePr>
            <a:graphicFrameLocks noChangeAspect="1"/>
          </p:cNvGraphicFramePr>
          <p:nvPr/>
        </p:nvGraphicFramePr>
        <p:xfrm>
          <a:off x="334963" y="431800"/>
          <a:ext cx="8443912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00" name="Equation" r:id="rId3" imgW="4216400" imgH="698500" progId="">
                  <p:embed/>
                </p:oleObj>
              </mc:Choice>
              <mc:Fallback>
                <p:oleObj name="Equation" r:id="rId3" imgW="4216400" imgH="6985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3" y="431800"/>
                        <a:ext cx="8443912" cy="140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457200" y="1916113"/>
            <a:ext cx="82296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于是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FontTx/>
              <a:buChar char="•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当 </a:t>
            </a:r>
            <a:r>
              <a:rPr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≠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0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且 </a:t>
            </a:r>
            <a:r>
              <a:rPr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≠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－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时，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3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，有唯一解．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FontTx/>
              <a:buChar char="•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当 </a:t>
            </a:r>
            <a:r>
              <a:rPr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0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时，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2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，无解．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FontTx/>
              <a:buChar char="•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当 </a:t>
            </a:r>
            <a:r>
              <a:rPr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－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时，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2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，有无限多解．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882" name="Object 6"/>
          <p:cNvGraphicFramePr>
            <a:graphicFrameLocks noChangeAspect="1"/>
          </p:cNvGraphicFramePr>
          <p:nvPr/>
        </p:nvGraphicFramePr>
        <p:xfrm>
          <a:off x="2649538" y="431800"/>
          <a:ext cx="3814762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965" name="Equation" r:id="rId3" imgW="1905000" imgH="698500" progId="">
                  <p:embed/>
                </p:oleObj>
              </mc:Choice>
              <mc:Fallback>
                <p:oleObj name="Equation" r:id="rId3" imgW="1905000" imgH="6985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538" y="431800"/>
                        <a:ext cx="3814762" cy="140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457200" y="1968500"/>
            <a:ext cx="82296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解法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因为系数矩阵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是方阵，所以方程组有唯一解的充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分必要条件是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|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| </a:t>
            </a:r>
            <a:r>
              <a:rPr kumimoji="1" lang="en-US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≠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0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graphicFrame>
        <p:nvGraphicFramePr>
          <p:cNvPr id="41988" name="Object 7"/>
          <p:cNvGraphicFramePr>
            <a:graphicFrameLocks noChangeAspect="1"/>
          </p:cNvGraphicFramePr>
          <p:nvPr/>
        </p:nvGraphicFramePr>
        <p:xfrm>
          <a:off x="2451100" y="3073400"/>
          <a:ext cx="4208463" cy="125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966" name="Equation" r:id="rId5" imgW="2349500" imgH="698500" progId="">
                  <p:embed/>
                </p:oleObj>
              </mc:Choice>
              <mc:Fallback>
                <p:oleObj name="Equation" r:id="rId5" imgW="2349500" imgH="6985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3073400"/>
                        <a:ext cx="4208463" cy="1252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2" name="Rectangle 8"/>
          <p:cNvSpPr>
            <a:spLocks noChangeArrowheads="1"/>
          </p:cNvSpPr>
          <p:nvPr/>
        </p:nvSpPr>
        <p:spPr bwMode="auto">
          <a:xfrm>
            <a:off x="457200" y="4464050"/>
            <a:ext cx="6347048" cy="468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于是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当 </a:t>
            </a:r>
            <a:r>
              <a:rPr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≠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0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且 </a:t>
            </a:r>
            <a:r>
              <a:rPr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≠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－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时，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方程组有唯一解．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  <p:bldP spid="4199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457200" y="952500"/>
            <a:ext cx="8229600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当 </a:t>
            </a:r>
            <a:r>
              <a:rPr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0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时，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1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2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，方程组无解．</a:t>
            </a:r>
          </a:p>
        </p:txBody>
      </p:sp>
      <p:graphicFrame>
        <p:nvGraphicFramePr>
          <p:cNvPr id="43013" name="Object 8"/>
          <p:cNvGraphicFramePr>
            <a:graphicFrameLocks noChangeAspect="1"/>
          </p:cNvGraphicFramePr>
          <p:nvPr/>
        </p:nvGraphicFramePr>
        <p:xfrm>
          <a:off x="2238375" y="444500"/>
          <a:ext cx="4349750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037" name="Equation" r:id="rId3" imgW="2171700" imgH="698500" progId="">
                  <p:embed/>
                </p:oleObj>
              </mc:Choice>
              <mc:Fallback>
                <p:oleObj name="Equation" r:id="rId3" imgW="2171700" imgH="69850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75" y="444500"/>
                        <a:ext cx="4349750" cy="140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4787900" y="908050"/>
            <a:ext cx="1728788" cy="504825"/>
            <a:chOff x="3016" y="572"/>
            <a:chExt cx="1089" cy="318"/>
          </a:xfrm>
        </p:grpSpPr>
        <p:sp>
          <p:nvSpPr>
            <p:cNvPr id="251916" name="Line 6"/>
            <p:cNvSpPr>
              <a:spLocks noChangeShapeType="1"/>
            </p:cNvSpPr>
            <p:nvPr/>
          </p:nvSpPr>
          <p:spPr bwMode="auto">
            <a:xfrm>
              <a:off x="3016" y="572"/>
              <a:ext cx="81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17" name="Line 7"/>
            <p:cNvSpPr>
              <a:spLocks noChangeShapeType="1"/>
            </p:cNvSpPr>
            <p:nvPr/>
          </p:nvSpPr>
          <p:spPr bwMode="auto">
            <a:xfrm>
              <a:off x="3833" y="572"/>
              <a:ext cx="0" cy="3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18" name="Line 8"/>
            <p:cNvSpPr>
              <a:spLocks noChangeShapeType="1"/>
            </p:cNvSpPr>
            <p:nvPr/>
          </p:nvSpPr>
          <p:spPr bwMode="auto">
            <a:xfrm>
              <a:off x="3833" y="890"/>
              <a:ext cx="27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3018" name="Rectangle 10"/>
          <p:cNvSpPr>
            <a:spLocks noChangeArrowheads="1"/>
          </p:cNvSpPr>
          <p:nvPr/>
        </p:nvSpPr>
        <p:spPr bwMode="auto">
          <a:xfrm>
            <a:off x="457200" y="3244850"/>
            <a:ext cx="8229600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当 </a:t>
            </a:r>
            <a:r>
              <a:rPr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－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时，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2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，方程组有无限多个解，其通解为</a:t>
            </a:r>
          </a:p>
        </p:txBody>
      </p:sp>
      <p:graphicFrame>
        <p:nvGraphicFramePr>
          <p:cNvPr id="43019" name="Object 9"/>
          <p:cNvGraphicFramePr>
            <a:graphicFrameLocks noChangeAspect="1"/>
          </p:cNvGraphicFramePr>
          <p:nvPr/>
        </p:nvGraphicFramePr>
        <p:xfrm>
          <a:off x="2559050" y="2736850"/>
          <a:ext cx="5468938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038" name="Equation" r:id="rId5" imgW="2730500" imgH="698500" progId="">
                  <p:embed/>
                </p:oleObj>
              </mc:Choice>
              <mc:Fallback>
                <p:oleObj name="Equation" r:id="rId5" imgW="2730500" imgH="69850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9050" y="2736850"/>
                        <a:ext cx="5468938" cy="140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0" name="Object 10"/>
          <p:cNvGraphicFramePr>
            <a:graphicFrameLocks noChangeAspect="1"/>
          </p:cNvGraphicFramePr>
          <p:nvPr/>
        </p:nvGraphicFramePr>
        <p:xfrm>
          <a:off x="3286125" y="4956175"/>
          <a:ext cx="2568575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039" name="Equation" r:id="rId7" imgW="1282700" imgH="711200" progId="">
                  <p:embed/>
                </p:oleObj>
              </mc:Choice>
              <mc:Fallback>
                <p:oleObj name="Equation" r:id="rId7" imgW="1282700" imgH="71120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4956175"/>
                        <a:ext cx="2568575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5895975" y="3197225"/>
            <a:ext cx="2060575" cy="504825"/>
            <a:chOff x="3714" y="2014"/>
            <a:chExt cx="1298" cy="318"/>
          </a:xfrm>
        </p:grpSpPr>
        <p:sp>
          <p:nvSpPr>
            <p:cNvPr id="251913" name="Line 14"/>
            <p:cNvSpPr>
              <a:spLocks noChangeShapeType="1"/>
            </p:cNvSpPr>
            <p:nvPr/>
          </p:nvSpPr>
          <p:spPr bwMode="auto">
            <a:xfrm>
              <a:off x="3714" y="2023"/>
              <a:ext cx="24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14" name="Line 15"/>
            <p:cNvSpPr>
              <a:spLocks noChangeShapeType="1"/>
            </p:cNvSpPr>
            <p:nvPr/>
          </p:nvSpPr>
          <p:spPr bwMode="auto">
            <a:xfrm>
              <a:off x="3969" y="2014"/>
              <a:ext cx="0" cy="3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15" name="Line 16"/>
            <p:cNvSpPr>
              <a:spLocks noChangeShapeType="1"/>
            </p:cNvSpPr>
            <p:nvPr/>
          </p:nvSpPr>
          <p:spPr bwMode="auto">
            <a:xfrm>
              <a:off x="3969" y="2332"/>
              <a:ext cx="1043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43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43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 build="p"/>
      <p:bldP spid="43018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098" name="Rectangle 6"/>
          <p:cNvSpPr>
            <a:spLocks noChangeArrowheads="1"/>
          </p:cNvSpPr>
          <p:nvPr/>
        </p:nvSpPr>
        <p:spPr bwMode="auto">
          <a:xfrm>
            <a:off x="457200" y="914697"/>
            <a:ext cx="8229600" cy="1828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定理：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元线性方程组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00"/>
              </a:buClr>
              <a:buFont typeface="Wingdings" pitchFamily="2" charset="2"/>
              <a:buAutoNum type="circleNumDbPlain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无解的充分必要条件是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&lt;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；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00"/>
              </a:buClr>
              <a:buFont typeface="Wingdings" pitchFamily="2" charset="2"/>
              <a:buAutoNum type="circleNumDbPlain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有唯一解的充分必要条件是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；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00"/>
              </a:buClr>
              <a:buFont typeface="Wingdings" pitchFamily="2" charset="2"/>
              <a:buAutoNum type="circleNumDbPlain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有无限多解的充分必要条件是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&lt;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sp>
        <p:nvSpPr>
          <p:cNvPr id="44039" name="Rectangle 7"/>
          <p:cNvSpPr>
            <a:spLocks noChangeArrowheads="1"/>
          </p:cNvSpPr>
          <p:nvPr/>
        </p:nvSpPr>
        <p:spPr bwMode="auto">
          <a:xfrm>
            <a:off x="457200" y="2881610"/>
            <a:ext cx="82296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分析：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因为对于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Ax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= 0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必有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0) =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，所以可从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判断齐次线性方程组的解的情况．</a:t>
            </a:r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auto">
          <a:xfrm>
            <a:off x="457200" y="4010322"/>
            <a:ext cx="8229600" cy="1606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定理：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元齐次线性方程组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= 0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有非零解的充分必要条件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&lt;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元齐次线性方程组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= 0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只有零解的充分必</a:t>
            </a: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要条件是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．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46856" y="5364063"/>
            <a:ext cx="7869560" cy="38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推论：</a:t>
            </a:r>
            <a:r>
              <a:rPr lang="zh-CN" altLang="en-US" sz="2400" b="1" dirty="0">
                <a:latin typeface="Times New Roman" pitchFamily="18" charset="0"/>
                <a:ea typeface="楷体_GB2312" pitchFamily="49" charset="-122"/>
              </a:rPr>
              <a:t>若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m&lt;n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元齐次线性方程组 </a:t>
            </a:r>
            <a:r>
              <a:rPr kumimoji="1" lang="en-US" altLang="zh-CN" sz="2400" b="1" i="1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900" b="1" i="1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en-US" altLang="zh-CN" sz="900" b="1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×</a:t>
            </a:r>
            <a:r>
              <a:rPr lang="en-US" altLang="zh-CN" sz="900" b="1" i="1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sz="1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= 0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有非零解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.</a:t>
            </a:r>
            <a:endParaRPr kumimoji="1" lang="zh-CN" altLang="en-US" sz="24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20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9" grpId="0" build="p"/>
      <p:bldP spid="44040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11560" y="1340768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求解齐次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线性方程组</a:t>
            </a:r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8608339"/>
              </p:ext>
            </p:extLst>
          </p:nvPr>
        </p:nvGraphicFramePr>
        <p:xfrm>
          <a:off x="3378572" y="2132856"/>
          <a:ext cx="2695575" cy="206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079" name="Equation" r:id="rId3" imgW="1346040" imgH="1028520" progId="Equation.DSMT4">
                  <p:embed/>
                </p:oleObj>
              </mc:Choice>
              <mc:Fallback>
                <p:oleObj name="Equation" r:id="rId3" imgW="1346040" imgH="1028520" progId="Equation.DSMT4">
                  <p:embed/>
                  <p:pic>
                    <p:nvPicPr>
                      <p:cNvPr id="24473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572" y="2132856"/>
                        <a:ext cx="2695575" cy="206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51349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9" name="Rectangle 2"/>
          <p:cNvSpPr>
            <a:spLocks noChangeArrowheads="1"/>
          </p:cNvSpPr>
          <p:nvPr/>
        </p:nvSpPr>
        <p:spPr bwMode="auto">
          <a:xfrm>
            <a:off x="457200" y="2038275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求解齐次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线性方程组</a:t>
            </a:r>
          </a:p>
        </p:txBody>
      </p:sp>
      <p:graphicFrame>
        <p:nvGraphicFramePr>
          <p:cNvPr id="24473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538877"/>
              </p:ext>
            </p:extLst>
          </p:nvPr>
        </p:nvGraphicFramePr>
        <p:xfrm>
          <a:off x="2840038" y="2795513"/>
          <a:ext cx="3433762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56" name="Equation" r:id="rId3" imgW="1714500" imgH="711200" progId="">
                  <p:embed/>
                </p:oleObj>
              </mc:Choice>
              <mc:Fallback>
                <p:oleObj name="Equation" r:id="rId3" imgW="1714500" imgH="711200" progId="">
                  <p:embed/>
                  <p:pic>
                    <p:nvPicPr>
                      <p:cNvPr id="24473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0038" y="2795513"/>
                        <a:ext cx="3433762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1442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5" name="Rectangle 7"/>
          <p:cNvSpPr>
            <a:spLocks noChangeArrowheads="1"/>
          </p:cNvSpPr>
          <p:nvPr/>
        </p:nvSpPr>
        <p:spPr bwMode="auto">
          <a:xfrm>
            <a:off x="457200" y="1861592"/>
            <a:ext cx="8229600" cy="867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定理：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矩阵方程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有解的充分必要条件是</a:t>
            </a:r>
          </a:p>
          <a:p>
            <a:pPr algn="ctr"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．</a:t>
            </a:r>
          </a:p>
        </p:txBody>
      </p:sp>
      <p:sp>
        <p:nvSpPr>
          <p:cNvPr id="46088" name="Rectangle 8"/>
          <p:cNvSpPr>
            <a:spLocks noChangeArrowheads="1"/>
          </p:cNvSpPr>
          <p:nvPr/>
        </p:nvSpPr>
        <p:spPr bwMode="auto">
          <a:xfrm>
            <a:off x="457200" y="2860129"/>
            <a:ext cx="8507413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证明：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×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矩阵，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×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矩阵，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×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矩阵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把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和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按列分块，记作</a:t>
            </a:r>
          </a:p>
          <a:p>
            <a:pPr algn="ctr"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(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(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则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即矩阵方程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有解        线性方程组 </a:t>
            </a:r>
            <a:r>
              <a:rPr kumimoji="1" lang="en-US" altLang="zh-CN" sz="2400" b="1" i="1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 i="1" baseline="-25000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i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i="1" baseline="-250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i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有解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                                               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i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</a:p>
        </p:txBody>
      </p:sp>
      <p:graphicFrame>
        <p:nvGraphicFramePr>
          <p:cNvPr id="4608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041474"/>
              </p:ext>
            </p:extLst>
          </p:nvPr>
        </p:nvGraphicFramePr>
        <p:xfrm>
          <a:off x="889000" y="4622254"/>
          <a:ext cx="287496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143" name="Equation" r:id="rId3" imgW="1435100" imgH="228600" progId="">
                  <p:embed/>
                </p:oleObj>
              </mc:Choice>
              <mc:Fallback>
                <p:oleObj name="Equation" r:id="rId3" imgW="1435100" imgH="22860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0" y="4622254"/>
                        <a:ext cx="2874963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5450244"/>
              </p:ext>
            </p:extLst>
          </p:nvPr>
        </p:nvGraphicFramePr>
        <p:xfrm>
          <a:off x="3763963" y="4622254"/>
          <a:ext cx="272097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144" name="Equation" r:id="rId5" imgW="1358900" imgH="228600" progId="">
                  <p:embed/>
                </p:oleObj>
              </mc:Choice>
              <mc:Fallback>
                <p:oleObj name="Equation" r:id="rId5" imgW="1358900" imgH="22860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3963" y="4622254"/>
                        <a:ext cx="2720975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1352852"/>
              </p:ext>
            </p:extLst>
          </p:nvPr>
        </p:nvGraphicFramePr>
        <p:xfrm>
          <a:off x="6470650" y="4622254"/>
          <a:ext cx="249396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145" name="Equation" r:id="rId7" imgW="1244600" imgH="228600" progId="">
                  <p:embed/>
                </p:oleObj>
              </mc:Choice>
              <mc:Fallback>
                <p:oleObj name="Equation" r:id="rId7" imgW="1244600" imgH="22860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0650" y="4622254"/>
                        <a:ext cx="2493963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2754242"/>
              </p:ext>
            </p:extLst>
          </p:nvPr>
        </p:nvGraphicFramePr>
        <p:xfrm>
          <a:off x="3924300" y="5269954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146" name="Equation" r:id="rId9" imgW="215713" imgH="139579" progId="">
                  <p:embed/>
                </p:oleObj>
              </mc:Choice>
              <mc:Fallback>
                <p:oleObj name="Equation" r:id="rId9" imgW="215713" imgH="139579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5269954"/>
                        <a:ext cx="431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3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079949"/>
              </p:ext>
            </p:extLst>
          </p:nvPr>
        </p:nvGraphicFramePr>
        <p:xfrm>
          <a:off x="3924300" y="5830342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147" name="Equation" r:id="rId11" imgW="215713" imgH="139579" progId="">
                  <p:embed/>
                </p:oleObj>
              </mc:Choice>
              <mc:Fallback>
                <p:oleObj name="Equation" r:id="rId11" imgW="215713" imgH="139579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5830342"/>
                        <a:ext cx="431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457200" y="692696"/>
            <a:ext cx="8229600" cy="867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定理：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线性方程组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有解的充分必要条件是</a:t>
            </a:r>
          </a:p>
          <a:p>
            <a:pPr algn="ctr"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460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60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60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5" grpId="0"/>
      <p:bldP spid="46088" grpId="0" build="p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457200" y="525463"/>
            <a:ext cx="82296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的行最简形矩阵为    ，则      有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个非零行，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且      的后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－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行全是零</a:t>
            </a: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．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再设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从而             ． </a:t>
            </a:r>
          </a:p>
        </p:txBody>
      </p:sp>
      <p:graphicFrame>
        <p:nvGraphicFramePr>
          <p:cNvPr id="47110" name="Object 26"/>
          <p:cNvGraphicFramePr>
            <a:graphicFrameLocks noChangeAspect="1"/>
          </p:cNvGraphicFramePr>
          <p:nvPr/>
        </p:nvGraphicFramePr>
        <p:xfrm>
          <a:off x="5075238" y="547688"/>
          <a:ext cx="331787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437" name="Equation" r:id="rId3" imgW="164957" imgH="203024" progId="">
                  <p:embed/>
                </p:oleObj>
              </mc:Choice>
              <mc:Fallback>
                <p:oleObj name="Equation" r:id="rId3" imgW="164957" imgH="203024" progId="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238" y="547688"/>
                        <a:ext cx="331787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1" name="Object 27"/>
          <p:cNvGraphicFramePr>
            <a:graphicFrameLocks noChangeAspect="1"/>
          </p:cNvGraphicFramePr>
          <p:nvPr/>
        </p:nvGraphicFramePr>
        <p:xfrm>
          <a:off x="6111875" y="547688"/>
          <a:ext cx="33178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438" name="Equation" r:id="rId5" imgW="164957" imgH="203024" progId="">
                  <p:embed/>
                </p:oleObj>
              </mc:Choice>
              <mc:Fallback>
                <p:oleObj name="Equation" r:id="rId5" imgW="164957" imgH="203024" progId="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75" y="547688"/>
                        <a:ext cx="331788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2" name="Object 28"/>
          <p:cNvGraphicFramePr>
            <a:graphicFrameLocks noChangeAspect="1"/>
          </p:cNvGraphicFramePr>
          <p:nvPr/>
        </p:nvGraphicFramePr>
        <p:xfrm>
          <a:off x="927100" y="1004888"/>
          <a:ext cx="33178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439" name="Equation" r:id="rId6" imgW="164957" imgH="203024" progId="">
                  <p:embed/>
                </p:oleObj>
              </mc:Choice>
              <mc:Fallback>
                <p:oleObj name="Equation" r:id="rId6" imgW="164957" imgH="203024" progId="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1004888"/>
                        <a:ext cx="331788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3" name="Object 29"/>
          <p:cNvGraphicFramePr>
            <a:graphicFrameLocks noChangeAspect="1"/>
          </p:cNvGraphicFramePr>
          <p:nvPr/>
        </p:nvGraphicFramePr>
        <p:xfrm>
          <a:off x="1230313" y="1350963"/>
          <a:ext cx="5238750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440" name="Equation" r:id="rId7" imgW="2616200" imgH="317500" progId="">
                  <p:embed/>
                </p:oleObj>
              </mc:Choice>
              <mc:Fallback>
                <p:oleObj name="Equation" r:id="rId7" imgW="2616200" imgH="317500" progId="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313" y="1350963"/>
                        <a:ext cx="5238750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4" name="Object 30"/>
          <p:cNvGraphicFramePr>
            <a:graphicFrameLocks noChangeAspect="1"/>
          </p:cNvGraphicFramePr>
          <p:nvPr/>
        </p:nvGraphicFramePr>
        <p:xfrm>
          <a:off x="1230313" y="1812925"/>
          <a:ext cx="1882775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441" name="Equation" r:id="rId9" imgW="939392" imgH="317362" progId="">
                  <p:embed/>
                </p:oleObj>
              </mc:Choice>
              <mc:Fallback>
                <p:oleObj name="Equation" r:id="rId9" imgW="939392" imgH="317362" progId="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313" y="1812925"/>
                        <a:ext cx="1882775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5" name="Rectangle 11"/>
          <p:cNvSpPr>
            <a:spLocks noChangeArrowheads="1"/>
          </p:cNvSpPr>
          <p:nvPr/>
        </p:nvSpPr>
        <p:spPr bwMode="auto">
          <a:xfrm>
            <a:off x="457200" y="2749550"/>
            <a:ext cx="8229600" cy="275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矩阵方程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有解        线性方程组 </a:t>
            </a:r>
            <a:r>
              <a:rPr kumimoji="1" lang="en-US" altLang="zh-CN" sz="2400" b="1" i="1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 i="1" baseline="-25000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i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i="1" baseline="-250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i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有解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                                           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i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                                               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的后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－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个元素全是零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                                                                    的后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－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行全是零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                                           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．</a:t>
            </a:r>
          </a:p>
        </p:txBody>
      </p:sp>
      <p:graphicFrame>
        <p:nvGraphicFramePr>
          <p:cNvPr id="47118" name="Object 31"/>
          <p:cNvGraphicFramePr>
            <a:graphicFrameLocks noChangeAspect="1"/>
          </p:cNvGraphicFramePr>
          <p:nvPr/>
        </p:nvGraphicFramePr>
        <p:xfrm>
          <a:off x="4122738" y="3927475"/>
          <a:ext cx="3048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442" name="Equation" r:id="rId11" imgW="152268" imgH="253780" progId="">
                  <p:embed/>
                </p:oleObj>
              </mc:Choice>
              <mc:Fallback>
                <p:oleObj name="Equation" r:id="rId11" imgW="152268" imgH="253780" progId="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738" y="3927475"/>
                        <a:ext cx="30480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9" name="Object 32"/>
          <p:cNvGraphicFramePr>
            <a:graphicFrameLocks noChangeAspect="1"/>
          </p:cNvGraphicFramePr>
          <p:nvPr/>
        </p:nvGraphicFramePr>
        <p:xfrm>
          <a:off x="3563938" y="2924175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443" name="Equation" r:id="rId13" imgW="215713" imgH="139579" progId="">
                  <p:embed/>
                </p:oleObj>
              </mc:Choice>
              <mc:Fallback>
                <p:oleObj name="Equation" r:id="rId13" imgW="215713" imgH="139579" progId="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2924175"/>
                        <a:ext cx="431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0" name="Object 33"/>
          <p:cNvGraphicFramePr>
            <a:graphicFrameLocks noChangeAspect="1"/>
          </p:cNvGraphicFramePr>
          <p:nvPr/>
        </p:nvGraphicFramePr>
        <p:xfrm>
          <a:off x="3563938" y="3484563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444" name="Equation" r:id="rId15" imgW="215713" imgH="139579" progId="">
                  <p:embed/>
                </p:oleObj>
              </mc:Choice>
              <mc:Fallback>
                <p:oleObj name="Equation" r:id="rId15" imgW="215713" imgH="139579" progId="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3484563"/>
                        <a:ext cx="431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1" name="Object 34"/>
          <p:cNvGraphicFramePr>
            <a:graphicFrameLocks noChangeAspect="1"/>
          </p:cNvGraphicFramePr>
          <p:nvPr/>
        </p:nvGraphicFramePr>
        <p:xfrm>
          <a:off x="3563938" y="4044950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445" name="Equation" r:id="rId16" imgW="215713" imgH="139579" progId="">
                  <p:embed/>
                </p:oleObj>
              </mc:Choice>
              <mc:Fallback>
                <p:oleObj name="Equation" r:id="rId16" imgW="215713" imgH="139579" progId="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4044950"/>
                        <a:ext cx="431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2" name="Object 35"/>
          <p:cNvGraphicFramePr>
            <a:graphicFrameLocks noChangeAspect="1"/>
          </p:cNvGraphicFramePr>
          <p:nvPr/>
        </p:nvGraphicFramePr>
        <p:xfrm>
          <a:off x="3563938" y="4605338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446" name="Equation" r:id="rId17" imgW="215713" imgH="139579" progId="">
                  <p:embed/>
                </p:oleObj>
              </mc:Choice>
              <mc:Fallback>
                <p:oleObj name="Equation" r:id="rId17" imgW="215713" imgH="139579" progId="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4605338"/>
                        <a:ext cx="431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3" name="Object 36"/>
          <p:cNvGraphicFramePr>
            <a:graphicFrameLocks noChangeAspect="1"/>
          </p:cNvGraphicFramePr>
          <p:nvPr/>
        </p:nvGraphicFramePr>
        <p:xfrm>
          <a:off x="4140200" y="4448175"/>
          <a:ext cx="16795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447" name="Equation" r:id="rId18" imgW="837836" imgH="253890" progId="">
                  <p:embed/>
                </p:oleObj>
              </mc:Choice>
              <mc:Fallback>
                <p:oleObj name="Equation" r:id="rId18" imgW="837836" imgH="253890" progId="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4448175"/>
                        <a:ext cx="167957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4" name="Object 37"/>
          <p:cNvGraphicFramePr>
            <a:graphicFrameLocks noChangeAspect="1"/>
          </p:cNvGraphicFramePr>
          <p:nvPr/>
        </p:nvGraphicFramePr>
        <p:xfrm>
          <a:off x="3563938" y="5165725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448" name="Equation" r:id="rId20" imgW="215713" imgH="139579" progId="">
                  <p:embed/>
                </p:oleObj>
              </mc:Choice>
              <mc:Fallback>
                <p:oleObj name="Equation" r:id="rId20" imgW="215713" imgH="139579" progId="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5165725"/>
                        <a:ext cx="431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7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7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7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7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7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7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9" grpId="0" build="p"/>
      <p:bldP spid="4711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122" name="Rectangle 12"/>
          <p:cNvSpPr>
            <a:spLocks noChangeArrowheads="1"/>
          </p:cNvSpPr>
          <p:nvPr/>
        </p:nvSpPr>
        <p:spPr bwMode="auto">
          <a:xfrm>
            <a:off x="457200" y="525463"/>
            <a:ext cx="8229600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定理：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矩阵方程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有解的充分必要条件是</a:t>
            </a:r>
          </a:p>
          <a:p>
            <a:pPr algn="ctr"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．</a:t>
            </a:r>
          </a:p>
        </p:txBody>
      </p:sp>
      <p:sp>
        <p:nvSpPr>
          <p:cNvPr id="48143" name="Rectangle 15"/>
          <p:cNvSpPr>
            <a:spLocks noChangeArrowheads="1"/>
          </p:cNvSpPr>
          <p:nvPr/>
        </p:nvSpPr>
        <p:spPr bwMode="auto">
          <a:xfrm>
            <a:off x="457200" y="177800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定理：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，则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≤ min{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)}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sp>
        <p:nvSpPr>
          <p:cNvPr id="48144" name="Rectangle 16"/>
          <p:cNvSpPr>
            <a:spLocks noChangeArrowheads="1"/>
          </p:cNvSpPr>
          <p:nvPr/>
        </p:nvSpPr>
        <p:spPr bwMode="auto">
          <a:xfrm>
            <a:off x="457200" y="2468563"/>
            <a:ext cx="8229600" cy="275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证明：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因为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，所以矩阵方程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有解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于是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≤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，故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≤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又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zh-CN" sz="2400" b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en-US" altLang="zh-CN" sz="2400" b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，即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T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en-US" altLang="zh-CN" sz="2400" b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，所以矩阵方程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b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en-US" altLang="zh-CN" sz="2400" b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T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有解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同理可得，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≤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综上所述，可知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≤ min{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)}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48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48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48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48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48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48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43" grpId="0"/>
      <p:bldP spid="48144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684213" y="765175"/>
            <a:ext cx="19700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rgbClr val="000000"/>
                </a:solidFill>
                <a:ea typeface="宋体" panose="02010600030101010101" pitchFamily="2" charset="-122"/>
              </a:rPr>
              <a:t>总结如下：</a:t>
            </a:r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174424"/>
              </p:ext>
            </p:extLst>
          </p:nvPr>
        </p:nvGraphicFramePr>
        <p:xfrm>
          <a:off x="622300" y="1744663"/>
          <a:ext cx="7251700" cy="275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6" name="Equation" r:id="rId3" imgW="3111480" imgH="1180800" progId="Equation.DSMT4">
                  <p:embed/>
                </p:oleObj>
              </mc:Choice>
              <mc:Fallback>
                <p:oleObj name="Equation" r:id="rId3" imgW="3111480" imgH="1180800" progId="Equation.DSMT4">
                  <p:embed/>
                  <p:pic>
                    <p:nvPicPr>
                      <p:cNvPr id="184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" y="1744663"/>
                        <a:ext cx="7251700" cy="275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1524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4" name="文本框 1"/>
          <p:cNvSpPr txBox="1">
            <a:spLocks noChangeArrowheads="1"/>
          </p:cNvSpPr>
          <p:nvPr/>
        </p:nvSpPr>
        <p:spPr bwMode="auto">
          <a:xfrm>
            <a:off x="2843808" y="1700808"/>
            <a:ext cx="2528256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作业    习题三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13.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14.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）（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17.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6340638"/>
      </p:ext>
    </p:extLst>
  </p:cSld>
  <p:clrMapOvr>
    <a:masterClrMapping/>
  </p:clrMapOvr>
</p:sld>
</file>

<file path=ppt/theme/theme1.xml><?xml version="1.0" encoding="utf-8"?>
<a:theme xmlns:a="http://schemas.openxmlformats.org/drawingml/2006/main" name="13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3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1_Blends 5">
    <a:dk1>
      <a:srgbClr val="000000"/>
    </a:dk1>
    <a:lt1>
      <a:srgbClr val="FFFFFF"/>
    </a:lt1>
    <a:dk2>
      <a:srgbClr val="000066"/>
    </a:dk2>
    <a:lt2>
      <a:srgbClr val="333333"/>
    </a:lt2>
    <a:accent1>
      <a:srgbClr val="C4709A"/>
    </a:accent1>
    <a:accent2>
      <a:srgbClr val="4B4EB5"/>
    </a:accent2>
    <a:accent3>
      <a:srgbClr val="FFFFFF"/>
    </a:accent3>
    <a:accent4>
      <a:srgbClr val="000000"/>
    </a:accent4>
    <a:accent5>
      <a:srgbClr val="DEBBCA"/>
    </a:accent5>
    <a:accent6>
      <a:srgbClr val="4346A4"/>
    </a:accent6>
    <a:hlink>
      <a:srgbClr val="C481CF"/>
    </a:hlink>
    <a:folHlink>
      <a:srgbClr val="76B74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3370</TotalTime>
  <Words>1870</Words>
  <Application>Microsoft Office PowerPoint</Application>
  <PresentationFormat>全屏显示(4:3)</PresentationFormat>
  <Paragraphs>197</Paragraphs>
  <Slides>29</Slides>
  <Notes>0</Notes>
  <HiddenSlides>3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楷体_GB2312</vt:lpstr>
      <vt:lpstr>Arial</vt:lpstr>
      <vt:lpstr>Arial Black</vt:lpstr>
      <vt:lpstr>Calibri</vt:lpstr>
      <vt:lpstr>Symbol</vt:lpstr>
      <vt:lpstr>Times New Roman</vt:lpstr>
      <vt:lpstr>Wingdings</vt:lpstr>
      <vt:lpstr>13_Blends</vt:lpstr>
      <vt:lpstr>13_Pixel</vt:lpstr>
      <vt:lpstr>Equation</vt:lpstr>
      <vt:lpstr>§3  线性方程组的解</vt:lpstr>
      <vt:lpstr>一、线性方程组的表达式</vt:lpstr>
      <vt:lpstr>二、线性方程组的解的判定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线性代数（第五版）</dc:title>
  <dc:creator>卢浩杰</dc:creator>
  <cp:lastModifiedBy>Lenovo</cp:lastModifiedBy>
  <cp:revision>45</cp:revision>
  <dcterms:created xsi:type="dcterms:W3CDTF">2012-04-21T04:49:10Z</dcterms:created>
  <dcterms:modified xsi:type="dcterms:W3CDTF">2023-11-13T04:02:23Z</dcterms:modified>
</cp:coreProperties>
</file>