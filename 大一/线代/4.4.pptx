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3" r:id="rId1"/>
    <p:sldMasterId id="2147484115" r:id="rId2"/>
  </p:sldMasterIdLst>
  <p:notesMasterIdLst>
    <p:notesMasterId r:id="rId22"/>
  </p:notesMasterIdLst>
  <p:sldIdLst>
    <p:sldId id="653" r:id="rId3"/>
    <p:sldId id="654" r:id="rId4"/>
    <p:sldId id="655" r:id="rId5"/>
    <p:sldId id="656" r:id="rId6"/>
    <p:sldId id="657" r:id="rId7"/>
    <p:sldId id="658" r:id="rId8"/>
    <p:sldId id="674" r:id="rId9"/>
    <p:sldId id="662" r:id="rId10"/>
    <p:sldId id="663" r:id="rId11"/>
    <p:sldId id="664" r:id="rId12"/>
    <p:sldId id="665" r:id="rId13"/>
    <p:sldId id="675" r:id="rId14"/>
    <p:sldId id="668" r:id="rId15"/>
    <p:sldId id="669" r:id="rId16"/>
    <p:sldId id="670" r:id="rId17"/>
    <p:sldId id="671" r:id="rId18"/>
    <p:sldId id="672" r:id="rId19"/>
    <p:sldId id="673" r:id="rId20"/>
    <p:sldId id="677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4F9F8EE-7994-4CD3-ACE9-6AFF018A4ED6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D66DC4F-202E-4AAB-B09E-49422805CC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573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66DC4F-202E-4AAB-B09E-49422805CC2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875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7E6FFC8C-5BBF-4185-881B-E16EAEEBE7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74642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319285-E2B2-46FF-903F-E45D3BE484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385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A831E3F-FDDC-49BC-9A6E-A8B3A872F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12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EC792C2-645D-4FC5-B592-D777523426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46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336881B-CC85-4C7D-90FC-7A156A9E88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061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8D14C6C-858B-40B1-B09E-517AA4897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99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D60CB74-EA51-454D-852B-003EB8958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007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625F606-14A9-4E82-9F72-F46BCE046A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00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8F83492-9CAD-4B29-B6D1-50ABDF404C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06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787C0D5-468D-4039-95AF-CFCBE6C577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79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13C711-5CF5-44EC-BFC0-0A23CF917F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6895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AD3C5FD-B444-4081-9DC5-7FA501830D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6314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FFA1638-FFC4-4750-A9D0-E9ED3CE2E3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3273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62253A-69C4-421E-9896-7E9C59422B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5858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7BA573E-A377-47DA-A21A-1F146A61A6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6408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93D142E-4FD6-48D7-8686-EBAE843880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7041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948D43A-E019-4FD3-8A94-A3A8D630B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495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09BC000-D7D3-44A5-8F43-B80966293D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9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138481-DB12-4477-9AC2-3184006B8A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818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370B58C-AF18-4513-8316-064D3F8967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8521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419A704-BC53-4D1D-9EFA-A490EE0D83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3108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6C1E3A-B9B7-4788-B5C6-8DC3B753E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866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551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551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D8907E6-3B00-4A0B-BFDD-FEA1E03AB6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6" r:id="rId1"/>
    <p:sldLayoutId id="2147485177" r:id="rId2"/>
    <p:sldLayoutId id="2147485178" r:id="rId3"/>
    <p:sldLayoutId id="2147485179" r:id="rId4"/>
    <p:sldLayoutId id="2147485180" r:id="rId5"/>
    <p:sldLayoutId id="2147485181" r:id="rId6"/>
    <p:sldLayoutId id="2147485182" r:id="rId7"/>
    <p:sldLayoutId id="2147485183" r:id="rId8"/>
    <p:sldLayoutId id="2147485184" r:id="rId9"/>
    <p:sldLayoutId id="2147485185" r:id="rId10"/>
    <p:sldLayoutId id="214748518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75F844C-36D3-4C60-951A-150674B0E5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653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653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653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7" r:id="rId1"/>
    <p:sldLayoutId id="2147485188" r:id="rId2"/>
    <p:sldLayoutId id="2147485189" r:id="rId3"/>
    <p:sldLayoutId id="2147485190" r:id="rId4"/>
    <p:sldLayoutId id="2147485191" r:id="rId5"/>
    <p:sldLayoutId id="2147485192" r:id="rId6"/>
    <p:sldLayoutId id="2147485193" r:id="rId7"/>
    <p:sldLayoutId id="2147485194" r:id="rId8"/>
    <p:sldLayoutId id="2147485195" r:id="rId9"/>
    <p:sldLayoutId id="2147485196" r:id="rId10"/>
    <p:sldLayoutId id="21474851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dirty="0">
                <a:solidFill>
                  <a:srgbClr val="CC0099"/>
                </a:solidFill>
                <a:latin typeface="楷体_GB2312" pitchFamily="49" charset="-122"/>
              </a:rPr>
              <a:t>§</a:t>
            </a:r>
            <a:r>
              <a:rPr kumimoji="1" lang="en-US" altLang="zh-CN" sz="3600" dirty="0">
                <a:solidFill>
                  <a:srgbClr val="CC0099"/>
                </a:solidFill>
              </a:rPr>
              <a:t>4</a:t>
            </a:r>
            <a:r>
              <a:rPr kumimoji="1" lang="en-US" altLang="zh-CN" sz="3600" dirty="0">
                <a:solidFill>
                  <a:srgbClr val="CC0099"/>
                </a:solidFill>
                <a:latin typeface="楷体_GB2312" pitchFamily="49" charset="-122"/>
              </a:rPr>
              <a:t>  </a:t>
            </a:r>
            <a:r>
              <a:rPr kumimoji="1" lang="zh-CN" altLang="en-US" sz="3600" dirty="0">
                <a:solidFill>
                  <a:srgbClr val="CC0099"/>
                </a:solidFill>
                <a:latin typeface="楷体_GB2312" pitchFamily="49" charset="-122"/>
              </a:rPr>
              <a:t>向量空间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封闭的概念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62950" cy="3195638"/>
          </a:xfrm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zh-CN" altLang="en-US" dirty="0"/>
              <a:t>所谓</a:t>
            </a:r>
            <a:r>
              <a:rPr kumimoji="1" lang="zh-CN" altLang="en-US" dirty="0">
                <a:solidFill>
                  <a:srgbClr val="FF0000"/>
                </a:solidFill>
              </a:rPr>
              <a:t>封闭</a:t>
            </a:r>
            <a:r>
              <a:rPr kumimoji="1" lang="zh-CN" altLang="en-US" dirty="0"/>
              <a:t>，是指集合中任意两个元素作某一运算得到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的结果仍属于该集合．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例：</a:t>
            </a:r>
            <a:r>
              <a:rPr kumimoji="1" lang="zh-CN" altLang="en-US" dirty="0"/>
              <a:t>试讨论下列数集对四则运算是否封闭？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</a:pPr>
            <a:r>
              <a:rPr kumimoji="1" lang="zh-CN" altLang="en-US" dirty="0"/>
              <a:t>整数集 </a:t>
            </a:r>
            <a:r>
              <a:rPr kumimoji="1" lang="en-US" altLang="zh-CN" i="1" dirty="0"/>
              <a:t>Z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</a:pPr>
            <a:r>
              <a:rPr kumimoji="1" lang="zh-CN" altLang="en-US" dirty="0"/>
              <a:t>有理数集 </a:t>
            </a:r>
            <a:r>
              <a:rPr kumimoji="1" lang="en-US" altLang="zh-CN" i="1" dirty="0"/>
              <a:t>Q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</a:pPr>
            <a:r>
              <a:rPr kumimoji="1" lang="zh-CN" altLang="en-US" dirty="0"/>
              <a:t>实数集 </a:t>
            </a:r>
            <a:r>
              <a:rPr kumimoji="1" lang="en-US" altLang="zh-CN" i="1" dirty="0"/>
              <a:t>R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5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4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3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向量空间的概念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62950" cy="3852863"/>
          </a:xfrm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定义：</a:t>
            </a:r>
            <a:r>
              <a:rPr lang="zh-CN" altLang="en-US" dirty="0"/>
              <a:t>设 </a:t>
            </a:r>
            <a:r>
              <a:rPr lang="en-US" altLang="zh-CN" i="1" dirty="0"/>
              <a:t>V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kumimoji="1" lang="zh-CN" altLang="en-US" dirty="0"/>
              <a:t>维向量的集合，如果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zh-CN" dirty="0"/>
              <a:t>①</a:t>
            </a:r>
            <a:r>
              <a:rPr kumimoji="1" lang="zh-CN" altLang="en-US" dirty="0"/>
              <a:t> 集合 </a:t>
            </a:r>
            <a:r>
              <a:rPr kumimoji="1" lang="en-US" altLang="zh-CN" i="1" dirty="0"/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非空，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zh-CN" dirty="0"/>
              <a:t>②</a:t>
            </a:r>
            <a:r>
              <a:rPr kumimoji="1" lang="zh-CN" altLang="en-US" dirty="0"/>
              <a:t> 集合 </a:t>
            </a:r>
            <a:r>
              <a:rPr kumimoji="1" lang="en-US" altLang="zh-CN" i="1" dirty="0"/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对于向量的</a:t>
            </a:r>
            <a:r>
              <a:rPr kumimoji="1" lang="zh-CN" altLang="en-US" dirty="0">
                <a:solidFill>
                  <a:srgbClr val="0000FF"/>
                </a:solidFill>
              </a:rPr>
              <a:t>加法</a:t>
            </a:r>
            <a:r>
              <a:rPr kumimoji="1" lang="zh-CN" altLang="en-US" dirty="0"/>
              <a:t>和</a:t>
            </a:r>
            <a:r>
              <a:rPr kumimoji="1" lang="zh-CN" altLang="en-US" dirty="0">
                <a:solidFill>
                  <a:srgbClr val="0000FF"/>
                </a:solidFill>
              </a:rPr>
              <a:t>乘数</a:t>
            </a:r>
            <a:r>
              <a:rPr kumimoji="1" lang="zh-CN" altLang="en-US" dirty="0"/>
              <a:t>两种运算封闭，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具体地说，就是：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lang="zh-CN" altLang="en-US" dirty="0">
                <a:solidFill>
                  <a:srgbClr val="000000"/>
                </a:solidFill>
              </a:rPr>
              <a:t>若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∈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V</a:t>
            </a:r>
            <a:r>
              <a:rPr lang="zh-CN" altLang="en-US" dirty="0">
                <a:solidFill>
                  <a:srgbClr val="000000"/>
                </a:solidFill>
              </a:rPr>
              <a:t>， 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∈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V</a:t>
            </a:r>
            <a:r>
              <a:rPr lang="zh-CN" altLang="en-US" dirty="0">
                <a:solidFill>
                  <a:srgbClr val="000000"/>
                </a:solidFill>
              </a:rPr>
              <a:t>，则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+ 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∈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V </a:t>
            </a:r>
            <a:r>
              <a:rPr lang="zh-CN" altLang="en-US" dirty="0">
                <a:solidFill>
                  <a:srgbClr val="000000"/>
                </a:solidFill>
              </a:rPr>
              <a:t>．</a:t>
            </a:r>
            <a:r>
              <a:rPr lang="zh-CN" altLang="en-US" dirty="0">
                <a:solidFill>
                  <a:srgbClr val="0000FF"/>
                </a:solidFill>
              </a:rPr>
              <a:t>（对加法封闭）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Char char="ü"/>
            </a:pPr>
            <a:r>
              <a:rPr lang="zh-CN" altLang="en-US" dirty="0">
                <a:solidFill>
                  <a:srgbClr val="000000"/>
                </a:solidFill>
              </a:rPr>
              <a:t>若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∈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V</a:t>
            </a:r>
            <a:r>
              <a:rPr lang="zh-CN" altLang="en-US" dirty="0">
                <a:solidFill>
                  <a:srgbClr val="000000"/>
                </a:solidFill>
              </a:rPr>
              <a:t>， </a:t>
            </a:r>
            <a:r>
              <a:rPr lang="en-US" altLang="zh-CN" i="1" dirty="0">
                <a:solidFill>
                  <a:srgbClr val="000000"/>
                </a:solidFill>
                <a:latin typeface="Symbol" pitchFamily="18" charset="2"/>
              </a:rPr>
              <a:t>l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∈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，则 </a:t>
            </a:r>
            <a:r>
              <a:rPr lang="en-US" altLang="zh-CN" i="1" dirty="0">
                <a:solidFill>
                  <a:srgbClr val="000000"/>
                </a:solidFill>
                <a:latin typeface="Symbol" pitchFamily="18" charset="2"/>
              </a:rPr>
              <a:t>l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∈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V </a:t>
            </a:r>
            <a:r>
              <a:rPr lang="zh-CN" altLang="en-US" dirty="0">
                <a:solidFill>
                  <a:srgbClr val="000000"/>
                </a:solidFill>
              </a:rPr>
              <a:t>．</a:t>
            </a:r>
            <a:r>
              <a:rPr lang="zh-CN" altLang="en-US" dirty="0">
                <a:solidFill>
                  <a:srgbClr val="0000FF"/>
                </a:solidFill>
              </a:rPr>
              <a:t>（对乘数封闭）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en-US" dirty="0"/>
              <a:t>那么就称集合 </a:t>
            </a:r>
            <a:r>
              <a:rPr kumimoji="1" lang="en-US" altLang="zh-CN" i="1" dirty="0"/>
              <a:t>V </a:t>
            </a:r>
            <a:r>
              <a:rPr kumimoji="1" lang="zh-CN" altLang="en-US" dirty="0"/>
              <a:t>为</a:t>
            </a:r>
            <a:r>
              <a:rPr kumimoji="1" lang="zh-CN" altLang="en-US" dirty="0">
                <a:solidFill>
                  <a:srgbClr val="FF0000"/>
                </a:solidFill>
              </a:rPr>
              <a:t>向量空间</a:t>
            </a:r>
            <a:r>
              <a:rPr kumimoji="1" lang="zh-CN" altLang="en-US" dirty="0"/>
              <a:t>．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455613" y="754592"/>
            <a:ext cx="8509000" cy="541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下列哪些向量组构成向量空间？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kumimoji="1" lang="zh-CN" altLang="en-US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维向量的全体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{0}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一个向量空间中一定包含零向量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集合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集合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齐次线性方程组的解集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}</a:t>
            </a:r>
          </a:p>
          <a:p>
            <a:pPr marL="0" indent="0">
              <a:spcBef>
                <a:spcPct val="50000"/>
              </a:spcBef>
              <a:buClr>
                <a:srgbClr val="0000FF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齐次线性方程组的解集称为齐次线性方程组的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解空间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+mj-lt"/>
              <a:buAutoNum type="arabicPeriod" startAt="7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非齐次线性方程组的解集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}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en-US" altLang="zh-CN" sz="24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455613" y="455613"/>
            <a:ext cx="8148637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为两个已知的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维向量，集合</a:t>
            </a:r>
          </a:p>
          <a:p>
            <a:pPr algn="ctr"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∈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是一个向量空间吗？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zh-CN" altLang="en-US" sz="2400" b="1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，因为</a:t>
            </a:r>
            <a:endParaRPr kumimoji="1" lang="zh-CN" altLang="en-US" sz="2400" b="1">
              <a:solidFill>
                <a:srgbClr val="000000"/>
              </a:solidFill>
              <a:latin typeface="Monotype Corsiva" pitchFamily="66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+ (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 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      = (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)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+ (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)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 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k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)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)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>
              <a:spcBef>
                <a:spcPct val="50000"/>
              </a:spcBef>
              <a:buClr>
                <a:srgbClr val="CCCCE6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所以，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是一个向量空间．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2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148637" cy="611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把集合</a:t>
            </a:r>
          </a:p>
          <a:p>
            <a:pPr algn="ctr"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由向量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所生成的向量空间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一般地，把集合</a:t>
            </a:r>
          </a:p>
          <a:p>
            <a:pPr algn="ctr"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由向量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所生成的向量空间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设向量组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b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等价，记</a:t>
            </a:r>
          </a:p>
          <a:p>
            <a:pPr algn="ctr"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 algn="ctr"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m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试证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结论：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等价的向量组所生成的空间相等．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5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5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25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404664"/>
            <a:ext cx="8229600" cy="1371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kern="0"/>
              <a:t>子空间的概念</a:t>
            </a:r>
            <a:endParaRPr lang="zh-CN" altLang="en-US" kern="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1815951"/>
            <a:ext cx="8362950" cy="4254500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kern="0" dirty="0">
                <a:solidFill>
                  <a:srgbClr val="0000FF"/>
                </a:solidFill>
              </a:rPr>
              <a:t>定义：</a:t>
            </a:r>
            <a:r>
              <a:rPr kumimoji="1" lang="zh-CN" altLang="en-US" kern="0" dirty="0"/>
              <a:t>如果向量空间 </a:t>
            </a:r>
            <a:r>
              <a:rPr kumimoji="1" lang="en-US" altLang="zh-CN" i="1" kern="0" dirty="0"/>
              <a:t>V</a:t>
            </a:r>
            <a:r>
              <a:rPr kumimoji="1" lang="en-US" altLang="zh-CN" kern="0" dirty="0"/>
              <a:t> </a:t>
            </a:r>
            <a:r>
              <a:rPr kumimoji="1" lang="zh-CN" altLang="en-US" kern="0" dirty="0"/>
              <a:t>的非空子集合 </a:t>
            </a:r>
            <a:r>
              <a:rPr kumimoji="1" lang="en-US" altLang="zh-CN" i="1" kern="0" dirty="0"/>
              <a:t>V</a:t>
            </a:r>
            <a:r>
              <a:rPr kumimoji="1" lang="en-US" altLang="zh-CN" kern="0" baseline="-25000" dirty="0"/>
              <a:t>1 </a:t>
            </a:r>
            <a:r>
              <a:rPr kumimoji="1" lang="zh-CN" altLang="en-US" kern="0" dirty="0"/>
              <a:t>对于 </a:t>
            </a:r>
            <a:r>
              <a:rPr kumimoji="1" lang="en-US" altLang="zh-CN" i="1" kern="0" dirty="0"/>
              <a:t>V</a:t>
            </a:r>
            <a:r>
              <a:rPr kumimoji="1" lang="en-US" altLang="zh-CN" kern="0" dirty="0"/>
              <a:t> </a:t>
            </a:r>
            <a:r>
              <a:rPr kumimoji="1" lang="zh-CN" altLang="en-US" kern="0" dirty="0"/>
              <a:t>中所定义的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kern="0" dirty="0"/>
              <a:t>加法及乘数两种运算是封闭的，则称 </a:t>
            </a:r>
            <a:r>
              <a:rPr kumimoji="1" lang="en-US" altLang="zh-CN" i="1" kern="0" dirty="0"/>
              <a:t>V</a:t>
            </a:r>
            <a:r>
              <a:rPr kumimoji="1" lang="en-US" altLang="zh-CN" kern="0" baseline="-25000" dirty="0"/>
              <a:t>1 </a:t>
            </a:r>
            <a:r>
              <a:rPr kumimoji="1" lang="zh-CN" altLang="en-US" kern="0" dirty="0"/>
              <a:t>是 </a:t>
            </a:r>
            <a:r>
              <a:rPr kumimoji="1" lang="en-US" altLang="zh-CN" i="1" kern="0" dirty="0"/>
              <a:t>V</a:t>
            </a:r>
            <a:r>
              <a:rPr kumimoji="1" lang="en-US" altLang="zh-CN" kern="0" dirty="0"/>
              <a:t> </a:t>
            </a:r>
            <a:r>
              <a:rPr kumimoji="1" lang="zh-CN" altLang="en-US" kern="0" dirty="0"/>
              <a:t>的</a:t>
            </a:r>
            <a:r>
              <a:rPr kumimoji="1" lang="zh-CN" altLang="en-US" kern="0" dirty="0">
                <a:solidFill>
                  <a:srgbClr val="FF0000"/>
                </a:solidFill>
              </a:rPr>
              <a:t>子空间</a:t>
            </a:r>
            <a:r>
              <a:rPr kumimoji="1" lang="zh-CN" altLang="en-US" kern="0" dirty="0"/>
              <a:t>． 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kern="0" dirty="0">
                <a:solidFill>
                  <a:srgbClr val="0000FF"/>
                </a:solidFill>
              </a:rPr>
              <a:t>例：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arabicPeriod"/>
            </a:pPr>
            <a:r>
              <a:rPr kumimoji="1" lang="zh-CN" altLang="en-US" kern="0" dirty="0">
                <a:solidFill>
                  <a:srgbClr val="000000"/>
                </a:solidFill>
              </a:rPr>
              <a:t> </a:t>
            </a:r>
            <a:r>
              <a:rPr kumimoji="1" lang="en-US" altLang="zh-CN" i="1" kern="0" dirty="0">
                <a:solidFill>
                  <a:srgbClr val="000000"/>
                </a:solidFill>
              </a:rPr>
              <a:t>n</a:t>
            </a:r>
            <a:r>
              <a:rPr kumimoji="1" lang="en-US" altLang="zh-CN" kern="0" dirty="0">
                <a:solidFill>
                  <a:srgbClr val="000000"/>
                </a:solidFill>
              </a:rPr>
              <a:t> </a:t>
            </a:r>
            <a:r>
              <a:rPr kumimoji="1" lang="zh-CN" altLang="en-US" kern="0" dirty="0">
                <a:solidFill>
                  <a:srgbClr val="000000"/>
                </a:solidFill>
              </a:rPr>
              <a:t>维向量的全体</a:t>
            </a:r>
            <a:r>
              <a:rPr kumimoji="1" lang="en-US" altLang="zh-CN" i="1" kern="0" dirty="0">
                <a:solidFill>
                  <a:srgbClr val="000000"/>
                </a:solidFill>
              </a:rPr>
              <a:t>R</a:t>
            </a:r>
            <a:r>
              <a:rPr kumimoji="1" lang="en-US" altLang="zh-CN" i="1" kern="0" baseline="30000" dirty="0">
                <a:solidFill>
                  <a:srgbClr val="000000"/>
                </a:solidFill>
              </a:rPr>
              <a:t>n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arabicPeriod"/>
            </a:pPr>
            <a:r>
              <a:rPr lang="zh-CN" altLang="en-US" kern="0" dirty="0">
                <a:solidFill>
                  <a:srgbClr val="000000"/>
                </a:solidFill>
              </a:rPr>
              <a:t>集合 </a:t>
            </a:r>
            <a:r>
              <a:rPr lang="en-US" altLang="zh-CN" i="1" kern="0" dirty="0">
                <a:solidFill>
                  <a:srgbClr val="000000"/>
                </a:solidFill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</a:rPr>
              <a:t>1</a:t>
            </a:r>
            <a:r>
              <a:rPr lang="en-US" altLang="zh-CN" kern="0" dirty="0">
                <a:solidFill>
                  <a:srgbClr val="000000"/>
                </a:solidFill>
              </a:rPr>
              <a:t> = { (</a:t>
            </a:r>
            <a:r>
              <a:rPr lang="en-US" altLang="zh-CN" kern="0" dirty="0">
                <a:solidFill>
                  <a:srgbClr val="FF0000"/>
                </a:solidFill>
              </a:rPr>
              <a:t>0</a:t>
            </a:r>
            <a:r>
              <a:rPr lang="en-US" altLang="zh-CN" kern="0" dirty="0">
                <a:solidFill>
                  <a:srgbClr val="000000"/>
                </a:solidFill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25000" dirty="0">
                <a:solidFill>
                  <a:srgbClr val="000000"/>
                </a:solidFill>
              </a:rPr>
              <a:t>2</a:t>
            </a:r>
            <a:r>
              <a:rPr lang="en-US" altLang="zh-CN" kern="0" dirty="0">
                <a:solidFill>
                  <a:srgbClr val="000000"/>
                </a:solidFill>
              </a:rPr>
              <a:t>, …, </a:t>
            </a:r>
            <a:r>
              <a:rPr lang="en-US" altLang="zh-CN" i="1" kern="0" dirty="0" err="1">
                <a:solidFill>
                  <a:srgbClr val="000000"/>
                </a:solidFill>
              </a:rPr>
              <a:t>x</a:t>
            </a:r>
            <a:r>
              <a:rPr lang="en-US" altLang="zh-CN" i="1" kern="0" baseline="-25000" dirty="0" err="1">
                <a:solidFill>
                  <a:srgbClr val="000000"/>
                </a:solidFill>
              </a:rPr>
              <a:t>n</a:t>
            </a:r>
            <a:r>
              <a:rPr lang="en-US" altLang="zh-CN" kern="0" dirty="0">
                <a:solidFill>
                  <a:srgbClr val="000000"/>
                </a:solidFill>
              </a:rPr>
              <a:t>)</a:t>
            </a:r>
            <a:r>
              <a:rPr lang="en-US" altLang="zh-CN" kern="0" baseline="30000" dirty="0">
                <a:solidFill>
                  <a:srgbClr val="000000"/>
                </a:solidFill>
              </a:rPr>
              <a:t>T </a:t>
            </a:r>
            <a:r>
              <a:rPr lang="en-US" altLang="zh-CN" kern="0" dirty="0">
                <a:solidFill>
                  <a:srgbClr val="000000"/>
                </a:solidFill>
              </a:rPr>
              <a:t>|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25000" dirty="0">
                <a:solidFill>
                  <a:srgbClr val="000000"/>
                </a:solidFill>
              </a:rPr>
              <a:t>2</a:t>
            </a:r>
            <a:r>
              <a:rPr lang="en-US" altLang="zh-CN" kern="0" dirty="0">
                <a:solidFill>
                  <a:srgbClr val="000000"/>
                </a:solidFill>
              </a:rPr>
              <a:t>, …, </a:t>
            </a:r>
            <a:r>
              <a:rPr lang="en-US" altLang="zh-CN" i="1" kern="0" dirty="0" err="1">
                <a:solidFill>
                  <a:srgbClr val="000000"/>
                </a:solidFill>
              </a:rPr>
              <a:t>x</a:t>
            </a:r>
            <a:r>
              <a:rPr lang="en-US" altLang="zh-CN" i="1" kern="0" baseline="-25000" dirty="0" err="1">
                <a:solidFill>
                  <a:srgbClr val="000000"/>
                </a:solidFill>
              </a:rPr>
              <a:t>n</a:t>
            </a:r>
            <a:r>
              <a:rPr kumimoji="1" lang="en-US" altLang="zh-CN" kern="0" dirty="0" err="1">
                <a:solidFill>
                  <a:srgbClr val="000000"/>
                </a:solidFill>
              </a:rPr>
              <a:t>∈</a:t>
            </a:r>
            <a:r>
              <a:rPr kumimoji="1" lang="en-US" altLang="zh-CN" i="1" kern="0" dirty="0" err="1">
                <a:solidFill>
                  <a:srgbClr val="000000"/>
                </a:solidFill>
              </a:rPr>
              <a:t>R</a:t>
            </a:r>
            <a:r>
              <a:rPr kumimoji="1" lang="en-US" altLang="zh-CN" kern="0" dirty="0">
                <a:solidFill>
                  <a:srgbClr val="000000"/>
                </a:solidFill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}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arabicPeriod"/>
            </a:pPr>
            <a:r>
              <a:rPr lang="zh-CN" altLang="en-US" kern="0" dirty="0">
                <a:solidFill>
                  <a:srgbClr val="000000"/>
                </a:solidFill>
              </a:rPr>
              <a:t>集合 </a:t>
            </a:r>
            <a:r>
              <a:rPr lang="en-US" altLang="zh-CN" i="1" kern="0" dirty="0">
                <a:solidFill>
                  <a:srgbClr val="000000"/>
                </a:solidFill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</a:rPr>
              <a:t>2</a:t>
            </a:r>
            <a:r>
              <a:rPr lang="en-US" altLang="zh-CN" kern="0" dirty="0">
                <a:solidFill>
                  <a:srgbClr val="000000"/>
                </a:solidFill>
              </a:rPr>
              <a:t> = { (</a:t>
            </a:r>
            <a:r>
              <a:rPr lang="en-US" altLang="zh-CN" kern="0" dirty="0">
                <a:solidFill>
                  <a:srgbClr val="FF0000"/>
                </a:solidFill>
              </a:rPr>
              <a:t>1</a:t>
            </a:r>
            <a:r>
              <a:rPr lang="en-US" altLang="zh-CN" kern="0" dirty="0">
                <a:solidFill>
                  <a:srgbClr val="000000"/>
                </a:solidFill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25000" dirty="0">
                <a:solidFill>
                  <a:srgbClr val="000000"/>
                </a:solidFill>
              </a:rPr>
              <a:t>2</a:t>
            </a:r>
            <a:r>
              <a:rPr lang="en-US" altLang="zh-CN" kern="0" dirty="0">
                <a:solidFill>
                  <a:srgbClr val="000000"/>
                </a:solidFill>
              </a:rPr>
              <a:t>, …, </a:t>
            </a:r>
            <a:r>
              <a:rPr lang="en-US" altLang="zh-CN" i="1" kern="0" dirty="0" err="1">
                <a:solidFill>
                  <a:srgbClr val="000000"/>
                </a:solidFill>
              </a:rPr>
              <a:t>x</a:t>
            </a:r>
            <a:r>
              <a:rPr lang="en-US" altLang="zh-CN" i="1" kern="0" baseline="-25000" dirty="0" err="1">
                <a:solidFill>
                  <a:srgbClr val="000000"/>
                </a:solidFill>
              </a:rPr>
              <a:t>n</a:t>
            </a:r>
            <a:r>
              <a:rPr lang="en-US" altLang="zh-CN" kern="0" dirty="0">
                <a:solidFill>
                  <a:srgbClr val="000000"/>
                </a:solidFill>
              </a:rPr>
              <a:t>)</a:t>
            </a:r>
            <a:r>
              <a:rPr lang="en-US" altLang="zh-CN" kern="0" baseline="30000" dirty="0">
                <a:solidFill>
                  <a:srgbClr val="000000"/>
                </a:solidFill>
              </a:rPr>
              <a:t>T </a:t>
            </a:r>
            <a:r>
              <a:rPr lang="en-US" altLang="zh-CN" kern="0" dirty="0">
                <a:solidFill>
                  <a:srgbClr val="000000"/>
                </a:solidFill>
              </a:rPr>
              <a:t>| </a:t>
            </a:r>
            <a:r>
              <a:rPr lang="en-US" altLang="zh-CN" i="1" kern="0" dirty="0">
                <a:solidFill>
                  <a:srgbClr val="000000"/>
                </a:solidFill>
              </a:rPr>
              <a:t>x</a:t>
            </a:r>
            <a:r>
              <a:rPr lang="en-US" altLang="zh-CN" kern="0" baseline="-25000" dirty="0">
                <a:solidFill>
                  <a:srgbClr val="000000"/>
                </a:solidFill>
              </a:rPr>
              <a:t>2</a:t>
            </a:r>
            <a:r>
              <a:rPr lang="en-US" altLang="zh-CN" kern="0" dirty="0">
                <a:solidFill>
                  <a:srgbClr val="000000"/>
                </a:solidFill>
              </a:rPr>
              <a:t>, …, </a:t>
            </a:r>
            <a:r>
              <a:rPr lang="en-US" altLang="zh-CN" i="1" kern="0" dirty="0" err="1">
                <a:solidFill>
                  <a:srgbClr val="000000"/>
                </a:solidFill>
              </a:rPr>
              <a:t>x</a:t>
            </a:r>
            <a:r>
              <a:rPr lang="en-US" altLang="zh-CN" i="1" kern="0" baseline="-25000" dirty="0" err="1">
                <a:solidFill>
                  <a:srgbClr val="000000"/>
                </a:solidFill>
              </a:rPr>
              <a:t>n</a:t>
            </a:r>
            <a:r>
              <a:rPr kumimoji="1" lang="en-US" altLang="zh-CN" kern="0" dirty="0" err="1">
                <a:solidFill>
                  <a:srgbClr val="000000"/>
                </a:solidFill>
              </a:rPr>
              <a:t>∈</a:t>
            </a:r>
            <a:r>
              <a:rPr kumimoji="1" lang="en-US" altLang="zh-CN" i="1" kern="0" dirty="0" err="1">
                <a:solidFill>
                  <a:srgbClr val="000000"/>
                </a:solidFill>
              </a:rPr>
              <a:t>R</a:t>
            </a:r>
            <a:r>
              <a:rPr kumimoji="1" lang="en-US" altLang="zh-CN" kern="0" dirty="0">
                <a:solidFill>
                  <a:srgbClr val="000000"/>
                </a:solidFill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}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kumimoji="1" lang="en-US" altLang="zh-CN" kern="0" dirty="0">
              <a:solidFill>
                <a:srgbClr val="0000FF"/>
              </a:solidFill>
            </a:endParaRP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kern="0" dirty="0">
                <a:solidFill>
                  <a:srgbClr val="0000FF"/>
                </a:solidFill>
              </a:rPr>
              <a:t>解：</a:t>
            </a:r>
            <a:r>
              <a:rPr kumimoji="1" lang="en-US" altLang="zh-CN" i="1" kern="0" dirty="0"/>
              <a:t>V</a:t>
            </a:r>
            <a:r>
              <a:rPr kumimoji="1" lang="en-US" altLang="zh-CN" kern="0" baseline="-25000" dirty="0"/>
              <a:t>1 </a:t>
            </a:r>
            <a:r>
              <a:rPr kumimoji="1" lang="zh-CN" altLang="en-US" kern="0" dirty="0"/>
              <a:t>是 </a:t>
            </a:r>
            <a:r>
              <a:rPr kumimoji="1" lang="en-US" altLang="zh-CN" i="1" kern="0" dirty="0"/>
              <a:t>R</a:t>
            </a:r>
            <a:r>
              <a:rPr kumimoji="1" lang="en-US" altLang="zh-CN" i="1" kern="0" baseline="30000" dirty="0"/>
              <a:t>n</a:t>
            </a:r>
            <a:r>
              <a:rPr kumimoji="1" lang="en-US" altLang="zh-CN" kern="0" baseline="30000" dirty="0"/>
              <a:t> </a:t>
            </a:r>
            <a:r>
              <a:rPr kumimoji="1" lang="zh-CN" altLang="en-US" kern="0" dirty="0"/>
              <a:t>的子空间，</a:t>
            </a:r>
            <a:r>
              <a:rPr kumimoji="1" lang="en-US" altLang="zh-CN" i="1" kern="0" dirty="0"/>
              <a:t>V</a:t>
            </a:r>
            <a:r>
              <a:rPr kumimoji="1" lang="en-US" altLang="zh-CN" kern="0" baseline="-25000" dirty="0"/>
              <a:t>2 </a:t>
            </a:r>
            <a:r>
              <a:rPr kumimoji="1" lang="zh-CN" altLang="en-US" kern="0" dirty="0"/>
              <a:t>不是 </a:t>
            </a:r>
            <a:r>
              <a:rPr kumimoji="1" lang="en-US" altLang="zh-CN" i="1" kern="0" dirty="0"/>
              <a:t>R</a:t>
            </a:r>
            <a:r>
              <a:rPr kumimoji="1" lang="en-US" altLang="zh-CN" i="1" kern="0" baseline="30000" dirty="0"/>
              <a:t>n</a:t>
            </a:r>
            <a:r>
              <a:rPr kumimoji="1" lang="en-US" altLang="zh-CN" kern="0" baseline="30000" dirty="0"/>
              <a:t> </a:t>
            </a:r>
            <a:r>
              <a:rPr kumimoji="1" lang="zh-CN" altLang="en-US" kern="0" dirty="0"/>
              <a:t>的子空间．</a:t>
            </a:r>
          </a:p>
        </p:txBody>
      </p:sp>
    </p:spTree>
    <p:extLst>
      <p:ext uri="{BB962C8B-B14F-4D97-AF65-F5344CB8AC3E}">
        <p14:creationId xmlns:p14="http://schemas.microsoft.com/office/powerpoint/2010/main" val="294920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向量空间的基的概念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507413" cy="3195638"/>
          </a:xfrm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zh-CN" altLang="en-US" dirty="0"/>
              <a:t>设有</a:t>
            </a:r>
            <a:r>
              <a:rPr kumimoji="1" lang="zh-CN" altLang="en-US" dirty="0">
                <a:solidFill>
                  <a:srgbClr val="0000FF"/>
                </a:solidFill>
              </a:rPr>
              <a:t>向量空间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000FF"/>
                </a:solidFill>
              </a:rPr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，如果在 </a:t>
            </a:r>
            <a:r>
              <a:rPr kumimoji="1" lang="en-US" altLang="zh-CN" i="1" dirty="0">
                <a:solidFill>
                  <a:srgbClr val="0000FF"/>
                </a:solidFill>
              </a:rPr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中能选出 </a:t>
            </a:r>
            <a:r>
              <a:rPr kumimoji="1" lang="en-US" altLang="zh-CN" i="1" dirty="0"/>
              <a:t>r </a:t>
            </a:r>
            <a:r>
              <a:rPr kumimoji="1" lang="zh-CN" altLang="en-US" dirty="0"/>
              <a:t>个向量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zh-CN" altLang="en-US" dirty="0"/>
              <a:t>，满足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① 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en-US" altLang="zh-CN" i="1" baseline="-25000" dirty="0"/>
              <a:t> </a:t>
            </a:r>
            <a:r>
              <a:rPr kumimoji="1" lang="zh-CN" altLang="en-US" dirty="0"/>
              <a:t>线性无关；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②  </a:t>
            </a:r>
            <a:r>
              <a:rPr kumimoji="1" lang="en-US" altLang="zh-CN" i="1" dirty="0">
                <a:solidFill>
                  <a:srgbClr val="0000FF"/>
                </a:solidFill>
              </a:rPr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中任意一个向量都能由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en-US" altLang="zh-CN" i="1" baseline="-25000" dirty="0"/>
              <a:t> </a:t>
            </a:r>
            <a:r>
              <a:rPr kumimoji="1" lang="zh-CN" altLang="en-US" dirty="0"/>
              <a:t>线性表示；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en-US" dirty="0"/>
              <a:t>那么称向量组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en-US" altLang="zh-CN" i="1" baseline="-25000" dirty="0"/>
              <a:t> </a:t>
            </a:r>
            <a:r>
              <a:rPr kumimoji="1" lang="en-US" altLang="zh-CN" baseline="-25000" dirty="0"/>
              <a:t> </a:t>
            </a:r>
            <a:r>
              <a:rPr kumimoji="1" lang="zh-CN" altLang="en-US" dirty="0"/>
              <a:t>是</a:t>
            </a:r>
            <a:r>
              <a:rPr kumimoji="1" lang="zh-CN" altLang="en-US" dirty="0">
                <a:solidFill>
                  <a:srgbClr val="0000FF"/>
                </a:solidFill>
              </a:rPr>
              <a:t>向量空间 </a:t>
            </a:r>
            <a:r>
              <a:rPr kumimoji="1" lang="en-US" altLang="zh-CN" i="1" dirty="0">
                <a:solidFill>
                  <a:srgbClr val="0000FF"/>
                </a:solidFill>
              </a:rPr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的一个</a:t>
            </a:r>
            <a:r>
              <a:rPr kumimoji="1" lang="zh-CN" altLang="en-US" dirty="0">
                <a:solidFill>
                  <a:srgbClr val="FF0000"/>
                </a:solidFill>
              </a:rPr>
              <a:t>基</a:t>
            </a:r>
            <a:r>
              <a:rPr kumimoji="1" lang="zh-CN" altLang="en-US" dirty="0"/>
              <a:t>．</a:t>
            </a:r>
          </a:p>
          <a:p>
            <a:pPr marL="457200" indent="-457200" eaLnBrk="1" hangingPunct="1">
              <a:lnSpc>
                <a:spcPct val="130000"/>
              </a:lnSpc>
              <a:buClr>
                <a:srgbClr val="FF0000"/>
              </a:buClr>
              <a:buFont typeface="Wingdings" pitchFamily="2" charset="2"/>
              <a:buNone/>
            </a:pPr>
            <a:r>
              <a:rPr kumimoji="1" lang="en-US" altLang="zh-CN" i="1" dirty="0"/>
              <a:t>r</a:t>
            </a:r>
            <a:r>
              <a:rPr kumimoji="1" lang="en-US" altLang="zh-CN" dirty="0"/>
              <a:t> </a:t>
            </a:r>
            <a:r>
              <a:rPr kumimoji="1" lang="zh-CN" altLang="en-US" dirty="0"/>
              <a:t>称为</a:t>
            </a:r>
            <a:r>
              <a:rPr kumimoji="1" lang="zh-CN" altLang="en-US" dirty="0">
                <a:solidFill>
                  <a:srgbClr val="FF0000"/>
                </a:solidFill>
              </a:rPr>
              <a:t>向量空间 </a:t>
            </a:r>
            <a:r>
              <a:rPr kumimoji="1" lang="en-US" altLang="zh-CN" i="1" dirty="0">
                <a:solidFill>
                  <a:srgbClr val="FF0000"/>
                </a:solidFill>
              </a:rPr>
              <a:t>V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的维数</a:t>
            </a:r>
            <a:r>
              <a:rPr kumimoji="1" lang="zh-CN" altLang="en-US" dirty="0"/>
              <a:t>，并称 </a:t>
            </a:r>
            <a:r>
              <a:rPr kumimoji="1" lang="en-US" altLang="zh-CN" i="1" dirty="0"/>
              <a:t>V</a:t>
            </a:r>
            <a:r>
              <a:rPr kumimoji="1" lang="en-US" altLang="zh-CN" dirty="0"/>
              <a:t> </a:t>
            </a:r>
            <a:r>
              <a:rPr kumimoji="1" lang="zh-CN" altLang="en-US" dirty="0"/>
              <a:t>为 </a:t>
            </a:r>
            <a:r>
              <a:rPr kumimoji="1" lang="en-US" altLang="zh-CN" i="1" dirty="0">
                <a:solidFill>
                  <a:srgbClr val="FF0000"/>
                </a:solidFill>
              </a:rPr>
              <a:t>r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维向量空间</a:t>
            </a:r>
            <a:r>
              <a:rPr kumimoji="1" lang="zh-CN" altLang="en-US" i="1" baseline="-25000" dirty="0"/>
              <a:t> </a:t>
            </a:r>
            <a:r>
              <a:rPr kumimoji="1" lang="zh-CN" altLang="en-US" dirty="0"/>
              <a:t>．</a:t>
            </a:r>
            <a:r>
              <a:rPr lang="zh-CN" altLang="en-US" dirty="0"/>
              <a:t> </a:t>
            </a:r>
            <a:endParaRPr kumimoji="1"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57200" y="4811713"/>
            <a:ext cx="8229600" cy="1662112"/>
            <a:chOff x="457200" y="4811713"/>
            <a:chExt cx="8229600" cy="1662112"/>
          </a:xfrm>
        </p:grpSpPr>
        <p:sp>
          <p:nvSpPr>
            <p:cNvPr id="134150" name="Rectangle 6"/>
            <p:cNvSpPr>
              <a:spLocks noChangeArrowheads="1"/>
            </p:cNvSpPr>
            <p:nvPr/>
          </p:nvSpPr>
          <p:spPr bwMode="auto">
            <a:xfrm>
              <a:off x="457200" y="4811713"/>
              <a:ext cx="4038600" cy="1662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rgbClr val="00007D"/>
                </a:buClr>
                <a:buSzPct val="75000"/>
                <a:buFont typeface="Wingdings" pitchFamily="2" charset="2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向量空间</a:t>
              </a:r>
            </a:p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rgbClr val="00007D"/>
                </a:buClr>
                <a:buSzPct val="75000"/>
                <a:buFont typeface="Wingdings" pitchFamily="2" charset="2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向量空间的基</a:t>
              </a:r>
            </a:p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rgbClr val="00007D"/>
                </a:buClr>
                <a:buSzPct val="75000"/>
                <a:buFont typeface="Wingdings" pitchFamily="2" charset="2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向量空间的维数</a:t>
              </a:r>
            </a:p>
          </p:txBody>
        </p:sp>
        <p:sp>
          <p:nvSpPr>
            <p:cNvPr id="134151" name="Rectangle 7"/>
            <p:cNvSpPr>
              <a:spLocks noChangeArrowheads="1"/>
            </p:cNvSpPr>
            <p:nvPr/>
          </p:nvSpPr>
          <p:spPr bwMode="auto">
            <a:xfrm>
              <a:off x="4648200" y="4811713"/>
              <a:ext cx="4038600" cy="1662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rgbClr val="00007D"/>
                </a:buClr>
                <a:buSzPct val="75000"/>
                <a:buFont typeface="Wingdings" pitchFamily="2" charset="2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向量组</a:t>
              </a:r>
            </a:p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rgbClr val="00007D"/>
                </a:buClr>
                <a:buSzPct val="75000"/>
                <a:buFont typeface="Wingdings" pitchFamily="2" charset="2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向量组的最大无关组</a:t>
              </a:r>
            </a:p>
            <a:p>
              <a:pPr algn="ctr">
                <a:lnSpc>
                  <a:spcPct val="130000"/>
                </a:lnSpc>
                <a:spcBef>
                  <a:spcPct val="20000"/>
                </a:spcBef>
                <a:buClr>
                  <a:srgbClr val="00007D"/>
                </a:buClr>
                <a:buSzPct val="75000"/>
                <a:buFont typeface="Wingdings" pitchFamily="2" charset="2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向量组的秩</a:t>
              </a:r>
            </a:p>
          </p:txBody>
        </p:sp>
        <p:sp>
          <p:nvSpPr>
            <p:cNvPr id="134152" name="Line 8"/>
            <p:cNvSpPr>
              <a:spLocks noChangeShapeType="1"/>
            </p:cNvSpPr>
            <p:nvPr/>
          </p:nvSpPr>
          <p:spPr bwMode="auto">
            <a:xfrm>
              <a:off x="4284663" y="5141913"/>
              <a:ext cx="647700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5" name="Line 11"/>
            <p:cNvSpPr>
              <a:spLocks noChangeShapeType="1"/>
            </p:cNvSpPr>
            <p:nvPr/>
          </p:nvSpPr>
          <p:spPr bwMode="auto">
            <a:xfrm>
              <a:off x="4284663" y="5695950"/>
              <a:ext cx="647700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6" name="Line 12"/>
            <p:cNvSpPr>
              <a:spLocks noChangeShapeType="1"/>
            </p:cNvSpPr>
            <p:nvPr/>
          </p:nvSpPr>
          <p:spPr bwMode="auto">
            <a:xfrm>
              <a:off x="4284663" y="6251575"/>
              <a:ext cx="647700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231187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维向量的全体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的一个基，故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的维数等于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>
              <a:lnSpc>
                <a:spcPct val="1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 startA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集合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charset="0"/>
              </a:rPr>
              <a:t>个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列向量是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的一个基，故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的维数等于 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 startAt="3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齐次线性方程组的解集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齐次线性方程组的基础解系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的一个基，故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数等于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7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231187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维向量的全体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的一个基，故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的维数等于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>
              <a:lnSpc>
                <a:spcPct val="1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 startAt="2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集合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Arial" charset="0"/>
              </a:rPr>
              <a:t>个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列向量是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的一个基，故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的维数等于 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结论：若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是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的子空间，则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的维数不超过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V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的维数．</a:t>
            </a:r>
          </a:p>
          <a:p>
            <a:pPr>
              <a:lnSpc>
                <a:spcPct val="1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 startAt="3"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元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齐次线性方程组的解集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0 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齐次线性方程组的基础解系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的一个基，故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数等于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1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7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437562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 startAt="4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由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所生成的向量空间</a:t>
            </a:r>
          </a:p>
          <a:p>
            <a:pPr algn="ctr"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Arial" charset="0"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线性无关，则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 algn="ctr">
              <a:spcBef>
                <a:spcPct val="50000"/>
              </a:spcBef>
              <a:buClr>
                <a:srgbClr val="00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是向量空间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的一个基．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</a:pP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Arial" charset="0"/>
              <a:buChar char="•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线性相关，则 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	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等价于向量组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的最大无关组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：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从而      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{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故向量组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就是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中向量的个数就是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的维数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8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8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8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8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8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38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437562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 startAt="4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由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所生成的向量空间</a:t>
            </a:r>
          </a:p>
          <a:p>
            <a:pPr algn="ctr"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  <a:p>
            <a:pPr>
              <a:lnSpc>
                <a:spcPct val="1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一般来说，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若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∈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，则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的子空间．</a:t>
            </a:r>
            <a:endParaRPr kumimoji="1"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是向量空间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的一个基，那么</a:t>
            </a:r>
          </a:p>
          <a:p>
            <a:pPr algn="ctr"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V=L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= {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|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 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35834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437562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如果在向量空间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中取定一个基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，那么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V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中任意一个向量可唯一表示为</a:t>
            </a:r>
          </a:p>
          <a:p>
            <a:pPr algn="ctr"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 …+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endParaRPr kumimoji="1" lang="en-US" altLang="zh-CN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数组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l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>
                <a:solidFill>
                  <a:srgbClr val="000000"/>
                </a:solidFill>
                <a:latin typeface="Symbol" pitchFamily="18" charset="2"/>
                <a:ea typeface="楷体_GB2312" pitchFamily="49" charset="-122"/>
              </a:rPr>
              <a:t> l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称为向量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在基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...,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a</a:t>
            </a:r>
            <a:r>
              <a:rPr kumimoji="1" lang="en-US" altLang="zh-CN" sz="2400" b="1" i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坐标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kumimoji="1" lang="zh-CN" altLang="en-US" sz="2400" b="1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9267" name="Rectangle 3"/>
          <p:cNvSpPr>
            <a:spLocks noChangeArrowheads="1"/>
          </p:cNvSpPr>
          <p:nvPr/>
        </p:nvSpPr>
        <p:spPr bwMode="auto">
          <a:xfrm>
            <a:off x="5322888" y="4772025"/>
            <a:ext cx="214312" cy="3603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5991225" y="4772025"/>
            <a:ext cx="214313" cy="3603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6688138" y="4772025"/>
            <a:ext cx="214312" cy="3603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39270" name="Text Box 6"/>
          <p:cNvSpPr txBox="1">
            <a:spLocks noChangeArrowheads="1"/>
          </p:cNvSpPr>
          <p:nvPr/>
        </p:nvSpPr>
        <p:spPr bwMode="auto">
          <a:xfrm>
            <a:off x="455613" y="3179763"/>
            <a:ext cx="823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              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i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</a:t>
            </a:r>
          </a:p>
        </p:txBody>
      </p:sp>
      <p:graphicFrame>
        <p:nvGraphicFramePr>
          <p:cNvPr id="139271" name="Object 6"/>
          <p:cNvGraphicFramePr>
            <a:graphicFrameLocks noChangeAspect="1"/>
          </p:cNvGraphicFramePr>
          <p:nvPr/>
        </p:nvGraphicFramePr>
        <p:xfrm>
          <a:off x="1116013" y="2752725"/>
          <a:ext cx="35290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91" name="Equation" r:id="rId3" imgW="1765300" imgH="698500" progId="">
                  <p:embed/>
                </p:oleObj>
              </mc:Choice>
              <mc:Fallback>
                <p:oleObj name="Equation" r:id="rId3" imgW="1765300" imgH="6985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52725"/>
                        <a:ext cx="35290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2" name="Object 7"/>
          <p:cNvGraphicFramePr>
            <a:graphicFrameLocks noChangeAspect="1"/>
          </p:cNvGraphicFramePr>
          <p:nvPr/>
        </p:nvGraphicFramePr>
        <p:xfrm>
          <a:off x="2254250" y="4303713"/>
          <a:ext cx="284321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92" name="Equation" r:id="rId5" imgW="1422400" imgH="698500" progId="Equation.DSMT4">
                  <p:embed/>
                </p:oleObj>
              </mc:Choice>
              <mc:Fallback>
                <p:oleObj name="Equation" r:id="rId5" imgW="1422400" imgH="698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4303713"/>
                        <a:ext cx="284321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8"/>
          <p:cNvGraphicFramePr>
            <a:graphicFrameLocks noChangeAspect="1"/>
          </p:cNvGraphicFramePr>
          <p:nvPr/>
        </p:nvGraphicFramePr>
        <p:xfrm>
          <a:off x="5091113" y="4787900"/>
          <a:ext cx="210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93" name="Equation" r:id="rId7" imgW="1054100" imgH="228600" progId="">
                  <p:embed/>
                </p:oleObj>
              </mc:Choice>
              <mc:Fallback>
                <p:oleObj name="Equation" r:id="rId7" imgW="1054100" imgH="2286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4787900"/>
                        <a:ext cx="210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9"/>
          <p:cNvGraphicFramePr>
            <a:graphicFrameLocks noChangeAspect="1"/>
          </p:cNvGraphicFramePr>
          <p:nvPr/>
        </p:nvGraphicFramePr>
        <p:xfrm>
          <a:off x="1243013" y="4303713"/>
          <a:ext cx="10144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94" name="Equation" r:id="rId9" imgW="508000" imgH="698500" progId="Equation.DSMT4">
                  <p:embed/>
                </p:oleObj>
              </mc:Choice>
              <mc:Fallback>
                <p:oleObj name="Equation" r:id="rId9" imgW="5080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4303713"/>
                        <a:ext cx="10144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5" name="Text Box 11"/>
          <p:cNvSpPr txBox="1">
            <a:spLocks noChangeArrowheads="1"/>
          </p:cNvSpPr>
          <p:nvPr/>
        </p:nvSpPr>
        <p:spPr bwMode="auto">
          <a:xfrm>
            <a:off x="455613" y="4748213"/>
            <a:ext cx="7920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那么</a:t>
            </a:r>
          </a:p>
        </p:txBody>
      </p:sp>
      <p:sp>
        <p:nvSpPr>
          <p:cNvPr id="139276" name="Text Box 12"/>
          <p:cNvSpPr txBox="1">
            <a:spLocks noChangeArrowheads="1"/>
          </p:cNvSpPr>
          <p:nvPr/>
        </p:nvSpPr>
        <p:spPr bwMode="auto">
          <a:xfrm>
            <a:off x="4425950" y="5564188"/>
            <a:ext cx="374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在基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中的坐标 </a:t>
            </a:r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>
            <a:off x="3708400" y="2817813"/>
            <a:ext cx="0" cy="12588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>
            <a:off x="4168775" y="2817813"/>
            <a:ext cx="0" cy="12588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348288" y="5246688"/>
            <a:ext cx="1800225" cy="71437"/>
            <a:chOff x="1791" y="3394"/>
            <a:chExt cx="1633" cy="45"/>
          </a:xfrm>
        </p:grpSpPr>
        <p:sp>
          <p:nvSpPr>
            <p:cNvPr id="300052" name="Line 16"/>
            <p:cNvSpPr>
              <a:spLocks noChangeShapeType="1"/>
            </p:cNvSpPr>
            <p:nvPr/>
          </p:nvSpPr>
          <p:spPr bwMode="auto">
            <a:xfrm>
              <a:off x="1791" y="3394"/>
              <a:ext cx="163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0053" name="Line 17"/>
            <p:cNvSpPr>
              <a:spLocks noChangeShapeType="1"/>
            </p:cNvSpPr>
            <p:nvPr/>
          </p:nvSpPr>
          <p:spPr bwMode="auto">
            <a:xfrm>
              <a:off x="1791" y="3439"/>
              <a:ext cx="163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435600" y="5276850"/>
            <a:ext cx="1441450" cy="331788"/>
            <a:chOff x="3424" y="2024"/>
            <a:chExt cx="908" cy="209"/>
          </a:xfrm>
        </p:grpSpPr>
        <p:sp>
          <p:nvSpPr>
            <p:cNvPr id="300049" name="Line 19"/>
            <p:cNvSpPr>
              <a:spLocks noChangeShapeType="1"/>
            </p:cNvSpPr>
            <p:nvPr/>
          </p:nvSpPr>
          <p:spPr bwMode="auto">
            <a:xfrm>
              <a:off x="3424" y="2024"/>
              <a:ext cx="363" cy="2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50" name="Line 20"/>
            <p:cNvSpPr>
              <a:spLocks noChangeShapeType="1"/>
            </p:cNvSpPr>
            <p:nvPr/>
          </p:nvSpPr>
          <p:spPr bwMode="auto">
            <a:xfrm flipH="1">
              <a:off x="3969" y="2024"/>
              <a:ext cx="363" cy="2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51" name="Line 21"/>
            <p:cNvSpPr>
              <a:spLocks noChangeShapeType="1"/>
            </p:cNvSpPr>
            <p:nvPr/>
          </p:nvSpPr>
          <p:spPr bwMode="auto">
            <a:xfrm>
              <a:off x="3878" y="2024"/>
              <a:ext cx="0" cy="20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9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9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9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9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animBg="1"/>
      <p:bldP spid="139268" grpId="0" animBg="1"/>
      <p:bldP spid="139269" grpId="0" animBg="1"/>
      <p:bldP spid="139270" grpId="0"/>
      <p:bldP spid="139275" grpId="0"/>
      <p:bldP spid="139276" grpId="0"/>
      <p:bldP spid="139277" grpId="0" animBg="1"/>
      <p:bldP spid="13927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436563" y="5589588"/>
            <a:ext cx="82296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阶单位矩阵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的列向量组叫做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维单位坐标向量组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阶单位矩阵 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的列向量组称为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自然基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301058" name="Object 5"/>
          <p:cNvGraphicFramePr>
            <a:graphicFrameLocks noChangeAspect="1"/>
          </p:cNvGraphicFramePr>
          <p:nvPr/>
        </p:nvGraphicFramePr>
        <p:xfrm>
          <a:off x="2309813" y="442913"/>
          <a:ext cx="4494212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0" name="Equation" r:id="rId3" imgW="2247900" imgH="1155700" progId="">
                  <p:embed/>
                </p:oleObj>
              </mc:Choice>
              <mc:Fallback>
                <p:oleObj name="Equation" r:id="rId3" imgW="2247900" imgH="11557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442913"/>
                        <a:ext cx="4494212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59" name="Object 6"/>
          <p:cNvGraphicFramePr>
            <a:graphicFrameLocks noChangeAspect="1"/>
          </p:cNvGraphicFramePr>
          <p:nvPr/>
        </p:nvGraphicFramePr>
        <p:xfrm>
          <a:off x="1179513" y="444500"/>
          <a:ext cx="1141412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1" name="Equation" r:id="rId5" imgW="571252" imgH="1167893" progId="">
                  <p:embed/>
                </p:oleObj>
              </mc:Choice>
              <mc:Fallback>
                <p:oleObj name="Equation" r:id="rId5" imgW="571252" imgH="1167893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444500"/>
                        <a:ext cx="1141412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0" name="Object 7"/>
          <p:cNvGraphicFramePr>
            <a:graphicFrameLocks noChangeAspect="1"/>
          </p:cNvGraphicFramePr>
          <p:nvPr/>
        </p:nvGraphicFramePr>
        <p:xfrm>
          <a:off x="3019425" y="3133725"/>
          <a:ext cx="30734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2" name="Equation" r:id="rId7" imgW="1536700" imgH="1155700" progId="">
                  <p:embed/>
                </p:oleObj>
              </mc:Choice>
              <mc:Fallback>
                <p:oleObj name="Equation" r:id="rId7" imgW="1536700" imgH="11557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3133725"/>
                        <a:ext cx="30734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Line 6"/>
          <p:cNvSpPr>
            <a:spLocks noChangeShapeType="1"/>
          </p:cNvSpPr>
          <p:nvPr/>
        </p:nvSpPr>
        <p:spPr bwMode="auto">
          <a:xfrm>
            <a:off x="3132138" y="2771775"/>
            <a:ext cx="647700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19" name="Line 7"/>
          <p:cNvSpPr>
            <a:spLocks noChangeShapeType="1"/>
          </p:cNvSpPr>
          <p:nvPr/>
        </p:nvSpPr>
        <p:spPr bwMode="auto">
          <a:xfrm>
            <a:off x="4140200" y="2771775"/>
            <a:ext cx="207963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0" name="Line 8"/>
          <p:cNvSpPr>
            <a:spLocks noChangeShapeType="1"/>
          </p:cNvSpPr>
          <p:nvPr/>
        </p:nvSpPr>
        <p:spPr bwMode="auto">
          <a:xfrm flipH="1">
            <a:off x="4940300" y="2771775"/>
            <a:ext cx="207963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1" name="Line 9"/>
          <p:cNvSpPr>
            <a:spLocks noChangeShapeType="1"/>
          </p:cNvSpPr>
          <p:nvPr/>
        </p:nvSpPr>
        <p:spPr bwMode="auto">
          <a:xfrm flipH="1">
            <a:off x="5867400" y="2771775"/>
            <a:ext cx="647700" cy="3746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322" name="Rectangle 10"/>
          <p:cNvSpPr>
            <a:spLocks noChangeArrowheads="1"/>
          </p:cNvSpPr>
          <p:nvPr/>
        </p:nvSpPr>
        <p:spPr bwMode="auto">
          <a:xfrm>
            <a:off x="3851275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1323" name="Rectangle 11"/>
          <p:cNvSpPr>
            <a:spLocks noChangeArrowheads="1"/>
          </p:cNvSpPr>
          <p:nvPr/>
        </p:nvSpPr>
        <p:spPr bwMode="auto">
          <a:xfrm>
            <a:off x="4284663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1324" name="Rectangle 12"/>
          <p:cNvSpPr>
            <a:spLocks noChangeArrowheads="1"/>
          </p:cNvSpPr>
          <p:nvPr/>
        </p:nvSpPr>
        <p:spPr bwMode="auto">
          <a:xfrm>
            <a:off x="4716463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1325" name="Rectangle 13"/>
          <p:cNvSpPr>
            <a:spLocks noChangeArrowheads="1"/>
          </p:cNvSpPr>
          <p:nvPr/>
        </p:nvSpPr>
        <p:spPr bwMode="auto">
          <a:xfrm>
            <a:off x="5148263" y="3213100"/>
            <a:ext cx="360362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1326" name="Rectangle 14"/>
          <p:cNvSpPr>
            <a:spLocks noChangeArrowheads="1"/>
          </p:cNvSpPr>
          <p:nvPr/>
        </p:nvSpPr>
        <p:spPr bwMode="auto">
          <a:xfrm>
            <a:off x="5695950" y="3213100"/>
            <a:ext cx="215900" cy="21605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1327" name="Rectangle 15"/>
          <p:cNvSpPr>
            <a:spLocks noChangeArrowheads="1"/>
          </p:cNvSpPr>
          <p:nvPr/>
        </p:nvSpPr>
        <p:spPr bwMode="auto">
          <a:xfrm>
            <a:off x="3030538" y="4076700"/>
            <a:ext cx="647700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 build="p"/>
      <p:bldP spid="141318" grpId="0" animBg="1"/>
      <p:bldP spid="141319" grpId="0" animBg="1"/>
      <p:bldP spid="141320" grpId="0" animBg="1"/>
      <p:bldP spid="141321" grpId="0" animBg="1"/>
      <p:bldP spid="141322" grpId="0" animBg="1"/>
      <p:bldP spid="141323" grpId="0" animBg="1"/>
      <p:bldP spid="141324" grpId="0" animBg="1"/>
      <p:bldP spid="141325" grpId="0" animBg="1"/>
      <p:bldP spid="141326" grpId="0" animBg="1"/>
      <p:bldP spid="1413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455613" y="1019175"/>
            <a:ext cx="82311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上三角形矩阵                                                的列向量组也是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endParaRPr kumimoji="1" lang="en-US" altLang="zh-CN" sz="2400" b="1" i="1" baseline="3000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en-US" altLang="zh-CN" sz="2400" b="1" i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的一个基，那么 </a:t>
            </a:r>
          </a:p>
        </p:txBody>
      </p:sp>
      <p:graphicFrame>
        <p:nvGraphicFramePr>
          <p:cNvPr id="143365" name="Object 4"/>
          <p:cNvGraphicFramePr>
            <a:graphicFrameLocks noChangeAspect="1"/>
          </p:cNvGraphicFramePr>
          <p:nvPr/>
        </p:nvGraphicFramePr>
        <p:xfrm>
          <a:off x="2411413" y="592138"/>
          <a:ext cx="35290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07" name="Equation" r:id="rId3" imgW="1765300" imgH="698500" progId="">
                  <p:embed/>
                </p:oleObj>
              </mc:Choice>
              <mc:Fallback>
                <p:oleObj name="Equation" r:id="rId3" imgW="1765300" imgH="6985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92138"/>
                        <a:ext cx="35290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025228"/>
              </p:ext>
            </p:extLst>
          </p:nvPr>
        </p:nvGraphicFramePr>
        <p:xfrm>
          <a:off x="1428750" y="2590800"/>
          <a:ext cx="62833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208" name="Equation" r:id="rId5" imgW="3136680" imgH="698400" progId="Equation.DSMT4">
                  <p:embed/>
                </p:oleObj>
              </mc:Choice>
              <mc:Fallback>
                <p:oleObj name="Equation" r:id="rId5" imgW="3136680" imgH="69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590800"/>
                        <a:ext cx="62833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455613" y="4189413"/>
            <a:ext cx="82296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en-US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结论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同一个向量在不同基中的坐标是不同的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143368" name="Line 8"/>
          <p:cNvSpPr>
            <a:spLocks noChangeShapeType="1"/>
          </p:cNvSpPr>
          <p:nvPr/>
        </p:nvSpPr>
        <p:spPr bwMode="auto">
          <a:xfrm>
            <a:off x="5003800" y="692150"/>
            <a:ext cx="0" cy="1258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69" name="Line 9"/>
          <p:cNvSpPr>
            <a:spLocks noChangeShapeType="1"/>
          </p:cNvSpPr>
          <p:nvPr/>
        </p:nvSpPr>
        <p:spPr bwMode="auto">
          <a:xfrm>
            <a:off x="5464175" y="692150"/>
            <a:ext cx="0" cy="12588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/>
      <p:bldP spid="143367" grpId="0" build="p"/>
      <p:bldP spid="143368" grpId="0" animBg="1"/>
      <p:bldP spid="14336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455613" y="1008063"/>
            <a:ext cx="823118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验证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的一个基，并求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在这个基中的坐标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303106" name="Object 4"/>
          <p:cNvGraphicFramePr>
            <a:graphicFrameLocks noChangeAspect="1"/>
          </p:cNvGraphicFramePr>
          <p:nvPr/>
        </p:nvGraphicFramePr>
        <p:xfrm>
          <a:off x="1462088" y="577850"/>
          <a:ext cx="7075487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31" name="Equation" r:id="rId3" imgW="3530600" imgH="698500" progId="">
                  <p:embed/>
                </p:oleObj>
              </mc:Choice>
              <mc:Fallback>
                <p:oleObj name="Equation" r:id="rId3" imgW="3530600" imgH="6985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577850"/>
                        <a:ext cx="7075487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455613" y="2781300"/>
            <a:ext cx="8231187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        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= 3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在这个基中的坐标          用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表示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当          时，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列向量组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列向量组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有相同的线性关系．（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P. 94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10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为此，考虑把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 = 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化为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行最简形矩阵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142343" name="AutoShape 7"/>
          <p:cNvSpPr>
            <a:spLocks noChangeArrowheads="1"/>
          </p:cNvSpPr>
          <p:nvPr/>
        </p:nvSpPr>
        <p:spPr bwMode="auto">
          <a:xfrm>
            <a:off x="4198938" y="3443288"/>
            <a:ext cx="503237" cy="360362"/>
          </a:xfrm>
          <a:prstGeom prst="leftRightArrow">
            <a:avLst>
              <a:gd name="adj1" fmla="val 50000"/>
              <a:gd name="adj2" fmla="val 279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2344" name="AutoShape 8"/>
          <p:cNvSpPr>
            <a:spLocks noChangeArrowheads="1"/>
          </p:cNvSpPr>
          <p:nvPr/>
        </p:nvSpPr>
        <p:spPr bwMode="auto">
          <a:xfrm>
            <a:off x="4298950" y="4086225"/>
            <a:ext cx="503238" cy="360363"/>
          </a:xfrm>
          <a:prstGeom prst="leftRightArrow">
            <a:avLst>
              <a:gd name="adj1" fmla="val 50000"/>
              <a:gd name="adj2" fmla="val 279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aphicFrame>
        <p:nvGraphicFramePr>
          <p:cNvPr id="142345" name="Object 5"/>
          <p:cNvGraphicFramePr>
            <a:graphicFrameLocks noChangeAspect="1"/>
          </p:cNvGraphicFramePr>
          <p:nvPr/>
        </p:nvGraphicFramePr>
        <p:xfrm>
          <a:off x="1287463" y="4594225"/>
          <a:ext cx="7889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32" name="Equation" r:id="rId5" imgW="393359" imgH="266469" progId="">
                  <p:embed/>
                </p:oleObj>
              </mc:Choice>
              <mc:Fallback>
                <p:oleObj name="Equation" r:id="rId5" imgW="393359" imgH="266469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4594225"/>
                        <a:ext cx="7889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2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2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2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2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3" grpId="0" animBg="1"/>
      <p:bldP spid="1423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0" name="Object 5"/>
          <p:cNvGraphicFramePr>
            <a:graphicFrameLocks noChangeAspect="1"/>
          </p:cNvGraphicFramePr>
          <p:nvPr/>
        </p:nvGraphicFramePr>
        <p:xfrm>
          <a:off x="1462088" y="577850"/>
          <a:ext cx="7075487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14" name="Equation" r:id="rId3" imgW="3530600" imgH="698500" progId="">
                  <p:embed/>
                </p:oleObj>
              </mc:Choice>
              <mc:Fallback>
                <p:oleObj name="Equation" r:id="rId3" imgW="3530600" imgH="6985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577850"/>
                        <a:ext cx="7075487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3" name="Text Box 4"/>
          <p:cNvSpPr txBox="1">
            <a:spLocks noChangeArrowheads="1"/>
          </p:cNvSpPr>
          <p:nvPr/>
        </p:nvSpPr>
        <p:spPr bwMode="auto">
          <a:xfrm>
            <a:off x="455613" y="2781300"/>
            <a:ext cx="823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46440" name="Object 6"/>
          <p:cNvGraphicFramePr>
            <a:graphicFrameLocks noChangeAspect="1"/>
          </p:cNvGraphicFramePr>
          <p:nvPr/>
        </p:nvGraphicFramePr>
        <p:xfrm>
          <a:off x="1149350" y="2781300"/>
          <a:ext cx="68453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15" name="Equation" r:id="rId5" imgW="3416300" imgH="1270000" progId="">
                  <p:embed/>
                </p:oleObj>
              </mc:Choice>
              <mc:Fallback>
                <p:oleObj name="Equation" r:id="rId5" imgW="3416300" imgH="12700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2781300"/>
                        <a:ext cx="6845300" cy="254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455613" y="5489575"/>
            <a:ext cx="8231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于是</a:t>
            </a:r>
          </a:p>
        </p:txBody>
      </p:sp>
      <p:graphicFrame>
        <p:nvGraphicFramePr>
          <p:cNvPr id="146442" name="Object 7"/>
          <p:cNvGraphicFramePr>
            <a:graphicFrameLocks noChangeAspect="1"/>
          </p:cNvGraphicFramePr>
          <p:nvPr/>
        </p:nvGraphicFramePr>
        <p:xfrm>
          <a:off x="1258888" y="5353050"/>
          <a:ext cx="51657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316" name="Equation" r:id="rId7" imgW="2578100" imgH="406400" progId="">
                  <p:embed/>
                </p:oleObj>
              </mc:Choice>
              <mc:Fallback>
                <p:oleObj name="Equation" r:id="rId7" imgW="2578100" imgH="4064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353050"/>
                        <a:ext cx="51657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5" name="Text Box 11"/>
          <p:cNvSpPr txBox="1">
            <a:spLocks noChangeArrowheads="1"/>
          </p:cNvSpPr>
          <p:nvPr/>
        </p:nvSpPr>
        <p:spPr bwMode="auto">
          <a:xfrm>
            <a:off x="455613" y="1008063"/>
            <a:ext cx="823118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</a:p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endParaRPr kumimoji="1" lang="zh-CN" altLang="en-US" sz="2400" b="1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验证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的一个基，并求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在这个基中的坐标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455613" y="455613"/>
            <a:ext cx="8231187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在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中取定一个基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，再取一个新基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① 求用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表示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的表示式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（基变换公式）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② 求向量在两个基中的坐标之间的关系式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（坐标变换公式）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44388" name="Text Box 4"/>
          <p:cNvSpPr txBox="1">
            <a:spLocks noChangeArrowheads="1"/>
          </p:cNvSpPr>
          <p:nvPr/>
        </p:nvSpPr>
        <p:spPr bwMode="auto">
          <a:xfrm>
            <a:off x="455613" y="2781300"/>
            <a:ext cx="8231187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分析：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求解矩阵方程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=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25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∈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，且                                                              ，求解</a:t>
            </a:r>
          </a:p>
          <a:p>
            <a:pPr>
              <a:lnSpc>
                <a:spcPct val="250000"/>
              </a:lnSpc>
              <a:spcBef>
                <a:spcPct val="50000"/>
              </a:spcBef>
              <a:buClr>
                <a:srgbClr val="0000FF"/>
              </a:buClr>
              <a:buSzPct val="75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矩阵方程                          ．</a:t>
            </a:r>
          </a:p>
        </p:txBody>
      </p:sp>
      <p:graphicFrame>
        <p:nvGraphicFramePr>
          <p:cNvPr id="144391" name="Object 4"/>
          <p:cNvGraphicFramePr>
            <a:graphicFrameLocks noChangeAspect="1"/>
          </p:cNvGraphicFramePr>
          <p:nvPr/>
        </p:nvGraphicFramePr>
        <p:xfrm>
          <a:off x="2797175" y="3933825"/>
          <a:ext cx="463232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7" name="Equation" r:id="rId3" imgW="2311400" imgH="711200" progId="">
                  <p:embed/>
                </p:oleObj>
              </mc:Choice>
              <mc:Fallback>
                <p:oleObj name="Equation" r:id="rId3" imgW="2311400" imgH="71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3933825"/>
                        <a:ext cx="4632325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2" name="Object 5"/>
          <p:cNvGraphicFramePr>
            <a:graphicFrameLocks noChangeAspect="1"/>
          </p:cNvGraphicFramePr>
          <p:nvPr/>
        </p:nvGraphicFramePr>
        <p:xfrm>
          <a:off x="2268538" y="5073650"/>
          <a:ext cx="1909762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278" name="Equation" r:id="rId5" imgW="952087" imgH="710891" progId="">
                  <p:embed/>
                </p:oleObj>
              </mc:Choice>
              <mc:Fallback>
                <p:oleObj name="Equation" r:id="rId5" imgW="952087" imgH="710891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073650"/>
                        <a:ext cx="1909762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4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4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"/>
          <p:cNvSpPr txBox="1">
            <a:spLocks noChangeArrowheads="1"/>
          </p:cNvSpPr>
          <p:nvPr/>
        </p:nvSpPr>
        <p:spPr bwMode="auto">
          <a:xfrm>
            <a:off x="3276600" y="1412875"/>
            <a:ext cx="352742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0000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zh-CN" altLang="en-US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作业  习题四</a:t>
            </a:r>
            <a:endParaRPr kumimoji="1" lang="en-US" altLang="zh-CN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kumimoji="1" lang="en-US" altLang="zh-CN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21.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27.</a:t>
            </a:r>
            <a:endParaRPr kumimoji="1"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kumimoji="1" lang="zh-CN" altLang="en-US" sz="3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18465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8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2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1614</Words>
  <Application>Microsoft Office PowerPoint</Application>
  <PresentationFormat>全屏显示(4:3)</PresentationFormat>
  <Paragraphs>138</Paragraphs>
  <Slides>19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楷体_GB2312</vt:lpstr>
      <vt:lpstr>Arial</vt:lpstr>
      <vt:lpstr>Calibri</vt:lpstr>
      <vt:lpstr>Monotype Corsiva</vt:lpstr>
      <vt:lpstr>Symbol</vt:lpstr>
      <vt:lpstr>Times New Roman</vt:lpstr>
      <vt:lpstr>Wingdings</vt:lpstr>
      <vt:lpstr>18_Blends</vt:lpstr>
      <vt:lpstr>18_Pixel</vt:lpstr>
      <vt:lpstr>Equation</vt:lpstr>
      <vt:lpstr>§4  向量空间</vt:lpstr>
      <vt:lpstr>封闭的概念</vt:lpstr>
      <vt:lpstr>向量空间的概念</vt:lpstr>
      <vt:lpstr>PowerPoint 演示文稿</vt:lpstr>
      <vt:lpstr>PowerPoint 演示文稿</vt:lpstr>
      <vt:lpstr>PowerPoint 演示文稿</vt:lpstr>
      <vt:lpstr>PowerPoint 演示文稿</vt:lpstr>
      <vt:lpstr>向量空间的基的概念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37</cp:revision>
  <dcterms:created xsi:type="dcterms:W3CDTF">2012-04-21T04:49:10Z</dcterms:created>
  <dcterms:modified xsi:type="dcterms:W3CDTF">2023-12-12T01:00:32Z</dcterms:modified>
</cp:coreProperties>
</file>